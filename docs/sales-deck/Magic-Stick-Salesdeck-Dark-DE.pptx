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86eccfe0084e74" /><Relationship Type="http://schemas.openxmlformats.org/officeDocument/2006/relationships/extended-properties" Target="/docProps/app.xml" Id="Radbcea779c4b4b43" /><Relationship Type="http://schemas.openxmlformats.org/officeDocument/2006/relationships/officeDocument" Target="/ppt/presentation.xml" Id="Re0e32636c6564b1f" /></Relationships>
</file>

<file path=ppt/presentation.xml><?xml version="1.0" encoding="utf-8"?>
<p:presentation xmlns:p="http://schemas.openxmlformats.org/presentationml/2006/main">
  <p:sldMasterIdLst>
    <p:sldMasterId xmlns:r="http://schemas.openxmlformats.org/officeDocument/2006/relationships" id="2147483648" r:id="R8680880e0a0f49fa"/>
  </p:sldMasterIdLst>
  <p:notesMasterIdLst>
    <p:notesMasterId xmlns:r="http://schemas.openxmlformats.org/officeDocument/2006/relationships" r:id="Ra91fa10e34314345"/>
  </p:notesMasterIdLst>
  <p:sldIdLst>
    <p:sldId xmlns:r="http://schemas.openxmlformats.org/officeDocument/2006/relationships" id="256" r:id="R452bfb129ce44f36"/>
    <p:sldId xmlns:r="http://schemas.openxmlformats.org/officeDocument/2006/relationships" id="257" r:id="R2d23bbbdde26455b"/>
    <p:sldId xmlns:r="http://schemas.openxmlformats.org/officeDocument/2006/relationships" id="258" r:id="R8e554955c6684bd7"/>
    <p:sldId xmlns:r="http://schemas.openxmlformats.org/officeDocument/2006/relationships" id="259" r:id="R3656567f69cc4baa"/>
    <p:sldId xmlns:r="http://schemas.openxmlformats.org/officeDocument/2006/relationships" id="260" r:id="R5dd83773c8864b1a"/>
    <p:sldId xmlns:r="http://schemas.openxmlformats.org/officeDocument/2006/relationships" id="261" r:id="Rdb3536e5f99444c9"/>
    <p:sldId xmlns:r="http://schemas.openxmlformats.org/officeDocument/2006/relationships" id="262" r:id="Rb138d2a0c514443e"/>
    <p:sldId xmlns:r="http://schemas.openxmlformats.org/officeDocument/2006/relationships" id="263" r:id="R90fe5c409a9b455f"/>
    <p:sldId xmlns:r="http://schemas.openxmlformats.org/officeDocument/2006/relationships" id="264" r:id="R5fec78c08cec4bc3"/>
    <p:sldId xmlns:r="http://schemas.openxmlformats.org/officeDocument/2006/relationships" id="265" r:id="Rf0abe2bab3ed43af"/>
    <p:sldId xmlns:r="http://schemas.openxmlformats.org/officeDocument/2006/relationships" id="266" r:id="Ra81aebb2772144af"/>
    <p:sldId xmlns:r="http://schemas.openxmlformats.org/officeDocument/2006/relationships" id="267" r:id="Rc75744f15453402d"/>
    <p:sldId xmlns:r="http://schemas.openxmlformats.org/officeDocument/2006/relationships" id="268" r:id="Rdec9815002ef42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af38263b5549a5" /><Relationship Type="http://schemas.openxmlformats.org/officeDocument/2006/relationships/slideMaster" Target="/ppt/slideMasters/slideMaster1.xml" Id="R8680880e0a0f49fa" /><Relationship Type="http://schemas.openxmlformats.org/officeDocument/2006/relationships/notesMaster" Target="/ppt/notesMasters/notesMaster1.xml" Id="Ra91fa10e34314345" /><Relationship Type="http://schemas.openxmlformats.org/officeDocument/2006/relationships/presProps" Target="/ppt/presProps.xml" Id="R99c4ebd561ee4c7b" /><Relationship Type="http://schemas.openxmlformats.org/officeDocument/2006/relationships/tableStyles" Target="/ppt/tableStyles.xml" Id="R3f704fef67864da4" /><Relationship Type="http://schemas.openxmlformats.org/officeDocument/2006/relationships/slide" Target="/ppt/slides/slide1.xml" Id="R452bfb129ce44f36" /><Relationship Type="http://schemas.openxmlformats.org/officeDocument/2006/relationships/slide" Target="/ppt/slides/slide2.xml" Id="R2d23bbbdde26455b" /><Relationship Type="http://schemas.openxmlformats.org/officeDocument/2006/relationships/slide" Target="/ppt/slides/slide3.xml" Id="R8e554955c6684bd7" /><Relationship Type="http://schemas.openxmlformats.org/officeDocument/2006/relationships/slide" Target="/ppt/slides/slide4.xml" Id="R3656567f69cc4baa" /><Relationship Type="http://schemas.openxmlformats.org/officeDocument/2006/relationships/slide" Target="/ppt/slides/slide5.xml" Id="R5dd83773c8864b1a" /><Relationship Type="http://schemas.openxmlformats.org/officeDocument/2006/relationships/slide" Target="/ppt/slides/slide6.xml" Id="Rdb3536e5f99444c9" /><Relationship Type="http://schemas.openxmlformats.org/officeDocument/2006/relationships/slide" Target="/ppt/slides/slide7.xml" Id="Rb138d2a0c514443e" /><Relationship Type="http://schemas.openxmlformats.org/officeDocument/2006/relationships/slide" Target="/ppt/slides/slide8.xml" Id="R90fe5c409a9b455f" /><Relationship Type="http://schemas.openxmlformats.org/officeDocument/2006/relationships/slide" Target="/ppt/slides/slide9.xml" Id="R5fec78c08cec4bc3" /><Relationship Type="http://schemas.openxmlformats.org/officeDocument/2006/relationships/slide" Target="/ppt/slides/slide10.xml" Id="Rf0abe2bab3ed43af" /><Relationship Type="http://schemas.openxmlformats.org/officeDocument/2006/relationships/slide" Target="/ppt/slides/slide11.xml" Id="Ra81aebb2772144af" /><Relationship Type="http://schemas.openxmlformats.org/officeDocument/2006/relationships/slide" Target="/ppt/slides/slide12.xml" Id="Rc75744f15453402d" /><Relationship Type="http://schemas.openxmlformats.org/officeDocument/2006/relationships/slide" Target="/ppt/slides/slide13.xml" Id="Rdec9815002ef42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bb48143aed49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e7fafac7ce4e69" /><Relationship Type="http://schemas.openxmlformats.org/officeDocument/2006/relationships/notesMaster" Target="/ppt/notesMasters/notesMaster1.xml" Id="R5468132e262c4d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4281cdf9184855" /><Relationship Type="http://schemas.openxmlformats.org/officeDocument/2006/relationships/notesMaster" Target="/ppt/notesMasters/notesMaster1.xml" Id="R0061e46cb58c40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ca120e6b8a4956" /><Relationship Type="http://schemas.openxmlformats.org/officeDocument/2006/relationships/notesMaster" Target="/ppt/notesMasters/notesMaster1.xml" Id="R966df7aa99664e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c1d103fc364ee4" /><Relationship Type="http://schemas.openxmlformats.org/officeDocument/2006/relationships/notesMaster" Target="/ppt/notesMasters/notesMaster1.xml" Id="Re265d99996be48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5fdaa77bb44365" /><Relationship Type="http://schemas.openxmlformats.org/officeDocument/2006/relationships/notesMaster" Target="/ppt/notesMasters/notesMaster1.xml" Id="R1431c7ac421142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e67b525f304972" /><Relationship Type="http://schemas.openxmlformats.org/officeDocument/2006/relationships/notesMaster" Target="/ppt/notesMasters/notesMaster1.xml" Id="R13d2e63895664c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d9d40bc6df4b52" /><Relationship Type="http://schemas.openxmlformats.org/officeDocument/2006/relationships/notesMaster" Target="/ppt/notesMasters/notesMaster1.xml" Id="R02ae6919978e42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704ca9e39c48eb" /><Relationship Type="http://schemas.openxmlformats.org/officeDocument/2006/relationships/notesMaster" Target="/ppt/notesMasters/notesMaster1.xml" Id="R1d309791179b46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4c9cdabab546ef" /><Relationship Type="http://schemas.openxmlformats.org/officeDocument/2006/relationships/notesMaster" Target="/ppt/notesMasters/notesMaster1.xml" Id="Rea4514367dc844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a9ea027bbd48f1" /><Relationship Type="http://schemas.openxmlformats.org/officeDocument/2006/relationships/notesMaster" Target="/ppt/notesMasters/notesMaster1.xml" Id="Rf4f27560bf6a46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0b3f2913be453c" /><Relationship Type="http://schemas.openxmlformats.org/officeDocument/2006/relationships/notesMaster" Target="/ppt/notesMasters/notesMaster1.xml" Id="Rbf48cc72a5524b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9ca012e3544e2a" /><Relationship Type="http://schemas.openxmlformats.org/officeDocument/2006/relationships/notesMaster" Target="/ppt/notesMasters/notesMaster1.xml" Id="Rdcb1698e315043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2896846a2442c7" /><Relationship Type="http://schemas.openxmlformats.org/officeDocument/2006/relationships/notesMaster" Target="/ppt/notesMasters/notesMaster1.xml" Id="R01adb9578b1b48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README.md and docs/architecture.md.</a:t>
            </a:r>
          </a:p>
          <a:p xmlns:a="http://schemas.openxmlformats.org/drawingml/2006/main">
            <a:r>
              <a:t>- Existing Magic Stick hero artwork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docs/installation/README.md and docs/first-run-setup.md.</a:t>
            </a:r>
          </a:p>
          <a:p xmlns:a="http://schemas.openxmlformats.org/drawingml/2006/main">
            <a:r>
              <a:t>- Existing console capture retained; the updated claim describes the implemented protected First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docs/dashboard.md and current dashboard implementation.</a:t>
            </a:r>
          </a:p>
          <a:p xmlns:a="http://schemas.openxmlformats.org/drawingml/2006/main">
            <a:r>
              <a:t>- Product screenshot will be captured from the current test server in Chrome.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docs/installation/bare-metal.md, cloud-init-vm.md, existing-vm.md, existing-kubernetes.md.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docs/model-catalog.md and compute-target documentation.</a:t>
            </a:r>
          </a:p>
          <a:p xmlns:a="http://schemas.openxmlformats.org/drawingml/2006/main">
            <a:r>
              <a:t>- vLLM: CPU, NVIDIA, AMD, Intel. Ollama: CPU, NVIDIA, 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docs/architecture.md, Flux manifests, Magic Stick Operator and hardware-provider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module-catalog.yaml, app-catalog.yaml, docs/modules.md.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docs/authentication.md and First Run implementation.</a:t>
            </a:r>
          </a:p>
          <a:p xmlns:a="http://schemas.openxmlformats.org/drawingml/2006/main">
            <a:r>
              <a:t>- Upstream providers are broker/integration targets, not preconfigured dashboard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Magic Stick steht unter Business Source License 1.1 (SPDX: BUSL-1.1). Jede Version wechselt drei Jahre nach ihrer ersten öffentlichen Veröffentlichung zur MIT License. Free erlaubt produktive Eigennutzung für Privatpersonen, Non-Profit, Bildung/Forschung sowie Unternehmensgruppen bis einschließlich 2 Mio. EUR konsolidiertem Jahresumsatz. Für neue Gruppen gilt eine vernünftige Good-Faith-Prognose. Produktive kommerzielle OEM-, Appliance-, SaaS-, Hosting- und Managed-Service-Angebote für Dritte sind vom Free Use Grant ausgenommen. Reine Weitergabe und Weiterverkauf sowie nichtproduktive Nutzung bleiben nach BSL erlaubt. Free Registered schaltet Federated SSO mit kostenloser signierter Datei frei. Commercial umfasst commercial-production und federated-sso. Resource Sharing und Private Mesh benötigen keine Lizenzdatei. Maßgeblich sind LICENSE und LICENSING.md, keine Marketing-Kurzfassung. Drittanbieter behalten eigene Lizenzen.</a:t>
            </a:r>
          </a:p>
          <a:p xmlns:a="http://schemas.openxmlformats.org/drawingml/2006/main">
            <a:r>
              <a:t/>
            </a:r>
          </a:p>
          <a:p xmlns:a="http://schemas.openxmlformats.org/drawingml/2006/main">
            <a:r>
              <a:t>[Sources]</a:t>
            </a:r>
          </a:p>
          <a:p xmlns:a="http://schemas.openxmlformats.org/drawingml/2006/main">
            <a:r>
              <a:t>- LICENSE</a:t>
            </a:r>
          </a:p>
          <a:p xmlns:a="http://schemas.openxmlformats.org/drawingml/2006/main">
            <a:r>
              <a:t>- LICENSING.md</a:t>
            </a:r>
          </a:p>
          <a:p xmlns:a="http://schemas.openxmlformats.org/drawingml/2006/main">
            <a:r>
              <a:t>- docs/licensing.md</a:t>
            </a:r>
          </a:p>
          <a:p xmlns:a="http://schemas.openxmlformats.org/drawingml/2006/main">
            <a:r>
              <a:t>- docs/instance-sharing.md</a:t>
            </a:r>
          </a:p>
          <a:p xmlns:a="http://schemas.openxmlformats.org/drawingml/2006/main">
            <a:r>
              <a:t>- docs/private-mesh.md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Resource Sharing ordnet lokale Benutzer und Gruppen einzelnen Instanzen zu. Rollenprüfung, ACL, Anmeldung und Guard-Bereitschaft bleiben Voraussetzung. Die Funktion benötigt keine Lizenzdatei. Externe Identitätsanbieter benötigen das Entitlement federated-sso aus Free Registered oder Commercial.</a:t>
            </a:r>
          </a:p>
          <a:p xmlns:a="http://schemas.openxmlformats.org/drawingml/2006/main">
            <a:r>
              <a:t/>
            </a:r>
          </a:p>
          <a:p xmlns:a="http://schemas.openxmlformats.org/drawingml/2006/main">
            <a:r>
              <a:t>[Sources]</a:t>
            </a:r>
          </a:p>
          <a:p xmlns:a="http://schemas.openxmlformats.org/drawingml/2006/main">
            <a:r>
              <a:t>- docs/instance-sharing.md</a:t>
            </a:r>
          </a:p>
          <a:p xmlns:a="http://schemas.openxmlformats.org/drawingml/2006/main">
            <a:r>
              <a:t>- docs/authentication.md</a:t>
            </a:r>
          </a:p>
          <a:p xmlns:a="http://schemas.openxmlformats.org/drawingml/2006/main">
            <a:r>
              <a:t>- LICENSING.md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Current dashboard workflows; screenshots will be captured from the current test server in Chrome.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docs/installation/README.md and current dashboard workflows.</a:t>
            </a:r>
          </a:p>
          <a:p xmlns:a="http://schemas.openxmlformats.org/drawingml/2006/main">
            <a:r>
              <a:t>- Product screenshot will be captured from the current test server in Chrome.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Public repository state: 13b9d83 (2026-09-01).</a:t>
            </a:r>
          </a:p>
          <a:p xmlns:a="http://schemas.openxmlformats.org/drawingml/2006/main">
            <a:r>
              <a:t>- SECURITY.md, docs/legal-notice.html and public repository URL.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edad10174746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a693f49a574510" /><Relationship Type="http://schemas.openxmlformats.org/officeDocument/2006/relationships/slideLayout" Target="/ppt/slideLayouts/slideLayout1.xml" Id="R69e9476c3be440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e9476c3be440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fc7168494c4d00" /><Relationship Type="http://schemas.openxmlformats.org/officeDocument/2006/relationships/image" Target="/ppt/media/image.png" Id="R47d4e95a854a4bd5" /><Relationship Type="http://schemas.openxmlformats.org/officeDocument/2006/relationships/notesSlide" Target="/ppt/notesSlides/notesSlide1.xml" Id="R233ad8a3b7f344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15740911824128" /><Relationship Type="http://schemas.openxmlformats.org/officeDocument/2006/relationships/image" Target="/ppt/media/image.jpeg" Id="R1217b00e98374ddd" /><Relationship Type="http://schemas.openxmlformats.org/officeDocument/2006/relationships/notesSlide" Target="/ppt/notesSlides/notesSlide2.xml" Id="R930bb0ab79d145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94559c7d574cc9" /><Relationship Type="http://schemas.openxmlformats.org/officeDocument/2006/relationships/image" Target="/ppt/media/image2.jpeg" Id="R4a465ec483ad4137" /><Relationship Type="http://schemas.openxmlformats.org/officeDocument/2006/relationships/notesSlide" Target="/ppt/notesSlides/notesSlide3.xml" Id="R54adf40d228b47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f5462560a1428d" /><Relationship Type="http://schemas.openxmlformats.org/officeDocument/2006/relationships/notesSlide" Target="/ppt/notesSlides/notesSlide4.xml" Id="Rc88d16f2f58048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41bcc7eb07473e" /><Relationship Type="http://schemas.openxmlformats.org/officeDocument/2006/relationships/image" Target="/ppt/media/image2.png" Id="R8bca73bcc8d14b20" /><Relationship Type="http://schemas.openxmlformats.org/officeDocument/2006/relationships/notesSlide" Target="/ppt/notesSlides/notesSlide5.xml" Id="R95b739a760a84d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51a6fb60064995" /><Relationship Type="http://schemas.openxmlformats.org/officeDocument/2006/relationships/notesSlide" Target="/ppt/notesSlides/notesSlide6.xml" Id="Rd24b57de9a8f4c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eee2310fe24ea1" /><Relationship Type="http://schemas.openxmlformats.org/officeDocument/2006/relationships/image" Target="/ppt/media/image3.png" Id="R7dd0bb6172de4db1" /><Relationship Type="http://schemas.openxmlformats.org/officeDocument/2006/relationships/notesSlide" Target="/ppt/notesSlides/notesSlide7.xml" Id="R6d1f408fda144a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80530141c6464d" /><Relationship Type="http://schemas.openxmlformats.org/officeDocument/2006/relationships/notesSlide" Target="/ppt/notesSlides/notesSlide8.xml" Id="R5aedcc857a6d49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50f5596f1440ef" /><Relationship Type="http://schemas.openxmlformats.org/officeDocument/2006/relationships/notesSlide" Target="/ppt/notesSlides/notesSlide9.xml" Id="R7b891bec49a148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39368609794e06" /><Relationship Type="http://schemas.openxmlformats.org/officeDocument/2006/relationships/image" Target="/ppt/media/image4.png" Id="Re691920bf6f348cc" /><Relationship Type="http://schemas.openxmlformats.org/officeDocument/2006/relationships/notesSlide" Target="/ppt/notesSlides/notesSlide10.xml" Id="Rd4e59d70eada44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84374a8a10843e6" /><Relationship Type="http://schemas.openxmlformats.org/officeDocument/2006/relationships/image" Target="/ppt/media/image3.jpeg" Id="R74b4738843f14ef0" /><Relationship Type="http://schemas.openxmlformats.org/officeDocument/2006/relationships/image" Target="/ppt/media/image4.jpeg" Id="R98c685ea76814723" /><Relationship Type="http://schemas.openxmlformats.org/officeDocument/2006/relationships/image" Target="/ppt/media/image5.jpeg" Id="R58d453396b71446c" /><Relationship Type="http://schemas.openxmlformats.org/officeDocument/2006/relationships/notesSlide" Target="/ppt/notesSlides/notesSlide11.xml" Id="Rbffd7b68aa094b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4a90e7e03824784" /><Relationship Type="http://schemas.openxmlformats.org/officeDocument/2006/relationships/image" Target="/ppt/media/image6.jpeg" Id="R2e7c54e0b5714781" /><Relationship Type="http://schemas.openxmlformats.org/officeDocument/2006/relationships/notesSlide" Target="/ppt/notesSlides/notesSlide12.xml" Id="R38bc5a4a756d4c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071b2ee2fcc4ca4" /><Relationship Type="http://schemas.openxmlformats.org/officeDocument/2006/relationships/notesSlide" Target="/ppt/notesSlides/notesSlide13.xml" Id="R8a09e1095acd4d6e" /></Relationships>
</file>

<file path=ppt/slides/slide1.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7d4e95a854a4bd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ro-copy-panel">
            <a:extLst xmlns:a="http://schemas.openxmlformats.org/drawingml/2006/main">
              <a:ext uri="{FF2B5EF4-FFF2-40B4-BE49-F238E27FC236}">
                <a16:creationId xmlns:a16="http://schemas.microsoft.com/office/drawing/2014/main" id="{E1210A75-AD7B-45FE-9715-8B680302ECE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rgbClr val="050B18"/>
          </a:solidFill>
          <a:ln xmlns:a="http://schemas.openxmlformats.org/drawingml/2006/main" w="0">
            <a:noFill/>
            <a:prstDash val="solid"/>
          </a:ln>
        </p:spPr>
      </p:sp>
      <p:sp>
        <p:nvSpPr>
          <p:cNvPr id="3" name="eyebrow">
            <a:extLst xmlns:a="http://schemas.openxmlformats.org/drawingml/2006/main">
              <a:ext uri="{FF2B5EF4-FFF2-40B4-BE49-F238E27FC236}">
                <a16:creationId xmlns:a16="http://schemas.microsoft.com/office/drawing/2014/main" id="{570800CC-E0E0-4D5B-AF00-B03206070553}"/>
              </a:ext>
            </a:extLst>
          </p:cNvPr>
          <p:cNvSpPr>
            <a:spLocks xmlns:a="http://schemas.openxmlformats.org/drawingml/2006/main" noGrp="1"/>
          </p:cNvSpPr>
          <p:nvPr/>
        </p:nvSpPr>
        <p:spPr>
          <a:xfrm xmlns:a="http://schemas.openxmlformats.org/drawingml/2006/main">
            <a:off x="685800" y="6286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BSL 1.1 AI APPLIANCE</a:t>
            </a:r>
          </a:p>
        </p:txBody>
      </p:sp>
      <p:sp>
        <p:nvSpPr>
          <p:cNvPr id="4" name="hero-title">
            <a:extLst xmlns:a="http://schemas.openxmlformats.org/drawingml/2006/main">
              <a:ext uri="{FF2B5EF4-FFF2-40B4-BE49-F238E27FC236}">
                <a16:creationId xmlns:a16="http://schemas.microsoft.com/office/drawing/2014/main" id="{47911193-4E62-4CC0-8575-3ADD29FDB767}"/>
              </a:ext>
            </a:extLst>
          </p:cNvPr>
          <p:cNvSpPr>
            <a:spLocks xmlns:a="http://schemas.openxmlformats.org/drawingml/2006/main" noGrp="1"/>
          </p:cNvSpPr>
          <p:nvPr/>
        </p:nvSpPr>
        <p:spPr>
          <a:xfrm xmlns:a="http://schemas.openxmlformats.org/drawingml/2006/main">
            <a:off x="685800" y="1809750"/>
            <a:ext cx="5143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0000"/>
              </a:lnSpc>
              <a:buNone/>
              <a:defRPr sz="4800" b="1">
                <a:solidFill>
                  <a:srgbClr val="F7FAFF"/>
                </a:solidFill>
                <a:latin typeface="Avenir Next"/>
                <a:ea typeface="Avenir Next"/>
                <a:cs typeface="Avenir Next"/>
              </a:defRPr>
            </a:pPr>
            <a:r>
              <a:rPr sz="4800" b="1">
                <a:solidFill>
                  <a:srgbClr val="F7FAFF"/>
                </a:solidFill>
                <a:latin typeface="Avenir Next"/>
                <a:ea typeface="Avenir Next"/>
                <a:cs typeface="Avenir Next"/>
              </a:rPr>
              <a:t>Ihre KI-Plattform.</a:t>
            </a:r>
          </a:p>
          <a:p xmlns:a="http://schemas.openxmlformats.org/drawingml/2006/main">
            <a:pPr>
              <a:lnSpc>
                <a:spcPct val="90000"/>
              </a:lnSpc>
              <a:buNone/>
              <a:defRPr sz="4800" b="1">
                <a:solidFill>
                  <a:srgbClr val="F7FAFF"/>
                </a:solidFill>
                <a:latin typeface="Avenir Next"/>
                <a:ea typeface="Avenir Next"/>
                <a:cs typeface="Avenir Next"/>
              </a:defRPr>
            </a:pPr>
            <a:r>
              <a:rPr sz="4800" b="1">
                <a:solidFill>
                  <a:srgbClr val="F7FAFF"/>
                </a:solidFill>
                <a:latin typeface="Avenir Next"/>
                <a:ea typeface="Avenir Next"/>
                <a:cs typeface="Avenir Next"/>
              </a:rPr>
              <a:t>Unter Ihrer Kontrolle.</a:t>
            </a:r>
          </a:p>
        </p:txBody>
      </p:sp>
      <p:sp>
        <p:nvSpPr>
          <p:cNvPr id="5" name="hero-subtitle">
            <a:extLst xmlns:a="http://schemas.openxmlformats.org/drawingml/2006/main">
              <a:ext uri="{FF2B5EF4-FFF2-40B4-BE49-F238E27FC236}">
                <a16:creationId xmlns:a16="http://schemas.microsoft.com/office/drawing/2014/main" id="{8C61C155-0B0D-4588-9F3B-E2FFA892B9FF}"/>
              </a:ext>
            </a:extLst>
          </p:cNvPr>
          <p:cNvSpPr>
            <a:spLocks xmlns:a="http://schemas.openxmlformats.org/drawingml/2006/main" noGrp="1"/>
          </p:cNvSpPr>
          <p:nvPr/>
        </p:nvSpPr>
        <p:spPr>
          <a:xfrm xmlns:a="http://schemas.openxmlformats.org/drawingml/2006/main">
            <a:off x="685800" y="382905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75">
                <a:solidFill>
                  <a:srgbClr val="C5D4E6"/>
                </a:solidFill>
                <a:latin typeface="Avenir Next"/>
                <a:ea typeface="Avenir Next"/>
                <a:cs typeface="Avenir Next"/>
              </a:defRPr>
            </a:pPr>
            <a:r>
              <a:rPr sz="1875">
                <a:solidFill>
                  <a:srgbClr val="C5D4E6"/>
                </a:solidFill>
                <a:latin typeface="Avenir Next"/>
                <a:ea typeface="Avenir Next"/>
                <a:cs typeface="Avenir Next"/>
              </a:rPr>
              <a:t>Auf eigener Hardware, in der Cloud</a:t>
            </a:r>
          </a:p>
          <a:p xmlns:a="http://schemas.openxmlformats.org/drawingml/2006/main">
            <a:pPr>
              <a:lnSpc>
                <a:spcPct val="118000"/>
              </a:lnSpc>
              <a:buNone/>
              <a:defRPr sz="1875">
                <a:solidFill>
                  <a:srgbClr val="C5D4E6"/>
                </a:solidFill>
                <a:latin typeface="Avenir Next"/>
                <a:ea typeface="Avenir Next"/>
                <a:cs typeface="Avenir Next"/>
              </a:defRPr>
            </a:pPr>
            <a:r>
              <a:rPr sz="1875">
                <a:solidFill>
                  <a:srgbClr val="C5D4E6"/>
                </a:solidFill>
                <a:latin typeface="Avenir Next"/>
                <a:ea typeface="Avenir Next"/>
                <a:cs typeface="Avenir Next"/>
              </a:rPr>
              <a:t>oder im vorhandenen Kubernetes-Cluster.</a:t>
            </a:r>
          </a:p>
        </p:txBody>
      </p:sp>
      <p:sp>
        <p:nvSpPr>
          <p:cNvPr id="6" name="tag-LOCAL-FIRST">
            <a:extLst xmlns:a="http://schemas.openxmlformats.org/drawingml/2006/main">
              <a:ext uri="{FF2B5EF4-FFF2-40B4-BE49-F238E27FC236}">
                <a16:creationId xmlns:a16="http://schemas.microsoft.com/office/drawing/2014/main" id="{7BB95C7E-FFE6-47C7-9252-00D430963BEE}"/>
              </a:ext>
            </a:extLst>
          </p:cNvPr>
          <p:cNvSpPr>
            <a:spLocks xmlns:a="http://schemas.openxmlformats.org/drawingml/2006/main" noGrp="1"/>
          </p:cNvSpPr>
          <p:nvPr/>
        </p:nvSpPr>
        <p:spPr>
          <a:xfrm xmlns:a="http://schemas.openxmlformats.org/drawingml/2006/main">
            <a:off x="685800" y="5124450"/>
            <a:ext cx="14287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LOCAL-FIRST</a:t>
            </a:r>
          </a:p>
        </p:txBody>
      </p:sp>
      <p:sp>
        <p:nvSpPr>
          <p:cNvPr id="7" name="tag-HYBRID">
            <a:extLst xmlns:a="http://schemas.openxmlformats.org/drawingml/2006/main">
              <a:ext uri="{FF2B5EF4-FFF2-40B4-BE49-F238E27FC236}">
                <a16:creationId xmlns:a16="http://schemas.microsoft.com/office/drawing/2014/main" id="{F3B5F95E-8EB1-4419-8E87-CAB3026319C9}"/>
              </a:ext>
            </a:extLst>
          </p:cNvPr>
          <p:cNvSpPr>
            <a:spLocks xmlns:a="http://schemas.openxmlformats.org/drawingml/2006/main" noGrp="1"/>
          </p:cNvSpPr>
          <p:nvPr/>
        </p:nvSpPr>
        <p:spPr>
          <a:xfrm xmlns:a="http://schemas.openxmlformats.org/drawingml/2006/main">
            <a:off x="2247900" y="5124450"/>
            <a:ext cx="10096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8BDF8"/>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8BDF8"/>
                </a:solidFill>
                <a:latin typeface="Avenir Next"/>
                <a:ea typeface="Avenir Next"/>
                <a:cs typeface="Avenir Next"/>
              </a:defRPr>
            </a:pPr>
            <a:r>
              <a:rPr sz="1200" b="1">
                <a:solidFill>
                  <a:srgbClr val="38BDF8"/>
                </a:solidFill>
                <a:latin typeface="Avenir Next"/>
                <a:ea typeface="Avenir Next"/>
                <a:cs typeface="Avenir Next"/>
              </a:rPr>
              <a:t>HYBRID</a:t>
            </a:r>
          </a:p>
        </p:txBody>
      </p:sp>
      <p:sp>
        <p:nvSpPr>
          <p:cNvPr id="8" name="tag-OPEN">
            <a:extLst xmlns:a="http://schemas.openxmlformats.org/drawingml/2006/main">
              <a:ext uri="{FF2B5EF4-FFF2-40B4-BE49-F238E27FC236}">
                <a16:creationId xmlns:a16="http://schemas.microsoft.com/office/drawing/2014/main" id="{F3D58804-459E-424E-B807-568CF5A663C6}"/>
              </a:ext>
            </a:extLst>
          </p:cNvPr>
          <p:cNvSpPr>
            <a:spLocks xmlns:a="http://schemas.openxmlformats.org/drawingml/2006/main" noGrp="1"/>
          </p:cNvSpPr>
          <p:nvPr/>
        </p:nvSpPr>
        <p:spPr>
          <a:xfrm xmlns:a="http://schemas.openxmlformats.org/drawingml/2006/main">
            <a:off x="3390900" y="5124450"/>
            <a:ext cx="8953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BSL 1.1</a:t>
            </a:r>
          </a:p>
        </p:txBody>
      </p:sp>
      <p:sp>
        <p:nvSpPr>
          <p:cNvPr id="9" name="qualityminds">
            <a:extLst xmlns:a="http://schemas.openxmlformats.org/drawingml/2006/main">
              <a:ext uri="{FF2B5EF4-FFF2-40B4-BE49-F238E27FC236}">
                <a16:creationId xmlns:a16="http://schemas.microsoft.com/office/drawing/2014/main" id="{4BE3276B-E3A0-4775-B5AA-86F4C3688C47}"/>
              </a:ext>
            </a:extLst>
          </p:cNvPr>
          <p:cNvSpPr>
            <a:spLocks xmlns:a="http://schemas.openxmlformats.org/drawingml/2006/main" noGrp="1"/>
          </p:cNvSpPr>
          <p:nvPr/>
        </p:nvSpPr>
        <p:spPr>
          <a:xfrm xmlns:a="http://schemas.openxmlformats.org/drawingml/2006/main">
            <a:off x="9906000" y="514350"/>
            <a:ext cx="160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125" b="1">
                <a:solidFill>
                  <a:srgbClr val="B8C9DD"/>
                </a:solidFill>
                <a:latin typeface="Avenir Next"/>
                <a:ea typeface="Avenir Next"/>
                <a:cs typeface="Avenir Next"/>
              </a:defRPr>
            </a:pPr>
            <a:r>
              <a:rPr sz="1125" b="1">
                <a:solidFill>
                  <a:srgbClr val="B8C9DD"/>
                </a:solidFill>
                <a:latin typeface="Avenir Next"/>
                <a:ea typeface="Avenir Next"/>
                <a:cs typeface="Avenir Next"/>
              </a:rPr>
              <a:t>QUALITYMINDS</a:t>
            </a:r>
          </a:p>
        </p:txBody>
      </p:sp>
    </p:spTree>
    <p:extLst>
      <p:ext uri="{BB962C8B-B14F-4D97-AF65-F5344CB8AC3E}">
        <p14:creationId xmlns:p14="http://schemas.microsoft.com/office/powerpoint/2010/main" val="645561744"/>
      </p:ext>
    </p:extLst>
  </p:cSld>
</p:sld>
</file>

<file path=ppt/slides/slide2.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1" name="brand-footer">
            <a:extLst xmlns:a="http://schemas.openxmlformats.org/drawingml/2006/main">
              <a:ext uri="{FF2B5EF4-FFF2-40B4-BE49-F238E27FC236}">
                <a16:creationId xmlns:a16="http://schemas.microsoft.com/office/drawing/2014/main" id="{D657BBDD-3C65-4CA3-A644-63FC75C91DD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C1CEF70D-CF6F-4F5C-A9F1-7DAF3FBF11C0}"/>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02</a:t>
            </a:r>
          </a:p>
        </p:txBody>
      </p:sp>
      <p:sp>
        <p:nvSpPr>
          <p:cNvPr id="3" name="eyebrow">
            <a:extLst xmlns:a="http://schemas.openxmlformats.org/drawingml/2006/main">
              <a:ext uri="{FF2B5EF4-FFF2-40B4-BE49-F238E27FC236}">
                <a16:creationId xmlns:a16="http://schemas.microsoft.com/office/drawing/2014/main" id="{966C18B7-7BD1-4DC1-9EDB-6C4BF422268E}"/>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DIE REALITÄT</a:t>
            </a:r>
          </a:p>
        </p:txBody>
      </p:sp>
      <p:sp>
        <p:nvSpPr>
          <p:cNvPr id="4" name="title">
            <a:extLst xmlns:a="http://schemas.openxmlformats.org/drawingml/2006/main">
              <a:ext uri="{FF2B5EF4-FFF2-40B4-BE49-F238E27FC236}">
                <a16:creationId xmlns:a16="http://schemas.microsoft.com/office/drawing/2014/main" id="{6CAAD781-3995-4060-BDAD-CD4EDD2D28BB}"/>
              </a:ext>
            </a:extLst>
          </p:cNvPr>
          <p:cNvSpPr>
            <a:spLocks xmlns:a="http://schemas.openxmlformats.org/drawingml/2006/main" noGrp="1"/>
          </p:cNvSpPr>
          <p:nvPr/>
        </p:nvSpPr>
        <p:spPr>
          <a:xfrm xmlns:a="http://schemas.openxmlformats.org/drawingml/2006/main">
            <a:off x="685800" y="971550"/>
            <a:ext cx="581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Die Herausforderung ist nicht das Modell</a:t>
            </a:r>
          </a:p>
        </p:txBody>
      </p:sp>
      <p:sp>
        <p:nvSpPr>
          <p:cNvPr id="5" name="problem-lead">
            <a:extLst xmlns:a="http://schemas.openxmlformats.org/drawingml/2006/main">
              <a:ext uri="{FF2B5EF4-FFF2-40B4-BE49-F238E27FC236}">
                <a16:creationId xmlns:a16="http://schemas.microsoft.com/office/drawing/2014/main" id="{473DB350-A00F-4518-9AB3-95FAFD208040}"/>
              </a:ext>
            </a:extLst>
          </p:cNvPr>
          <p:cNvSpPr>
            <a:spLocks xmlns:a="http://schemas.openxmlformats.org/drawingml/2006/main" noGrp="1"/>
          </p:cNvSpPr>
          <p:nvPr/>
        </p:nvSpPr>
        <p:spPr>
          <a:xfrm xmlns:a="http://schemas.openxmlformats.org/drawingml/2006/main">
            <a:off x="685800" y="2095500"/>
            <a:ext cx="514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75">
                <a:solidFill>
                  <a:srgbClr val="C5D4E6"/>
                </a:solidFill>
                <a:latin typeface="Avenir Next"/>
                <a:ea typeface="Avenir Next"/>
                <a:cs typeface="Avenir Next"/>
              </a:defRPr>
            </a:pPr>
            <a:r>
              <a:rPr sz="1875">
                <a:solidFill>
                  <a:srgbClr val="C5D4E6"/>
                </a:solidFill>
                <a:latin typeface="Avenir Next"/>
                <a:ea typeface="Avenir Next"/>
                <a:cs typeface="Avenir Next"/>
              </a:rPr>
              <a:t>Produktive KI entsteht erst, wenn sechs technische Grenzen zusammenspielen.</a:t>
            </a:r>
          </a:p>
        </p:txBody>
      </p:sp>
      <p:sp>
        <p:nvSpPr>
          <p:cNvPr id="6" name="problem-dot-0">
            <a:extLst xmlns:a="http://schemas.openxmlformats.org/drawingml/2006/main">
              <a:ext uri="{FF2B5EF4-FFF2-40B4-BE49-F238E27FC236}">
                <a16:creationId xmlns:a16="http://schemas.microsoft.com/office/drawing/2014/main" id="{629B8594-3D7C-4F3E-9B84-B27D85009902}"/>
              </a:ext>
            </a:extLst>
          </p:cNvPr>
          <p:cNvSpPr>
            <a:spLocks xmlns:a="http://schemas.openxmlformats.org/drawingml/2006/main" noGrp="1"/>
          </p:cNvSpPr>
          <p:nvPr/>
        </p:nvSpPr>
        <p:spPr>
          <a:xfrm xmlns:a="http://schemas.openxmlformats.org/drawingml/2006/main">
            <a:off x="685800" y="3067050"/>
            <a:ext cx="95250" cy="952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7" name="problem-item-0">
            <a:extLst xmlns:a="http://schemas.openxmlformats.org/drawingml/2006/main">
              <a:ext uri="{FF2B5EF4-FFF2-40B4-BE49-F238E27FC236}">
                <a16:creationId xmlns:a16="http://schemas.microsoft.com/office/drawing/2014/main" id="{FBD4866A-921F-4F60-B1F4-4C439D4F140E}"/>
              </a:ext>
            </a:extLst>
          </p:cNvPr>
          <p:cNvSpPr>
            <a:spLocks xmlns:a="http://schemas.openxmlformats.org/drawingml/2006/main" noGrp="1"/>
          </p:cNvSpPr>
          <p:nvPr/>
        </p:nvSpPr>
        <p:spPr>
          <a:xfrm xmlns:a="http://schemas.openxmlformats.org/drawingml/2006/main">
            <a:off x="933450" y="29432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Installation</a:t>
            </a:r>
          </a:p>
        </p:txBody>
      </p:sp>
      <p:sp>
        <p:nvSpPr>
          <p:cNvPr id="8" name="problem-dot-1">
            <a:extLst xmlns:a="http://schemas.openxmlformats.org/drawingml/2006/main">
              <a:ext uri="{FF2B5EF4-FFF2-40B4-BE49-F238E27FC236}">
                <a16:creationId xmlns:a16="http://schemas.microsoft.com/office/drawing/2014/main" id="{31B17CBA-8C23-40F3-9F56-EFB3B26F5289}"/>
              </a:ext>
            </a:extLst>
          </p:cNvPr>
          <p:cNvSpPr>
            <a:spLocks xmlns:a="http://schemas.openxmlformats.org/drawingml/2006/main" noGrp="1"/>
          </p:cNvSpPr>
          <p:nvPr/>
        </p:nvSpPr>
        <p:spPr>
          <a:xfrm xmlns:a="http://schemas.openxmlformats.org/drawingml/2006/main">
            <a:off x="3124200" y="3067050"/>
            <a:ext cx="95250" cy="952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9" name="problem-item-1">
            <a:extLst xmlns:a="http://schemas.openxmlformats.org/drawingml/2006/main">
              <a:ext uri="{FF2B5EF4-FFF2-40B4-BE49-F238E27FC236}">
                <a16:creationId xmlns:a16="http://schemas.microsoft.com/office/drawing/2014/main" id="{B7B7D41C-837A-400C-8384-121B3BAB0985}"/>
              </a:ext>
            </a:extLst>
          </p:cNvPr>
          <p:cNvSpPr>
            <a:spLocks xmlns:a="http://schemas.openxmlformats.org/drawingml/2006/main" noGrp="1"/>
          </p:cNvSpPr>
          <p:nvPr/>
        </p:nvSpPr>
        <p:spPr>
          <a:xfrm xmlns:a="http://schemas.openxmlformats.org/drawingml/2006/main">
            <a:off x="3371850" y="29432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GitOps</a:t>
            </a:r>
          </a:p>
        </p:txBody>
      </p:sp>
      <p:sp>
        <p:nvSpPr>
          <p:cNvPr id="10" name="problem-dot-2">
            <a:extLst xmlns:a="http://schemas.openxmlformats.org/drawingml/2006/main">
              <a:ext uri="{FF2B5EF4-FFF2-40B4-BE49-F238E27FC236}">
                <a16:creationId xmlns:a16="http://schemas.microsoft.com/office/drawing/2014/main" id="{46CB54DE-D163-412F-9414-52171F73D296}"/>
              </a:ext>
            </a:extLst>
          </p:cNvPr>
          <p:cNvSpPr>
            <a:spLocks xmlns:a="http://schemas.openxmlformats.org/drawingml/2006/main" noGrp="1"/>
          </p:cNvSpPr>
          <p:nvPr/>
        </p:nvSpPr>
        <p:spPr>
          <a:xfrm xmlns:a="http://schemas.openxmlformats.org/drawingml/2006/main">
            <a:off x="685800" y="3714750"/>
            <a:ext cx="95250" cy="952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11" name="problem-item-2">
            <a:extLst xmlns:a="http://schemas.openxmlformats.org/drawingml/2006/main">
              <a:ext uri="{FF2B5EF4-FFF2-40B4-BE49-F238E27FC236}">
                <a16:creationId xmlns:a16="http://schemas.microsoft.com/office/drawing/2014/main" id="{DE8D0DD3-E4A5-4C17-ADC0-31B91D7F7EC2}"/>
              </a:ext>
            </a:extLst>
          </p:cNvPr>
          <p:cNvSpPr>
            <a:spLocks xmlns:a="http://schemas.openxmlformats.org/drawingml/2006/main" noGrp="1"/>
          </p:cNvSpPr>
          <p:nvPr/>
        </p:nvSpPr>
        <p:spPr>
          <a:xfrm xmlns:a="http://schemas.openxmlformats.org/drawingml/2006/main">
            <a:off x="933450" y="35909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Netzwerk</a:t>
            </a:r>
          </a:p>
        </p:txBody>
      </p:sp>
      <p:sp>
        <p:nvSpPr>
          <p:cNvPr id="12" name="problem-dot-3">
            <a:extLst xmlns:a="http://schemas.openxmlformats.org/drawingml/2006/main">
              <a:ext uri="{FF2B5EF4-FFF2-40B4-BE49-F238E27FC236}">
                <a16:creationId xmlns:a16="http://schemas.microsoft.com/office/drawing/2014/main" id="{68977283-D06E-4A82-89CD-03091EFAF20A}"/>
              </a:ext>
            </a:extLst>
          </p:cNvPr>
          <p:cNvSpPr>
            <a:spLocks xmlns:a="http://schemas.openxmlformats.org/drawingml/2006/main" noGrp="1"/>
          </p:cNvSpPr>
          <p:nvPr/>
        </p:nvSpPr>
        <p:spPr>
          <a:xfrm xmlns:a="http://schemas.openxmlformats.org/drawingml/2006/main">
            <a:off x="3124200" y="37147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3" name="problem-item-3">
            <a:extLst xmlns:a="http://schemas.openxmlformats.org/drawingml/2006/main">
              <a:ext uri="{FF2B5EF4-FFF2-40B4-BE49-F238E27FC236}">
                <a16:creationId xmlns:a16="http://schemas.microsoft.com/office/drawing/2014/main" id="{C8A012D1-AB11-4E29-908C-69088005CD7B}"/>
              </a:ext>
            </a:extLst>
          </p:cNvPr>
          <p:cNvSpPr>
            <a:spLocks xmlns:a="http://schemas.openxmlformats.org/drawingml/2006/main" noGrp="1"/>
          </p:cNvSpPr>
          <p:nvPr/>
        </p:nvSpPr>
        <p:spPr>
          <a:xfrm xmlns:a="http://schemas.openxmlformats.org/drawingml/2006/main">
            <a:off x="3371850" y="35909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Identität</a:t>
            </a:r>
          </a:p>
        </p:txBody>
      </p:sp>
      <p:sp>
        <p:nvSpPr>
          <p:cNvPr id="14" name="problem-dot-4">
            <a:extLst xmlns:a="http://schemas.openxmlformats.org/drawingml/2006/main">
              <a:ext uri="{FF2B5EF4-FFF2-40B4-BE49-F238E27FC236}">
                <a16:creationId xmlns:a16="http://schemas.microsoft.com/office/drawing/2014/main" id="{B352F90F-F667-4F06-A031-55B3E0FA221C}"/>
              </a:ext>
            </a:extLst>
          </p:cNvPr>
          <p:cNvSpPr>
            <a:spLocks xmlns:a="http://schemas.openxmlformats.org/drawingml/2006/main" noGrp="1"/>
          </p:cNvSpPr>
          <p:nvPr/>
        </p:nvSpPr>
        <p:spPr>
          <a:xfrm xmlns:a="http://schemas.openxmlformats.org/drawingml/2006/main">
            <a:off x="685800" y="43624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5" name="problem-item-4">
            <a:extLst xmlns:a="http://schemas.openxmlformats.org/drawingml/2006/main">
              <a:ext uri="{FF2B5EF4-FFF2-40B4-BE49-F238E27FC236}">
                <a16:creationId xmlns:a16="http://schemas.microsoft.com/office/drawing/2014/main" id="{B0AA1220-A43D-4056-A758-5E1DFA4355B5}"/>
              </a:ext>
            </a:extLst>
          </p:cNvPr>
          <p:cNvSpPr>
            <a:spLocks xmlns:a="http://schemas.openxmlformats.org/drawingml/2006/main" noGrp="1"/>
          </p:cNvSpPr>
          <p:nvPr/>
        </p:nvSpPr>
        <p:spPr>
          <a:xfrm xmlns:a="http://schemas.openxmlformats.org/drawingml/2006/main">
            <a:off x="933450" y="4238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Modelle</a:t>
            </a:r>
          </a:p>
        </p:txBody>
      </p:sp>
      <p:sp>
        <p:nvSpPr>
          <p:cNvPr id="16" name="problem-dot-5">
            <a:extLst xmlns:a="http://schemas.openxmlformats.org/drawingml/2006/main">
              <a:ext uri="{FF2B5EF4-FFF2-40B4-BE49-F238E27FC236}">
                <a16:creationId xmlns:a16="http://schemas.microsoft.com/office/drawing/2014/main" id="{35910B41-B4FA-46B6-9B8E-8F0D26A31CED}"/>
              </a:ext>
            </a:extLst>
          </p:cNvPr>
          <p:cNvSpPr>
            <a:spLocks xmlns:a="http://schemas.openxmlformats.org/drawingml/2006/main" noGrp="1"/>
          </p:cNvSpPr>
          <p:nvPr/>
        </p:nvSpPr>
        <p:spPr>
          <a:xfrm xmlns:a="http://schemas.openxmlformats.org/drawingml/2006/main">
            <a:off x="3124200" y="43624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7" name="problem-item-5">
            <a:extLst xmlns:a="http://schemas.openxmlformats.org/drawingml/2006/main">
              <a:ext uri="{FF2B5EF4-FFF2-40B4-BE49-F238E27FC236}">
                <a16:creationId xmlns:a16="http://schemas.microsoft.com/office/drawing/2014/main" id="{61FABD15-B568-46E8-85C6-07F8DBE5CC42}"/>
              </a:ext>
            </a:extLst>
          </p:cNvPr>
          <p:cNvSpPr>
            <a:spLocks xmlns:a="http://schemas.openxmlformats.org/drawingml/2006/main" noGrp="1"/>
          </p:cNvSpPr>
          <p:nvPr/>
        </p:nvSpPr>
        <p:spPr>
          <a:xfrm xmlns:a="http://schemas.openxmlformats.org/drawingml/2006/main">
            <a:off x="3371850" y="4238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F7FAFF"/>
                </a:solidFill>
                <a:latin typeface="Avenir Next"/>
                <a:ea typeface="Avenir Next"/>
                <a:cs typeface="Avenir Next"/>
              </a:defRPr>
            </a:pPr>
            <a:r>
              <a:rPr sz="1650" b="1">
                <a:solidFill>
                  <a:srgbClr val="F7FAFF"/>
                </a:solidFill>
                <a:latin typeface="Avenir Next"/>
                <a:ea typeface="Avenir Next"/>
                <a:cs typeface="Avenir Next"/>
              </a:rPr>
              <a:t>Anwendungen</a:t>
            </a:r>
          </a:p>
        </p:txBody>
      </p:sp>
      <p:sp>
        <p:nvSpPr>
          <p:cNvPr id="18" name="terminal-frame">
            <a:extLst xmlns:a="http://schemas.openxmlformats.org/drawingml/2006/main">
              <a:ext uri="{FF2B5EF4-FFF2-40B4-BE49-F238E27FC236}">
                <a16:creationId xmlns:a16="http://schemas.microsoft.com/office/drawing/2014/main" id="{1ECB56CF-F27A-4E9C-B3D4-22485647698F}"/>
              </a:ext>
            </a:extLst>
          </p:cNvPr>
          <p:cNvSpPr>
            <a:spLocks xmlns:a="http://schemas.openxmlformats.org/drawingml/2006/main" noGrp="1"/>
          </p:cNvSpPr>
          <p:nvPr/>
        </p:nvSpPr>
        <p:spPr>
          <a:xfrm xmlns:a="http://schemas.openxmlformats.org/drawingml/2006/main">
            <a:off x="6381750" y="1143000"/>
            <a:ext cx="5124450" cy="4476750"/>
          </a:xfrm>
          <a:prstGeom xmlns:a="http://schemas.openxmlformats.org/drawingml/2006/main" prst="roundRect">
            <a:avLst>
              <a:gd name="adj" fmla="val 5957"/>
            </a:avLst>
          </a:prstGeom>
          <a:solidFill xmlns:a="http://schemas.openxmlformats.org/drawingml/2006/main">
            <a:srgbClr val="0B1730"/>
          </a:solidFill>
          <a:ln xmlns:a="http://schemas.openxmlformats.org/drawingml/2006/main" w="9525">
            <a:solidFill>
              <a:srgbClr val="24415F"/>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217b00e98374ddd"/>
          <a:srcRect xmlns:a="http://schemas.openxmlformats.org/drawingml/2006/main" l="12070" t="0" r="12070" b="0"/>
          <a:stretch xmlns:a="http://schemas.openxmlformats.org/drawingml/2006/main">
            <a:fillRect l="0" t="0" r="0" b="0"/>
          </a:stretch>
        </p:blipFill>
        <p:spPr>
          <a:xfrm xmlns:a="http://schemas.openxmlformats.org/drawingml/2006/main">
            <a:off x="6553200" y="1314450"/>
            <a:ext cx="4781550" cy="4133850"/>
          </a:xfrm>
          <a:prstGeom xmlns:a="http://schemas.openxmlformats.org/drawingml/2006/main" prst="roundRect">
            <a:avLst>
              <a:gd name="adj" fmla="val 4608"/>
            </a:avLst>
          </a:prstGeom>
        </p:spPr>
      </p:pic>
      <p:sp>
        <p:nvSpPr>
          <p:cNvPr id="20" name="tag-EIN PRODUKT STATT SECHS BAUSTELLEN">
            <a:extLst xmlns:a="http://schemas.openxmlformats.org/drawingml/2006/main">
              <a:ext uri="{FF2B5EF4-FFF2-40B4-BE49-F238E27FC236}">
                <a16:creationId xmlns:a16="http://schemas.microsoft.com/office/drawing/2014/main" id="{E1F3C630-A82E-4B28-883E-E53E61098D7E}"/>
              </a:ext>
            </a:extLst>
          </p:cNvPr>
          <p:cNvSpPr>
            <a:spLocks xmlns:a="http://schemas.openxmlformats.org/drawingml/2006/main" noGrp="1"/>
          </p:cNvSpPr>
          <p:nvPr/>
        </p:nvSpPr>
        <p:spPr>
          <a:xfrm xmlns:a="http://schemas.openxmlformats.org/drawingml/2006/main">
            <a:off x="6686550" y="5086350"/>
            <a:ext cx="43243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SICHERER FIRST RUN · KEIN DEFAULT-PASSWORT</a:t>
            </a:r>
          </a:p>
        </p:txBody>
      </p:sp>
    </p:spTree>
    <p:extLst>
      <p:ext uri="{BB962C8B-B14F-4D97-AF65-F5344CB8AC3E}">
        <p14:creationId xmlns:p14="http://schemas.microsoft.com/office/powerpoint/2010/main" val="55613123"/>
      </p:ext>
    </p:extLst>
  </p:cSld>
</p:sld>
</file>

<file path=ppt/slides/slide3.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1" name="brand-footer">
            <a:extLst xmlns:a="http://schemas.openxmlformats.org/drawingml/2006/main">
              <a:ext uri="{FF2B5EF4-FFF2-40B4-BE49-F238E27FC236}">
                <a16:creationId xmlns:a16="http://schemas.microsoft.com/office/drawing/2014/main" id="{BEDD8DD2-66B0-4EE8-88A1-10015763C38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54066EE3-4723-49C1-9860-FC08DE34AEC1}"/>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03</a:t>
            </a:r>
          </a:p>
        </p:txBody>
      </p:sp>
      <p:sp>
        <p:nvSpPr>
          <p:cNvPr id="3" name="eyebrow">
            <a:extLst xmlns:a="http://schemas.openxmlformats.org/drawingml/2006/main">
              <a:ext uri="{FF2B5EF4-FFF2-40B4-BE49-F238E27FC236}">
                <a16:creationId xmlns:a16="http://schemas.microsoft.com/office/drawing/2014/main" id="{BF8A3B08-CC98-416B-9614-0DB08CAE3E63}"/>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CONTROL PLANE</a:t>
            </a:r>
          </a:p>
        </p:txBody>
      </p:sp>
      <p:sp>
        <p:nvSpPr>
          <p:cNvPr id="4" name="title">
            <a:extLst xmlns:a="http://schemas.openxmlformats.org/drawingml/2006/main">
              <a:ext uri="{FF2B5EF4-FFF2-40B4-BE49-F238E27FC236}">
                <a16:creationId xmlns:a16="http://schemas.microsoft.com/office/drawing/2014/main" id="{D5950E5F-C5DE-4D04-81FE-797011CBC6E4}"/>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Eine Oberfläche steuert Services, Modelle und Benutzer</a:t>
            </a:r>
          </a:p>
        </p:txBody>
      </p:sp>
      <p:sp>
        <p:nvSpPr>
          <p:cNvPr id="5" name="dashboard-copy">
            <a:extLst xmlns:a="http://schemas.openxmlformats.org/drawingml/2006/main">
              <a:ext uri="{FF2B5EF4-FFF2-40B4-BE49-F238E27FC236}">
                <a16:creationId xmlns:a16="http://schemas.microsoft.com/office/drawing/2014/main" id="{D3917849-9DB3-4DD9-B911-284DE7F3B467}"/>
              </a:ext>
            </a:extLst>
          </p:cNvPr>
          <p:cNvSpPr>
            <a:spLocks xmlns:a="http://schemas.openxmlformats.org/drawingml/2006/main" noGrp="1"/>
          </p:cNvSpPr>
          <p:nvPr/>
        </p:nvSpPr>
        <p:spPr>
          <a:xfrm xmlns:a="http://schemas.openxmlformats.org/drawingml/2006/main">
            <a:off x="685800" y="203835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Services bündeln Module und Instanzen.</a:t>
            </a:r>
          </a:p>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Modelle nutzen nur verfügbare Hardware.</a:t>
            </a:r>
          </a:p>
        </p:txBody>
      </p:sp>
      <p:sp>
        <p:nvSpPr>
          <p:cNvPr id="6" name="dashboard-divider">
            <a:extLst xmlns:a="http://schemas.openxmlformats.org/drawingml/2006/main">
              <a:ext uri="{FF2B5EF4-FFF2-40B4-BE49-F238E27FC236}">
                <a16:creationId xmlns:a16="http://schemas.microsoft.com/office/drawing/2014/main" id="{2E53289E-E005-4B6E-A19E-11E346908917}"/>
              </a:ext>
            </a:extLst>
          </p:cNvPr>
          <p:cNvSpPr>
            <a:spLocks xmlns:a="http://schemas.openxmlformats.org/drawingml/2006/main" noGrp="1"/>
          </p:cNvSpPr>
          <p:nvPr/>
        </p:nvSpPr>
        <p:spPr>
          <a:xfrm xmlns:a="http://schemas.openxmlformats.org/drawingml/2006/main">
            <a:off x="685800" y="3286125"/>
            <a:ext cx="3429000" cy="0"/>
          </a:xfrm>
          <a:prstGeom xmlns:a="http://schemas.openxmlformats.org/drawingml/2006/main" prst="line">
            <a:avLst/>
          </a:prstGeom>
          <a:noFill xmlns:a="http://schemas.openxmlformats.org/drawingml/2006/main"/>
          <a:ln xmlns:a="http://schemas.openxmlformats.org/drawingml/2006/main" w="19050">
            <a:solidFill>
              <a:srgbClr val="24415F"/>
            </a:solidFill>
            <a:prstDash val="solid"/>
          </a:ln>
        </p:spPr>
      </p:sp>
      <p:sp>
        <p:nvSpPr>
          <p:cNvPr id="7" name="dashboard-proof">
            <a:extLst xmlns:a="http://schemas.openxmlformats.org/drawingml/2006/main">
              <a:ext uri="{FF2B5EF4-FFF2-40B4-BE49-F238E27FC236}">
                <a16:creationId xmlns:a16="http://schemas.microsoft.com/office/drawing/2014/main" id="{4E355DC2-8B18-4DD5-BC53-A501A8E20C75}"/>
              </a:ext>
            </a:extLst>
          </p:cNvPr>
          <p:cNvSpPr>
            <a:spLocks xmlns:a="http://schemas.openxmlformats.org/drawingml/2006/main" noGrp="1"/>
          </p:cNvSpPr>
          <p:nvPr/>
        </p:nvSpPr>
        <p:spPr>
          <a:xfrm xmlns:a="http://schemas.openxmlformats.org/drawingml/2006/main">
            <a:off x="685800" y="3600450"/>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SSO und Rollen schützen die Zugänge.</a:t>
            </a:r>
          </a:p>
          <a:p xmlns:a="http://schemas.openxmlformats.org/drawingml/2006/main">
            <a:pPr>
              <a:lnSpc>
                <a:spcPct val="118000"/>
              </a:lnSpc>
              <a:buNone/>
              <a:defRPr sz="1575">
                <a:solidFill>
                  <a:srgbClr val="9FB1C7"/>
                </a:solidFill>
                <a:latin typeface="Avenir Next"/>
                <a:ea typeface="Avenir Next"/>
                <a:cs typeface="Avenir Next"/>
              </a:defRPr>
            </a:pPr>
            <a:r>
              <a:rPr sz="1575">
                <a:solidFill>
                  <a:srgbClr val="9FB1C7"/>
                </a:solidFill>
                <a:latin typeface="Avenir Next"/>
                <a:ea typeface="Avenir Next"/>
                <a:cs typeface="Avenir Next"/>
              </a:rPr>
              <a:t>Kubernetes bleibt das Fundament.</a:t>
            </a:r>
          </a:p>
        </p:txBody>
      </p:sp>
      <p:sp>
        <p:nvSpPr>
          <p:cNvPr id="8" name="tag-CONNECTED">
            <a:extLst xmlns:a="http://schemas.openxmlformats.org/drawingml/2006/main">
              <a:ext uri="{FF2B5EF4-FFF2-40B4-BE49-F238E27FC236}">
                <a16:creationId xmlns:a16="http://schemas.microsoft.com/office/drawing/2014/main" id="{5774BC3C-4029-4BB9-98B1-76874ADEDE2A}"/>
              </a:ext>
            </a:extLst>
          </p:cNvPr>
          <p:cNvSpPr>
            <a:spLocks xmlns:a="http://schemas.openxmlformats.org/drawingml/2006/main" noGrp="1"/>
          </p:cNvSpPr>
          <p:nvPr/>
        </p:nvSpPr>
        <p:spPr>
          <a:xfrm xmlns:a="http://schemas.openxmlformats.org/drawingml/2006/main">
            <a:off x="685800" y="4810125"/>
            <a:ext cx="12573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4D399"/>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AKTUELLER STAND</a:t>
            </a:r>
          </a:p>
        </p:txBody>
      </p:sp>
      <p:sp>
        <p:nvSpPr>
          <p:cNvPr id="9" name="dashboard-frame">
            <a:extLst xmlns:a="http://schemas.openxmlformats.org/drawingml/2006/main">
              <a:ext uri="{FF2B5EF4-FFF2-40B4-BE49-F238E27FC236}">
                <a16:creationId xmlns:a16="http://schemas.microsoft.com/office/drawing/2014/main" id="{62FDBA7A-CBAA-486D-9641-98B1D9DD28E8}"/>
              </a:ext>
            </a:extLst>
          </p:cNvPr>
          <p:cNvSpPr>
            <a:spLocks xmlns:a="http://schemas.openxmlformats.org/drawingml/2006/main" noGrp="1"/>
          </p:cNvSpPr>
          <p:nvPr/>
        </p:nvSpPr>
        <p:spPr>
          <a:xfrm xmlns:a="http://schemas.openxmlformats.org/drawingml/2006/main">
            <a:off x="5143500" y="1752600"/>
            <a:ext cx="6362700" cy="4095750"/>
          </a:xfrm>
          <a:prstGeom xmlns:a="http://schemas.openxmlformats.org/drawingml/2006/main" prst="roundRect">
            <a:avLst>
              <a:gd name="adj" fmla="val 6512"/>
            </a:avLst>
          </a:prstGeom>
          <a:solidFill xmlns:a="http://schemas.openxmlformats.org/drawingml/2006/main">
            <a:srgbClr val="101F3A"/>
          </a:solidFill>
          <a:ln xmlns:a="http://schemas.openxmlformats.org/drawingml/2006/main" w="9525">
            <a:solidFill>
              <a:srgbClr val="22D3EE"/>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a465ec483ad4137"/>
          <a:srcRect xmlns:a="http://schemas.openxmlformats.org/drawingml/2006/main" l="0" t="0" r="0" b="0"/>
          <a:stretch xmlns:a="http://schemas.openxmlformats.org/drawingml/2006/main"/>
        </p:blipFill>
        <p:spPr>
          <a:xfrm xmlns:a="http://schemas.openxmlformats.org/drawingml/2006/main" flipH="0" flipV="0">
            <a:off x="5314950" y="2174833"/>
            <a:ext cx="6019800" cy="3251283"/>
          </a:xfrm>
          <a:prstGeom xmlns:a="http://schemas.openxmlformats.org/drawingml/2006/main" prst="roundRect">
            <a:avLst/>
          </a:prstGeom>
        </p:spPr>
      </p:pic>
    </p:spTree>
    <p:extLst>
      <p:ext uri="{BB962C8B-B14F-4D97-AF65-F5344CB8AC3E}">
        <p14:creationId xmlns:p14="http://schemas.microsoft.com/office/powerpoint/2010/main" val="1905991336"/>
      </p:ext>
    </p:extLst>
  </p:cSld>
</p:sld>
</file>

<file path=ppt/slides/slide4.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5" name="brand-footer">
            <a:extLst xmlns:a="http://schemas.openxmlformats.org/drawingml/2006/main">
              <a:ext uri="{FF2B5EF4-FFF2-40B4-BE49-F238E27FC236}">
                <a16:creationId xmlns:a16="http://schemas.microsoft.com/office/drawing/2014/main" id="{28020345-D7E8-42A9-9F38-97D9EE749C60}"/>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EF01963B-EA36-4D01-8A73-647E94FAAF37}"/>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04</a:t>
            </a:r>
          </a:p>
        </p:txBody>
      </p:sp>
      <p:sp>
        <p:nvSpPr>
          <p:cNvPr id="3" name="eyebrow">
            <a:extLst xmlns:a="http://schemas.openxmlformats.org/drawingml/2006/main">
              <a:ext uri="{FF2B5EF4-FFF2-40B4-BE49-F238E27FC236}">
                <a16:creationId xmlns:a16="http://schemas.microsoft.com/office/drawing/2014/main" id="{DAF73F52-7F31-4CAD-95DF-F4958BFEFD89}"/>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EIN BETRIEBSMODELL</a:t>
            </a:r>
          </a:p>
        </p:txBody>
      </p:sp>
      <p:sp>
        <p:nvSpPr>
          <p:cNvPr id="4" name="title">
            <a:extLst xmlns:a="http://schemas.openxmlformats.org/drawingml/2006/main">
              <a:ext uri="{FF2B5EF4-FFF2-40B4-BE49-F238E27FC236}">
                <a16:creationId xmlns:a16="http://schemas.microsoft.com/office/drawing/2014/main" id="{8AF63596-E7ED-423D-9E95-9428484E2D92}"/>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Vier Startpunkte. Ein Zielzustand.</a:t>
            </a:r>
          </a:p>
        </p:txBody>
      </p:sp>
      <p:sp>
        <p:nvSpPr>
          <p:cNvPr id="5" name="deploy-lead">
            <a:extLst xmlns:a="http://schemas.openxmlformats.org/drawingml/2006/main">
              <a:ext uri="{FF2B5EF4-FFF2-40B4-BE49-F238E27FC236}">
                <a16:creationId xmlns:a16="http://schemas.microsoft.com/office/drawing/2014/main" id="{8C03F186-E9A3-4D51-B50A-FDE6D9847DAD}"/>
              </a:ext>
            </a:extLst>
          </p:cNvPr>
          <p:cNvSpPr>
            <a:spLocks xmlns:a="http://schemas.openxmlformats.org/drawingml/2006/main" noGrp="1"/>
          </p:cNvSpPr>
          <p:nvPr/>
        </p:nvSpPr>
        <p:spPr>
          <a:xfrm xmlns:a="http://schemas.openxmlformats.org/drawingml/2006/main">
            <a:off x="685800" y="177165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USB, Cloud-init, Ubuntu-Skript oder vorhandenes Kubernetes.</a:t>
            </a:r>
          </a:p>
        </p:txBody>
      </p:sp>
      <p:sp>
        <p:nvSpPr>
          <p:cNvPr id="6" name="deploy-line-1">
            <a:extLst xmlns:a="http://schemas.openxmlformats.org/drawingml/2006/main">
              <a:ext uri="{FF2B5EF4-FFF2-40B4-BE49-F238E27FC236}">
                <a16:creationId xmlns:a16="http://schemas.microsoft.com/office/drawing/2014/main" id="{DDCB640C-70A8-4BA1-97AC-1154BAF5C705}"/>
              </a:ext>
            </a:extLst>
          </p:cNvPr>
          <p:cNvSpPr>
            <a:spLocks xmlns:a="http://schemas.openxmlformats.org/drawingml/2006/main" noGrp="1"/>
          </p:cNvSpPr>
          <p:nvPr/>
        </p:nvSpPr>
        <p:spPr>
          <a:xfrm xmlns:a="http://schemas.openxmlformats.org/drawingml/2006/main">
            <a:off x="2066925" y="3429000"/>
            <a:ext cx="1657350" cy="0"/>
          </a:xfrm>
          <a:prstGeom xmlns:a="http://schemas.openxmlformats.org/drawingml/2006/main" prst="line">
            <a:avLst/>
          </a:prstGeom>
          <a:noFill xmlns:a="http://schemas.openxmlformats.org/drawingml/2006/main"/>
          <a:ln xmlns:a="http://schemas.openxmlformats.org/drawingml/2006/main" w="19050">
            <a:solidFill>
              <a:srgbClr val="22D3EE"/>
            </a:solidFill>
            <a:prstDash val="solid"/>
          </a:ln>
        </p:spPr>
      </p:sp>
      <p:sp>
        <p:nvSpPr>
          <p:cNvPr id="7" name="deploy-line-2">
            <a:extLst xmlns:a="http://schemas.openxmlformats.org/drawingml/2006/main">
              <a:ext uri="{FF2B5EF4-FFF2-40B4-BE49-F238E27FC236}">
                <a16:creationId xmlns:a16="http://schemas.microsoft.com/office/drawing/2014/main" id="{38E737B3-5DD7-4092-880F-A1B559CD60EA}"/>
              </a:ext>
            </a:extLst>
          </p:cNvPr>
          <p:cNvSpPr>
            <a:spLocks xmlns:a="http://schemas.openxmlformats.org/drawingml/2006/main" noGrp="1"/>
          </p:cNvSpPr>
          <p:nvPr/>
        </p:nvSpPr>
        <p:spPr>
          <a:xfrm xmlns:a="http://schemas.openxmlformats.org/drawingml/2006/main">
            <a:off x="4772025" y="3429000"/>
            <a:ext cx="1657350" cy="0"/>
          </a:xfrm>
          <a:prstGeom xmlns:a="http://schemas.openxmlformats.org/drawingml/2006/main" prst="line">
            <a:avLst/>
          </a:prstGeom>
          <a:noFill xmlns:a="http://schemas.openxmlformats.org/drawingml/2006/main"/>
          <a:ln xmlns:a="http://schemas.openxmlformats.org/drawingml/2006/main" w="19050">
            <a:solidFill>
              <a:srgbClr val="22D3EE"/>
            </a:solidFill>
            <a:prstDash val="solid"/>
          </a:ln>
        </p:spPr>
      </p:sp>
      <p:sp>
        <p:nvSpPr>
          <p:cNvPr id="8" name="deploy-line-3">
            <a:extLst xmlns:a="http://schemas.openxmlformats.org/drawingml/2006/main">
              <a:ext uri="{FF2B5EF4-FFF2-40B4-BE49-F238E27FC236}">
                <a16:creationId xmlns:a16="http://schemas.microsoft.com/office/drawing/2014/main" id="{C0A6269F-C244-4617-BCDD-1BA22A43D4EB}"/>
              </a:ext>
            </a:extLst>
          </p:cNvPr>
          <p:cNvSpPr>
            <a:spLocks xmlns:a="http://schemas.openxmlformats.org/drawingml/2006/main" noGrp="1"/>
          </p:cNvSpPr>
          <p:nvPr/>
        </p:nvSpPr>
        <p:spPr>
          <a:xfrm xmlns:a="http://schemas.openxmlformats.org/drawingml/2006/main">
            <a:off x="7477125" y="3429000"/>
            <a:ext cx="1657350" cy="0"/>
          </a:xfrm>
          <a:prstGeom xmlns:a="http://schemas.openxmlformats.org/drawingml/2006/main" prst="line">
            <a:avLst/>
          </a:prstGeom>
          <a:noFill xmlns:a="http://schemas.openxmlformats.org/drawingml/2006/main"/>
          <a:ln xmlns:a="http://schemas.openxmlformats.org/drawingml/2006/main" w="19050">
            <a:solidFill>
              <a:srgbClr val="22D3EE"/>
            </a:solidFill>
            <a:prstDash val="solid"/>
          </a:ln>
        </p:spPr>
      </p:sp>
      <p:sp>
        <p:nvSpPr>
          <p:cNvPr id="9" name="deploy-number-0">
            <a:extLst xmlns:a="http://schemas.openxmlformats.org/drawingml/2006/main">
              <a:ext uri="{FF2B5EF4-FFF2-40B4-BE49-F238E27FC236}">
                <a16:creationId xmlns:a16="http://schemas.microsoft.com/office/drawing/2014/main" id="{01C125FF-FD3A-4F8C-8249-8324363B3A9F}"/>
              </a:ext>
            </a:extLst>
          </p:cNvPr>
          <p:cNvSpPr>
            <a:spLocks xmlns:a="http://schemas.openxmlformats.org/drawingml/2006/main" noGrp="1"/>
          </p:cNvSpPr>
          <p:nvPr/>
        </p:nvSpPr>
        <p:spPr>
          <a:xfrm xmlns:a="http://schemas.openxmlformats.org/drawingml/2006/main">
            <a:off x="704850" y="2933700"/>
            <a:ext cx="838200" cy="8382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sp>
      <p:sp>
        <p:nvSpPr>
          <p:cNvPr id="10" name="deploy-number-text-0">
            <a:extLst xmlns:a="http://schemas.openxmlformats.org/drawingml/2006/main">
              <a:ext uri="{FF2B5EF4-FFF2-40B4-BE49-F238E27FC236}">
                <a16:creationId xmlns:a16="http://schemas.microsoft.com/office/drawing/2014/main" id="{E3FF9D06-27ED-4190-BD15-550EFF6A004E}"/>
              </a:ext>
            </a:extLst>
          </p:cNvPr>
          <p:cNvSpPr>
            <a:spLocks xmlns:a="http://schemas.openxmlformats.org/drawingml/2006/main" noGrp="1"/>
          </p:cNvSpPr>
          <p:nvPr/>
        </p:nvSpPr>
        <p:spPr>
          <a:xfrm xmlns:a="http://schemas.openxmlformats.org/drawingml/2006/main">
            <a:off x="704850" y="3133725"/>
            <a:ext cx="83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7FAFF"/>
                </a:solidFill>
                <a:latin typeface="Avenir Next"/>
                <a:ea typeface="Avenir Next"/>
                <a:cs typeface="Avenir Next"/>
              </a:defRPr>
            </a:pPr>
            <a:r>
              <a:rPr sz="2100" b="1">
                <a:solidFill>
                  <a:srgbClr val="F7FAFF"/>
                </a:solidFill>
                <a:latin typeface="Avenir Next"/>
                <a:ea typeface="Avenir Next"/>
                <a:cs typeface="Avenir Next"/>
              </a:rPr>
              <a:t>01</a:t>
            </a:r>
          </a:p>
        </p:txBody>
      </p:sp>
      <p:sp>
        <p:nvSpPr>
          <p:cNvPr id="11" name="deploy-title-0">
            <a:extLst xmlns:a="http://schemas.openxmlformats.org/drawingml/2006/main">
              <a:ext uri="{FF2B5EF4-FFF2-40B4-BE49-F238E27FC236}">
                <a16:creationId xmlns:a16="http://schemas.microsoft.com/office/drawing/2014/main" id="{1064272F-C89B-4E23-9D73-8A113F113BD6}"/>
              </a:ext>
            </a:extLst>
          </p:cNvPr>
          <p:cNvSpPr>
            <a:spLocks xmlns:a="http://schemas.openxmlformats.org/drawingml/2006/main" noGrp="1"/>
          </p:cNvSpPr>
          <p:nvPr/>
        </p:nvSpPr>
        <p:spPr>
          <a:xfrm xmlns:a="http://schemas.openxmlformats.org/drawingml/2006/main">
            <a:off x="704850" y="40957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Hardware</a:t>
            </a:r>
          </a:p>
        </p:txBody>
      </p:sp>
      <p:sp>
        <p:nvSpPr>
          <p:cNvPr id="12" name="deploy-body-0">
            <a:extLst xmlns:a="http://schemas.openxmlformats.org/drawingml/2006/main">
              <a:ext uri="{FF2B5EF4-FFF2-40B4-BE49-F238E27FC236}">
                <a16:creationId xmlns:a16="http://schemas.microsoft.com/office/drawing/2014/main" id="{D002A069-630D-432A-BF80-03749807B438}"/>
              </a:ext>
            </a:extLst>
          </p:cNvPr>
          <p:cNvSpPr>
            <a:spLocks xmlns:a="http://schemas.openxmlformats.org/drawingml/2006/main" noGrp="1"/>
          </p:cNvSpPr>
          <p:nvPr/>
        </p:nvSpPr>
        <p:spPr>
          <a:xfrm xmlns:a="http://schemas.openxmlformats.org/drawingml/2006/main">
            <a:off x="704850" y="45720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9FB1C7"/>
                </a:solidFill>
                <a:latin typeface="Avenir Next"/>
                <a:ea typeface="Avenir Next"/>
                <a:cs typeface="Avenir Next"/>
              </a:defRPr>
            </a:pPr>
            <a:r>
              <a:rPr sz="1350">
                <a:solidFill>
                  <a:srgbClr val="9FB1C7"/>
                </a:solidFill>
                <a:latin typeface="Avenir Next"/>
                <a:ea typeface="Avenir Next"/>
                <a:cs typeface="Avenir Next"/>
              </a:rPr>
              <a:t>USB-Installer + sicherer First Run</a:t>
            </a:r>
          </a:p>
        </p:txBody>
      </p:sp>
      <p:sp>
        <p:nvSpPr>
          <p:cNvPr id="13" name="deploy-number-1">
            <a:extLst xmlns:a="http://schemas.openxmlformats.org/drawingml/2006/main">
              <a:ext uri="{FF2B5EF4-FFF2-40B4-BE49-F238E27FC236}">
                <a16:creationId xmlns:a16="http://schemas.microsoft.com/office/drawing/2014/main" id="{3DBE7336-8F20-4901-85F8-2FC7A94DA3D5}"/>
              </a:ext>
            </a:extLst>
          </p:cNvPr>
          <p:cNvSpPr>
            <a:spLocks xmlns:a="http://schemas.openxmlformats.org/drawingml/2006/main" noGrp="1"/>
          </p:cNvSpPr>
          <p:nvPr/>
        </p:nvSpPr>
        <p:spPr>
          <a:xfrm xmlns:a="http://schemas.openxmlformats.org/drawingml/2006/main">
            <a:off x="3409950" y="2933700"/>
            <a:ext cx="838200" cy="8382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sp>
      <p:sp>
        <p:nvSpPr>
          <p:cNvPr id="14" name="deploy-number-text-1">
            <a:extLst xmlns:a="http://schemas.openxmlformats.org/drawingml/2006/main">
              <a:ext uri="{FF2B5EF4-FFF2-40B4-BE49-F238E27FC236}">
                <a16:creationId xmlns:a16="http://schemas.microsoft.com/office/drawing/2014/main" id="{A6406289-EFC2-4AAE-BD4F-07664EB1AB84}"/>
              </a:ext>
            </a:extLst>
          </p:cNvPr>
          <p:cNvSpPr>
            <a:spLocks xmlns:a="http://schemas.openxmlformats.org/drawingml/2006/main" noGrp="1"/>
          </p:cNvSpPr>
          <p:nvPr/>
        </p:nvSpPr>
        <p:spPr>
          <a:xfrm xmlns:a="http://schemas.openxmlformats.org/drawingml/2006/main">
            <a:off x="3409950" y="3133725"/>
            <a:ext cx="83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7FAFF"/>
                </a:solidFill>
                <a:latin typeface="Avenir Next"/>
                <a:ea typeface="Avenir Next"/>
                <a:cs typeface="Avenir Next"/>
              </a:defRPr>
            </a:pPr>
            <a:r>
              <a:rPr sz="2100" b="1">
                <a:solidFill>
                  <a:srgbClr val="F7FAFF"/>
                </a:solidFill>
                <a:latin typeface="Avenir Next"/>
                <a:ea typeface="Avenir Next"/>
                <a:cs typeface="Avenir Next"/>
              </a:rPr>
              <a:t>02</a:t>
            </a:r>
          </a:p>
        </p:txBody>
      </p:sp>
      <p:sp>
        <p:nvSpPr>
          <p:cNvPr id="15" name="deploy-title-1">
            <a:extLst xmlns:a="http://schemas.openxmlformats.org/drawingml/2006/main">
              <a:ext uri="{FF2B5EF4-FFF2-40B4-BE49-F238E27FC236}">
                <a16:creationId xmlns:a16="http://schemas.microsoft.com/office/drawing/2014/main" id="{7789CDC9-FD0C-4CD3-BBAF-82D8B68D9C88}"/>
              </a:ext>
            </a:extLst>
          </p:cNvPr>
          <p:cNvSpPr>
            <a:spLocks xmlns:a="http://schemas.openxmlformats.org/drawingml/2006/main" noGrp="1"/>
          </p:cNvSpPr>
          <p:nvPr/>
        </p:nvSpPr>
        <p:spPr>
          <a:xfrm xmlns:a="http://schemas.openxmlformats.org/drawingml/2006/main">
            <a:off x="3409950" y="40957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Neue Cloud-VM</a:t>
            </a:r>
          </a:p>
        </p:txBody>
      </p:sp>
      <p:sp>
        <p:nvSpPr>
          <p:cNvPr id="16" name="deploy-body-1">
            <a:extLst xmlns:a="http://schemas.openxmlformats.org/drawingml/2006/main">
              <a:ext uri="{FF2B5EF4-FFF2-40B4-BE49-F238E27FC236}">
                <a16:creationId xmlns:a16="http://schemas.microsoft.com/office/drawing/2014/main" id="{64B14715-F9B4-4A27-A9AA-B59EBF8EB9D1}"/>
              </a:ext>
            </a:extLst>
          </p:cNvPr>
          <p:cNvSpPr>
            <a:spLocks xmlns:a="http://schemas.openxmlformats.org/drawingml/2006/main" noGrp="1"/>
          </p:cNvSpPr>
          <p:nvPr/>
        </p:nvSpPr>
        <p:spPr>
          <a:xfrm xmlns:a="http://schemas.openxmlformats.org/drawingml/2006/main">
            <a:off x="3409950" y="45720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9FB1C7"/>
                </a:solidFill>
                <a:latin typeface="Avenir Next"/>
                <a:ea typeface="Avenir Next"/>
                <a:cs typeface="Avenir Next"/>
              </a:defRPr>
            </a:pPr>
            <a:r>
              <a:rPr sz="1350">
                <a:solidFill>
                  <a:srgbClr val="9FB1C7"/>
                </a:solidFill>
                <a:latin typeface="Avenir Next"/>
                <a:ea typeface="Avenir Next"/>
                <a:cs typeface="Avenir Next"/>
              </a:rPr>
              <a:t>Cloud-init + sicherer First Run</a:t>
            </a:r>
          </a:p>
        </p:txBody>
      </p:sp>
      <p:sp>
        <p:nvSpPr>
          <p:cNvPr id="17" name="deploy-number-2">
            <a:extLst xmlns:a="http://schemas.openxmlformats.org/drawingml/2006/main">
              <a:ext uri="{FF2B5EF4-FFF2-40B4-BE49-F238E27FC236}">
                <a16:creationId xmlns:a16="http://schemas.microsoft.com/office/drawing/2014/main" id="{4C9DC61C-61CD-4D6F-B5F2-0550BB642357}"/>
              </a:ext>
            </a:extLst>
          </p:cNvPr>
          <p:cNvSpPr>
            <a:spLocks xmlns:a="http://schemas.openxmlformats.org/drawingml/2006/main" noGrp="1"/>
          </p:cNvSpPr>
          <p:nvPr/>
        </p:nvSpPr>
        <p:spPr>
          <a:xfrm xmlns:a="http://schemas.openxmlformats.org/drawingml/2006/main">
            <a:off x="6115050" y="2933700"/>
            <a:ext cx="838200" cy="8382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sp>
      <p:sp>
        <p:nvSpPr>
          <p:cNvPr id="18" name="deploy-number-text-2">
            <a:extLst xmlns:a="http://schemas.openxmlformats.org/drawingml/2006/main">
              <a:ext uri="{FF2B5EF4-FFF2-40B4-BE49-F238E27FC236}">
                <a16:creationId xmlns:a16="http://schemas.microsoft.com/office/drawing/2014/main" id="{E3467D21-F2C8-4756-972D-F815FCDB2124}"/>
              </a:ext>
            </a:extLst>
          </p:cNvPr>
          <p:cNvSpPr>
            <a:spLocks xmlns:a="http://schemas.openxmlformats.org/drawingml/2006/main" noGrp="1"/>
          </p:cNvSpPr>
          <p:nvPr/>
        </p:nvSpPr>
        <p:spPr>
          <a:xfrm xmlns:a="http://schemas.openxmlformats.org/drawingml/2006/main">
            <a:off x="6115050" y="3133725"/>
            <a:ext cx="83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7FAFF"/>
                </a:solidFill>
                <a:latin typeface="Avenir Next"/>
                <a:ea typeface="Avenir Next"/>
                <a:cs typeface="Avenir Next"/>
              </a:defRPr>
            </a:pPr>
            <a:r>
              <a:rPr sz="2100" b="1">
                <a:solidFill>
                  <a:srgbClr val="F7FAFF"/>
                </a:solidFill>
                <a:latin typeface="Avenir Next"/>
                <a:ea typeface="Avenir Next"/>
                <a:cs typeface="Avenir Next"/>
              </a:rPr>
              <a:t>03</a:t>
            </a:r>
          </a:p>
        </p:txBody>
      </p:sp>
      <p:sp>
        <p:nvSpPr>
          <p:cNvPr id="19" name="deploy-title-2">
            <a:extLst xmlns:a="http://schemas.openxmlformats.org/drawingml/2006/main">
              <a:ext uri="{FF2B5EF4-FFF2-40B4-BE49-F238E27FC236}">
                <a16:creationId xmlns:a16="http://schemas.microsoft.com/office/drawing/2014/main" id="{C777A778-5F1E-4858-843F-10EAF28FF8E4}"/>
              </a:ext>
            </a:extLst>
          </p:cNvPr>
          <p:cNvSpPr>
            <a:spLocks xmlns:a="http://schemas.openxmlformats.org/drawingml/2006/main" noGrp="1"/>
          </p:cNvSpPr>
          <p:nvPr/>
        </p:nvSpPr>
        <p:spPr>
          <a:xfrm xmlns:a="http://schemas.openxmlformats.org/drawingml/2006/main">
            <a:off x="6115050" y="40957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Bestehende VM</a:t>
            </a:r>
          </a:p>
        </p:txBody>
      </p:sp>
      <p:sp>
        <p:nvSpPr>
          <p:cNvPr id="20" name="deploy-body-2">
            <a:extLst xmlns:a="http://schemas.openxmlformats.org/drawingml/2006/main">
              <a:ext uri="{FF2B5EF4-FFF2-40B4-BE49-F238E27FC236}">
                <a16:creationId xmlns:a16="http://schemas.microsoft.com/office/drawing/2014/main" id="{E4D9D0DB-A283-470E-8071-C6B5B29EBD6B}"/>
              </a:ext>
            </a:extLst>
          </p:cNvPr>
          <p:cNvSpPr>
            <a:spLocks xmlns:a="http://schemas.openxmlformats.org/drawingml/2006/main" noGrp="1"/>
          </p:cNvSpPr>
          <p:nvPr/>
        </p:nvSpPr>
        <p:spPr>
          <a:xfrm xmlns:a="http://schemas.openxmlformats.org/drawingml/2006/main">
            <a:off x="6115050" y="45720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9FB1C7"/>
                </a:solidFill>
                <a:latin typeface="Avenir Next"/>
                <a:ea typeface="Avenir Next"/>
                <a:cs typeface="Avenir Next"/>
              </a:defRPr>
            </a:pPr>
            <a:r>
              <a:rPr sz="1350">
                <a:solidFill>
                  <a:srgbClr val="9FB1C7"/>
                </a:solidFill>
                <a:latin typeface="Avenir Next"/>
                <a:ea typeface="Avenir Next"/>
                <a:cs typeface="Avenir Next"/>
              </a:rPr>
              <a:t>install-from-linux.sh auf Ubuntu 24.04</a:t>
            </a:r>
          </a:p>
        </p:txBody>
      </p:sp>
      <p:sp>
        <p:nvSpPr>
          <p:cNvPr id="21" name="deploy-number-3">
            <a:extLst xmlns:a="http://schemas.openxmlformats.org/drawingml/2006/main">
              <a:ext uri="{FF2B5EF4-FFF2-40B4-BE49-F238E27FC236}">
                <a16:creationId xmlns:a16="http://schemas.microsoft.com/office/drawing/2014/main" id="{751282DC-E7F6-4640-B134-54F4162CD2DD}"/>
              </a:ext>
            </a:extLst>
          </p:cNvPr>
          <p:cNvSpPr>
            <a:spLocks xmlns:a="http://schemas.openxmlformats.org/drawingml/2006/main" noGrp="1"/>
          </p:cNvSpPr>
          <p:nvPr/>
        </p:nvSpPr>
        <p:spPr>
          <a:xfrm xmlns:a="http://schemas.openxmlformats.org/drawingml/2006/main">
            <a:off x="8820150" y="2933700"/>
            <a:ext cx="838200" cy="8382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solidFill>
            <a:prstDash val="solid"/>
          </a:ln>
        </p:spPr>
      </p:sp>
      <p:sp>
        <p:nvSpPr>
          <p:cNvPr id="22" name="deploy-number-text-3">
            <a:extLst xmlns:a="http://schemas.openxmlformats.org/drawingml/2006/main">
              <a:ext uri="{FF2B5EF4-FFF2-40B4-BE49-F238E27FC236}">
                <a16:creationId xmlns:a16="http://schemas.microsoft.com/office/drawing/2014/main" id="{B815FABC-4D50-4AB7-AAC7-091470902710}"/>
              </a:ext>
            </a:extLst>
          </p:cNvPr>
          <p:cNvSpPr>
            <a:spLocks xmlns:a="http://schemas.openxmlformats.org/drawingml/2006/main" noGrp="1"/>
          </p:cNvSpPr>
          <p:nvPr/>
        </p:nvSpPr>
        <p:spPr>
          <a:xfrm xmlns:a="http://schemas.openxmlformats.org/drawingml/2006/main">
            <a:off x="8820150" y="3133725"/>
            <a:ext cx="83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7FAFF"/>
                </a:solidFill>
                <a:latin typeface="Avenir Next"/>
                <a:ea typeface="Avenir Next"/>
                <a:cs typeface="Avenir Next"/>
              </a:defRPr>
            </a:pPr>
            <a:r>
              <a:rPr sz="2100" b="1">
                <a:solidFill>
                  <a:srgbClr val="F7FAFF"/>
                </a:solidFill>
                <a:latin typeface="Avenir Next"/>
                <a:ea typeface="Avenir Next"/>
                <a:cs typeface="Avenir Next"/>
              </a:rPr>
              <a:t>04</a:t>
            </a:r>
          </a:p>
        </p:txBody>
      </p:sp>
      <p:sp>
        <p:nvSpPr>
          <p:cNvPr id="23" name="deploy-title-3">
            <a:extLst xmlns:a="http://schemas.openxmlformats.org/drawingml/2006/main">
              <a:ext uri="{FF2B5EF4-FFF2-40B4-BE49-F238E27FC236}">
                <a16:creationId xmlns:a16="http://schemas.microsoft.com/office/drawing/2014/main" id="{D5E42D26-9522-4221-9E11-5D23C00A568D}"/>
              </a:ext>
            </a:extLst>
          </p:cNvPr>
          <p:cNvSpPr>
            <a:spLocks xmlns:a="http://schemas.openxmlformats.org/drawingml/2006/main" noGrp="1"/>
          </p:cNvSpPr>
          <p:nvPr/>
        </p:nvSpPr>
        <p:spPr>
          <a:xfrm xmlns:a="http://schemas.openxmlformats.org/drawingml/2006/main">
            <a:off x="8820150" y="40957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Kubernetes</a:t>
            </a:r>
          </a:p>
        </p:txBody>
      </p:sp>
      <p:sp>
        <p:nvSpPr>
          <p:cNvPr id="24" name="deploy-body-3">
            <a:extLst xmlns:a="http://schemas.openxmlformats.org/drawingml/2006/main">
              <a:ext uri="{FF2B5EF4-FFF2-40B4-BE49-F238E27FC236}">
                <a16:creationId xmlns:a16="http://schemas.microsoft.com/office/drawing/2014/main" id="{8B04396E-65BE-4240-BCB1-C567CE617A7A}"/>
              </a:ext>
            </a:extLst>
          </p:cNvPr>
          <p:cNvSpPr>
            <a:spLocks xmlns:a="http://schemas.openxmlformats.org/drawingml/2006/main" noGrp="1"/>
          </p:cNvSpPr>
          <p:nvPr/>
        </p:nvSpPr>
        <p:spPr>
          <a:xfrm xmlns:a="http://schemas.openxmlformats.org/drawingml/2006/main">
            <a:off x="8820150" y="45720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9FB1C7"/>
                </a:solidFill>
                <a:latin typeface="Avenir Next"/>
                <a:ea typeface="Avenir Next"/>
                <a:cs typeface="Avenir Next"/>
              </a:defRPr>
            </a:pPr>
            <a:r>
              <a:rPr sz="1350">
                <a:solidFill>
                  <a:srgbClr val="9FB1C7"/>
                </a:solidFill>
                <a:latin typeface="Avenir Next"/>
                <a:ea typeface="Avenir Next"/>
                <a:cs typeface="Avenir Next"/>
              </a:rPr>
              <a:t>deploy-on-k8s.sh/.ps1 + Flux</a:t>
            </a:r>
          </a:p>
        </p:txBody>
      </p:sp>
    </p:spTree>
    <p:extLst>
      <p:ext uri="{BB962C8B-B14F-4D97-AF65-F5344CB8AC3E}">
        <p14:creationId xmlns:p14="http://schemas.microsoft.com/office/powerpoint/2010/main" val="650463399"/>
      </p:ext>
    </p:extLst>
  </p:cSld>
</p:sld>
</file>

<file path=ppt/slides/slide5.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bca73bcc8d14b20"/>
          <a:srcRect xmlns:a="http://schemas.openxmlformats.org/drawingml/2006/main" l="16388" t="0" r="16388" b="0"/>
          <a:stretch xmlns:a="http://schemas.openxmlformats.org/drawingml/2006/main">
            <a:fillRect l="0" t="0" r="0" b="0"/>
          </a:stretch>
        </p:blipFill>
        <p:spPr>
          <a:xfrm xmlns:a="http://schemas.openxmlformats.org/drawingml/2006/main">
            <a:off x="4000500" y="0"/>
            <a:ext cx="8191500" cy="6858000"/>
          </a:xfrm>
          <a:prstGeom xmlns:a="http://schemas.openxmlformats.org/drawingml/2006/main" prst="rect">
            <a:avLst/>
          </a:prstGeom>
        </p:spPr>
      </p:pic>
      <p:sp>
        <p:nvSpPr>
          <p:cNvPr id="2" name="hybrid-copy-panel">
            <a:extLst xmlns:a="http://schemas.openxmlformats.org/drawingml/2006/main">
              <a:ext uri="{FF2B5EF4-FFF2-40B4-BE49-F238E27FC236}">
                <a16:creationId xmlns:a16="http://schemas.microsoft.com/office/drawing/2014/main" id="{E07A2568-BA7A-492F-8AE6-9953DABD2126}"/>
              </a:ext>
            </a:extLst>
          </p:cNvPr>
          <p:cNvSpPr>
            <a:spLocks xmlns:a="http://schemas.openxmlformats.org/drawingml/2006/main" noGrp="1"/>
          </p:cNvSpPr>
          <p:nvPr/>
        </p:nvSpPr>
        <p:spPr>
          <a:xfrm xmlns:a="http://schemas.openxmlformats.org/drawingml/2006/main">
            <a:off x="0" y="0"/>
            <a:ext cx="4762500" cy="6858000"/>
          </a:xfrm>
          <a:prstGeom xmlns:a="http://schemas.openxmlformats.org/drawingml/2006/main" prst="rect">
            <a:avLst/>
          </a:prstGeom>
          <a:solidFill xmlns:a="http://schemas.openxmlformats.org/drawingml/2006/main">
            <a:srgbClr val="050B18"/>
          </a:solidFill>
          <a:ln xmlns:a="http://schemas.openxmlformats.org/drawingml/2006/main" w="0">
            <a:noFill/>
            <a:prstDash val="solid"/>
          </a:ln>
        </p:spPr>
      </p:sp>
      <p:sp>
        <p:nvSpPr>
          <p:cNvPr id="3" name="eyebrow">
            <a:extLst xmlns:a="http://schemas.openxmlformats.org/drawingml/2006/main">
              <a:ext uri="{FF2B5EF4-FFF2-40B4-BE49-F238E27FC236}">
                <a16:creationId xmlns:a16="http://schemas.microsoft.com/office/drawing/2014/main" id="{AB950608-0F1B-4509-AE5C-699ED960FF8B}"/>
              </a:ext>
            </a:extLst>
          </p:cNvPr>
          <p:cNvSpPr>
            <a:spLocks xmlns:a="http://schemas.openxmlformats.org/drawingml/2006/main" noGrp="1"/>
          </p:cNvSpPr>
          <p:nvPr/>
        </p:nvSpPr>
        <p:spPr>
          <a:xfrm xmlns:a="http://schemas.openxmlformats.org/drawingml/2006/main">
            <a:off x="685800" y="5905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MODELLSTRATEGIE</a:t>
            </a:r>
          </a:p>
        </p:txBody>
      </p:sp>
      <p:sp>
        <p:nvSpPr>
          <p:cNvPr id="4" name="hybrid-title">
            <a:extLst xmlns:a="http://schemas.openxmlformats.org/drawingml/2006/main">
              <a:ext uri="{FF2B5EF4-FFF2-40B4-BE49-F238E27FC236}">
                <a16:creationId xmlns:a16="http://schemas.microsoft.com/office/drawing/2014/main" id="{AB16E886-118D-40F7-B396-EAC464F748B1}"/>
              </a:ext>
            </a:extLst>
          </p:cNvPr>
          <p:cNvSpPr>
            <a:spLocks xmlns:a="http://schemas.openxmlformats.org/drawingml/2006/main" noGrp="1"/>
          </p:cNvSpPr>
          <p:nvPr/>
        </p:nvSpPr>
        <p:spPr>
          <a:xfrm xmlns:a="http://schemas.openxmlformats.org/drawingml/2006/main">
            <a:off x="685800" y="1657350"/>
            <a:ext cx="3905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2000"/>
              </a:lnSpc>
              <a:buNone/>
              <a:defRPr sz="3300" b="1">
                <a:solidFill>
                  <a:srgbClr val="F7FAFF"/>
                </a:solidFill>
                <a:latin typeface="Avenir Next"/>
                <a:ea typeface="Avenir Next"/>
                <a:cs typeface="Avenir Next"/>
              </a:defRPr>
            </a:pPr>
            <a:r>
              <a:rPr sz="3300" b="1">
                <a:solidFill>
                  <a:srgbClr val="F7FAFF"/>
                </a:solidFill>
                <a:latin typeface="Avenir Next"/>
                <a:ea typeface="Avenir Next"/>
                <a:cs typeface="Avenir Next"/>
              </a:rPr>
              <a:t>Ein Modellzugang.</a:t>
            </a:r>
          </a:p>
          <a:p xmlns:a="http://schemas.openxmlformats.org/drawingml/2006/main">
            <a:pPr>
              <a:lnSpc>
                <a:spcPct val="92000"/>
              </a:lnSpc>
              <a:buNone/>
              <a:defRPr sz="3300" b="1">
                <a:solidFill>
                  <a:srgbClr val="F7FAFF"/>
                </a:solidFill>
                <a:latin typeface="Avenir Next"/>
                <a:ea typeface="Avenir Next"/>
                <a:cs typeface="Avenir Next"/>
              </a:defRPr>
            </a:pPr>
            <a:r>
              <a:rPr sz="3300" b="1">
                <a:solidFill>
                  <a:srgbClr val="F7FAFF"/>
                </a:solidFill>
                <a:latin typeface="Avenir Next"/>
                <a:ea typeface="Avenir Next"/>
                <a:cs typeface="Avenir Next"/>
              </a:rPr>
              <a:t>Mehrere Laufzeiten.</a:t>
            </a:r>
          </a:p>
        </p:txBody>
      </p:sp>
      <p:sp>
        <p:nvSpPr>
          <p:cNvPr id="5" name="hybrid-copy">
            <a:extLst xmlns:a="http://schemas.openxmlformats.org/drawingml/2006/main">
              <a:ext uri="{FF2B5EF4-FFF2-40B4-BE49-F238E27FC236}">
                <a16:creationId xmlns:a16="http://schemas.microsoft.com/office/drawing/2014/main" id="{74BCA774-2557-47D2-9B21-149A88A11D69}"/>
              </a:ext>
            </a:extLst>
          </p:cNvPr>
          <p:cNvSpPr>
            <a:spLocks xmlns:a="http://schemas.openxmlformats.org/drawingml/2006/main" noGrp="1"/>
          </p:cNvSpPr>
          <p:nvPr/>
        </p:nvSpPr>
        <p:spPr>
          <a:xfrm xmlns:a="http://schemas.openxmlformats.org/drawingml/2006/main">
            <a:off x="685800" y="3105150"/>
            <a:ext cx="3714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LiteLLM bündelt externe Provider.</a:t>
            </a:r>
          </a:p>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KubeAI startet lokale Modelle nur bei Bedarf.</a:t>
            </a:r>
          </a:p>
        </p:txBody>
      </p:sp>
      <p:sp>
        <p:nvSpPr>
          <p:cNvPr id="6" name="tag-GPU-NEUTRALE BASIS">
            <a:extLst xmlns:a="http://schemas.openxmlformats.org/drawingml/2006/main">
              <a:ext uri="{FF2B5EF4-FFF2-40B4-BE49-F238E27FC236}">
                <a16:creationId xmlns:a16="http://schemas.microsoft.com/office/drawing/2014/main" id="{724F006E-BAA1-4E1F-8A43-8CCCCE257D48}"/>
              </a:ext>
            </a:extLst>
          </p:cNvPr>
          <p:cNvSpPr>
            <a:spLocks xmlns:a="http://schemas.openxmlformats.org/drawingml/2006/main" noGrp="1"/>
          </p:cNvSpPr>
          <p:nvPr/>
        </p:nvSpPr>
        <p:spPr>
          <a:xfrm xmlns:a="http://schemas.openxmlformats.org/drawingml/2006/main">
            <a:off x="685800" y="4810125"/>
            <a:ext cx="20574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VLLM · CPU + 3 GPU-TYPEN</a:t>
            </a:r>
          </a:p>
        </p:txBody>
      </p:sp>
      <p:sp>
        <p:nvSpPr>
          <p:cNvPr id="7" name="tag-OPENAI-KOMPATIBEL">
            <a:extLst xmlns:a="http://schemas.openxmlformats.org/drawingml/2006/main">
              <a:ext uri="{FF2B5EF4-FFF2-40B4-BE49-F238E27FC236}">
                <a16:creationId xmlns:a16="http://schemas.microsoft.com/office/drawing/2014/main" id="{F2910298-D6FA-4A7B-9412-44827CD1B5FF}"/>
              </a:ext>
            </a:extLst>
          </p:cNvPr>
          <p:cNvSpPr>
            <a:spLocks xmlns:a="http://schemas.openxmlformats.org/drawingml/2006/main" noGrp="1"/>
          </p:cNvSpPr>
          <p:nvPr/>
        </p:nvSpPr>
        <p:spPr>
          <a:xfrm xmlns:a="http://schemas.openxmlformats.org/drawingml/2006/main">
            <a:off x="685800" y="5305425"/>
            <a:ext cx="21526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OLLAMA · CPU + NVIDIA/AMD</a:t>
            </a:r>
          </a:p>
        </p:txBody>
      </p:sp>
      <p:sp>
        <p:nvSpPr>
          <p:cNvPr id="8" name="brand-footer">
            <a:extLst xmlns:a="http://schemas.openxmlformats.org/drawingml/2006/main">
              <a:ext uri="{FF2B5EF4-FFF2-40B4-BE49-F238E27FC236}">
                <a16:creationId xmlns:a16="http://schemas.microsoft.com/office/drawing/2014/main" id="{785DF2F5-10A4-4B24-8F3A-3EA5CDBF4944}"/>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9" name="page-number">
            <a:extLst xmlns:a="http://schemas.openxmlformats.org/drawingml/2006/main">
              <a:ext uri="{FF2B5EF4-FFF2-40B4-BE49-F238E27FC236}">
                <a16:creationId xmlns:a16="http://schemas.microsoft.com/office/drawing/2014/main" id="{29789FDE-AE83-4989-8FB3-6C705F9B1AEA}"/>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05</a:t>
            </a:r>
          </a:p>
        </p:txBody>
      </p:sp>
    </p:spTree>
    <p:extLst>
      <p:ext uri="{BB962C8B-B14F-4D97-AF65-F5344CB8AC3E}">
        <p14:creationId xmlns:p14="http://schemas.microsoft.com/office/powerpoint/2010/main" val="444384154"/>
      </p:ext>
    </p:extLst>
  </p:cSld>
</p:sld>
</file>

<file path=ppt/slides/slide6.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6" name="brand-footer">
            <a:extLst xmlns:a="http://schemas.openxmlformats.org/drawingml/2006/main">
              <a:ext uri="{FF2B5EF4-FFF2-40B4-BE49-F238E27FC236}">
                <a16:creationId xmlns:a16="http://schemas.microsoft.com/office/drawing/2014/main" id="{B4FED71C-4E91-41CE-AD83-0C38469F2CA3}"/>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12FE50A5-BB2A-4FE4-8C1B-C6AF22B92D4B}"/>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06</a:t>
            </a:r>
          </a:p>
        </p:txBody>
      </p:sp>
      <p:sp>
        <p:nvSpPr>
          <p:cNvPr id="3" name="eyebrow">
            <a:extLst xmlns:a="http://schemas.openxmlformats.org/drawingml/2006/main">
              <a:ext uri="{FF2B5EF4-FFF2-40B4-BE49-F238E27FC236}">
                <a16:creationId xmlns:a16="http://schemas.microsoft.com/office/drawing/2014/main" id="{AD433B31-076F-4870-B642-2B6C1A3719F3}"/>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DEKLARATIVER CONTROL PLANE</a:t>
            </a:r>
          </a:p>
        </p:txBody>
      </p:sp>
      <p:sp>
        <p:nvSpPr>
          <p:cNvPr id="4" name="title">
            <a:extLst xmlns:a="http://schemas.openxmlformats.org/drawingml/2006/main">
              <a:ext uri="{FF2B5EF4-FFF2-40B4-BE49-F238E27FC236}">
                <a16:creationId xmlns:a16="http://schemas.microsoft.com/office/drawing/2014/main" id="{8358F3F3-D277-4C1E-8096-DF486B8B8366}"/>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450" b="1">
                <a:solidFill>
                  <a:srgbClr val="F7FAFF"/>
                </a:solidFill>
                <a:latin typeface="Avenir Next"/>
                <a:ea typeface="Avenir Next"/>
                <a:cs typeface="Avenir Next"/>
              </a:defRPr>
            </a:pPr>
            <a:r>
              <a:rPr sz="3450" b="1">
                <a:solidFill>
                  <a:srgbClr val="F7FAFF"/>
                </a:solidFill>
                <a:latin typeface="Avenir Next"/>
                <a:ea typeface="Avenir Next"/>
                <a:cs typeface="Avenir Next"/>
              </a:rPr>
              <a:t>Vier Schichten. Wiederholbarer Betrieb.</a:t>
            </a:r>
          </a:p>
        </p:txBody>
      </p:sp>
      <p:sp>
        <p:nvSpPr>
          <p:cNvPr id="5" name="architecture-lead">
            <a:extLst xmlns:a="http://schemas.openxmlformats.org/drawingml/2006/main">
              <a:ext uri="{FF2B5EF4-FFF2-40B4-BE49-F238E27FC236}">
                <a16:creationId xmlns:a16="http://schemas.microsoft.com/office/drawing/2014/main" id="{2519588D-B8F1-46E0-9F9F-BF4DAFDB80AC}"/>
              </a:ext>
            </a:extLst>
          </p:cNvPr>
          <p:cNvSpPr>
            <a:spLocks xmlns:a="http://schemas.openxmlformats.org/drawingml/2006/main" noGrp="1"/>
          </p:cNvSpPr>
          <p:nvPr/>
        </p:nvSpPr>
        <p:spPr>
          <a:xfrm xmlns:a="http://schemas.openxmlformats.org/drawingml/2006/main">
            <a:off x="685800" y="1752600"/>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Von der Installation bis zum Modell bleibt der Sollzustand versioniert.</a:t>
            </a:r>
          </a:p>
        </p:txBody>
      </p:sp>
      <p:sp>
        <p:nvSpPr>
          <p:cNvPr id="6" name="layer-0">
            <a:extLst xmlns:a="http://schemas.openxmlformats.org/drawingml/2006/main">
              <a:ext uri="{FF2B5EF4-FFF2-40B4-BE49-F238E27FC236}">
                <a16:creationId xmlns:a16="http://schemas.microsoft.com/office/drawing/2014/main" id="{A92C6721-738F-4216-B56D-F3919B0D397C}"/>
              </a:ext>
            </a:extLst>
          </p:cNvPr>
          <p:cNvSpPr>
            <a:spLocks xmlns:a="http://schemas.openxmlformats.org/drawingml/2006/main" noGrp="1"/>
          </p:cNvSpPr>
          <p:nvPr/>
        </p:nvSpPr>
        <p:spPr>
          <a:xfrm xmlns:a="http://schemas.openxmlformats.org/drawingml/2006/main">
            <a:off x="685800" y="262890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7" name="layer-bar-0">
            <a:extLst xmlns:a="http://schemas.openxmlformats.org/drawingml/2006/main">
              <a:ext uri="{FF2B5EF4-FFF2-40B4-BE49-F238E27FC236}">
                <a16:creationId xmlns:a16="http://schemas.microsoft.com/office/drawing/2014/main" id="{94D4CB0E-8928-423E-97FF-25BFAD92C0D2}"/>
              </a:ext>
            </a:extLst>
          </p:cNvPr>
          <p:cNvSpPr>
            <a:spLocks xmlns:a="http://schemas.openxmlformats.org/drawingml/2006/main" noGrp="1"/>
          </p:cNvSpPr>
          <p:nvPr/>
        </p:nvSpPr>
        <p:spPr>
          <a:xfrm xmlns:a="http://schemas.openxmlformats.org/drawingml/2006/main">
            <a:off x="685800" y="2628900"/>
            <a:ext cx="85725" cy="628650"/>
          </a:xfrm>
          <a:prstGeom xmlns:a="http://schemas.openxmlformats.org/drawingml/2006/main" prst="roundRect">
            <a:avLst>
              <a:gd name="adj" fmla="val 44444"/>
            </a:avLst>
          </a:prstGeom>
          <a:solidFill xmlns:a="http://schemas.openxmlformats.org/drawingml/2006/main">
            <a:srgbClr val="22D3EE"/>
          </a:solidFill>
          <a:ln xmlns:a="http://schemas.openxmlformats.org/drawingml/2006/main" w="0">
            <a:noFill/>
            <a:prstDash val="solid"/>
          </a:ln>
        </p:spPr>
      </p:sp>
      <p:sp>
        <p:nvSpPr>
          <p:cNvPr id="8" name="layer-number-0">
            <a:extLst xmlns:a="http://schemas.openxmlformats.org/drawingml/2006/main">
              <a:ext uri="{FF2B5EF4-FFF2-40B4-BE49-F238E27FC236}">
                <a16:creationId xmlns:a16="http://schemas.microsoft.com/office/drawing/2014/main" id="{5C53C113-C9EF-4BF8-90FB-D8604381EEFB}"/>
              </a:ext>
            </a:extLst>
          </p:cNvPr>
          <p:cNvSpPr>
            <a:spLocks xmlns:a="http://schemas.openxmlformats.org/drawingml/2006/main" noGrp="1"/>
          </p:cNvSpPr>
          <p:nvPr/>
        </p:nvSpPr>
        <p:spPr>
          <a:xfrm xmlns:a="http://schemas.openxmlformats.org/drawingml/2006/main">
            <a:off x="990600" y="279082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22D3EE"/>
                </a:solidFill>
                <a:latin typeface="Avenir Next"/>
                <a:ea typeface="Avenir Next"/>
                <a:cs typeface="Avenir Next"/>
              </a:defRPr>
            </a:pPr>
            <a:r>
              <a:rPr sz="1500" b="1">
                <a:solidFill>
                  <a:srgbClr val="22D3EE"/>
                </a:solidFill>
                <a:latin typeface="Avenir Next"/>
                <a:ea typeface="Avenir Next"/>
                <a:cs typeface="Avenir Next"/>
              </a:rPr>
              <a:t>01</a:t>
            </a:r>
          </a:p>
        </p:txBody>
      </p:sp>
      <p:sp>
        <p:nvSpPr>
          <p:cNvPr id="9" name="layer-title-0">
            <a:extLst xmlns:a="http://schemas.openxmlformats.org/drawingml/2006/main">
              <a:ext uri="{FF2B5EF4-FFF2-40B4-BE49-F238E27FC236}">
                <a16:creationId xmlns:a16="http://schemas.microsoft.com/office/drawing/2014/main" id="{AF44BF44-F451-4B00-8380-3D3719C7696A}"/>
              </a:ext>
            </a:extLst>
          </p:cNvPr>
          <p:cNvSpPr>
            <a:spLocks xmlns:a="http://schemas.openxmlformats.org/drawingml/2006/main" noGrp="1"/>
          </p:cNvSpPr>
          <p:nvPr/>
        </p:nvSpPr>
        <p:spPr>
          <a:xfrm xmlns:a="http://schemas.openxmlformats.org/drawingml/2006/main">
            <a:off x="1657350" y="27622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Automation</a:t>
            </a:r>
          </a:p>
        </p:txBody>
      </p:sp>
      <p:sp>
        <p:nvSpPr>
          <p:cNvPr id="10" name="layer-detail-0">
            <a:extLst xmlns:a="http://schemas.openxmlformats.org/drawingml/2006/main">
              <a:ext uri="{FF2B5EF4-FFF2-40B4-BE49-F238E27FC236}">
                <a16:creationId xmlns:a16="http://schemas.microsoft.com/office/drawing/2014/main" id="{36F48A18-BBF3-4F90-950C-82964E6B6C45}"/>
              </a:ext>
            </a:extLst>
          </p:cNvPr>
          <p:cNvSpPr>
            <a:spLocks xmlns:a="http://schemas.openxmlformats.org/drawingml/2006/main" noGrp="1"/>
          </p:cNvSpPr>
          <p:nvPr/>
        </p:nvSpPr>
        <p:spPr>
          <a:xfrm xmlns:a="http://schemas.openxmlformats.org/drawingml/2006/main">
            <a:off x="6705600" y="280035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USB · cloud-init · Install-Skripte</a:t>
            </a:r>
          </a:p>
        </p:txBody>
      </p:sp>
      <p:sp>
        <p:nvSpPr>
          <p:cNvPr id="11" name="layer-1">
            <a:extLst xmlns:a="http://schemas.openxmlformats.org/drawingml/2006/main">
              <a:ext uri="{FF2B5EF4-FFF2-40B4-BE49-F238E27FC236}">
                <a16:creationId xmlns:a16="http://schemas.microsoft.com/office/drawing/2014/main" id="{06B286B9-E838-4324-B08B-924738ED2AE0}"/>
              </a:ext>
            </a:extLst>
          </p:cNvPr>
          <p:cNvSpPr>
            <a:spLocks xmlns:a="http://schemas.openxmlformats.org/drawingml/2006/main" noGrp="1"/>
          </p:cNvSpPr>
          <p:nvPr/>
        </p:nvSpPr>
        <p:spPr>
          <a:xfrm xmlns:a="http://schemas.openxmlformats.org/drawingml/2006/main">
            <a:off x="685800" y="344805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12" name="layer-bar-1">
            <a:extLst xmlns:a="http://schemas.openxmlformats.org/drawingml/2006/main">
              <a:ext uri="{FF2B5EF4-FFF2-40B4-BE49-F238E27FC236}">
                <a16:creationId xmlns:a16="http://schemas.microsoft.com/office/drawing/2014/main" id="{748E7812-DFB8-4542-931B-C35DDB1B56D3}"/>
              </a:ext>
            </a:extLst>
          </p:cNvPr>
          <p:cNvSpPr>
            <a:spLocks xmlns:a="http://schemas.openxmlformats.org/drawingml/2006/main" noGrp="1"/>
          </p:cNvSpPr>
          <p:nvPr/>
        </p:nvSpPr>
        <p:spPr>
          <a:xfrm xmlns:a="http://schemas.openxmlformats.org/drawingml/2006/main">
            <a:off x="685800" y="3448050"/>
            <a:ext cx="85725" cy="628650"/>
          </a:xfrm>
          <a:prstGeom xmlns:a="http://schemas.openxmlformats.org/drawingml/2006/main" prst="roundRect">
            <a:avLst>
              <a:gd name="adj" fmla="val 44444"/>
            </a:avLst>
          </a:prstGeom>
          <a:solidFill xmlns:a="http://schemas.openxmlformats.org/drawingml/2006/main">
            <a:srgbClr val="38BDF8"/>
          </a:solidFill>
          <a:ln xmlns:a="http://schemas.openxmlformats.org/drawingml/2006/main" w="0">
            <a:noFill/>
            <a:prstDash val="solid"/>
          </a:ln>
        </p:spPr>
      </p:sp>
      <p:sp>
        <p:nvSpPr>
          <p:cNvPr id="13" name="layer-number-1">
            <a:extLst xmlns:a="http://schemas.openxmlformats.org/drawingml/2006/main">
              <a:ext uri="{FF2B5EF4-FFF2-40B4-BE49-F238E27FC236}">
                <a16:creationId xmlns:a16="http://schemas.microsoft.com/office/drawing/2014/main" id="{C23E496D-6119-4289-8CE2-90CA84C45367}"/>
              </a:ext>
            </a:extLst>
          </p:cNvPr>
          <p:cNvSpPr>
            <a:spLocks xmlns:a="http://schemas.openxmlformats.org/drawingml/2006/main" noGrp="1"/>
          </p:cNvSpPr>
          <p:nvPr/>
        </p:nvSpPr>
        <p:spPr>
          <a:xfrm xmlns:a="http://schemas.openxmlformats.org/drawingml/2006/main">
            <a:off x="990600" y="360997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38BDF8"/>
                </a:solidFill>
                <a:latin typeface="Avenir Next"/>
                <a:ea typeface="Avenir Next"/>
                <a:cs typeface="Avenir Next"/>
              </a:defRPr>
            </a:pPr>
            <a:r>
              <a:rPr sz="1500" b="1">
                <a:solidFill>
                  <a:srgbClr val="38BDF8"/>
                </a:solidFill>
                <a:latin typeface="Avenir Next"/>
                <a:ea typeface="Avenir Next"/>
                <a:cs typeface="Avenir Next"/>
              </a:rPr>
              <a:t>02</a:t>
            </a:r>
          </a:p>
        </p:txBody>
      </p:sp>
      <p:sp>
        <p:nvSpPr>
          <p:cNvPr id="14" name="layer-title-1">
            <a:extLst xmlns:a="http://schemas.openxmlformats.org/drawingml/2006/main">
              <a:ext uri="{FF2B5EF4-FFF2-40B4-BE49-F238E27FC236}">
                <a16:creationId xmlns:a16="http://schemas.microsoft.com/office/drawing/2014/main" id="{D4D7148D-3C9E-47F9-94BA-13FD4A4E5666}"/>
              </a:ext>
            </a:extLst>
          </p:cNvPr>
          <p:cNvSpPr>
            <a:spLocks xmlns:a="http://schemas.openxmlformats.org/drawingml/2006/main" noGrp="1"/>
          </p:cNvSpPr>
          <p:nvPr/>
        </p:nvSpPr>
        <p:spPr>
          <a:xfrm xmlns:a="http://schemas.openxmlformats.org/drawingml/2006/main">
            <a:off x="1657350" y="35814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GitOps</a:t>
            </a:r>
          </a:p>
        </p:txBody>
      </p:sp>
      <p:sp>
        <p:nvSpPr>
          <p:cNvPr id="15" name="layer-detail-1">
            <a:extLst xmlns:a="http://schemas.openxmlformats.org/drawingml/2006/main">
              <a:ext uri="{FF2B5EF4-FFF2-40B4-BE49-F238E27FC236}">
                <a16:creationId xmlns:a16="http://schemas.microsoft.com/office/drawing/2014/main" id="{30175DBE-1CA8-4E80-9C11-0E8AFF770206}"/>
              </a:ext>
            </a:extLst>
          </p:cNvPr>
          <p:cNvSpPr>
            <a:spLocks xmlns:a="http://schemas.openxmlformats.org/drawingml/2006/main" noGrp="1"/>
          </p:cNvSpPr>
          <p:nvPr/>
        </p:nvSpPr>
        <p:spPr>
          <a:xfrm xmlns:a="http://schemas.openxmlformats.org/drawingml/2006/main">
            <a:off x="6705600" y="361950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Kubernetes/K3s · Flux</a:t>
            </a:r>
          </a:p>
        </p:txBody>
      </p:sp>
      <p:sp>
        <p:nvSpPr>
          <p:cNvPr id="16" name="layer-2">
            <a:extLst xmlns:a="http://schemas.openxmlformats.org/drawingml/2006/main">
              <a:ext uri="{FF2B5EF4-FFF2-40B4-BE49-F238E27FC236}">
                <a16:creationId xmlns:a16="http://schemas.microsoft.com/office/drawing/2014/main" id="{0EF058A1-8E87-4C3A-A024-6E079266F54F}"/>
              </a:ext>
            </a:extLst>
          </p:cNvPr>
          <p:cNvSpPr>
            <a:spLocks xmlns:a="http://schemas.openxmlformats.org/drawingml/2006/main" noGrp="1"/>
          </p:cNvSpPr>
          <p:nvPr/>
        </p:nvSpPr>
        <p:spPr>
          <a:xfrm xmlns:a="http://schemas.openxmlformats.org/drawingml/2006/main">
            <a:off x="685800" y="426720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17" name="layer-bar-2">
            <a:extLst xmlns:a="http://schemas.openxmlformats.org/drawingml/2006/main">
              <a:ext uri="{FF2B5EF4-FFF2-40B4-BE49-F238E27FC236}">
                <a16:creationId xmlns:a16="http://schemas.microsoft.com/office/drawing/2014/main" id="{D95EE72F-B5B0-4BE4-8319-4D79F44A3E47}"/>
              </a:ext>
            </a:extLst>
          </p:cNvPr>
          <p:cNvSpPr>
            <a:spLocks xmlns:a="http://schemas.openxmlformats.org/drawingml/2006/main" noGrp="1"/>
          </p:cNvSpPr>
          <p:nvPr/>
        </p:nvSpPr>
        <p:spPr>
          <a:xfrm xmlns:a="http://schemas.openxmlformats.org/drawingml/2006/main">
            <a:off x="685800" y="4267200"/>
            <a:ext cx="85725" cy="628650"/>
          </a:xfrm>
          <a:prstGeom xmlns:a="http://schemas.openxmlformats.org/drawingml/2006/main" prst="roundRect">
            <a:avLst>
              <a:gd name="adj" fmla="val 44444"/>
            </a:avLst>
          </a:prstGeom>
          <a:solidFill xmlns:a="http://schemas.openxmlformats.org/drawingml/2006/main">
            <a:srgbClr val="8B5CF6"/>
          </a:solidFill>
          <a:ln xmlns:a="http://schemas.openxmlformats.org/drawingml/2006/main" w="0">
            <a:noFill/>
            <a:prstDash val="solid"/>
          </a:ln>
        </p:spPr>
      </p:sp>
      <p:sp>
        <p:nvSpPr>
          <p:cNvPr id="18" name="layer-number-2">
            <a:extLst xmlns:a="http://schemas.openxmlformats.org/drawingml/2006/main">
              <a:ext uri="{FF2B5EF4-FFF2-40B4-BE49-F238E27FC236}">
                <a16:creationId xmlns:a16="http://schemas.microsoft.com/office/drawing/2014/main" id="{6212AA2E-E445-4386-BD54-F1F5F5995806}"/>
              </a:ext>
            </a:extLst>
          </p:cNvPr>
          <p:cNvSpPr>
            <a:spLocks xmlns:a="http://schemas.openxmlformats.org/drawingml/2006/main" noGrp="1"/>
          </p:cNvSpPr>
          <p:nvPr/>
        </p:nvSpPr>
        <p:spPr>
          <a:xfrm xmlns:a="http://schemas.openxmlformats.org/drawingml/2006/main">
            <a:off x="990600" y="442912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8B5CF6"/>
                </a:solidFill>
                <a:latin typeface="Avenir Next"/>
                <a:ea typeface="Avenir Next"/>
                <a:cs typeface="Avenir Next"/>
              </a:defRPr>
            </a:pPr>
            <a:r>
              <a:rPr sz="1500" b="1">
                <a:solidFill>
                  <a:srgbClr val="8B5CF6"/>
                </a:solidFill>
                <a:latin typeface="Avenir Next"/>
                <a:ea typeface="Avenir Next"/>
                <a:cs typeface="Avenir Next"/>
              </a:rPr>
              <a:t>03</a:t>
            </a:r>
          </a:p>
        </p:txBody>
      </p:sp>
      <p:sp>
        <p:nvSpPr>
          <p:cNvPr id="19" name="layer-title-2">
            <a:extLst xmlns:a="http://schemas.openxmlformats.org/drawingml/2006/main">
              <a:ext uri="{FF2B5EF4-FFF2-40B4-BE49-F238E27FC236}">
                <a16:creationId xmlns:a16="http://schemas.microsoft.com/office/drawing/2014/main" id="{B6B7CB4C-1C80-416E-BD9B-1737F804D234}"/>
              </a:ext>
            </a:extLst>
          </p:cNvPr>
          <p:cNvSpPr>
            <a:spLocks xmlns:a="http://schemas.openxmlformats.org/drawingml/2006/main" noGrp="1"/>
          </p:cNvSpPr>
          <p:nvPr/>
        </p:nvSpPr>
        <p:spPr>
          <a:xfrm xmlns:a="http://schemas.openxmlformats.org/drawingml/2006/main">
            <a:off x="1657350" y="440055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Identität</a:t>
            </a:r>
          </a:p>
        </p:txBody>
      </p:sp>
      <p:sp>
        <p:nvSpPr>
          <p:cNvPr id="20" name="layer-detail-2">
            <a:extLst xmlns:a="http://schemas.openxmlformats.org/drawingml/2006/main">
              <a:ext uri="{FF2B5EF4-FFF2-40B4-BE49-F238E27FC236}">
                <a16:creationId xmlns:a16="http://schemas.microsoft.com/office/drawing/2014/main" id="{E6EBCD84-C954-4E0F-BB10-1F210B2363A7}"/>
              </a:ext>
            </a:extLst>
          </p:cNvPr>
          <p:cNvSpPr>
            <a:spLocks xmlns:a="http://schemas.openxmlformats.org/drawingml/2006/main" noGrp="1"/>
          </p:cNvSpPr>
          <p:nvPr/>
        </p:nvSpPr>
        <p:spPr>
          <a:xfrm xmlns:a="http://schemas.openxmlformats.org/drawingml/2006/main">
            <a:off x="6705600" y="443865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Envoy · Keycloak · First Run</a:t>
            </a:r>
          </a:p>
        </p:txBody>
      </p:sp>
      <p:sp>
        <p:nvSpPr>
          <p:cNvPr id="21" name="layer-3">
            <a:extLst xmlns:a="http://schemas.openxmlformats.org/drawingml/2006/main">
              <a:ext uri="{FF2B5EF4-FFF2-40B4-BE49-F238E27FC236}">
                <a16:creationId xmlns:a16="http://schemas.microsoft.com/office/drawing/2014/main" id="{238D0C50-90C0-4D7B-BBB9-FED95F61C1A0}"/>
              </a:ext>
            </a:extLst>
          </p:cNvPr>
          <p:cNvSpPr>
            <a:spLocks xmlns:a="http://schemas.openxmlformats.org/drawingml/2006/main" noGrp="1"/>
          </p:cNvSpPr>
          <p:nvPr/>
        </p:nvSpPr>
        <p:spPr>
          <a:xfrm xmlns:a="http://schemas.openxmlformats.org/drawingml/2006/main">
            <a:off x="685800" y="5086350"/>
            <a:ext cx="10820400" cy="628650"/>
          </a:xfrm>
          <a:prstGeom xmlns:a="http://schemas.openxmlformats.org/drawingml/2006/main" prst="roundRect">
            <a:avLst>
              <a:gd name="adj" fmla="val 27273"/>
            </a:avLst>
          </a:prstGeom>
          <a:solidFill xmlns:a="http://schemas.openxmlformats.org/drawingml/2006/main">
            <a:srgbClr val="0B1730"/>
          </a:solidFill>
          <a:ln xmlns:a="http://schemas.openxmlformats.org/drawingml/2006/main" w="9525">
            <a:solidFill>
              <a:srgbClr val="24415F"/>
            </a:solidFill>
            <a:prstDash val="solid"/>
          </a:ln>
        </p:spPr>
      </p:sp>
      <p:sp>
        <p:nvSpPr>
          <p:cNvPr id="22" name="layer-bar-3">
            <a:extLst xmlns:a="http://schemas.openxmlformats.org/drawingml/2006/main">
              <a:ext uri="{FF2B5EF4-FFF2-40B4-BE49-F238E27FC236}">
                <a16:creationId xmlns:a16="http://schemas.microsoft.com/office/drawing/2014/main" id="{E202C055-A07A-4859-A004-E1E874CA1674}"/>
              </a:ext>
            </a:extLst>
          </p:cNvPr>
          <p:cNvSpPr>
            <a:spLocks xmlns:a="http://schemas.openxmlformats.org/drawingml/2006/main" noGrp="1"/>
          </p:cNvSpPr>
          <p:nvPr/>
        </p:nvSpPr>
        <p:spPr>
          <a:xfrm xmlns:a="http://schemas.openxmlformats.org/drawingml/2006/main">
            <a:off x="685800" y="5086350"/>
            <a:ext cx="85725" cy="628650"/>
          </a:xfrm>
          <a:prstGeom xmlns:a="http://schemas.openxmlformats.org/drawingml/2006/main" prst="roundRect">
            <a:avLst>
              <a:gd name="adj" fmla="val 44444"/>
            </a:avLst>
          </a:prstGeom>
          <a:solidFill xmlns:a="http://schemas.openxmlformats.org/drawingml/2006/main">
            <a:srgbClr val="34D399"/>
          </a:solidFill>
          <a:ln xmlns:a="http://schemas.openxmlformats.org/drawingml/2006/main" w="0">
            <a:noFill/>
            <a:prstDash val="solid"/>
          </a:ln>
        </p:spPr>
      </p:sp>
      <p:sp>
        <p:nvSpPr>
          <p:cNvPr id="23" name="layer-number-3">
            <a:extLst xmlns:a="http://schemas.openxmlformats.org/drawingml/2006/main">
              <a:ext uri="{FF2B5EF4-FFF2-40B4-BE49-F238E27FC236}">
                <a16:creationId xmlns:a16="http://schemas.microsoft.com/office/drawing/2014/main" id="{6960E9B5-A652-49BF-AC8F-22E9B18F8918}"/>
              </a:ext>
            </a:extLst>
          </p:cNvPr>
          <p:cNvSpPr>
            <a:spLocks xmlns:a="http://schemas.openxmlformats.org/drawingml/2006/main" noGrp="1"/>
          </p:cNvSpPr>
          <p:nvPr/>
        </p:nvSpPr>
        <p:spPr>
          <a:xfrm xmlns:a="http://schemas.openxmlformats.org/drawingml/2006/main">
            <a:off x="990600" y="5248275"/>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500" b="1">
                <a:solidFill>
                  <a:srgbClr val="34D399"/>
                </a:solidFill>
                <a:latin typeface="Avenir Next"/>
                <a:ea typeface="Avenir Next"/>
                <a:cs typeface="Avenir Next"/>
              </a:defRPr>
            </a:pPr>
            <a:r>
              <a:rPr sz="1500" b="1">
                <a:solidFill>
                  <a:srgbClr val="34D399"/>
                </a:solidFill>
                <a:latin typeface="Avenir Next"/>
                <a:ea typeface="Avenir Next"/>
                <a:cs typeface="Avenir Next"/>
              </a:rPr>
              <a:t>04</a:t>
            </a:r>
          </a:p>
        </p:txBody>
      </p:sp>
      <p:sp>
        <p:nvSpPr>
          <p:cNvPr id="24" name="layer-title-3">
            <a:extLst xmlns:a="http://schemas.openxmlformats.org/drawingml/2006/main">
              <a:ext uri="{FF2B5EF4-FFF2-40B4-BE49-F238E27FC236}">
                <a16:creationId xmlns:a16="http://schemas.microsoft.com/office/drawing/2014/main" id="{E7EE075F-5E28-4CB2-BD3B-B26F772CE2F6}"/>
              </a:ext>
            </a:extLst>
          </p:cNvPr>
          <p:cNvSpPr>
            <a:spLocks xmlns:a="http://schemas.openxmlformats.org/drawingml/2006/main" noGrp="1"/>
          </p:cNvSpPr>
          <p:nvPr/>
        </p:nvSpPr>
        <p:spPr>
          <a:xfrm xmlns:a="http://schemas.openxmlformats.org/drawingml/2006/main">
            <a:off x="1657350" y="52197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F7FAFF"/>
                </a:solidFill>
                <a:latin typeface="Avenir Next"/>
                <a:ea typeface="Avenir Next"/>
                <a:cs typeface="Avenir Next"/>
              </a:defRPr>
            </a:pPr>
            <a:r>
              <a:rPr sz="1950" b="1">
                <a:solidFill>
                  <a:srgbClr val="F7FAFF"/>
                </a:solidFill>
                <a:latin typeface="Avenir Next"/>
                <a:ea typeface="Avenir Next"/>
                <a:cs typeface="Avenir Next"/>
              </a:rPr>
              <a:t>AI Workloads</a:t>
            </a:r>
          </a:p>
        </p:txBody>
      </p:sp>
      <p:sp>
        <p:nvSpPr>
          <p:cNvPr id="25" name="layer-detail-3">
            <a:extLst xmlns:a="http://schemas.openxmlformats.org/drawingml/2006/main">
              <a:ext uri="{FF2B5EF4-FFF2-40B4-BE49-F238E27FC236}">
                <a16:creationId xmlns:a16="http://schemas.microsoft.com/office/drawing/2014/main" id="{56337E75-D9E4-4A5C-95F3-FA5CC51CA2A3}"/>
              </a:ext>
            </a:extLst>
          </p:cNvPr>
          <p:cNvSpPr>
            <a:spLocks xmlns:a="http://schemas.openxmlformats.org/drawingml/2006/main" noGrp="1"/>
          </p:cNvSpPr>
          <p:nvPr/>
        </p:nvSpPr>
        <p:spPr>
          <a:xfrm xmlns:a="http://schemas.openxmlformats.org/drawingml/2006/main">
            <a:off x="6705600" y="5257800"/>
            <a:ext cx="417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Operator · KubeAI · LiteLLM · Apps</a:t>
            </a:r>
          </a:p>
        </p:txBody>
      </p:sp>
    </p:spTree>
    <p:extLst>
      <p:ext uri="{BB962C8B-B14F-4D97-AF65-F5344CB8AC3E}">
        <p14:creationId xmlns:p14="http://schemas.microsoft.com/office/powerpoint/2010/main" val="1944236189"/>
      </p:ext>
    </p:extLst>
  </p:cSld>
</p:sld>
</file>

<file path=ppt/slides/slide7.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dd0bb6172de4db1"/>
          <a:srcRect xmlns:a="http://schemas.openxmlformats.org/drawingml/2006/main" l="9422" t="0" r="9422" b="0"/>
          <a:stretch xmlns:a="http://schemas.openxmlformats.org/drawingml/2006/main">
            <a:fillRect l="0" t="0" r="0" b="0"/>
          </a:stretch>
        </p:blipFill>
        <p:spPr>
          <a:xfrm xmlns:a="http://schemas.openxmlformats.org/drawingml/2006/main">
            <a:off x="3429000" y="781050"/>
            <a:ext cx="8763000" cy="6076950"/>
          </a:xfrm>
          <a:prstGeom xmlns:a="http://schemas.openxmlformats.org/drawingml/2006/main" prst="rect">
            <a:avLst/>
          </a:prstGeom>
        </p:spPr>
      </p:pic>
      <p:sp>
        <p:nvSpPr>
          <p:cNvPr id="2" name="apps-copy-panel">
            <a:extLst xmlns:a="http://schemas.openxmlformats.org/drawingml/2006/main">
              <a:ext uri="{FF2B5EF4-FFF2-40B4-BE49-F238E27FC236}">
                <a16:creationId xmlns:a16="http://schemas.microsoft.com/office/drawing/2014/main" id="{DD6273E0-772C-45D9-B3F2-A96D671E86E7}"/>
              </a:ext>
            </a:extLst>
          </p:cNvPr>
          <p:cNvSpPr>
            <a:spLocks xmlns:a="http://schemas.openxmlformats.org/drawingml/2006/main" noGrp="1"/>
          </p:cNvSpPr>
          <p:nvPr/>
        </p:nvSpPr>
        <p:spPr>
          <a:xfrm xmlns:a="http://schemas.openxmlformats.org/drawingml/2006/main">
            <a:off x="0" y="0"/>
            <a:ext cx="4286250" cy="6858000"/>
          </a:xfrm>
          <a:prstGeom xmlns:a="http://schemas.openxmlformats.org/drawingml/2006/main" prst="rect">
            <a:avLst/>
          </a:prstGeom>
          <a:solidFill xmlns:a="http://schemas.openxmlformats.org/drawingml/2006/main">
            <a:srgbClr val="050B18"/>
          </a:solidFill>
          <a:ln xmlns:a="http://schemas.openxmlformats.org/drawingml/2006/main" w="0">
            <a:noFill/>
            <a:prstDash val="solid"/>
          </a:ln>
        </p:spPr>
      </p:sp>
      <p:sp>
        <p:nvSpPr>
          <p:cNvPr id="3" name="eyebrow">
            <a:extLst xmlns:a="http://schemas.openxmlformats.org/drawingml/2006/main">
              <a:ext uri="{FF2B5EF4-FFF2-40B4-BE49-F238E27FC236}">
                <a16:creationId xmlns:a16="http://schemas.microsoft.com/office/drawing/2014/main" id="{766C1D39-D726-43A9-9652-F30F80DADC3B}"/>
              </a:ext>
            </a:extLst>
          </p:cNvPr>
          <p:cNvSpPr>
            <a:spLocks xmlns:a="http://schemas.openxmlformats.org/drawingml/2006/main" noGrp="1"/>
          </p:cNvSpPr>
          <p:nvPr/>
        </p:nvSpPr>
        <p:spPr>
          <a:xfrm xmlns:a="http://schemas.openxmlformats.org/drawingml/2006/main">
            <a:off x="685800" y="571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ANWENDUNGEN</a:t>
            </a:r>
          </a:p>
        </p:txBody>
      </p:sp>
      <p:sp>
        <p:nvSpPr>
          <p:cNvPr id="4" name="apps-title">
            <a:extLst xmlns:a="http://schemas.openxmlformats.org/drawingml/2006/main">
              <a:ext uri="{FF2B5EF4-FFF2-40B4-BE49-F238E27FC236}">
                <a16:creationId xmlns:a16="http://schemas.microsoft.com/office/drawing/2014/main" id="{BB0DBB31-D5D2-44AC-991B-6AE941EF36CD}"/>
              </a:ext>
            </a:extLst>
          </p:cNvPr>
          <p:cNvSpPr>
            <a:spLocks xmlns:a="http://schemas.openxmlformats.org/drawingml/2006/main" noGrp="1"/>
          </p:cNvSpPr>
          <p:nvPr/>
        </p:nvSpPr>
        <p:spPr>
          <a:xfrm xmlns:a="http://schemas.openxmlformats.org/drawingml/2006/main">
            <a:off x="685800" y="1524000"/>
            <a:ext cx="3429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2000"/>
              </a:lnSpc>
              <a:buNone/>
              <a:defRPr sz="4200" b="1">
                <a:solidFill>
                  <a:srgbClr val="F7FAFF"/>
                </a:solidFill>
                <a:latin typeface="Avenir Next"/>
                <a:ea typeface="Avenir Next"/>
                <a:cs typeface="Avenir Next"/>
              </a:defRPr>
            </a:pPr>
            <a:r>
              <a:rPr sz="4200" b="1">
                <a:solidFill>
                  <a:srgbClr val="F7FAFF"/>
                </a:solidFill>
                <a:latin typeface="Avenir Next"/>
                <a:ea typeface="Avenir Next"/>
                <a:cs typeface="Avenir Next"/>
              </a:rPr>
              <a:t>Chat, Agenten</a:t>
            </a:r>
          </a:p>
          <a:p xmlns:a="http://schemas.openxmlformats.org/drawingml/2006/main">
            <a:pPr>
              <a:lnSpc>
                <a:spcPct val="92000"/>
              </a:lnSpc>
              <a:buNone/>
              <a:defRPr sz="4200" b="1">
                <a:solidFill>
                  <a:srgbClr val="F7FAFF"/>
                </a:solidFill>
                <a:latin typeface="Avenir Next"/>
                <a:ea typeface="Avenir Next"/>
                <a:cs typeface="Avenir Next"/>
              </a:defRPr>
            </a:pPr>
            <a:r>
              <a:rPr sz="4200" b="1">
                <a:solidFill>
                  <a:srgbClr val="F7FAFF"/>
                </a:solidFill>
                <a:latin typeface="Avenir Next"/>
                <a:ea typeface="Avenir Next"/>
                <a:cs typeface="Avenir Next"/>
              </a:rPr>
              <a:t>und Coding</a:t>
            </a:r>
          </a:p>
        </p:txBody>
      </p:sp>
      <p:sp>
        <p:nvSpPr>
          <p:cNvPr id="5" name="apps-copy">
            <a:extLst xmlns:a="http://schemas.openxmlformats.org/drawingml/2006/main">
              <a:ext uri="{FF2B5EF4-FFF2-40B4-BE49-F238E27FC236}">
                <a16:creationId xmlns:a16="http://schemas.microsoft.com/office/drawing/2014/main" id="{108837D4-846F-44DD-BA3B-1126E2172D16}"/>
              </a:ext>
            </a:extLst>
          </p:cNvPr>
          <p:cNvSpPr>
            <a:spLocks xmlns:a="http://schemas.openxmlformats.org/drawingml/2006/main" noGrp="1"/>
          </p:cNvSpPr>
          <p:nvPr/>
        </p:nvSpPr>
        <p:spPr>
          <a:xfrm xmlns:a="http://schemas.openxmlformats.org/drawingml/2006/main">
            <a:off x="685800" y="329565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AnythingLLM bündelt Wissen.</a:t>
            </a:r>
          </a:p>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OpenClaw, Hermes, Paperclip,</a:t>
            </a:r>
          </a:p>
          <a:p xmlns:a="http://schemas.openxmlformats.org/drawingml/2006/main">
            <a:pPr>
              <a:lnSpc>
                <a:spcPct val="118000"/>
              </a:lnSpc>
              <a:buNone/>
              <a:defRPr sz="1725">
                <a:solidFill>
                  <a:srgbClr val="C5D4E6"/>
                </a:solidFill>
                <a:latin typeface="Avenir Next"/>
                <a:ea typeface="Avenir Next"/>
                <a:cs typeface="Avenir Next"/>
              </a:defRPr>
            </a:pPr>
            <a:r>
              <a:rPr sz="1725">
                <a:solidFill>
                  <a:srgbClr val="C5D4E6"/>
                </a:solidFill>
                <a:latin typeface="Avenir Next"/>
                <a:ea typeface="Avenir Next"/>
                <a:cs typeface="Avenir Next"/>
              </a:rPr>
              <a:t>KubeOpenCode · Odysseus.</a:t>
            </a:r>
          </a:p>
        </p:txBody>
      </p:sp>
      <p:sp>
        <p:nvSpPr>
          <p:cNvPr id="6" name="tag-ANYTHINGLLM">
            <a:extLst xmlns:a="http://schemas.openxmlformats.org/drawingml/2006/main">
              <a:ext uri="{FF2B5EF4-FFF2-40B4-BE49-F238E27FC236}">
                <a16:creationId xmlns:a16="http://schemas.microsoft.com/office/drawing/2014/main" id="{79459B4D-0454-4B99-81E1-B17E1E079B24}"/>
              </a:ext>
            </a:extLst>
          </p:cNvPr>
          <p:cNvSpPr>
            <a:spLocks xmlns:a="http://schemas.openxmlformats.org/drawingml/2006/main" noGrp="1"/>
          </p:cNvSpPr>
          <p:nvPr/>
        </p:nvSpPr>
        <p:spPr>
          <a:xfrm xmlns:a="http://schemas.openxmlformats.org/drawingml/2006/main">
            <a:off x="685800" y="4724400"/>
            <a:ext cx="15621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ANYTHINGLLM</a:t>
            </a:r>
          </a:p>
        </p:txBody>
      </p:sp>
      <p:sp>
        <p:nvSpPr>
          <p:cNvPr id="7" name="tag-OPENCLAW · HERMES">
            <a:extLst xmlns:a="http://schemas.openxmlformats.org/drawingml/2006/main">
              <a:ext uri="{FF2B5EF4-FFF2-40B4-BE49-F238E27FC236}">
                <a16:creationId xmlns:a16="http://schemas.microsoft.com/office/drawing/2014/main" id="{9FA4CBE4-CA80-41C2-AD6F-27CD530EA75E}"/>
              </a:ext>
            </a:extLst>
          </p:cNvPr>
          <p:cNvSpPr>
            <a:spLocks xmlns:a="http://schemas.openxmlformats.org/drawingml/2006/main" noGrp="1"/>
          </p:cNvSpPr>
          <p:nvPr/>
        </p:nvSpPr>
        <p:spPr>
          <a:xfrm xmlns:a="http://schemas.openxmlformats.org/drawingml/2006/main">
            <a:off x="685800" y="5219700"/>
            <a:ext cx="21336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8BDF8"/>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8BDF8"/>
                </a:solidFill>
                <a:latin typeface="Avenir Next"/>
                <a:ea typeface="Avenir Next"/>
                <a:cs typeface="Avenir Next"/>
              </a:defRPr>
            </a:pPr>
            <a:r>
              <a:rPr sz="1200" b="1">
                <a:solidFill>
                  <a:srgbClr val="38BDF8"/>
                </a:solidFill>
                <a:latin typeface="Avenir Next"/>
                <a:ea typeface="Avenir Next"/>
                <a:cs typeface="Avenir Next"/>
              </a:rPr>
              <a:t>OPENCLAW · HERMES</a:t>
            </a:r>
          </a:p>
        </p:txBody>
      </p:sp>
      <p:sp>
        <p:nvSpPr>
          <p:cNvPr id="8" name="tag-PAPERCLIP · KUBEOPENCODE">
            <a:extLst xmlns:a="http://schemas.openxmlformats.org/drawingml/2006/main">
              <a:ext uri="{FF2B5EF4-FFF2-40B4-BE49-F238E27FC236}">
                <a16:creationId xmlns:a16="http://schemas.microsoft.com/office/drawing/2014/main" id="{B790825B-C0DD-4273-B7E1-31A4DCD0CC57}"/>
              </a:ext>
            </a:extLst>
          </p:cNvPr>
          <p:cNvSpPr>
            <a:spLocks xmlns:a="http://schemas.openxmlformats.org/drawingml/2006/main" noGrp="1"/>
          </p:cNvSpPr>
          <p:nvPr/>
        </p:nvSpPr>
        <p:spPr>
          <a:xfrm xmlns:a="http://schemas.openxmlformats.org/drawingml/2006/main">
            <a:off x="685800" y="5715000"/>
            <a:ext cx="27813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PAPERCLIP · KUBEOPENCODE</a:t>
            </a:r>
          </a:p>
        </p:txBody>
      </p:sp>
      <p:sp>
        <p:nvSpPr>
          <p:cNvPr id="9" name="brand-footer">
            <a:extLst xmlns:a="http://schemas.openxmlformats.org/drawingml/2006/main">
              <a:ext uri="{FF2B5EF4-FFF2-40B4-BE49-F238E27FC236}">
                <a16:creationId xmlns:a16="http://schemas.microsoft.com/office/drawing/2014/main" id="{C853599F-3F4E-410E-B3A4-6FCA07B91D9E}"/>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10" name="page-number">
            <a:extLst xmlns:a="http://schemas.openxmlformats.org/drawingml/2006/main">
              <a:ext uri="{FF2B5EF4-FFF2-40B4-BE49-F238E27FC236}">
                <a16:creationId xmlns:a16="http://schemas.microsoft.com/office/drawing/2014/main" id="{BE2C55BF-1AC2-4B2E-8FCE-E5F1340C331E}"/>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07</a:t>
            </a:r>
          </a:p>
        </p:txBody>
      </p:sp>
    </p:spTree>
    <p:extLst>
      <p:ext uri="{BB962C8B-B14F-4D97-AF65-F5344CB8AC3E}">
        <p14:creationId xmlns:p14="http://schemas.microsoft.com/office/powerpoint/2010/main" val="191422405"/>
      </p:ext>
    </p:extLst>
  </p:cSld>
</p:sld>
</file>

<file path=ppt/slides/slide8.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3" name="brand-footer">
            <a:extLst xmlns:a="http://schemas.openxmlformats.org/drawingml/2006/main">
              <a:ext uri="{FF2B5EF4-FFF2-40B4-BE49-F238E27FC236}">
                <a16:creationId xmlns:a16="http://schemas.microsoft.com/office/drawing/2014/main" id="{A5AB3AF5-8866-4389-9BCE-253E42E1F1B6}"/>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43B55DB9-A12A-4CEE-9EEB-45D86B49C643}"/>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08</a:t>
            </a:r>
          </a:p>
        </p:txBody>
      </p:sp>
      <p:sp>
        <p:nvSpPr>
          <p:cNvPr id="3" name="eyebrow">
            <a:extLst xmlns:a="http://schemas.openxmlformats.org/drawingml/2006/main">
              <a:ext uri="{FF2B5EF4-FFF2-40B4-BE49-F238E27FC236}">
                <a16:creationId xmlns:a16="http://schemas.microsoft.com/office/drawing/2014/main" id="{E68882CD-87A3-4C53-B376-B406E1EF2BFE}"/>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EINE IDENTITÄTSGRENZE</a:t>
            </a:r>
          </a:p>
        </p:txBody>
      </p:sp>
      <p:sp>
        <p:nvSpPr>
          <p:cNvPr id="4" name="title">
            <a:extLst xmlns:a="http://schemas.openxmlformats.org/drawingml/2006/main">
              <a:ext uri="{FF2B5EF4-FFF2-40B4-BE49-F238E27FC236}">
                <a16:creationId xmlns:a16="http://schemas.microsoft.com/office/drawing/2014/main" id="{E7C384BC-A24D-46CC-A371-243E0D2F8EAE}"/>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Lokales SSO schützt jede Route</a:t>
            </a:r>
          </a:p>
        </p:txBody>
      </p:sp>
      <p:sp>
        <p:nvSpPr>
          <p:cNvPr id="5" name="identity-line-local">
            <a:extLst xmlns:a="http://schemas.openxmlformats.org/drawingml/2006/main">
              <a:ext uri="{FF2B5EF4-FFF2-40B4-BE49-F238E27FC236}">
                <a16:creationId xmlns:a16="http://schemas.microsoft.com/office/drawing/2014/main" id="{24B43AFC-0BCE-4DA3-8E3D-43FF45A9AA95}"/>
              </a:ext>
            </a:extLst>
          </p:cNvPr>
          <p:cNvSpPr>
            <a:spLocks xmlns:a="http://schemas.openxmlformats.org/drawingml/2006/main" noGrp="1"/>
          </p:cNvSpPr>
          <p:nvPr/>
        </p:nvSpPr>
        <p:spPr>
          <a:xfrm xmlns:a="http://schemas.openxmlformats.org/drawingml/2006/main">
            <a:off x="3162300" y="3467100"/>
            <a:ext cx="1657350" cy="0"/>
          </a:xfrm>
          <a:prstGeom xmlns:a="http://schemas.openxmlformats.org/drawingml/2006/main" prst="line">
            <a:avLst/>
          </a:prstGeom>
          <a:noFill xmlns:a="http://schemas.openxmlformats.org/drawingml/2006/main"/>
          <a:ln xmlns:a="http://schemas.openxmlformats.org/drawingml/2006/main" w="28575">
            <a:solidFill>
              <a:srgbClr val="22D3EE"/>
            </a:solidFill>
            <a:prstDash val="solid"/>
          </a:ln>
        </p:spPr>
      </p:sp>
      <p:sp>
        <p:nvSpPr>
          <p:cNvPr id="6" name="identity-line-upstream">
            <a:extLst xmlns:a="http://schemas.openxmlformats.org/drawingml/2006/main">
              <a:ext uri="{FF2B5EF4-FFF2-40B4-BE49-F238E27FC236}">
                <a16:creationId xmlns:a16="http://schemas.microsoft.com/office/drawing/2014/main" id="{2E0B31BA-310D-4B1A-874C-A4118B4339F5}"/>
              </a:ext>
            </a:extLst>
          </p:cNvPr>
          <p:cNvSpPr>
            <a:spLocks xmlns:a="http://schemas.openxmlformats.org/drawingml/2006/main" noGrp="1"/>
          </p:cNvSpPr>
          <p:nvPr/>
        </p:nvSpPr>
        <p:spPr>
          <a:xfrm xmlns:a="http://schemas.openxmlformats.org/drawingml/2006/main" flipV="1">
            <a:off x="6191250" y="2247900"/>
            <a:ext cx="1676400" cy="781050"/>
          </a:xfrm>
          <a:prstGeom xmlns:a="http://schemas.openxmlformats.org/drawingml/2006/main" prst="line">
            <a:avLst/>
          </a:prstGeom>
          <a:noFill xmlns:a="http://schemas.openxmlformats.org/drawingml/2006/main"/>
          <a:ln xmlns:a="http://schemas.openxmlformats.org/drawingml/2006/main" w="28575">
            <a:solidFill>
              <a:srgbClr val="8B5CF6"/>
            </a:solidFill>
            <a:prstDash val="solid"/>
          </a:ln>
        </p:spPr>
      </p:sp>
      <p:sp>
        <p:nvSpPr>
          <p:cNvPr id="7" name="identity-line-apps">
            <a:extLst xmlns:a="http://schemas.openxmlformats.org/drawingml/2006/main">
              <a:ext uri="{FF2B5EF4-FFF2-40B4-BE49-F238E27FC236}">
                <a16:creationId xmlns:a16="http://schemas.microsoft.com/office/drawing/2014/main" id="{D1904FD1-1E02-42BF-BC76-53EFF966BB01}"/>
              </a:ext>
            </a:extLst>
          </p:cNvPr>
          <p:cNvSpPr>
            <a:spLocks xmlns:a="http://schemas.openxmlformats.org/drawingml/2006/main" noGrp="1"/>
          </p:cNvSpPr>
          <p:nvPr/>
        </p:nvSpPr>
        <p:spPr>
          <a:xfrm xmlns:a="http://schemas.openxmlformats.org/drawingml/2006/main">
            <a:off x="6191250" y="3905250"/>
            <a:ext cx="1676400" cy="781050"/>
          </a:xfrm>
          <a:prstGeom xmlns:a="http://schemas.openxmlformats.org/drawingml/2006/main" prst="line">
            <a:avLst/>
          </a:prstGeom>
          <a:noFill xmlns:a="http://schemas.openxmlformats.org/drawingml/2006/main"/>
          <a:ln xmlns:a="http://schemas.openxmlformats.org/drawingml/2006/main" w="28575">
            <a:solidFill>
              <a:srgbClr val="38BDF8"/>
            </a:solidFill>
            <a:prstDash val="solid"/>
          </a:ln>
        </p:spPr>
      </p:sp>
      <p:sp>
        <p:nvSpPr>
          <p:cNvPr id="8" name="identity-local">
            <a:extLst xmlns:a="http://schemas.openxmlformats.org/drawingml/2006/main">
              <a:ext uri="{FF2B5EF4-FFF2-40B4-BE49-F238E27FC236}">
                <a16:creationId xmlns:a16="http://schemas.microsoft.com/office/drawing/2014/main" id="{0E343C9B-A3A4-4F89-8992-382CE3E9F286}"/>
              </a:ext>
            </a:extLst>
          </p:cNvPr>
          <p:cNvSpPr>
            <a:spLocks xmlns:a="http://schemas.openxmlformats.org/drawingml/2006/main" noGrp="1"/>
          </p:cNvSpPr>
          <p:nvPr/>
        </p:nvSpPr>
        <p:spPr>
          <a:xfrm xmlns:a="http://schemas.openxmlformats.org/drawingml/2006/main">
            <a:off x="685800" y="2876550"/>
            <a:ext cx="2476500" cy="1200150"/>
          </a:xfrm>
          <a:prstGeom xmlns:a="http://schemas.openxmlformats.org/drawingml/2006/main" prst="roundRect">
            <a:avLst>
              <a:gd name="adj" fmla="val 17460"/>
            </a:avLst>
          </a:prstGeom>
          <a:solidFill xmlns:a="http://schemas.openxmlformats.org/drawingml/2006/main">
            <a:srgbClr val="0B1730"/>
          </a:solidFill>
          <a:ln xmlns:a="http://schemas.openxmlformats.org/drawingml/2006/main" w="9525">
            <a:solidFill>
              <a:srgbClr val="24415F"/>
            </a:solidFill>
            <a:prstDash val="solid"/>
          </a:ln>
        </p:spPr>
      </p:sp>
      <p:sp>
        <p:nvSpPr>
          <p:cNvPr id="9" name="identity-local-accent">
            <a:extLst xmlns:a="http://schemas.openxmlformats.org/drawingml/2006/main">
              <a:ext uri="{FF2B5EF4-FFF2-40B4-BE49-F238E27FC236}">
                <a16:creationId xmlns:a16="http://schemas.microsoft.com/office/drawing/2014/main" id="{050DDD4D-A005-4B4E-B2AC-33F914947BFB}"/>
              </a:ext>
            </a:extLst>
          </p:cNvPr>
          <p:cNvSpPr>
            <a:spLocks xmlns:a="http://schemas.openxmlformats.org/drawingml/2006/main" noGrp="1"/>
          </p:cNvSpPr>
          <p:nvPr/>
        </p:nvSpPr>
        <p:spPr>
          <a:xfrm xmlns:a="http://schemas.openxmlformats.org/drawingml/2006/main">
            <a:off x="685800" y="2876550"/>
            <a:ext cx="57150" cy="12001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10" name="identity-local-label">
            <a:extLst xmlns:a="http://schemas.openxmlformats.org/drawingml/2006/main">
              <a:ext uri="{FF2B5EF4-FFF2-40B4-BE49-F238E27FC236}">
                <a16:creationId xmlns:a16="http://schemas.microsoft.com/office/drawing/2014/main" id="{6CAD1522-9096-4ADD-A080-695830C9C3C2}"/>
              </a:ext>
            </a:extLst>
          </p:cNvPr>
          <p:cNvSpPr>
            <a:spLocks xmlns:a="http://schemas.openxmlformats.org/drawingml/2006/main" noGrp="1"/>
          </p:cNvSpPr>
          <p:nvPr/>
        </p:nvSpPr>
        <p:spPr>
          <a:xfrm xmlns:a="http://schemas.openxmlformats.org/drawingml/2006/main">
            <a:off x="952500" y="31146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Keycloak</a:t>
            </a:r>
          </a:p>
        </p:txBody>
      </p:sp>
      <p:sp>
        <p:nvSpPr>
          <p:cNvPr id="11" name="identity-local-sublabel">
            <a:extLst xmlns:a="http://schemas.openxmlformats.org/drawingml/2006/main">
              <a:ext uri="{FF2B5EF4-FFF2-40B4-BE49-F238E27FC236}">
                <a16:creationId xmlns:a16="http://schemas.microsoft.com/office/drawing/2014/main" id="{F78F2C59-D079-4C55-88E7-96DEA15EAE0D}"/>
              </a:ext>
            </a:extLst>
          </p:cNvPr>
          <p:cNvSpPr>
            <a:spLocks xmlns:a="http://schemas.openxmlformats.org/drawingml/2006/main" noGrp="1"/>
          </p:cNvSpPr>
          <p:nvPr/>
        </p:nvSpPr>
        <p:spPr>
          <a:xfrm xmlns:a="http://schemas.openxmlformats.org/drawingml/2006/main">
            <a:off x="952500" y="353377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9FB1C7"/>
                </a:solidFill>
                <a:latin typeface="Avenir Next"/>
                <a:ea typeface="Avenir Next"/>
                <a:cs typeface="Avenir Next"/>
              </a:defRPr>
            </a:pPr>
            <a:r>
              <a:rPr sz="1275">
                <a:solidFill>
                  <a:srgbClr val="9FB1C7"/>
                </a:solidFill>
                <a:latin typeface="Avenir Next"/>
                <a:ea typeface="Avenir Next"/>
                <a:cs typeface="Avenir Next"/>
              </a:rPr>
              <a:t>Setup · offline · kein Default-Passwort</a:t>
            </a:r>
          </a:p>
        </p:txBody>
      </p:sp>
      <p:sp>
        <p:nvSpPr>
          <p:cNvPr id="12" name="identity-hub">
            <a:extLst xmlns:a="http://schemas.openxmlformats.org/drawingml/2006/main">
              <a:ext uri="{FF2B5EF4-FFF2-40B4-BE49-F238E27FC236}">
                <a16:creationId xmlns:a16="http://schemas.microsoft.com/office/drawing/2014/main" id="{C1EC5804-0EC8-4CC7-B9C7-EBBE28C86961}"/>
              </a:ext>
            </a:extLst>
          </p:cNvPr>
          <p:cNvSpPr>
            <a:spLocks xmlns:a="http://schemas.openxmlformats.org/drawingml/2006/main" noGrp="1"/>
          </p:cNvSpPr>
          <p:nvPr/>
        </p:nvSpPr>
        <p:spPr>
          <a:xfrm xmlns:a="http://schemas.openxmlformats.org/drawingml/2006/main">
            <a:off x="4819650" y="2762250"/>
            <a:ext cx="1371600" cy="13716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550" b="1">
                <a:solidFill>
                  <a:srgbClr val="F7FAFF"/>
                </a:solidFill>
                <a:latin typeface="Avenir Next"/>
                <a:ea typeface="Avenir Next"/>
                <a:cs typeface="Avenir Next"/>
              </a:defRPr>
            </a:pPr>
            <a:r>
              <a:rPr sz="2550" b="1">
                <a:solidFill>
                  <a:srgbClr val="F7FAFF"/>
                </a:solidFill>
                <a:latin typeface="Avenir Next"/>
                <a:ea typeface="Avenir Next"/>
                <a:cs typeface="Avenir Next"/>
              </a:rPr>
              <a:t>SSO</a:t>
            </a:r>
          </a:p>
        </p:txBody>
      </p:sp>
      <p:sp>
        <p:nvSpPr>
          <p:cNvPr id="13" name="identity-upstream">
            <a:extLst xmlns:a="http://schemas.openxmlformats.org/drawingml/2006/main">
              <a:ext uri="{FF2B5EF4-FFF2-40B4-BE49-F238E27FC236}">
                <a16:creationId xmlns:a16="http://schemas.microsoft.com/office/drawing/2014/main" id="{2B19D53D-C91C-4899-AC75-03AFC2E79A91}"/>
              </a:ext>
            </a:extLst>
          </p:cNvPr>
          <p:cNvSpPr>
            <a:spLocks xmlns:a="http://schemas.openxmlformats.org/drawingml/2006/main" noGrp="1"/>
          </p:cNvSpPr>
          <p:nvPr/>
        </p:nvSpPr>
        <p:spPr>
          <a:xfrm xmlns:a="http://schemas.openxmlformats.org/drawingml/2006/main">
            <a:off x="7867650" y="1790700"/>
            <a:ext cx="3638550" cy="1200150"/>
          </a:xfrm>
          <a:prstGeom xmlns:a="http://schemas.openxmlformats.org/drawingml/2006/main" prst="roundRect">
            <a:avLst>
              <a:gd name="adj" fmla="val 17460"/>
            </a:avLst>
          </a:prstGeom>
          <a:solidFill xmlns:a="http://schemas.openxmlformats.org/drawingml/2006/main">
            <a:srgbClr val="0B1730"/>
          </a:solidFill>
          <a:ln xmlns:a="http://schemas.openxmlformats.org/drawingml/2006/main" w="9525">
            <a:solidFill>
              <a:srgbClr val="24415F"/>
            </a:solidFill>
            <a:prstDash val="solid"/>
          </a:ln>
        </p:spPr>
      </p:sp>
      <p:sp>
        <p:nvSpPr>
          <p:cNvPr id="14" name="identity-upstream-accent">
            <a:extLst xmlns:a="http://schemas.openxmlformats.org/drawingml/2006/main">
              <a:ext uri="{FF2B5EF4-FFF2-40B4-BE49-F238E27FC236}">
                <a16:creationId xmlns:a16="http://schemas.microsoft.com/office/drawing/2014/main" id="{8FABE613-28E9-46F3-BFA6-FE0E19CD26EF}"/>
              </a:ext>
            </a:extLst>
          </p:cNvPr>
          <p:cNvSpPr>
            <a:spLocks xmlns:a="http://schemas.openxmlformats.org/drawingml/2006/main" noGrp="1"/>
          </p:cNvSpPr>
          <p:nvPr/>
        </p:nvSpPr>
        <p:spPr>
          <a:xfrm xmlns:a="http://schemas.openxmlformats.org/drawingml/2006/main">
            <a:off x="7867650" y="1790700"/>
            <a:ext cx="57150" cy="12001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5" name="identity-upstream-label">
            <a:extLst xmlns:a="http://schemas.openxmlformats.org/drawingml/2006/main">
              <a:ext uri="{FF2B5EF4-FFF2-40B4-BE49-F238E27FC236}">
                <a16:creationId xmlns:a16="http://schemas.microsoft.com/office/drawing/2014/main" id="{121D01A2-ED6F-4D7F-B774-177716E5CE77}"/>
              </a:ext>
            </a:extLst>
          </p:cNvPr>
          <p:cNvSpPr>
            <a:spLocks xmlns:a="http://schemas.openxmlformats.org/drawingml/2006/main" noGrp="1"/>
          </p:cNvSpPr>
          <p:nvPr/>
        </p:nvSpPr>
        <p:spPr>
          <a:xfrm xmlns:a="http://schemas.openxmlformats.org/drawingml/2006/main">
            <a:off x="8134350" y="202882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Upstream IdP</a:t>
            </a:r>
          </a:p>
        </p:txBody>
      </p:sp>
      <p:sp>
        <p:nvSpPr>
          <p:cNvPr id="16" name="identity-upstream-sublabel">
            <a:extLst xmlns:a="http://schemas.openxmlformats.org/drawingml/2006/main">
              <a:ext uri="{FF2B5EF4-FFF2-40B4-BE49-F238E27FC236}">
                <a16:creationId xmlns:a16="http://schemas.microsoft.com/office/drawing/2014/main" id="{E568520E-37AD-494D-9144-01A0B271B773}"/>
              </a:ext>
            </a:extLst>
          </p:cNvPr>
          <p:cNvSpPr>
            <a:spLocks xmlns:a="http://schemas.openxmlformats.org/drawingml/2006/main" noGrp="1"/>
          </p:cNvSpPr>
          <p:nvPr/>
        </p:nvSpPr>
        <p:spPr>
          <a:xfrm xmlns:a="http://schemas.openxmlformats.org/drawingml/2006/main">
            <a:off x="8134350" y="2447925"/>
            <a:ext cx="3162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9FB1C7"/>
                </a:solidFill>
                <a:latin typeface="Avenir Next"/>
                <a:ea typeface="Avenir Next"/>
                <a:cs typeface="Avenir Next"/>
              </a:defRPr>
            </a:pPr>
            <a:r>
              <a:rPr sz="1275">
                <a:solidFill>
                  <a:srgbClr val="9FB1C7"/>
                </a:solidFill>
                <a:latin typeface="Avenir Next"/>
                <a:ea typeface="Avenir Next"/>
                <a:cs typeface="Avenir Next"/>
              </a:rPr>
              <a:t>Entra · Google · weitere OIDC/SAML</a:t>
            </a:r>
          </a:p>
        </p:txBody>
      </p:sp>
      <p:sp>
        <p:nvSpPr>
          <p:cNvPr id="17" name="identity-apps">
            <a:extLst xmlns:a="http://schemas.openxmlformats.org/drawingml/2006/main">
              <a:ext uri="{FF2B5EF4-FFF2-40B4-BE49-F238E27FC236}">
                <a16:creationId xmlns:a16="http://schemas.microsoft.com/office/drawing/2014/main" id="{45E29E97-923C-4617-8B75-B943FC63BEB7}"/>
              </a:ext>
            </a:extLst>
          </p:cNvPr>
          <p:cNvSpPr>
            <a:spLocks xmlns:a="http://schemas.openxmlformats.org/drawingml/2006/main" noGrp="1"/>
          </p:cNvSpPr>
          <p:nvPr/>
        </p:nvSpPr>
        <p:spPr>
          <a:xfrm xmlns:a="http://schemas.openxmlformats.org/drawingml/2006/main">
            <a:off x="7867650" y="4324350"/>
            <a:ext cx="3638550" cy="1200150"/>
          </a:xfrm>
          <a:prstGeom xmlns:a="http://schemas.openxmlformats.org/drawingml/2006/main" prst="roundRect">
            <a:avLst>
              <a:gd name="adj" fmla="val 17460"/>
            </a:avLst>
          </a:prstGeom>
          <a:solidFill xmlns:a="http://schemas.openxmlformats.org/drawingml/2006/main">
            <a:srgbClr val="0B1730"/>
          </a:solidFill>
          <a:ln xmlns:a="http://schemas.openxmlformats.org/drawingml/2006/main" w="9525">
            <a:solidFill>
              <a:srgbClr val="24415F"/>
            </a:solidFill>
            <a:prstDash val="solid"/>
          </a:ln>
        </p:spPr>
      </p:sp>
      <p:sp>
        <p:nvSpPr>
          <p:cNvPr id="18" name="identity-apps-accent">
            <a:extLst xmlns:a="http://schemas.openxmlformats.org/drawingml/2006/main">
              <a:ext uri="{FF2B5EF4-FFF2-40B4-BE49-F238E27FC236}">
                <a16:creationId xmlns:a16="http://schemas.microsoft.com/office/drawing/2014/main" id="{7E891912-77F3-4E5D-A62A-5B5EC35BA24F}"/>
              </a:ext>
            </a:extLst>
          </p:cNvPr>
          <p:cNvSpPr>
            <a:spLocks xmlns:a="http://schemas.openxmlformats.org/drawingml/2006/main" noGrp="1"/>
          </p:cNvSpPr>
          <p:nvPr/>
        </p:nvSpPr>
        <p:spPr>
          <a:xfrm xmlns:a="http://schemas.openxmlformats.org/drawingml/2006/main">
            <a:off x="7867650" y="4324350"/>
            <a:ext cx="57150" cy="120015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19" name="identity-apps-label">
            <a:extLst xmlns:a="http://schemas.openxmlformats.org/drawingml/2006/main">
              <a:ext uri="{FF2B5EF4-FFF2-40B4-BE49-F238E27FC236}">
                <a16:creationId xmlns:a16="http://schemas.microsoft.com/office/drawing/2014/main" id="{CC4EC42A-8F79-416F-BA15-A408BBE57A91}"/>
              </a:ext>
            </a:extLst>
          </p:cNvPr>
          <p:cNvSpPr>
            <a:spLocks xmlns:a="http://schemas.openxmlformats.org/drawingml/2006/main" noGrp="1"/>
          </p:cNvSpPr>
          <p:nvPr/>
        </p:nvSpPr>
        <p:spPr>
          <a:xfrm xmlns:a="http://schemas.openxmlformats.org/drawingml/2006/main">
            <a:off x="8134350" y="45624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Dashboard + Services</a:t>
            </a:r>
          </a:p>
        </p:txBody>
      </p:sp>
      <p:sp>
        <p:nvSpPr>
          <p:cNvPr id="20" name="identity-apps-sublabel">
            <a:extLst xmlns:a="http://schemas.openxmlformats.org/drawingml/2006/main">
              <a:ext uri="{FF2B5EF4-FFF2-40B4-BE49-F238E27FC236}">
                <a16:creationId xmlns:a16="http://schemas.microsoft.com/office/drawing/2014/main" id="{50463A35-565F-44F3-8ECB-753311A31D95}"/>
              </a:ext>
            </a:extLst>
          </p:cNvPr>
          <p:cNvSpPr>
            <a:spLocks xmlns:a="http://schemas.openxmlformats.org/drawingml/2006/main" noGrp="1"/>
          </p:cNvSpPr>
          <p:nvPr/>
        </p:nvSpPr>
        <p:spPr>
          <a:xfrm xmlns:a="http://schemas.openxmlformats.org/drawingml/2006/main">
            <a:off x="8134350" y="4981575"/>
            <a:ext cx="3162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9FB1C7"/>
                </a:solidFill>
                <a:latin typeface="Avenir Next"/>
                <a:ea typeface="Avenir Next"/>
                <a:cs typeface="Avenir Next"/>
              </a:defRPr>
            </a:pPr>
            <a:r>
              <a:rPr sz="1275">
                <a:solidFill>
                  <a:srgbClr val="9FB1C7"/>
                </a:solidFill>
                <a:latin typeface="Avenir Next"/>
                <a:ea typeface="Avenir Next"/>
                <a:cs typeface="Avenir Next"/>
              </a:rPr>
              <a:t>Zentraler Gateway-Login</a:t>
            </a:r>
          </a:p>
        </p:txBody>
      </p:sp>
      <p:sp>
        <p:nvSpPr>
          <p:cNvPr id="21" name="tag-LOCAL-FIRST">
            <a:extLst xmlns:a="http://schemas.openxmlformats.org/drawingml/2006/main">
              <a:ext uri="{FF2B5EF4-FFF2-40B4-BE49-F238E27FC236}">
                <a16:creationId xmlns:a16="http://schemas.microsoft.com/office/drawing/2014/main" id="{DDD34568-FC34-452D-8DD9-A0A83E648043}"/>
              </a:ext>
            </a:extLst>
          </p:cNvPr>
          <p:cNvSpPr>
            <a:spLocks xmlns:a="http://schemas.openxmlformats.org/drawingml/2006/main" noGrp="1"/>
          </p:cNvSpPr>
          <p:nvPr/>
        </p:nvSpPr>
        <p:spPr>
          <a:xfrm xmlns:a="http://schemas.openxmlformats.org/drawingml/2006/main">
            <a:off x="685800" y="4762500"/>
            <a:ext cx="14287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LOCAL-FIRST</a:t>
            </a:r>
          </a:p>
        </p:txBody>
      </p:sp>
      <p:sp>
        <p:nvSpPr>
          <p:cNvPr id="22" name="tag-FEDERATION READY">
            <a:extLst xmlns:a="http://schemas.openxmlformats.org/drawingml/2006/main">
              <a:ext uri="{FF2B5EF4-FFF2-40B4-BE49-F238E27FC236}">
                <a16:creationId xmlns:a16="http://schemas.microsoft.com/office/drawing/2014/main" id="{813CC8BE-043A-4E00-89D1-B5ED1A40FBAA}"/>
              </a:ext>
            </a:extLst>
          </p:cNvPr>
          <p:cNvSpPr>
            <a:spLocks xmlns:a="http://schemas.openxmlformats.org/drawingml/2006/main" noGrp="1"/>
          </p:cNvSpPr>
          <p:nvPr/>
        </p:nvSpPr>
        <p:spPr>
          <a:xfrm xmlns:a="http://schemas.openxmlformats.org/drawingml/2006/main">
            <a:off x="2247900" y="4762500"/>
            <a:ext cx="186690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IDP-BROKER READY</a:t>
            </a:r>
          </a:p>
        </p:txBody>
      </p:sp>
    </p:spTree>
    <p:extLst>
      <p:ext uri="{BB962C8B-B14F-4D97-AF65-F5344CB8AC3E}">
        <p14:creationId xmlns:p14="http://schemas.microsoft.com/office/powerpoint/2010/main" val="1839706665"/>
      </p:ext>
    </p:extLst>
  </p:cSld>
</p:sld>
</file>

<file path=ppt/slides/slide9.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3" name="brand-footer">
            <a:extLst xmlns:a="http://schemas.openxmlformats.org/drawingml/2006/main">
              <a:ext uri="{FF2B5EF4-FFF2-40B4-BE49-F238E27FC236}">
                <a16:creationId xmlns:a16="http://schemas.microsoft.com/office/drawing/2014/main" id="{2228BEDA-4712-4198-AAB7-D5BFCF66EDD3}"/>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DA7D2355-D960-4D1F-B196-D90C4DF2D0D7}"/>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09</a:t>
            </a:r>
          </a:p>
        </p:txBody>
      </p:sp>
      <p:sp>
        <p:nvSpPr>
          <p:cNvPr id="3" name="eyebrow">
            <a:extLst xmlns:a="http://schemas.openxmlformats.org/drawingml/2006/main">
              <a:ext uri="{FF2B5EF4-FFF2-40B4-BE49-F238E27FC236}">
                <a16:creationId xmlns:a16="http://schemas.microsoft.com/office/drawing/2014/main" id="{303BC3A2-8A9F-48BA-90A1-C20B9A9588EA}"/>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SOURCE-AVAILABLE</a:t>
            </a:r>
          </a:p>
        </p:txBody>
      </p:sp>
      <p:sp>
        <p:nvSpPr>
          <p:cNvPr id="4" name="title">
            <a:extLst xmlns:a="http://schemas.openxmlformats.org/drawingml/2006/main">
              <a:ext uri="{FF2B5EF4-FFF2-40B4-BE49-F238E27FC236}">
                <a16:creationId xmlns:a16="http://schemas.microsoft.com/office/drawing/2014/main" id="{FFB94D5C-E842-4785-ACF9-F198DEFF175B}"/>
              </a:ext>
            </a:extLst>
          </p:cNvPr>
          <p:cNvSpPr>
            <a:spLocks xmlns:a="http://schemas.openxmlformats.org/drawingml/2006/main" noGrp="1"/>
          </p:cNvSpPr>
          <p:nvPr/>
        </p:nvSpPr>
        <p:spPr>
          <a:xfrm xmlns:a="http://schemas.openxmlformats.org/drawingml/2006/main">
            <a:off x="685800" y="97155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450" b="1">
                <a:solidFill>
                  <a:srgbClr val="F7FAFF"/>
                </a:solidFill>
                <a:latin typeface="Avenir Next"/>
                <a:ea typeface="Avenir Next"/>
                <a:cs typeface="Avenir Next"/>
              </a:defRPr>
            </a:pPr>
            <a:r>
              <a:rPr sz="3450" b="1">
                <a:solidFill>
                  <a:srgbClr val="F7FAFF"/>
                </a:solidFill>
                <a:latin typeface="Avenir Next"/>
                <a:ea typeface="Avenir Next"/>
                <a:cs typeface="Avenir Next"/>
              </a:rPr>
              <a:t>Eine Plattform. Drei Lizenzstufen.</a:t>
            </a:r>
          </a:p>
        </p:txBody>
      </p:sp>
      <p:sp>
        <p:nvSpPr>
          <p:cNvPr id="5" name="community-surface">
            <a:extLst xmlns:a="http://schemas.openxmlformats.org/drawingml/2006/main">
              <a:ext uri="{FF2B5EF4-FFF2-40B4-BE49-F238E27FC236}">
                <a16:creationId xmlns:a16="http://schemas.microsoft.com/office/drawing/2014/main" id="{D2F1BD44-FABB-4DFE-A5E3-490B3052A7F2}"/>
              </a:ext>
            </a:extLst>
          </p:cNvPr>
          <p:cNvSpPr>
            <a:spLocks xmlns:a="http://schemas.openxmlformats.org/drawingml/2006/main" noGrp="1"/>
          </p:cNvSpPr>
          <p:nvPr/>
        </p:nvSpPr>
        <p:spPr>
          <a:xfrm xmlns:a="http://schemas.openxmlformats.org/drawingml/2006/main">
            <a:off x="685800" y="2171700"/>
            <a:ext cx="5162550" cy="3409950"/>
          </a:xfrm>
          <a:prstGeom xmlns:a="http://schemas.openxmlformats.org/drawingml/2006/main" prst="roundRect">
            <a:avLst>
              <a:gd name="adj" fmla="val 7821"/>
            </a:avLst>
          </a:prstGeom>
          <a:solidFill xmlns:a="http://schemas.openxmlformats.org/drawingml/2006/main">
            <a:srgbClr val="0B1730"/>
          </a:solidFill>
          <a:ln xmlns:a="http://schemas.openxmlformats.org/drawingml/2006/main" w="9525">
            <a:solidFill>
              <a:srgbClr val="22D3EE"/>
            </a:solidFill>
            <a:prstDash val="solid"/>
          </a:ln>
        </p:spPr>
      </p:sp>
      <p:sp>
        <p:nvSpPr>
          <p:cNvPr id="6" name="enterprise-surface">
            <a:extLst xmlns:a="http://schemas.openxmlformats.org/drawingml/2006/main">
              <a:ext uri="{FF2B5EF4-FFF2-40B4-BE49-F238E27FC236}">
                <a16:creationId xmlns:a16="http://schemas.microsoft.com/office/drawing/2014/main" id="{A8E3BFB4-436B-4167-BC65-D8B0BD624079}"/>
              </a:ext>
            </a:extLst>
          </p:cNvPr>
          <p:cNvSpPr>
            <a:spLocks xmlns:a="http://schemas.openxmlformats.org/drawingml/2006/main" noGrp="1"/>
          </p:cNvSpPr>
          <p:nvPr/>
        </p:nvSpPr>
        <p:spPr>
          <a:xfrm xmlns:a="http://schemas.openxmlformats.org/drawingml/2006/main">
            <a:off x="6343650" y="2171700"/>
            <a:ext cx="5162550" cy="3409950"/>
          </a:xfrm>
          <a:prstGeom xmlns:a="http://schemas.openxmlformats.org/drawingml/2006/main" prst="roundRect">
            <a:avLst>
              <a:gd name="adj" fmla="val 7821"/>
            </a:avLst>
          </a:prstGeom>
          <a:solidFill xmlns:a="http://schemas.openxmlformats.org/drawingml/2006/main">
            <a:srgbClr val="0B1730"/>
          </a:solidFill>
          <a:ln xmlns:a="http://schemas.openxmlformats.org/drawingml/2006/main" w="9525">
            <a:solidFill>
              <a:srgbClr val="8B5CF6"/>
            </a:solidFill>
            <a:prstDash val="solid"/>
          </a:ln>
        </p:spPr>
      </p:sp>
      <p:sp>
        <p:nvSpPr>
          <p:cNvPr id="7" name="community-title">
            <a:extLst xmlns:a="http://schemas.openxmlformats.org/drawingml/2006/main">
              <a:ext uri="{FF2B5EF4-FFF2-40B4-BE49-F238E27FC236}">
                <a16:creationId xmlns:a16="http://schemas.microsoft.com/office/drawing/2014/main" id="{933EB90C-FD72-4516-90E0-99822252E5CE}"/>
              </a:ext>
            </a:extLst>
          </p:cNvPr>
          <p:cNvSpPr>
            <a:spLocks xmlns:a="http://schemas.openxmlformats.org/drawingml/2006/main" noGrp="1"/>
          </p:cNvSpPr>
          <p:nvPr/>
        </p:nvSpPr>
        <p:spPr>
          <a:xfrm xmlns:a="http://schemas.openxmlformats.org/drawingml/2006/main">
            <a:off x="1028700" y="25146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FREE</a:t>
            </a:r>
          </a:p>
        </p:txBody>
      </p:sp>
      <p:sp>
        <p:nvSpPr>
          <p:cNvPr id="8" name="community-claim">
            <a:extLst xmlns:a="http://schemas.openxmlformats.org/drawingml/2006/main">
              <a:ext uri="{FF2B5EF4-FFF2-40B4-BE49-F238E27FC236}">
                <a16:creationId xmlns:a16="http://schemas.microsoft.com/office/drawing/2014/main" id="{BF7D2CD6-F202-42B4-8077-C1DF6779BCC6}"/>
              </a:ext>
            </a:extLst>
          </p:cNvPr>
          <p:cNvSpPr>
            <a:spLocks xmlns:a="http://schemas.openxmlformats.org/drawingml/2006/main" noGrp="1"/>
          </p:cNvSpPr>
          <p:nvPr/>
        </p:nvSpPr>
        <p:spPr>
          <a:xfrm xmlns:a="http://schemas.openxmlformats.org/drawingml/2006/main">
            <a:off x="1028700" y="3000375"/>
            <a:ext cx="3619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4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Vollständige</a:t>
            </a:r>
          </a:p>
          <a:p xmlns:a="http://schemas.openxmlformats.org/drawingml/2006/main">
            <a:pPr>
              <a:lnSpc>
                <a:spcPct val="94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AI-Appliance</a:t>
            </a:r>
          </a:p>
        </p:txBody>
      </p:sp>
      <p:sp>
        <p:nvSpPr>
          <p:cNvPr id="9" name="community-list">
            <a:extLst xmlns:a="http://schemas.openxmlformats.org/drawingml/2006/main">
              <a:ext uri="{FF2B5EF4-FFF2-40B4-BE49-F238E27FC236}">
                <a16:creationId xmlns:a16="http://schemas.microsoft.com/office/drawing/2014/main" id="{3890427B-23CB-4CA3-9150-95FD4A9BFF96}"/>
              </a:ext>
            </a:extLst>
          </p:cNvPr>
          <p:cNvSpPr>
            <a:spLocks xmlns:a="http://schemas.openxmlformats.org/drawingml/2006/main" noGrp="1"/>
          </p:cNvSpPr>
          <p:nvPr/>
        </p:nvSpPr>
        <p:spPr>
          <a:xfrm xmlns:a="http://schemas.openxmlformats.org/drawingml/2006/main">
            <a:off x="1028700" y="4257675"/>
            <a:ext cx="4095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BSL 1.1 mit Free Use Grant</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Modelle, Nutzer, Sharing und Mesh</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Bis 2 Mio. EUR Gruppenumsatz*</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MIT nach 3 Jahren je Version</a:t>
            </a:r>
          </a:p>
        </p:txBody>
      </p:sp>
      <p:sp>
        <p:nvSpPr>
          <p:cNvPr id="10" name="enterprise-title">
            <a:extLst xmlns:a="http://schemas.openxmlformats.org/drawingml/2006/main">
              <a:ext uri="{FF2B5EF4-FFF2-40B4-BE49-F238E27FC236}">
                <a16:creationId xmlns:a16="http://schemas.microsoft.com/office/drawing/2014/main" id="{EA9D0837-5A55-474C-8369-7D99FFD55C2C}"/>
              </a:ext>
            </a:extLst>
          </p:cNvPr>
          <p:cNvSpPr>
            <a:spLocks xmlns:a="http://schemas.openxmlformats.org/drawingml/2006/main" noGrp="1"/>
          </p:cNvSpPr>
          <p:nvPr/>
        </p:nvSpPr>
        <p:spPr>
          <a:xfrm xmlns:a="http://schemas.openxmlformats.org/drawingml/2006/main">
            <a:off x="6686550" y="25146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8B5CF6"/>
                </a:solidFill>
                <a:latin typeface="Avenir Next"/>
                <a:ea typeface="Avenir Next"/>
                <a:cs typeface="Avenir Next"/>
              </a:defRPr>
            </a:pPr>
            <a:r>
              <a:rPr sz="1350" b="1">
                <a:solidFill>
                  <a:srgbClr val="8B5CF6"/>
                </a:solidFill>
                <a:latin typeface="Avenir Next"/>
                <a:ea typeface="Avenir Next"/>
                <a:cs typeface="Avenir Next"/>
              </a:rPr>
              <a:t>REGISTERED &amp; COMMERCIAL</a:t>
            </a:r>
          </a:p>
        </p:txBody>
      </p:sp>
      <p:sp>
        <p:nvSpPr>
          <p:cNvPr id="11" name="enterprise-claim">
            <a:extLst xmlns:a="http://schemas.openxmlformats.org/drawingml/2006/main">
              <a:ext uri="{FF2B5EF4-FFF2-40B4-BE49-F238E27FC236}">
                <a16:creationId xmlns:a16="http://schemas.microsoft.com/office/drawing/2014/main" id="{20D6790F-6E23-4C04-8F15-EE1DF192BC56}"/>
              </a:ext>
            </a:extLst>
          </p:cNvPr>
          <p:cNvSpPr>
            <a:spLocks xmlns:a="http://schemas.openxmlformats.org/drawingml/2006/main" noGrp="1"/>
          </p:cNvSpPr>
          <p:nvPr/>
        </p:nvSpPr>
        <p:spPr>
          <a:xfrm xmlns:a="http://schemas.openxmlformats.org/drawingml/2006/main">
            <a:off x="6686550" y="3000375"/>
            <a:ext cx="400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4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Federated SSO</a:t>
            </a:r>
          </a:p>
          <a:p xmlns:a="http://schemas.openxmlformats.org/drawingml/2006/main">
            <a:pPr>
              <a:lnSpc>
                <a:spcPct val="94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mit Lizenzdatei</a:t>
            </a:r>
          </a:p>
        </p:txBody>
      </p:sp>
      <p:sp>
        <p:nvSpPr>
          <p:cNvPr id="12" name="enterprise-list">
            <a:extLst xmlns:a="http://schemas.openxmlformats.org/drawingml/2006/main">
              <a:ext uri="{FF2B5EF4-FFF2-40B4-BE49-F238E27FC236}">
                <a16:creationId xmlns:a16="http://schemas.microsoft.com/office/drawing/2014/main" id="{16CC02CF-1F9A-43B7-83F3-C58975334FC4}"/>
              </a:ext>
            </a:extLst>
          </p:cNvPr>
          <p:cNvSpPr>
            <a:spLocks xmlns:a="http://schemas.openxmlformats.org/drawingml/2006/main" noGrp="1"/>
          </p:cNvSpPr>
          <p:nvPr/>
        </p:nvSpPr>
        <p:spPr>
          <a:xfrm xmlns:a="http://schemas.openxmlformats.org/drawingml/2006/main">
            <a:off x="6686550" y="4257675"/>
            <a:ext cx="4095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Free Registered: kostenlose Datei</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Commercial: außerhalb des Grants</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Produktive Angebote für Dritte*</a:t>
            </a:r>
          </a:p>
          <a:p xmlns:a="http://schemas.openxmlformats.org/drawingml/2006/main">
            <a:pPr>
              <a:lnSpc>
                <a:spcPct val="118000"/>
              </a:lnSpc>
              <a:buNone/>
              <a:defRPr sz="1425">
                <a:solidFill>
                  <a:srgbClr val="C5D4E6"/>
                </a:solidFill>
                <a:latin typeface="Avenir Next"/>
                <a:ea typeface="Avenir Next"/>
                <a:cs typeface="Avenir Next"/>
              </a:defRPr>
            </a:pPr>
            <a:r>
              <a:rPr sz="1425">
                <a:solidFill>
                  <a:srgbClr val="C5D4E6"/>
                </a:solidFill>
                <a:latin typeface="Avenir Next"/>
                <a:ea typeface="Avenir Next"/>
                <a:cs typeface="Avenir Next"/>
              </a:rPr>
              <a:t>* Details: LICENSING.md</a:t>
            </a:r>
          </a:p>
        </p:txBody>
      </p:sp>
    </p:spTree>
    <p:extLst>
      <p:ext uri="{BB962C8B-B14F-4D97-AF65-F5344CB8AC3E}">
        <p14:creationId xmlns:p14="http://schemas.microsoft.com/office/powerpoint/2010/main" val="1908610349"/>
      </p:ext>
    </p:extLst>
  </p:cSld>
</p:sld>
</file>

<file path=ppt/slides/slide10.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691920bf6f348cc"/>
          <a:srcRect xmlns:a="http://schemas.openxmlformats.org/drawingml/2006/main" l="15607" t="0" r="15607" b="0"/>
          <a:stretch xmlns:a="http://schemas.openxmlformats.org/drawingml/2006/main">
            <a:fillRect l="0" t="0" r="0" b="0"/>
          </a:stretch>
        </p:blipFill>
        <p:spPr>
          <a:xfrm xmlns:a="http://schemas.openxmlformats.org/drawingml/2006/main">
            <a:off x="3810000" y="0"/>
            <a:ext cx="8382000" cy="6858000"/>
          </a:xfrm>
          <a:prstGeom xmlns:a="http://schemas.openxmlformats.org/drawingml/2006/main" prst="rect">
            <a:avLst/>
          </a:prstGeom>
        </p:spPr>
      </p:pic>
      <p:sp>
        <p:nvSpPr>
          <p:cNvPr id="2" name="rbac-copy-panel">
            <a:extLst xmlns:a="http://schemas.openxmlformats.org/drawingml/2006/main">
              <a:ext uri="{FF2B5EF4-FFF2-40B4-BE49-F238E27FC236}">
                <a16:creationId xmlns:a16="http://schemas.microsoft.com/office/drawing/2014/main" id="{57DD2954-38C6-4CA6-B893-C2708485B68B}"/>
              </a:ext>
            </a:extLst>
          </p:cNvPr>
          <p:cNvSpPr>
            <a:spLocks xmlns:a="http://schemas.openxmlformats.org/drawingml/2006/main" noGrp="1"/>
          </p:cNvSpPr>
          <p:nvPr/>
        </p:nvSpPr>
        <p:spPr>
          <a:xfrm xmlns:a="http://schemas.openxmlformats.org/drawingml/2006/main">
            <a:off x="0" y="0"/>
            <a:ext cx="4857750" cy="6858000"/>
          </a:xfrm>
          <a:prstGeom xmlns:a="http://schemas.openxmlformats.org/drawingml/2006/main" prst="rect">
            <a:avLst/>
          </a:prstGeom>
          <a:solidFill xmlns:a="http://schemas.openxmlformats.org/drawingml/2006/main">
            <a:srgbClr val="050B18"/>
          </a:solidFill>
          <a:ln xmlns:a="http://schemas.openxmlformats.org/drawingml/2006/main" w="0">
            <a:noFill/>
            <a:prstDash val="solid"/>
          </a:ln>
        </p:spPr>
      </p:sp>
      <p:sp>
        <p:nvSpPr>
          <p:cNvPr id="3" name="eyebrow">
            <a:extLst xmlns:a="http://schemas.openxmlformats.org/drawingml/2006/main">
              <a:ext uri="{FF2B5EF4-FFF2-40B4-BE49-F238E27FC236}">
                <a16:creationId xmlns:a16="http://schemas.microsoft.com/office/drawing/2014/main" id="{E7CE1C97-CA68-403B-B5D4-5CFE5274BA20}"/>
              </a:ext>
            </a:extLst>
          </p:cNvPr>
          <p:cNvSpPr>
            <a:spLocks xmlns:a="http://schemas.openxmlformats.org/drawingml/2006/main" noGrp="1"/>
          </p:cNvSpPr>
          <p:nvPr/>
        </p:nvSpPr>
        <p:spPr>
          <a:xfrm xmlns:a="http://schemas.openxmlformats.org/drawingml/2006/main">
            <a:off x="685800" y="5715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RESOURCE SHARING</a:t>
            </a:r>
          </a:p>
        </p:txBody>
      </p:sp>
      <p:sp>
        <p:nvSpPr>
          <p:cNvPr id="4" name="rbac-title">
            <a:extLst xmlns:a="http://schemas.openxmlformats.org/drawingml/2006/main">
              <a:ext uri="{FF2B5EF4-FFF2-40B4-BE49-F238E27FC236}">
                <a16:creationId xmlns:a16="http://schemas.microsoft.com/office/drawing/2014/main" id="{7C72C459-A055-42F8-8DA1-03F499C5B043}"/>
              </a:ext>
            </a:extLst>
          </p:cNvPr>
          <p:cNvSpPr>
            <a:spLocks xmlns:a="http://schemas.openxmlformats.org/drawingml/2006/main" noGrp="1"/>
          </p:cNvSpPr>
          <p:nvPr/>
        </p:nvSpPr>
        <p:spPr>
          <a:xfrm xmlns:a="http://schemas.openxmlformats.org/drawingml/2006/main">
            <a:off x="685800" y="1714500"/>
            <a:ext cx="3714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2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Zugriff folgt Teams</a:t>
            </a:r>
          </a:p>
          <a:p xmlns:a="http://schemas.openxmlformats.org/drawingml/2006/main">
            <a:pPr>
              <a:lnSpc>
                <a:spcPct val="92000"/>
              </a:lnSpc>
              <a:buNone/>
              <a:defRPr sz="3000" b="1">
                <a:solidFill>
                  <a:srgbClr val="F7FAFF"/>
                </a:solidFill>
                <a:latin typeface="Avenir Next"/>
                <a:ea typeface="Avenir Next"/>
                <a:cs typeface="Avenir Next"/>
              </a:defRPr>
            </a:pPr>
            <a:r>
              <a:rPr sz="3000" b="1">
                <a:solidFill>
                  <a:srgbClr val="F7FAFF"/>
                </a:solidFill>
                <a:latin typeface="Avenir Next"/>
                <a:ea typeface="Avenir Next"/>
                <a:cs typeface="Avenir Next"/>
              </a:rPr>
              <a:t>und Ressourcen.</a:t>
            </a:r>
          </a:p>
        </p:txBody>
      </p:sp>
      <p:sp>
        <p:nvSpPr>
          <p:cNvPr id="5" name="rbac-copy">
            <a:extLst xmlns:a="http://schemas.openxmlformats.org/drawingml/2006/main">
              <a:ext uri="{FF2B5EF4-FFF2-40B4-BE49-F238E27FC236}">
                <a16:creationId xmlns:a16="http://schemas.microsoft.com/office/drawing/2014/main" id="{C55C4EC3-827E-46E3-B622-AF4B9E1773CB}"/>
              </a:ext>
            </a:extLst>
          </p:cNvPr>
          <p:cNvSpPr>
            <a:spLocks xmlns:a="http://schemas.openxmlformats.org/drawingml/2006/main" noGrp="1"/>
          </p:cNvSpPr>
          <p:nvPr/>
        </p:nvSpPr>
        <p:spPr>
          <a:xfrm xmlns:a="http://schemas.openxmlformats.org/drawingml/2006/main">
            <a:off x="685800" y="3143250"/>
            <a:ext cx="3667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575">
                <a:solidFill>
                  <a:srgbClr val="C5D4E6"/>
                </a:solidFill>
                <a:latin typeface="Avenir Next"/>
                <a:ea typeface="Avenir Next"/>
                <a:cs typeface="Avenir Next"/>
              </a:defRPr>
            </a:pPr>
            <a:r>
              <a:rPr sz="1575">
                <a:solidFill>
                  <a:srgbClr val="C5D4E6"/>
                </a:solidFill>
                <a:latin typeface="Avenir Next"/>
                <a:ea typeface="Avenir Next"/>
                <a:cs typeface="Avenir Next"/>
              </a:rPr>
              <a:t>Lokale Nutzer und Gruppen erhalten Zugriff auf ausgewählte Instanzen.</a:t>
            </a:r>
          </a:p>
        </p:txBody>
      </p:sp>
      <p:sp>
        <p:nvSpPr>
          <p:cNvPr id="6" name="tag-IDP-GRUPPEN">
            <a:extLst xmlns:a="http://schemas.openxmlformats.org/drawingml/2006/main">
              <a:ext uri="{FF2B5EF4-FFF2-40B4-BE49-F238E27FC236}">
                <a16:creationId xmlns:a16="http://schemas.microsoft.com/office/drawing/2014/main" id="{A8DCEDA5-8781-4F8F-B701-CD1AE8DE9D83}"/>
              </a:ext>
            </a:extLst>
          </p:cNvPr>
          <p:cNvSpPr>
            <a:spLocks xmlns:a="http://schemas.openxmlformats.org/drawingml/2006/main" noGrp="1"/>
          </p:cNvSpPr>
          <p:nvPr/>
        </p:nvSpPr>
        <p:spPr>
          <a:xfrm xmlns:a="http://schemas.openxmlformats.org/drawingml/2006/main">
            <a:off x="685800" y="4762500"/>
            <a:ext cx="15811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GRUPPEN-RBAC</a:t>
            </a:r>
          </a:p>
        </p:txBody>
      </p:sp>
      <p:sp>
        <p:nvSpPr>
          <p:cNvPr id="7" name="tag-DELEGIERTE ADMINS">
            <a:extLst xmlns:a="http://schemas.openxmlformats.org/drawingml/2006/main">
              <a:ext uri="{FF2B5EF4-FFF2-40B4-BE49-F238E27FC236}">
                <a16:creationId xmlns:a16="http://schemas.microsoft.com/office/drawing/2014/main" id="{26198A03-8C28-478D-97D1-132FC3BD1B53}"/>
              </a:ext>
            </a:extLst>
          </p:cNvPr>
          <p:cNvSpPr>
            <a:spLocks xmlns:a="http://schemas.openxmlformats.org/drawingml/2006/main" noGrp="1"/>
          </p:cNvSpPr>
          <p:nvPr/>
        </p:nvSpPr>
        <p:spPr>
          <a:xfrm xmlns:a="http://schemas.openxmlformats.org/drawingml/2006/main">
            <a:off x="685800" y="5257800"/>
            <a:ext cx="20764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OHNE LIZENZDATEI</a:t>
            </a:r>
          </a:p>
        </p:txBody>
      </p:sp>
      <p:sp>
        <p:nvSpPr>
          <p:cNvPr id="8" name="brand-footer">
            <a:extLst xmlns:a="http://schemas.openxmlformats.org/drawingml/2006/main">
              <a:ext uri="{FF2B5EF4-FFF2-40B4-BE49-F238E27FC236}">
                <a16:creationId xmlns:a16="http://schemas.microsoft.com/office/drawing/2014/main" id="{7A3B09E4-FA48-4D03-90BC-7DBC02F5BB71}"/>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9" name="page-number">
            <a:extLst xmlns:a="http://schemas.openxmlformats.org/drawingml/2006/main">
              <a:ext uri="{FF2B5EF4-FFF2-40B4-BE49-F238E27FC236}">
                <a16:creationId xmlns:a16="http://schemas.microsoft.com/office/drawing/2014/main" id="{8EA94E9A-AC4E-4A78-B2E6-3BB8FAD9140D}"/>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10</a:t>
            </a:r>
          </a:p>
        </p:txBody>
      </p:sp>
    </p:spTree>
    <p:extLst>
      <p:ext uri="{BB962C8B-B14F-4D97-AF65-F5344CB8AC3E}">
        <p14:creationId xmlns:p14="http://schemas.microsoft.com/office/powerpoint/2010/main" val="1385950109"/>
      </p:ext>
    </p:extLst>
  </p:cSld>
</p:sld>
</file>

<file path=ppt/slides/slide11.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27" name="brand-footer">
            <a:extLst xmlns:a="http://schemas.openxmlformats.org/drawingml/2006/main">
              <a:ext uri="{FF2B5EF4-FFF2-40B4-BE49-F238E27FC236}">
                <a16:creationId xmlns:a16="http://schemas.microsoft.com/office/drawing/2014/main" id="{AFE751DB-495F-4C94-9DFB-F41F33F32212}"/>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D1F3F848-59D7-4EA4-9FE9-A7E892140A6D}"/>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11</a:t>
            </a:r>
          </a:p>
        </p:txBody>
      </p:sp>
      <p:sp>
        <p:nvSpPr>
          <p:cNvPr id="3" name="eyebrow">
            <a:extLst xmlns:a="http://schemas.openxmlformats.org/drawingml/2006/main">
              <a:ext uri="{FF2B5EF4-FFF2-40B4-BE49-F238E27FC236}">
                <a16:creationId xmlns:a16="http://schemas.microsoft.com/office/drawing/2014/main" id="{368DAD5E-60F0-44CB-BCB7-9CE85A0844B8}"/>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GEFÜHRTE KONFIGURATION</a:t>
            </a:r>
          </a:p>
        </p:txBody>
      </p:sp>
      <p:sp>
        <p:nvSpPr>
          <p:cNvPr id="4" name="title">
            <a:extLst xmlns:a="http://schemas.openxmlformats.org/drawingml/2006/main">
              <a:ext uri="{FF2B5EF4-FFF2-40B4-BE49-F238E27FC236}">
                <a16:creationId xmlns:a16="http://schemas.microsoft.com/office/drawing/2014/main" id="{37AB7D28-8AF8-465B-86A0-01062683F60C}"/>
              </a:ext>
            </a:extLst>
          </p:cNvPr>
          <p:cNvSpPr>
            <a:spLocks xmlns:a="http://schemas.openxmlformats.org/drawingml/2006/main" noGrp="1"/>
          </p:cNvSpPr>
          <p:nvPr/>
        </p:nvSpPr>
        <p:spPr>
          <a:xfrm xmlns:a="http://schemas.openxmlformats.org/drawingml/2006/main">
            <a:off x="685800" y="9144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300" b="1">
                <a:solidFill>
                  <a:srgbClr val="F7FAFF"/>
                </a:solidFill>
                <a:latin typeface="Avenir Next"/>
                <a:ea typeface="Avenir Next"/>
                <a:cs typeface="Avenir Next"/>
              </a:defRPr>
            </a:pPr>
            <a:r>
              <a:rPr sz="3300" b="1">
                <a:solidFill>
                  <a:srgbClr val="F7FAFF"/>
                </a:solidFill>
                <a:latin typeface="Avenir Next"/>
                <a:ea typeface="Avenir Next"/>
                <a:cs typeface="Avenir Next"/>
              </a:rPr>
              <a:t>Services, Modelle und Benutzer entstehen geführt</a:t>
            </a:r>
          </a:p>
        </p:txBody>
      </p:sp>
      <p:sp>
        <p:nvSpPr>
          <p:cNvPr id="5" name="guided-lead">
            <a:extLst xmlns:a="http://schemas.openxmlformats.org/drawingml/2006/main">
              <a:ext uri="{FF2B5EF4-FFF2-40B4-BE49-F238E27FC236}">
                <a16:creationId xmlns:a16="http://schemas.microsoft.com/office/drawing/2014/main" id="{3EA32290-D9BC-4544-B73D-6BBE63A3CDCC}"/>
              </a:ext>
            </a:extLst>
          </p:cNvPr>
          <p:cNvSpPr>
            <a:spLocks xmlns:a="http://schemas.openxmlformats.org/drawingml/2006/main" noGrp="1"/>
          </p:cNvSpPr>
          <p:nvPr/>
        </p:nvSpPr>
        <p:spPr>
          <a:xfrm xmlns:a="http://schemas.openxmlformats.org/drawingml/2006/main">
            <a:off x="685800" y="1581150"/>
            <a:ext cx="838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650">
                <a:solidFill>
                  <a:srgbClr val="C5D4E6"/>
                </a:solidFill>
                <a:latin typeface="Avenir Next"/>
                <a:ea typeface="Avenir Next"/>
                <a:cs typeface="Avenir Next"/>
              </a:defRPr>
            </a:pPr>
            <a:r>
              <a:rPr sz="1650">
                <a:solidFill>
                  <a:srgbClr val="C5D4E6"/>
                </a:solidFill>
                <a:latin typeface="Avenir Next"/>
                <a:ea typeface="Avenir Next"/>
                <a:cs typeface="Avenir Next"/>
              </a:rPr>
              <a:t>Auswählen, konfigurieren und freigeben – ohne YAML.</a:t>
            </a:r>
          </a:p>
        </p:txBody>
      </p:sp>
      <p:sp>
        <p:nvSpPr>
          <p:cNvPr id="6" name="guided-card-0">
            <a:extLst xmlns:a="http://schemas.openxmlformats.org/drawingml/2006/main">
              <a:ext uri="{FF2B5EF4-FFF2-40B4-BE49-F238E27FC236}">
                <a16:creationId xmlns:a16="http://schemas.microsoft.com/office/drawing/2014/main" id="{11A3A281-2BAF-4BB8-8396-922AE2F6A003}"/>
              </a:ext>
            </a:extLst>
          </p:cNvPr>
          <p:cNvSpPr>
            <a:spLocks xmlns:a="http://schemas.openxmlformats.org/drawingml/2006/main" noGrp="1"/>
          </p:cNvSpPr>
          <p:nvPr/>
        </p:nvSpPr>
        <p:spPr>
          <a:xfrm xmlns:a="http://schemas.openxmlformats.org/drawingml/2006/main">
            <a:off x="514350" y="2114550"/>
            <a:ext cx="3543300" cy="3905250"/>
          </a:xfrm>
          <a:prstGeom xmlns:a="http://schemas.openxmlformats.org/drawingml/2006/main" prst="roundRect">
            <a:avLst>
              <a:gd name="adj" fmla="val 6452"/>
            </a:avLst>
          </a:prstGeom>
          <a:solidFill xmlns:a="http://schemas.openxmlformats.org/drawingml/2006/main">
            <a:srgbClr val="0B1730"/>
          </a:solidFill>
          <a:ln xmlns:a="http://schemas.openxmlformats.org/drawingml/2006/main" w="9525">
            <a:solidFill>
              <a:srgbClr val="24415F"/>
            </a:solidFill>
            <a:prstDash val="solid"/>
          </a:ln>
        </p:spPr>
      </p:sp>
      <p:sp>
        <p:nvSpPr>
          <p:cNvPr id="7" name="guided-accent-0">
            <a:extLst xmlns:a="http://schemas.openxmlformats.org/drawingml/2006/main">
              <a:ext uri="{FF2B5EF4-FFF2-40B4-BE49-F238E27FC236}">
                <a16:creationId xmlns:a16="http://schemas.microsoft.com/office/drawing/2014/main" id="{F12ECBFC-43BB-4E9E-80C2-0DFEE8631947}"/>
              </a:ext>
            </a:extLst>
          </p:cNvPr>
          <p:cNvSpPr>
            <a:spLocks xmlns:a="http://schemas.openxmlformats.org/drawingml/2006/main" noGrp="1"/>
          </p:cNvSpPr>
          <p:nvPr/>
        </p:nvSpPr>
        <p:spPr>
          <a:xfrm xmlns:a="http://schemas.openxmlformats.org/drawingml/2006/main">
            <a:off x="514350" y="2114550"/>
            <a:ext cx="3543300" cy="571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8" name="guided-number-0">
            <a:extLst xmlns:a="http://schemas.openxmlformats.org/drawingml/2006/main">
              <a:ext uri="{FF2B5EF4-FFF2-40B4-BE49-F238E27FC236}">
                <a16:creationId xmlns:a16="http://schemas.microsoft.com/office/drawing/2014/main" id="{85362D62-4CFB-4588-AA41-6879C586DDDE}"/>
              </a:ext>
            </a:extLst>
          </p:cNvPr>
          <p:cNvSpPr>
            <a:spLocks xmlns:a="http://schemas.openxmlformats.org/drawingml/2006/main" noGrp="1"/>
          </p:cNvSpPr>
          <p:nvPr/>
        </p:nvSpPr>
        <p:spPr>
          <a:xfrm xmlns:a="http://schemas.openxmlformats.org/drawingml/2006/main">
            <a:off x="74295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01</a:t>
            </a:r>
          </a:p>
        </p:txBody>
      </p:sp>
      <p:sp>
        <p:nvSpPr>
          <p:cNvPr id="9" name="guided-title-0">
            <a:extLst xmlns:a="http://schemas.openxmlformats.org/drawingml/2006/main">
              <a:ext uri="{FF2B5EF4-FFF2-40B4-BE49-F238E27FC236}">
                <a16:creationId xmlns:a16="http://schemas.microsoft.com/office/drawing/2014/main" id="{85800A9E-DC88-4C1A-881E-BBFAABCD4396}"/>
              </a:ext>
            </a:extLst>
          </p:cNvPr>
          <p:cNvSpPr>
            <a:spLocks xmlns:a="http://schemas.openxmlformats.org/drawingml/2006/main" noGrp="1"/>
          </p:cNvSpPr>
          <p:nvPr/>
        </p:nvSpPr>
        <p:spPr>
          <a:xfrm xmlns:a="http://schemas.openxmlformats.org/drawingml/2006/main">
            <a:off x="1181100" y="23241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F7FAFF"/>
                </a:solidFill>
                <a:latin typeface="Avenir Next"/>
                <a:ea typeface="Avenir Next"/>
                <a:cs typeface="Avenir Next"/>
              </a:defRPr>
            </a:pPr>
            <a:r>
              <a:rPr sz="1725" b="1">
                <a:solidFill>
                  <a:srgbClr val="F7FAFF"/>
                </a:solidFill>
                <a:latin typeface="Avenir Next"/>
                <a:ea typeface="Avenir Next"/>
                <a:cs typeface="Avenir Next"/>
              </a:rPr>
              <a:t>Service instanziieren</a:t>
            </a:r>
          </a:p>
        </p:txBody>
      </p:sp>
      <p:sp>
        <p:nvSpPr>
          <p:cNvPr id="10" name="guided-frame-0">
            <a:extLst xmlns:a="http://schemas.openxmlformats.org/drawingml/2006/main">
              <a:ext uri="{FF2B5EF4-FFF2-40B4-BE49-F238E27FC236}">
                <a16:creationId xmlns:a16="http://schemas.microsoft.com/office/drawing/2014/main" id="{FD37F8F1-962C-48F2-BE00-73A6381E78B2}"/>
              </a:ext>
            </a:extLst>
          </p:cNvPr>
          <p:cNvSpPr>
            <a:spLocks xmlns:a="http://schemas.openxmlformats.org/drawingml/2006/main" noGrp="1"/>
          </p:cNvSpPr>
          <p:nvPr/>
        </p:nvSpPr>
        <p:spPr>
          <a:xfrm xmlns:a="http://schemas.openxmlformats.org/drawingml/2006/main">
            <a:off x="685800" y="2781300"/>
            <a:ext cx="3200400" cy="2362200"/>
          </a:xfrm>
          <a:prstGeom xmlns:a="http://schemas.openxmlformats.org/drawingml/2006/main" prst="roundRect">
            <a:avLst>
              <a:gd name="adj" fmla="val 6452"/>
            </a:avLst>
          </a:prstGeom>
          <a:solidFill xmlns:a="http://schemas.openxmlformats.org/drawingml/2006/main">
            <a:srgbClr val="050B18"/>
          </a:solidFill>
          <a:ln xmlns:a="http://schemas.openxmlformats.org/drawingml/2006/main" w="9525">
            <a:solidFill>
              <a:srgbClr val="24415F"/>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4b4738843f14ef0"/>
          <a:srcRect xmlns:a="http://schemas.openxmlformats.org/drawingml/2006/main" l="0" t="0" r="0" b="0"/>
          <a:stretch xmlns:a="http://schemas.openxmlformats.org/drawingml/2006/main"/>
        </p:blipFill>
        <p:spPr>
          <a:xfrm xmlns:a="http://schemas.openxmlformats.org/drawingml/2006/main" flipH="0" flipV="0">
            <a:off x="762000" y="3235569"/>
            <a:ext cx="3048000" cy="1453662"/>
          </a:xfrm>
          <a:prstGeom xmlns:a="http://schemas.openxmlformats.org/drawingml/2006/main" prst="roundRect">
            <a:avLst/>
          </a:prstGeom>
        </p:spPr>
      </p:pic>
      <p:sp>
        <p:nvSpPr>
          <p:cNvPr id="12" name="guided-body-0">
            <a:extLst xmlns:a="http://schemas.openxmlformats.org/drawingml/2006/main">
              <a:ext uri="{FF2B5EF4-FFF2-40B4-BE49-F238E27FC236}">
                <a16:creationId xmlns:a16="http://schemas.microsoft.com/office/drawing/2014/main" id="{F1E799C7-37C9-4ABF-88F7-52F2F574D68D}"/>
              </a:ext>
            </a:extLst>
          </p:cNvPr>
          <p:cNvSpPr>
            <a:spLocks xmlns:a="http://schemas.openxmlformats.org/drawingml/2006/main" noGrp="1"/>
          </p:cNvSpPr>
          <p:nvPr/>
        </p:nvSpPr>
        <p:spPr>
          <a:xfrm xmlns:a="http://schemas.openxmlformats.org/drawingml/2006/main">
            <a:off x="742950" y="5372100"/>
            <a:ext cx="3067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C5D4E6"/>
                </a:solidFill>
                <a:latin typeface="Avenir Next"/>
                <a:ea typeface="Avenir Next"/>
                <a:cs typeface="Avenir Next"/>
              </a:defRPr>
            </a:pPr>
            <a:r>
              <a:rPr sz="1275">
                <a:solidFill>
                  <a:srgbClr val="C5D4E6"/>
                </a:solidFill>
                <a:latin typeface="Avenir Next"/>
                <a:ea typeface="Avenir Next"/>
                <a:cs typeface="Avenir Next"/>
              </a:rPr>
              <a:t>Typ, Modell, Rolle und URL konfigurieren.</a:t>
            </a:r>
          </a:p>
        </p:txBody>
      </p:sp>
      <p:sp>
        <p:nvSpPr>
          <p:cNvPr id="13" name="guided-card-1">
            <a:extLst xmlns:a="http://schemas.openxmlformats.org/drawingml/2006/main">
              <a:ext uri="{FF2B5EF4-FFF2-40B4-BE49-F238E27FC236}">
                <a16:creationId xmlns:a16="http://schemas.microsoft.com/office/drawing/2014/main" id="{DE2962E5-DC7B-4455-AD90-8DB8FC851CD7}"/>
              </a:ext>
            </a:extLst>
          </p:cNvPr>
          <p:cNvSpPr>
            <a:spLocks xmlns:a="http://schemas.openxmlformats.org/drawingml/2006/main" noGrp="1"/>
          </p:cNvSpPr>
          <p:nvPr/>
        </p:nvSpPr>
        <p:spPr>
          <a:xfrm xmlns:a="http://schemas.openxmlformats.org/drawingml/2006/main">
            <a:off x="4381500" y="2114550"/>
            <a:ext cx="3543300" cy="3905250"/>
          </a:xfrm>
          <a:prstGeom xmlns:a="http://schemas.openxmlformats.org/drawingml/2006/main" prst="roundRect">
            <a:avLst>
              <a:gd name="adj" fmla="val 6452"/>
            </a:avLst>
          </a:prstGeom>
          <a:solidFill xmlns:a="http://schemas.openxmlformats.org/drawingml/2006/main">
            <a:srgbClr val="0B1730"/>
          </a:solidFill>
          <a:ln xmlns:a="http://schemas.openxmlformats.org/drawingml/2006/main" w="9525">
            <a:solidFill>
              <a:srgbClr val="24415F"/>
            </a:solidFill>
            <a:prstDash val="solid"/>
          </a:ln>
        </p:spPr>
      </p:sp>
      <p:sp>
        <p:nvSpPr>
          <p:cNvPr id="14" name="guided-accent-1">
            <a:extLst xmlns:a="http://schemas.openxmlformats.org/drawingml/2006/main">
              <a:ext uri="{FF2B5EF4-FFF2-40B4-BE49-F238E27FC236}">
                <a16:creationId xmlns:a16="http://schemas.microsoft.com/office/drawing/2014/main" id="{26FA189A-8DC5-4BD9-B020-90D451EC7261}"/>
              </a:ext>
            </a:extLst>
          </p:cNvPr>
          <p:cNvSpPr>
            <a:spLocks xmlns:a="http://schemas.openxmlformats.org/drawingml/2006/main" noGrp="1"/>
          </p:cNvSpPr>
          <p:nvPr/>
        </p:nvSpPr>
        <p:spPr>
          <a:xfrm xmlns:a="http://schemas.openxmlformats.org/drawingml/2006/main">
            <a:off x="4381500" y="2114550"/>
            <a:ext cx="3543300" cy="571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noFill/>
            <a:prstDash val="solid"/>
          </a:ln>
        </p:spPr>
      </p:sp>
      <p:sp>
        <p:nvSpPr>
          <p:cNvPr id="15" name="guided-number-1">
            <a:extLst xmlns:a="http://schemas.openxmlformats.org/drawingml/2006/main">
              <a:ext uri="{FF2B5EF4-FFF2-40B4-BE49-F238E27FC236}">
                <a16:creationId xmlns:a16="http://schemas.microsoft.com/office/drawing/2014/main" id="{D2C3BE7B-4C9D-4A8E-B9E0-0A4BAACCF4E8}"/>
              </a:ext>
            </a:extLst>
          </p:cNvPr>
          <p:cNvSpPr>
            <a:spLocks xmlns:a="http://schemas.openxmlformats.org/drawingml/2006/main" noGrp="1"/>
          </p:cNvSpPr>
          <p:nvPr/>
        </p:nvSpPr>
        <p:spPr>
          <a:xfrm xmlns:a="http://schemas.openxmlformats.org/drawingml/2006/main">
            <a:off x="461010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02</a:t>
            </a:r>
          </a:p>
        </p:txBody>
      </p:sp>
      <p:sp>
        <p:nvSpPr>
          <p:cNvPr id="16" name="guided-title-1">
            <a:extLst xmlns:a="http://schemas.openxmlformats.org/drawingml/2006/main">
              <a:ext uri="{FF2B5EF4-FFF2-40B4-BE49-F238E27FC236}">
                <a16:creationId xmlns:a16="http://schemas.microsoft.com/office/drawing/2014/main" id="{22591BE1-AA6A-4469-8DB3-099BA54CD6C8}"/>
              </a:ext>
            </a:extLst>
          </p:cNvPr>
          <p:cNvSpPr>
            <a:spLocks xmlns:a="http://schemas.openxmlformats.org/drawingml/2006/main" noGrp="1"/>
          </p:cNvSpPr>
          <p:nvPr/>
        </p:nvSpPr>
        <p:spPr>
          <a:xfrm xmlns:a="http://schemas.openxmlformats.org/drawingml/2006/main">
            <a:off x="5048250" y="23241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F7FAFF"/>
                </a:solidFill>
                <a:latin typeface="Avenir Next"/>
                <a:ea typeface="Avenir Next"/>
                <a:cs typeface="Avenir Next"/>
              </a:defRPr>
            </a:pPr>
            <a:r>
              <a:rPr sz="1725" b="1">
                <a:solidFill>
                  <a:srgbClr val="F7FAFF"/>
                </a:solidFill>
                <a:latin typeface="Avenir Next"/>
                <a:ea typeface="Avenir Next"/>
                <a:cs typeface="Avenir Next"/>
              </a:rPr>
              <a:t>Modell + Compute</a:t>
            </a:r>
          </a:p>
        </p:txBody>
      </p:sp>
      <p:sp>
        <p:nvSpPr>
          <p:cNvPr id="17" name="guided-frame-1">
            <a:extLst xmlns:a="http://schemas.openxmlformats.org/drawingml/2006/main">
              <a:ext uri="{FF2B5EF4-FFF2-40B4-BE49-F238E27FC236}">
                <a16:creationId xmlns:a16="http://schemas.microsoft.com/office/drawing/2014/main" id="{29583777-3568-460B-95F5-C37EC4C636FC}"/>
              </a:ext>
            </a:extLst>
          </p:cNvPr>
          <p:cNvSpPr>
            <a:spLocks xmlns:a="http://schemas.openxmlformats.org/drawingml/2006/main" noGrp="1"/>
          </p:cNvSpPr>
          <p:nvPr/>
        </p:nvSpPr>
        <p:spPr>
          <a:xfrm xmlns:a="http://schemas.openxmlformats.org/drawingml/2006/main">
            <a:off x="4552950" y="2781300"/>
            <a:ext cx="3200400" cy="2362200"/>
          </a:xfrm>
          <a:prstGeom xmlns:a="http://schemas.openxmlformats.org/drawingml/2006/main" prst="roundRect">
            <a:avLst>
              <a:gd name="adj" fmla="val 6452"/>
            </a:avLst>
          </a:prstGeom>
          <a:solidFill xmlns:a="http://schemas.openxmlformats.org/drawingml/2006/main">
            <a:srgbClr val="050B18"/>
          </a:solidFill>
          <a:ln xmlns:a="http://schemas.openxmlformats.org/drawingml/2006/main" w="9525">
            <a:solidFill>
              <a:srgbClr val="24415F"/>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8c685ea76814723"/>
          <a:srcRect xmlns:a="http://schemas.openxmlformats.org/drawingml/2006/main" l="0" t="0" r="0" b="0"/>
          <a:stretch xmlns:a="http://schemas.openxmlformats.org/drawingml/2006/main"/>
        </p:blipFill>
        <p:spPr>
          <a:xfrm xmlns:a="http://schemas.openxmlformats.org/drawingml/2006/main" flipH="0" flipV="0">
            <a:off x="4629150" y="3143794"/>
            <a:ext cx="3048000" cy="1637211"/>
          </a:xfrm>
          <a:prstGeom xmlns:a="http://schemas.openxmlformats.org/drawingml/2006/main" prst="roundRect">
            <a:avLst/>
          </a:prstGeom>
        </p:spPr>
      </p:pic>
      <p:sp>
        <p:nvSpPr>
          <p:cNvPr id="19" name="guided-body-1">
            <a:extLst xmlns:a="http://schemas.openxmlformats.org/drawingml/2006/main">
              <a:ext uri="{FF2B5EF4-FFF2-40B4-BE49-F238E27FC236}">
                <a16:creationId xmlns:a16="http://schemas.microsoft.com/office/drawing/2014/main" id="{2FB9B5D8-507E-4856-A14C-4DE655595143}"/>
              </a:ext>
            </a:extLst>
          </p:cNvPr>
          <p:cNvSpPr>
            <a:spLocks xmlns:a="http://schemas.openxmlformats.org/drawingml/2006/main" noGrp="1"/>
          </p:cNvSpPr>
          <p:nvPr/>
        </p:nvSpPr>
        <p:spPr>
          <a:xfrm xmlns:a="http://schemas.openxmlformats.org/drawingml/2006/main">
            <a:off x="4610100" y="5372100"/>
            <a:ext cx="3067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C5D4E6"/>
                </a:solidFill>
                <a:latin typeface="Avenir Next"/>
                <a:ea typeface="Avenir Next"/>
                <a:cs typeface="Avenir Next"/>
              </a:defRPr>
            </a:pPr>
            <a:r>
              <a:rPr sz="1275">
                <a:solidFill>
                  <a:srgbClr val="C5D4E6"/>
                </a:solidFill>
                <a:latin typeface="Avenir Next"/>
                <a:ea typeface="Avenir Next"/>
                <a:cs typeface="Avenir Next"/>
              </a:rPr>
              <a:t>Engine, verfügbare Hardware und Speicher wählen.</a:t>
            </a:r>
          </a:p>
        </p:txBody>
      </p:sp>
      <p:sp>
        <p:nvSpPr>
          <p:cNvPr id="20" name="guided-card-2">
            <a:extLst xmlns:a="http://schemas.openxmlformats.org/drawingml/2006/main">
              <a:ext uri="{FF2B5EF4-FFF2-40B4-BE49-F238E27FC236}">
                <a16:creationId xmlns:a16="http://schemas.microsoft.com/office/drawing/2014/main" id="{0FC7F1BA-A366-4688-AA58-0FB122288AE0}"/>
              </a:ext>
            </a:extLst>
          </p:cNvPr>
          <p:cNvSpPr>
            <a:spLocks xmlns:a="http://schemas.openxmlformats.org/drawingml/2006/main" noGrp="1"/>
          </p:cNvSpPr>
          <p:nvPr/>
        </p:nvSpPr>
        <p:spPr>
          <a:xfrm xmlns:a="http://schemas.openxmlformats.org/drawingml/2006/main">
            <a:off x="8248650" y="2114550"/>
            <a:ext cx="3543300" cy="3905250"/>
          </a:xfrm>
          <a:prstGeom xmlns:a="http://schemas.openxmlformats.org/drawingml/2006/main" prst="roundRect">
            <a:avLst>
              <a:gd name="adj" fmla="val 6452"/>
            </a:avLst>
          </a:prstGeom>
          <a:solidFill xmlns:a="http://schemas.openxmlformats.org/drawingml/2006/main">
            <a:srgbClr val="0B1730"/>
          </a:solidFill>
          <a:ln xmlns:a="http://schemas.openxmlformats.org/drawingml/2006/main" w="9525">
            <a:solidFill>
              <a:srgbClr val="24415F"/>
            </a:solidFill>
            <a:prstDash val="solid"/>
          </a:ln>
        </p:spPr>
      </p:sp>
      <p:sp>
        <p:nvSpPr>
          <p:cNvPr id="21" name="guided-accent-2">
            <a:extLst xmlns:a="http://schemas.openxmlformats.org/drawingml/2006/main">
              <a:ext uri="{FF2B5EF4-FFF2-40B4-BE49-F238E27FC236}">
                <a16:creationId xmlns:a16="http://schemas.microsoft.com/office/drawing/2014/main" id="{58E8AA11-824A-4A76-901B-C633A8E0D84D}"/>
              </a:ext>
            </a:extLst>
          </p:cNvPr>
          <p:cNvSpPr>
            <a:spLocks xmlns:a="http://schemas.openxmlformats.org/drawingml/2006/main" noGrp="1"/>
          </p:cNvSpPr>
          <p:nvPr/>
        </p:nvSpPr>
        <p:spPr>
          <a:xfrm xmlns:a="http://schemas.openxmlformats.org/drawingml/2006/main">
            <a:off x="8248650" y="2114550"/>
            <a:ext cx="3543300" cy="57150"/>
          </a:xfrm>
          <a:prstGeom xmlns:a="http://schemas.openxmlformats.org/drawingml/2006/main" prst="roundRect">
            <a:avLst>
              <a:gd name="adj" fmla="val 50000"/>
            </a:avLst>
          </a:prstGeom>
          <a:solidFill xmlns:a="http://schemas.openxmlformats.org/drawingml/2006/main">
            <a:srgbClr val="34D399"/>
          </a:solidFill>
          <a:ln xmlns:a="http://schemas.openxmlformats.org/drawingml/2006/main" w="0">
            <a:noFill/>
            <a:prstDash val="solid"/>
          </a:ln>
        </p:spPr>
      </p:sp>
      <p:sp>
        <p:nvSpPr>
          <p:cNvPr id="22" name="guided-number-2">
            <a:extLst xmlns:a="http://schemas.openxmlformats.org/drawingml/2006/main">
              <a:ext uri="{FF2B5EF4-FFF2-40B4-BE49-F238E27FC236}">
                <a16:creationId xmlns:a16="http://schemas.microsoft.com/office/drawing/2014/main" id="{3C0AD646-6712-4886-A1E2-DC878B3FF9D9}"/>
              </a:ext>
            </a:extLst>
          </p:cNvPr>
          <p:cNvSpPr>
            <a:spLocks xmlns:a="http://schemas.openxmlformats.org/drawingml/2006/main" noGrp="1"/>
          </p:cNvSpPr>
          <p:nvPr/>
        </p:nvSpPr>
        <p:spPr>
          <a:xfrm xmlns:a="http://schemas.openxmlformats.org/drawingml/2006/main">
            <a:off x="847725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03</a:t>
            </a:r>
          </a:p>
        </p:txBody>
      </p:sp>
      <p:sp>
        <p:nvSpPr>
          <p:cNvPr id="23" name="guided-title-2">
            <a:extLst xmlns:a="http://schemas.openxmlformats.org/drawingml/2006/main">
              <a:ext uri="{FF2B5EF4-FFF2-40B4-BE49-F238E27FC236}">
                <a16:creationId xmlns:a16="http://schemas.microsoft.com/office/drawing/2014/main" id="{21AB2FE8-AFA6-441C-81B2-9301BAF8587F}"/>
              </a:ext>
            </a:extLst>
          </p:cNvPr>
          <p:cNvSpPr>
            <a:spLocks xmlns:a="http://schemas.openxmlformats.org/drawingml/2006/main" noGrp="1"/>
          </p:cNvSpPr>
          <p:nvPr/>
        </p:nvSpPr>
        <p:spPr>
          <a:xfrm xmlns:a="http://schemas.openxmlformats.org/drawingml/2006/main">
            <a:off x="8915400" y="23241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F7FAFF"/>
                </a:solidFill>
                <a:latin typeface="Avenir Next"/>
                <a:ea typeface="Avenir Next"/>
                <a:cs typeface="Avenir Next"/>
              </a:defRPr>
            </a:pPr>
            <a:r>
              <a:rPr sz="1725" b="1">
                <a:solidFill>
                  <a:srgbClr val="F7FAFF"/>
                </a:solidFill>
                <a:latin typeface="Avenir Next"/>
                <a:ea typeface="Avenir Next"/>
                <a:cs typeface="Avenir Next"/>
              </a:rPr>
              <a:t>Benutzer verwalten</a:t>
            </a:r>
          </a:p>
        </p:txBody>
      </p:sp>
      <p:sp>
        <p:nvSpPr>
          <p:cNvPr id="24" name="guided-frame-2">
            <a:extLst xmlns:a="http://schemas.openxmlformats.org/drawingml/2006/main">
              <a:ext uri="{FF2B5EF4-FFF2-40B4-BE49-F238E27FC236}">
                <a16:creationId xmlns:a16="http://schemas.microsoft.com/office/drawing/2014/main" id="{E70B5415-9A40-4A2A-80E1-3606D7311893}"/>
              </a:ext>
            </a:extLst>
          </p:cNvPr>
          <p:cNvSpPr>
            <a:spLocks xmlns:a="http://schemas.openxmlformats.org/drawingml/2006/main" noGrp="1"/>
          </p:cNvSpPr>
          <p:nvPr/>
        </p:nvSpPr>
        <p:spPr>
          <a:xfrm xmlns:a="http://schemas.openxmlformats.org/drawingml/2006/main">
            <a:off x="8420100" y="2781300"/>
            <a:ext cx="3200400" cy="2362200"/>
          </a:xfrm>
          <a:prstGeom xmlns:a="http://schemas.openxmlformats.org/drawingml/2006/main" prst="roundRect">
            <a:avLst>
              <a:gd name="adj" fmla="val 6452"/>
            </a:avLst>
          </a:prstGeom>
          <a:solidFill xmlns:a="http://schemas.openxmlformats.org/drawingml/2006/main">
            <a:srgbClr val="050B18"/>
          </a:solidFill>
          <a:ln xmlns:a="http://schemas.openxmlformats.org/drawingml/2006/main" w="9525">
            <a:solidFill>
              <a:srgbClr val="24415F"/>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58d453396b71446c"/>
          <a:srcRect xmlns:a="http://schemas.openxmlformats.org/drawingml/2006/main" l="0" t="0" r="0" b="0"/>
          <a:stretch xmlns:a="http://schemas.openxmlformats.org/drawingml/2006/main"/>
        </p:blipFill>
        <p:spPr>
          <a:xfrm xmlns:a="http://schemas.openxmlformats.org/drawingml/2006/main" flipH="0" flipV="0">
            <a:off x="8496300" y="2880697"/>
            <a:ext cx="3048000" cy="2163407"/>
          </a:xfrm>
          <a:prstGeom xmlns:a="http://schemas.openxmlformats.org/drawingml/2006/main" prst="roundRect">
            <a:avLst/>
          </a:prstGeom>
        </p:spPr>
      </p:pic>
      <p:sp>
        <p:nvSpPr>
          <p:cNvPr id="26" name="guided-body-2">
            <a:extLst xmlns:a="http://schemas.openxmlformats.org/drawingml/2006/main">
              <a:ext uri="{FF2B5EF4-FFF2-40B4-BE49-F238E27FC236}">
                <a16:creationId xmlns:a16="http://schemas.microsoft.com/office/drawing/2014/main" id="{F5D5A84F-FB93-4D7F-BA26-899BD6D8A36B}"/>
              </a:ext>
            </a:extLst>
          </p:cNvPr>
          <p:cNvSpPr>
            <a:spLocks xmlns:a="http://schemas.openxmlformats.org/drawingml/2006/main" noGrp="1"/>
          </p:cNvSpPr>
          <p:nvPr/>
        </p:nvSpPr>
        <p:spPr>
          <a:xfrm xmlns:a="http://schemas.openxmlformats.org/drawingml/2006/main">
            <a:off x="8477250" y="5372100"/>
            <a:ext cx="3067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275">
                <a:solidFill>
                  <a:srgbClr val="C5D4E6"/>
                </a:solidFill>
                <a:latin typeface="Avenir Next"/>
                <a:ea typeface="Avenir Next"/>
                <a:cs typeface="Avenir Next"/>
              </a:defRPr>
            </a:pPr>
            <a:r>
              <a:rPr sz="1275">
                <a:solidFill>
                  <a:srgbClr val="C5D4E6"/>
                </a:solidFill>
                <a:latin typeface="Avenir Next"/>
                <a:ea typeface="Avenir Next"/>
                <a:cs typeface="Avenir Next"/>
              </a:rPr>
              <a:t>Anlegen, Rollen ändern, deaktivieren oder löschen.</a:t>
            </a:r>
          </a:p>
        </p:txBody>
      </p:sp>
    </p:spTree>
    <p:extLst>
      <p:ext uri="{BB962C8B-B14F-4D97-AF65-F5344CB8AC3E}">
        <p14:creationId xmlns:p14="http://schemas.microsoft.com/office/powerpoint/2010/main" val="2089400766"/>
      </p:ext>
    </p:extLst>
  </p:cSld>
</p:sld>
</file>

<file path=ppt/slides/slide12.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18" name="brand-footer">
            <a:extLst xmlns:a="http://schemas.openxmlformats.org/drawingml/2006/main">
              <a:ext uri="{FF2B5EF4-FFF2-40B4-BE49-F238E27FC236}">
                <a16:creationId xmlns:a16="http://schemas.microsoft.com/office/drawing/2014/main" id="{6A44BC62-FCC4-46CB-929E-CF794C2069F9}"/>
              </a:ext>
            </a:extLst>
          </p:cNvPr>
          <p:cNvSpPr>
            <a:spLocks xmlns:a="http://schemas.openxmlformats.org/drawingml/2006/main" noGrp="1"/>
          </p:cNvSpPr>
          <p:nvPr/>
        </p:nvSpPr>
        <p:spPr>
          <a:xfrm xmlns:a="http://schemas.openxmlformats.org/drawingml/2006/main">
            <a:off x="685800" y="64293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MAGIC STICK</a:t>
            </a:r>
          </a:p>
        </p:txBody>
      </p:sp>
      <p:sp>
        <p:nvSpPr>
          <p:cNvPr id="2" name="page-number">
            <a:extLst xmlns:a="http://schemas.openxmlformats.org/drawingml/2006/main">
              <a:ext uri="{FF2B5EF4-FFF2-40B4-BE49-F238E27FC236}">
                <a16:creationId xmlns:a16="http://schemas.microsoft.com/office/drawing/2014/main" id="{C7BC55A6-48C2-4476-B7E8-E6B02B738090}"/>
              </a:ext>
            </a:extLst>
          </p:cNvPr>
          <p:cNvSpPr>
            <a:spLocks xmlns:a="http://schemas.openxmlformats.org/drawingml/2006/main" noGrp="1"/>
          </p:cNvSpPr>
          <p:nvPr/>
        </p:nvSpPr>
        <p:spPr>
          <a:xfrm xmlns:a="http://schemas.openxmlformats.org/drawingml/2006/main">
            <a:off x="11239500" y="64293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1">
                <a:solidFill>
                  <a:srgbClr val="5C7695"/>
                </a:solidFill>
                <a:latin typeface="Avenir Next"/>
                <a:ea typeface="Avenir Next"/>
                <a:cs typeface="Avenir Next"/>
              </a:defRPr>
            </a:pPr>
            <a:r>
              <a:rPr sz="975" b="1">
                <a:solidFill>
                  <a:srgbClr val="5C7695"/>
                </a:solidFill>
                <a:latin typeface="Avenir Next"/>
                <a:ea typeface="Avenir Next"/>
                <a:cs typeface="Avenir Next"/>
              </a:rPr>
              <a:t>12</a:t>
            </a:r>
          </a:p>
        </p:txBody>
      </p:sp>
      <p:sp>
        <p:nvSpPr>
          <p:cNvPr id="3" name="eyebrow">
            <a:extLst xmlns:a="http://schemas.openxmlformats.org/drawingml/2006/main">
              <a:ext uri="{FF2B5EF4-FFF2-40B4-BE49-F238E27FC236}">
                <a16:creationId xmlns:a16="http://schemas.microsoft.com/office/drawing/2014/main" id="{16FC6A1C-E8D0-405D-9E65-FE257BCB84DE}"/>
              </a:ext>
            </a:extLst>
          </p:cNvPr>
          <p:cNvSpPr>
            <a:spLocks xmlns:a="http://schemas.openxmlformats.org/drawingml/2006/main" noGrp="1"/>
          </p:cNvSpPr>
          <p:nvPr/>
        </p:nvSpPr>
        <p:spPr>
          <a:xfrm xmlns:a="http://schemas.openxmlformats.org/drawingml/2006/main">
            <a:off x="685800" y="495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DER PILOT</a:t>
            </a:r>
          </a:p>
        </p:txBody>
      </p:sp>
      <p:sp>
        <p:nvSpPr>
          <p:cNvPr id="4" name="title">
            <a:extLst xmlns:a="http://schemas.openxmlformats.org/drawingml/2006/main">
              <a:ext uri="{FF2B5EF4-FFF2-40B4-BE49-F238E27FC236}">
                <a16:creationId xmlns:a16="http://schemas.microsoft.com/office/drawing/2014/main" id="{29D0F21A-1B28-404E-93DF-2893D2BB170C}"/>
              </a:ext>
            </a:extLst>
          </p:cNvPr>
          <p:cNvSpPr>
            <a:spLocks xmlns:a="http://schemas.openxmlformats.org/drawingml/2006/main" noGrp="1"/>
          </p:cNvSpPr>
          <p:nvPr/>
        </p:nvSpPr>
        <p:spPr>
          <a:xfrm xmlns:a="http://schemas.openxmlformats.org/drawingml/2006/main">
            <a:off x="685800" y="9715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5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In drei Schritten zum belegbaren Pilotbetrieb</a:t>
            </a:r>
          </a:p>
        </p:txBody>
      </p:sp>
      <p:sp>
        <p:nvSpPr>
          <p:cNvPr id="5" name="pilot-number-0">
            <a:extLst xmlns:a="http://schemas.openxmlformats.org/drawingml/2006/main">
              <a:ext uri="{FF2B5EF4-FFF2-40B4-BE49-F238E27FC236}">
                <a16:creationId xmlns:a16="http://schemas.microsoft.com/office/drawing/2014/main" id="{0ECDC39A-9F5E-42FE-A205-0D831BD36E14}"/>
              </a:ext>
            </a:extLst>
          </p:cNvPr>
          <p:cNvSpPr>
            <a:spLocks xmlns:a="http://schemas.openxmlformats.org/drawingml/2006/main" noGrp="1"/>
          </p:cNvSpPr>
          <p:nvPr/>
        </p:nvSpPr>
        <p:spPr>
          <a:xfrm xmlns:a="http://schemas.openxmlformats.org/drawingml/2006/main">
            <a:off x="685800" y="2076450"/>
            <a:ext cx="495300" cy="4953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22D3EE"/>
                </a:solidFill>
                <a:latin typeface="Avenir Next"/>
                <a:ea typeface="Avenir Next"/>
                <a:cs typeface="Avenir Next"/>
              </a:defRPr>
            </a:pPr>
            <a:r>
              <a:rPr sz="1425" b="1">
                <a:solidFill>
                  <a:srgbClr val="22D3EE"/>
                </a:solidFill>
                <a:latin typeface="Avenir Next"/>
                <a:ea typeface="Avenir Next"/>
                <a:cs typeface="Avenir Next"/>
              </a:rPr>
              <a:t>01</a:t>
            </a:r>
          </a:p>
        </p:txBody>
      </p:sp>
      <p:sp>
        <p:nvSpPr>
          <p:cNvPr id="6" name="pilot-step-title-0">
            <a:extLst xmlns:a="http://schemas.openxmlformats.org/drawingml/2006/main">
              <a:ext uri="{FF2B5EF4-FFF2-40B4-BE49-F238E27FC236}">
                <a16:creationId xmlns:a16="http://schemas.microsoft.com/office/drawing/2014/main" id="{4C4E1973-43EF-4A15-A742-D7F2AD7ECDBF}"/>
              </a:ext>
            </a:extLst>
          </p:cNvPr>
          <p:cNvSpPr>
            <a:spLocks xmlns:a="http://schemas.openxmlformats.org/drawingml/2006/main" noGrp="1"/>
          </p:cNvSpPr>
          <p:nvPr/>
        </p:nvSpPr>
        <p:spPr>
          <a:xfrm xmlns:a="http://schemas.openxmlformats.org/drawingml/2006/main">
            <a:off x="1409700" y="20574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F7FAFF"/>
                </a:solidFill>
                <a:latin typeface="Avenir Next"/>
                <a:ea typeface="Avenir Next"/>
                <a:cs typeface="Avenir Next"/>
              </a:defRPr>
            </a:pPr>
            <a:r>
              <a:rPr sz="1800" b="1">
                <a:solidFill>
                  <a:srgbClr val="F7FAFF"/>
                </a:solidFill>
                <a:latin typeface="Avenir Next"/>
                <a:ea typeface="Avenir Next"/>
                <a:cs typeface="Avenir Next"/>
              </a:rPr>
              <a:t>Pilot festlegen</a:t>
            </a:r>
          </a:p>
        </p:txBody>
      </p:sp>
      <p:sp>
        <p:nvSpPr>
          <p:cNvPr id="7" name="pilot-step-body-0">
            <a:extLst xmlns:a="http://schemas.openxmlformats.org/drawingml/2006/main">
              <a:ext uri="{FF2B5EF4-FFF2-40B4-BE49-F238E27FC236}">
                <a16:creationId xmlns:a16="http://schemas.microsoft.com/office/drawing/2014/main" id="{69910931-1C34-4A00-9936-826514C24169}"/>
              </a:ext>
            </a:extLst>
          </p:cNvPr>
          <p:cNvSpPr>
            <a:spLocks xmlns:a="http://schemas.openxmlformats.org/drawingml/2006/main" noGrp="1"/>
          </p:cNvSpPr>
          <p:nvPr/>
        </p:nvSpPr>
        <p:spPr>
          <a:xfrm xmlns:a="http://schemas.openxmlformats.org/drawingml/2006/main">
            <a:off x="1409700" y="24384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C5D4E6"/>
                </a:solidFill>
                <a:latin typeface="Avenir Next"/>
                <a:ea typeface="Avenir Next"/>
                <a:cs typeface="Avenir Next"/>
              </a:defRPr>
            </a:pPr>
            <a:r>
              <a:rPr sz="1350">
                <a:solidFill>
                  <a:srgbClr val="C5D4E6"/>
                </a:solidFill>
                <a:latin typeface="Avenir Next"/>
                <a:ea typeface="Avenir Next"/>
                <a:cs typeface="Avenir Next"/>
              </a:rPr>
              <a:t>Use Case, Nutzergruppe und Zielumgebung</a:t>
            </a:r>
          </a:p>
        </p:txBody>
      </p:sp>
      <p:sp>
        <p:nvSpPr>
          <p:cNvPr id="8" name="pilot-number-1">
            <a:extLst xmlns:a="http://schemas.openxmlformats.org/drawingml/2006/main">
              <a:ext uri="{FF2B5EF4-FFF2-40B4-BE49-F238E27FC236}">
                <a16:creationId xmlns:a16="http://schemas.microsoft.com/office/drawing/2014/main" id="{B0738AF5-F95F-4066-8A21-183D1B732ED7}"/>
              </a:ext>
            </a:extLst>
          </p:cNvPr>
          <p:cNvSpPr>
            <a:spLocks xmlns:a="http://schemas.openxmlformats.org/drawingml/2006/main" noGrp="1"/>
          </p:cNvSpPr>
          <p:nvPr/>
        </p:nvSpPr>
        <p:spPr>
          <a:xfrm xmlns:a="http://schemas.openxmlformats.org/drawingml/2006/main">
            <a:off x="685800" y="3181350"/>
            <a:ext cx="495300" cy="4953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8B5CF6"/>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8B5CF6"/>
                </a:solidFill>
                <a:latin typeface="Avenir Next"/>
                <a:ea typeface="Avenir Next"/>
                <a:cs typeface="Avenir Next"/>
              </a:defRPr>
            </a:pPr>
            <a:r>
              <a:rPr sz="1425" b="1">
                <a:solidFill>
                  <a:srgbClr val="8B5CF6"/>
                </a:solidFill>
                <a:latin typeface="Avenir Next"/>
                <a:ea typeface="Avenir Next"/>
                <a:cs typeface="Avenir Next"/>
              </a:rPr>
              <a:t>02</a:t>
            </a:r>
          </a:p>
        </p:txBody>
      </p:sp>
      <p:sp>
        <p:nvSpPr>
          <p:cNvPr id="9" name="pilot-step-title-1">
            <a:extLst xmlns:a="http://schemas.openxmlformats.org/drawingml/2006/main">
              <a:ext uri="{FF2B5EF4-FFF2-40B4-BE49-F238E27FC236}">
                <a16:creationId xmlns:a16="http://schemas.microsoft.com/office/drawing/2014/main" id="{1C684C6E-3E2B-41CA-86D4-513031C92D64}"/>
              </a:ext>
            </a:extLst>
          </p:cNvPr>
          <p:cNvSpPr>
            <a:spLocks xmlns:a="http://schemas.openxmlformats.org/drawingml/2006/main" noGrp="1"/>
          </p:cNvSpPr>
          <p:nvPr/>
        </p:nvSpPr>
        <p:spPr>
          <a:xfrm xmlns:a="http://schemas.openxmlformats.org/drawingml/2006/main">
            <a:off x="1409700" y="31623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F7FAFF"/>
                </a:solidFill>
                <a:latin typeface="Avenir Next"/>
                <a:ea typeface="Avenir Next"/>
                <a:cs typeface="Avenir Next"/>
              </a:defRPr>
            </a:pPr>
            <a:r>
              <a:rPr sz="1800" b="1">
                <a:solidFill>
                  <a:srgbClr val="F7FAFF"/>
                </a:solidFill>
                <a:latin typeface="Avenir Next"/>
                <a:ea typeface="Avenir Next"/>
                <a:cs typeface="Avenir Next"/>
              </a:rPr>
              <a:t>Magic Stick bereitstellen</a:t>
            </a:r>
          </a:p>
        </p:txBody>
      </p:sp>
      <p:sp>
        <p:nvSpPr>
          <p:cNvPr id="10" name="pilot-step-body-1">
            <a:extLst xmlns:a="http://schemas.openxmlformats.org/drawingml/2006/main">
              <a:ext uri="{FF2B5EF4-FFF2-40B4-BE49-F238E27FC236}">
                <a16:creationId xmlns:a16="http://schemas.microsoft.com/office/drawing/2014/main" id="{57BA7D62-3235-4778-A7AB-23D54D94F533}"/>
              </a:ext>
            </a:extLst>
          </p:cNvPr>
          <p:cNvSpPr>
            <a:spLocks xmlns:a="http://schemas.openxmlformats.org/drawingml/2006/main" noGrp="1"/>
          </p:cNvSpPr>
          <p:nvPr/>
        </p:nvSpPr>
        <p:spPr>
          <a:xfrm xmlns:a="http://schemas.openxmlformats.org/drawingml/2006/main">
            <a:off x="1409700" y="35433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C5D4E6"/>
                </a:solidFill>
                <a:latin typeface="Avenir Next"/>
                <a:ea typeface="Avenir Next"/>
                <a:cs typeface="Avenir Next"/>
              </a:defRPr>
            </a:pPr>
            <a:r>
              <a:rPr sz="1350">
                <a:solidFill>
                  <a:srgbClr val="C5D4E6"/>
                </a:solidFill>
                <a:latin typeface="Avenir Next"/>
                <a:ea typeface="Avenir Next"/>
                <a:cs typeface="Avenir Next"/>
              </a:rPr>
              <a:t>First Run, SSO, externe oder lokale Modelle</a:t>
            </a:r>
          </a:p>
        </p:txBody>
      </p:sp>
      <p:sp>
        <p:nvSpPr>
          <p:cNvPr id="11" name="pilot-number-2">
            <a:extLst xmlns:a="http://schemas.openxmlformats.org/drawingml/2006/main">
              <a:ext uri="{FF2B5EF4-FFF2-40B4-BE49-F238E27FC236}">
                <a16:creationId xmlns:a16="http://schemas.microsoft.com/office/drawing/2014/main" id="{46E3DC78-9D6D-4167-8ECE-EBB0F24A7ED9}"/>
              </a:ext>
            </a:extLst>
          </p:cNvPr>
          <p:cNvSpPr>
            <a:spLocks xmlns:a="http://schemas.openxmlformats.org/drawingml/2006/main" noGrp="1"/>
          </p:cNvSpPr>
          <p:nvPr/>
        </p:nvSpPr>
        <p:spPr>
          <a:xfrm xmlns:a="http://schemas.openxmlformats.org/drawingml/2006/main">
            <a:off x="685800" y="4286250"/>
            <a:ext cx="495300" cy="49530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22D3E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425" b="1">
                <a:solidFill>
                  <a:srgbClr val="22D3EE"/>
                </a:solidFill>
                <a:latin typeface="Avenir Next"/>
                <a:ea typeface="Avenir Next"/>
                <a:cs typeface="Avenir Next"/>
              </a:defRPr>
            </a:pPr>
            <a:r>
              <a:rPr sz="1425" b="1">
                <a:solidFill>
                  <a:srgbClr val="22D3EE"/>
                </a:solidFill>
                <a:latin typeface="Avenir Next"/>
                <a:ea typeface="Avenir Next"/>
                <a:cs typeface="Avenir Next"/>
              </a:rPr>
              <a:t>03</a:t>
            </a:r>
          </a:p>
        </p:txBody>
      </p:sp>
      <p:sp>
        <p:nvSpPr>
          <p:cNvPr id="12" name="pilot-step-title-2">
            <a:extLst xmlns:a="http://schemas.openxmlformats.org/drawingml/2006/main">
              <a:ext uri="{FF2B5EF4-FFF2-40B4-BE49-F238E27FC236}">
                <a16:creationId xmlns:a16="http://schemas.microsoft.com/office/drawing/2014/main" id="{FC996B72-E84E-472F-A975-A94C355A8181}"/>
              </a:ext>
            </a:extLst>
          </p:cNvPr>
          <p:cNvSpPr>
            <a:spLocks xmlns:a="http://schemas.openxmlformats.org/drawingml/2006/main" noGrp="1"/>
          </p:cNvSpPr>
          <p:nvPr/>
        </p:nvSpPr>
        <p:spPr>
          <a:xfrm xmlns:a="http://schemas.openxmlformats.org/drawingml/2006/main">
            <a:off x="1409700" y="42672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F7FAFF"/>
                </a:solidFill>
                <a:latin typeface="Avenir Next"/>
                <a:ea typeface="Avenir Next"/>
                <a:cs typeface="Avenir Next"/>
              </a:defRPr>
            </a:pPr>
            <a:r>
              <a:rPr sz="1800" b="1">
                <a:solidFill>
                  <a:srgbClr val="F7FAFF"/>
                </a:solidFill>
                <a:latin typeface="Avenir Next"/>
                <a:ea typeface="Avenir Next"/>
                <a:cs typeface="Avenir Next"/>
              </a:rPr>
              <a:t>Nutzen nachweisen</a:t>
            </a:r>
          </a:p>
        </p:txBody>
      </p:sp>
      <p:sp>
        <p:nvSpPr>
          <p:cNvPr id="13" name="pilot-step-body-2">
            <a:extLst xmlns:a="http://schemas.openxmlformats.org/drawingml/2006/main">
              <a:ext uri="{FF2B5EF4-FFF2-40B4-BE49-F238E27FC236}">
                <a16:creationId xmlns:a16="http://schemas.microsoft.com/office/drawing/2014/main" id="{F0B8B2CA-ACFF-4558-B194-BCEB6A661576}"/>
              </a:ext>
            </a:extLst>
          </p:cNvPr>
          <p:cNvSpPr>
            <a:spLocks xmlns:a="http://schemas.openxmlformats.org/drawingml/2006/main" noGrp="1"/>
          </p:cNvSpPr>
          <p:nvPr/>
        </p:nvSpPr>
        <p:spPr>
          <a:xfrm xmlns:a="http://schemas.openxmlformats.org/drawingml/2006/main">
            <a:off x="1409700" y="46482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350">
                <a:solidFill>
                  <a:srgbClr val="C5D4E6"/>
                </a:solidFill>
                <a:latin typeface="Avenir Next"/>
                <a:ea typeface="Avenir Next"/>
                <a:cs typeface="Avenir Next"/>
              </a:defRPr>
            </a:pPr>
            <a:r>
              <a:rPr sz="1350">
                <a:solidFill>
                  <a:srgbClr val="C5D4E6"/>
                </a:solidFill>
                <a:latin typeface="Avenir Next"/>
                <a:ea typeface="Avenir Next"/>
                <a:cs typeface="Avenir Next"/>
              </a:rPr>
              <a:t>Qualität, Geschwindigkeit, Kosten und Akzeptanz</a:t>
            </a:r>
          </a:p>
        </p:txBody>
      </p:sp>
      <p:sp>
        <p:nvSpPr>
          <p:cNvPr id="14" name="tag-PILOT AUF IHRER INFRASTRUKTUR">
            <a:extLst xmlns:a="http://schemas.openxmlformats.org/drawingml/2006/main">
              <a:ext uri="{FF2B5EF4-FFF2-40B4-BE49-F238E27FC236}">
                <a16:creationId xmlns:a16="http://schemas.microsoft.com/office/drawing/2014/main" id="{F8802782-52F2-4997-B903-E525DAC92C55}"/>
              </a:ext>
            </a:extLst>
          </p:cNvPr>
          <p:cNvSpPr>
            <a:spLocks xmlns:a="http://schemas.openxmlformats.org/drawingml/2006/main" noGrp="1"/>
          </p:cNvSpPr>
          <p:nvPr/>
        </p:nvSpPr>
        <p:spPr>
          <a:xfrm xmlns:a="http://schemas.openxmlformats.org/drawingml/2006/main">
            <a:off x="685800" y="5572125"/>
            <a:ext cx="3257550" cy="361950"/>
          </a:xfrm>
          <a:prstGeom xmlns:a="http://schemas.openxmlformats.org/drawingml/2006/main" prst="roundRect">
            <a:avLst>
              <a:gd name="adj" fmla="val 50000"/>
            </a:avLst>
          </a:prstGeom>
          <a:solidFill xmlns:a="http://schemas.openxmlformats.org/drawingml/2006/main">
            <a:srgbClr val="101F3A"/>
          </a:solidFill>
          <a:ln xmlns:a="http://schemas.openxmlformats.org/drawingml/2006/main" w="9525">
            <a:solidFill>
              <a:srgbClr val="34D399"/>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PILOT AUF IHRER INFRASTRUKTUR</a:t>
            </a:r>
          </a:p>
        </p:txBody>
      </p:sp>
      <p:sp>
        <p:nvSpPr>
          <p:cNvPr id="15" name="pilot-proof-label">
            <a:extLst xmlns:a="http://schemas.openxmlformats.org/drawingml/2006/main">
              <a:ext uri="{FF2B5EF4-FFF2-40B4-BE49-F238E27FC236}">
                <a16:creationId xmlns:a16="http://schemas.microsoft.com/office/drawing/2014/main" id="{B39E610B-C54F-4509-B518-39DC26E8B225}"/>
              </a:ext>
            </a:extLst>
          </p:cNvPr>
          <p:cNvSpPr>
            <a:spLocks xmlns:a="http://schemas.openxmlformats.org/drawingml/2006/main" noGrp="1"/>
          </p:cNvSpPr>
          <p:nvPr/>
        </p:nvSpPr>
        <p:spPr>
          <a:xfrm xmlns:a="http://schemas.openxmlformats.org/drawingml/2006/main">
            <a:off x="6000750" y="1924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AKTUELLE UI · BEISPIELKONFIGURATION</a:t>
            </a:r>
          </a:p>
        </p:txBody>
      </p:sp>
      <p:sp>
        <p:nvSpPr>
          <p:cNvPr id="16" name="pilot-proof-frame">
            <a:extLst xmlns:a="http://schemas.openxmlformats.org/drawingml/2006/main">
              <a:ext uri="{FF2B5EF4-FFF2-40B4-BE49-F238E27FC236}">
                <a16:creationId xmlns:a16="http://schemas.microsoft.com/office/drawing/2014/main" id="{88BDA1B1-82A5-4233-B96E-498DAEA8F05B}"/>
              </a:ext>
            </a:extLst>
          </p:cNvPr>
          <p:cNvSpPr>
            <a:spLocks xmlns:a="http://schemas.openxmlformats.org/drawingml/2006/main" noGrp="1"/>
          </p:cNvSpPr>
          <p:nvPr/>
        </p:nvSpPr>
        <p:spPr>
          <a:xfrm xmlns:a="http://schemas.openxmlformats.org/drawingml/2006/main">
            <a:off x="5848350" y="2209800"/>
            <a:ext cx="5657850" cy="3562350"/>
          </a:xfrm>
          <a:prstGeom xmlns:a="http://schemas.openxmlformats.org/drawingml/2006/main" prst="roundRect">
            <a:avLst>
              <a:gd name="adj" fmla="val 6417"/>
            </a:avLst>
          </a:prstGeom>
          <a:solidFill xmlns:a="http://schemas.openxmlformats.org/drawingml/2006/main">
            <a:srgbClr val="0B1730"/>
          </a:solidFill>
          <a:ln xmlns:a="http://schemas.openxmlformats.org/drawingml/2006/main" w="9525">
            <a:solidFill>
              <a:srgbClr val="24415F"/>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2e7c54e0b5714781"/>
          <a:srcRect xmlns:a="http://schemas.openxmlformats.org/drawingml/2006/main" l="0" t="0" r="0" b="0"/>
          <a:stretch xmlns:a="http://schemas.openxmlformats.org/drawingml/2006/main"/>
        </p:blipFill>
        <p:spPr>
          <a:xfrm xmlns:a="http://schemas.openxmlformats.org/drawingml/2006/main" flipH="0" flipV="0">
            <a:off x="6000750" y="2571672"/>
            <a:ext cx="5353050" cy="2838606"/>
          </a:xfrm>
          <a:prstGeom xmlns:a="http://schemas.openxmlformats.org/drawingml/2006/main" prst="roundRect">
            <a:avLst/>
          </a:prstGeom>
        </p:spPr>
      </p:pic>
    </p:spTree>
    <p:extLst>
      <p:ext uri="{BB962C8B-B14F-4D97-AF65-F5344CB8AC3E}">
        <p14:creationId xmlns:p14="http://schemas.microsoft.com/office/powerpoint/2010/main" val="635153175"/>
      </p:ext>
    </p:extLst>
  </p:cSld>
</p:sld>
</file>

<file path=ppt/slides/slide13.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9" name="cta-violet-band">
            <a:extLst xmlns:a="http://schemas.openxmlformats.org/drawingml/2006/main">
              <a:ext uri="{FF2B5EF4-FFF2-40B4-BE49-F238E27FC236}">
                <a16:creationId xmlns:a16="http://schemas.microsoft.com/office/drawing/2014/main" id="{3E2C89B9-7B1D-4A47-A138-8EE2151648E9}"/>
              </a:ext>
            </a:extLst>
          </p:cNvPr>
          <p:cNvSpPr>
            <a:spLocks xmlns:a="http://schemas.openxmlformats.org/drawingml/2006/main" noGrp="1"/>
          </p:cNvSpPr>
          <p:nvPr/>
        </p:nvSpPr>
        <p:spPr>
          <a:xfrm xmlns:a="http://schemas.openxmlformats.org/drawingml/2006/main">
            <a:off x="9620250" y="0"/>
            <a:ext cx="2571750" cy="6858000"/>
          </a:xfrm>
          <a:prstGeom xmlns:a="http://schemas.openxmlformats.org/drawingml/2006/main" prst="rect">
            <a:avLst/>
          </a:prstGeom>
          <a:solidFill xmlns:a="http://schemas.openxmlformats.org/drawingml/2006/main">
            <a:srgbClr val="8B5CF6"/>
          </a:solidFill>
          <a:ln xmlns:a="http://schemas.openxmlformats.org/drawingml/2006/main" w="0">
            <a:noFill/>
            <a:prstDash val="solid"/>
          </a:ln>
        </p:spPr>
      </p:sp>
      <p:sp>
        <p:nvSpPr>
          <p:cNvPr id="2" name="cta-cyan-band">
            <a:extLst xmlns:a="http://schemas.openxmlformats.org/drawingml/2006/main">
              <a:ext uri="{FF2B5EF4-FFF2-40B4-BE49-F238E27FC236}">
                <a16:creationId xmlns:a16="http://schemas.microsoft.com/office/drawing/2014/main" id="{0F40CEB1-B024-4EBB-B3C4-313BCAF5F409}"/>
              </a:ext>
            </a:extLst>
          </p:cNvPr>
          <p:cNvSpPr>
            <a:spLocks xmlns:a="http://schemas.openxmlformats.org/drawingml/2006/main" noGrp="1"/>
          </p:cNvSpPr>
          <p:nvPr/>
        </p:nvSpPr>
        <p:spPr>
          <a:xfrm xmlns:a="http://schemas.openxmlformats.org/drawingml/2006/main">
            <a:off x="9620250" y="0"/>
            <a:ext cx="171450" cy="6858000"/>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3" name="cta-glow">
            <a:extLst xmlns:a="http://schemas.openxmlformats.org/drawingml/2006/main">
              <a:ext uri="{FF2B5EF4-FFF2-40B4-BE49-F238E27FC236}">
                <a16:creationId xmlns:a16="http://schemas.microsoft.com/office/drawing/2014/main" id="{B0F2DF70-4601-4CF2-A5A2-68358DC96979}"/>
              </a:ext>
            </a:extLst>
          </p:cNvPr>
          <p:cNvSpPr>
            <a:spLocks xmlns:a="http://schemas.openxmlformats.org/drawingml/2006/main" noGrp="1"/>
          </p:cNvSpPr>
          <p:nvPr/>
        </p:nvSpPr>
        <p:spPr>
          <a:xfrm xmlns:a="http://schemas.openxmlformats.org/drawingml/2006/main">
            <a:off x="9048750" y="971550"/>
            <a:ext cx="1181100" cy="118110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0">
            <a:noFill/>
            <a:prstDash val="solid"/>
          </a:ln>
        </p:spPr>
      </p:sp>
      <p:sp>
        <p:nvSpPr>
          <p:cNvPr id="4" name="eyebrow">
            <a:extLst xmlns:a="http://schemas.openxmlformats.org/drawingml/2006/main">
              <a:ext uri="{FF2B5EF4-FFF2-40B4-BE49-F238E27FC236}">
                <a16:creationId xmlns:a16="http://schemas.microsoft.com/office/drawing/2014/main" id="{023A9147-B9C5-4C4B-88C8-9B17FFEFBB2C}"/>
              </a:ext>
            </a:extLst>
          </p:cNvPr>
          <p:cNvSpPr>
            <a:spLocks xmlns:a="http://schemas.openxmlformats.org/drawingml/2006/main" noGrp="1"/>
          </p:cNvSpPr>
          <p:nvPr/>
        </p:nvSpPr>
        <p:spPr>
          <a:xfrm xmlns:a="http://schemas.openxmlformats.org/drawingml/2006/main">
            <a:off x="685800" y="6286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NÄCHSTER SCHRITT · PILOT</a:t>
            </a:r>
          </a:p>
        </p:txBody>
      </p:sp>
      <p:sp>
        <p:nvSpPr>
          <p:cNvPr id="5" name="cta-title">
            <a:extLst xmlns:a="http://schemas.openxmlformats.org/drawingml/2006/main">
              <a:ext uri="{FF2B5EF4-FFF2-40B4-BE49-F238E27FC236}">
                <a16:creationId xmlns:a16="http://schemas.microsoft.com/office/drawing/2014/main" id="{333B9048-2D52-4BD3-93B5-59B5D6D49987}"/>
              </a:ext>
            </a:extLst>
          </p:cNvPr>
          <p:cNvSpPr>
            <a:spLocks xmlns:a="http://schemas.openxmlformats.org/drawingml/2006/main" noGrp="1"/>
          </p:cNvSpPr>
          <p:nvPr/>
        </p:nvSpPr>
        <p:spPr>
          <a:xfrm xmlns:a="http://schemas.openxmlformats.org/drawingml/2006/main">
            <a:off x="685800" y="1952625"/>
            <a:ext cx="7524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92000"/>
              </a:lnSpc>
              <a:buNone/>
              <a:defRPr sz="4500" b="1">
                <a:solidFill>
                  <a:srgbClr val="F7FAFF"/>
                </a:solidFill>
                <a:latin typeface="Avenir Next"/>
                <a:ea typeface="Avenir Next"/>
                <a:cs typeface="Avenir Next"/>
              </a:defRPr>
            </a:pPr>
            <a:r>
              <a:rPr sz="4500" b="1">
                <a:solidFill>
                  <a:srgbClr val="F7FAFF"/>
                </a:solidFill>
                <a:latin typeface="Avenir Next"/>
                <a:ea typeface="Avenir Next"/>
                <a:cs typeface="Avenir Next"/>
              </a:rPr>
              <a:t>Bringen wir Ihre</a:t>
            </a:r>
          </a:p>
          <a:p xmlns:a="http://schemas.openxmlformats.org/drawingml/2006/main">
            <a:pPr>
              <a:lnSpc>
                <a:spcPct val="92000"/>
              </a:lnSpc>
              <a:buNone/>
              <a:defRPr sz="4500" b="1">
                <a:solidFill>
                  <a:srgbClr val="F7FAFF"/>
                </a:solidFill>
                <a:latin typeface="Avenir Next"/>
                <a:ea typeface="Avenir Next"/>
                <a:cs typeface="Avenir Next"/>
              </a:defRPr>
            </a:pPr>
            <a:r>
              <a:rPr sz="4500" b="1">
                <a:solidFill>
                  <a:srgbClr val="F7FAFF"/>
                </a:solidFill>
                <a:latin typeface="Avenir Next"/>
                <a:ea typeface="Avenir Next"/>
                <a:cs typeface="Avenir Next"/>
              </a:rPr>
              <a:t>KI-Plattform unter Kontrolle.</a:t>
            </a:r>
          </a:p>
        </p:txBody>
      </p:sp>
      <p:sp>
        <p:nvSpPr>
          <p:cNvPr id="6" name="cta-subtitle">
            <a:extLst xmlns:a="http://schemas.openxmlformats.org/drawingml/2006/main">
              <a:ext uri="{FF2B5EF4-FFF2-40B4-BE49-F238E27FC236}">
                <a16:creationId xmlns:a16="http://schemas.microsoft.com/office/drawing/2014/main" id="{F146BB9B-C9A7-43D9-9974-0A68DD1FBE20}"/>
              </a:ext>
            </a:extLst>
          </p:cNvPr>
          <p:cNvSpPr>
            <a:spLocks xmlns:a="http://schemas.openxmlformats.org/drawingml/2006/main" noGrp="1"/>
          </p:cNvSpPr>
          <p:nvPr/>
        </p:nvSpPr>
        <p:spPr>
          <a:xfrm xmlns:a="http://schemas.openxmlformats.org/drawingml/2006/main">
            <a:off x="685800" y="409575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nSpc>
                <a:spcPct val="118000"/>
              </a:lnSpc>
              <a:buNone/>
              <a:defRPr sz="1800">
                <a:solidFill>
                  <a:srgbClr val="C5D4E6"/>
                </a:solidFill>
                <a:latin typeface="Avenir Next"/>
                <a:ea typeface="Avenir Next"/>
                <a:cs typeface="Avenir Next"/>
              </a:defRPr>
            </a:pPr>
            <a:r>
              <a:rPr sz="1800">
                <a:solidFill>
                  <a:srgbClr val="C5D4E6"/>
                </a:solidFill>
                <a:latin typeface="Avenir Next"/>
                <a:ea typeface="Avenir Next"/>
                <a:cs typeface="Avenir Next"/>
              </a:rPr>
              <a:t>Pilot auf Ihrer Infrastruktur · Preise und Umfang auf Anfrage</a:t>
            </a:r>
          </a:p>
        </p:txBody>
      </p:sp>
      <p:sp>
        <p:nvSpPr>
          <p:cNvPr id="7" name="cta-contact">
            <a:extLst xmlns:a="http://schemas.openxmlformats.org/drawingml/2006/main">
              <a:ext uri="{FF2B5EF4-FFF2-40B4-BE49-F238E27FC236}">
                <a16:creationId xmlns:a16="http://schemas.microsoft.com/office/drawing/2014/main" id="{197599F1-7374-4579-83BB-322B60B98F47}"/>
              </a:ext>
            </a:extLst>
          </p:cNvPr>
          <p:cNvSpPr>
            <a:spLocks xmlns:a="http://schemas.openxmlformats.org/drawingml/2006/main" noGrp="1"/>
          </p:cNvSpPr>
          <p:nvPr/>
        </p:nvSpPr>
        <p:spPr>
          <a:xfrm xmlns:a="http://schemas.openxmlformats.org/drawingml/2006/main">
            <a:off x="685800" y="510540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22D3EE"/>
                </a:solidFill>
                <a:latin typeface="Avenir Next"/>
                <a:ea typeface="Avenir Next"/>
                <a:cs typeface="Avenir Next"/>
              </a:defRPr>
            </a:pPr>
            <a:r>
              <a:rPr sz="2250" b="1">
                <a:solidFill>
                  <a:srgbClr val="22D3EE"/>
                </a:solidFill>
                <a:latin typeface="Avenir Next"/>
                <a:ea typeface="Avenir Next"/>
                <a:cs typeface="Avenir Next"/>
              </a:rPr>
              <a:t>hello@qualityminds.de</a:t>
            </a:r>
          </a:p>
        </p:txBody>
      </p:sp>
      <p:sp>
        <p:nvSpPr>
          <p:cNvPr id="8" name="cta-company">
            <a:extLst xmlns:a="http://schemas.openxmlformats.org/drawingml/2006/main">
              <a:ext uri="{FF2B5EF4-FFF2-40B4-BE49-F238E27FC236}">
                <a16:creationId xmlns:a16="http://schemas.microsoft.com/office/drawing/2014/main" id="{0A06EDC9-A6FF-4858-A1AF-502344E13ADB}"/>
              </a:ext>
            </a:extLst>
          </p:cNvPr>
          <p:cNvSpPr>
            <a:spLocks xmlns:a="http://schemas.openxmlformats.org/drawingml/2006/main" noGrp="1"/>
          </p:cNvSpPr>
          <p:nvPr/>
        </p:nvSpPr>
        <p:spPr>
          <a:xfrm xmlns:a="http://schemas.openxmlformats.org/drawingml/2006/main">
            <a:off x="685800" y="5905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buNone/>
              <a:defRPr sz="1200" b="1">
                <a:solidFill>
                  <a:srgbClr val="8CA3BE"/>
                </a:solidFill>
                <a:latin typeface="Avenir Next"/>
                <a:ea typeface="Avenir Next"/>
                <a:cs typeface="Avenir Next"/>
              </a:defRPr>
            </a:pPr>
            <a:r>
              <a:rPr sz="1200" b="1">
                <a:solidFill>
                  <a:srgbClr val="8CA3BE"/>
                </a:solidFill>
                <a:latin typeface="Avenir Next"/>
                <a:ea typeface="Avenir Next"/>
                <a:cs typeface="Avenir Next"/>
              </a:rPr>
              <a:t>QUALITYMINDS</a:t>
            </a:r>
          </a:p>
        </p:txBody>
      </p:sp>
    </p:spTree>
    <p:extLst>
      <p:ext uri="{BB962C8B-B14F-4D97-AF65-F5344CB8AC3E}">
        <p14:creationId xmlns:p14="http://schemas.microsoft.com/office/powerpoint/2010/main" val="750375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2026-09-23T13:37:31.8360000Z</dcterms:created>
  <dcterms:modified xsi:type="dcterms:W3CDTF">2026-09-23T13:37:31.8360000Z</dcterms:modified>
</coreProperties>
</file>