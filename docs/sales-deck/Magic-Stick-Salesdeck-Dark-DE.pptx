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c1e204b3a0d4b2c" /><Relationship Type="http://schemas.openxmlformats.org/officeDocument/2006/relationships/extended-properties" Target="/docProps/app.xml" Id="Rd4ef96b1486b45f3" /><Relationship Type="http://schemas.openxmlformats.org/officeDocument/2006/relationships/officeDocument" Target="/ppt/presentation.xml" Id="Rbe551eb6bc594a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33e8773d444514"/>
  </p:sldMasterIdLst>
  <p:notesMasterIdLst>
    <p:notesMasterId xmlns:r="http://schemas.openxmlformats.org/officeDocument/2006/relationships" r:id="R482e48389c8a4814"/>
  </p:notesMasterIdLst>
  <p:sldIdLst>
    <p:sldId xmlns:r="http://schemas.openxmlformats.org/officeDocument/2006/relationships" id="256" r:id="R06d27db64d6841ca"/>
    <p:sldId xmlns:r="http://schemas.openxmlformats.org/officeDocument/2006/relationships" id="257" r:id="R8c2e5cdd61be45f3"/>
    <p:sldId xmlns:r="http://schemas.openxmlformats.org/officeDocument/2006/relationships" id="258" r:id="R4bb6600db8c64985"/>
    <p:sldId xmlns:r="http://schemas.openxmlformats.org/officeDocument/2006/relationships" id="259" r:id="Ra3705cde756343e4"/>
    <p:sldId xmlns:r="http://schemas.openxmlformats.org/officeDocument/2006/relationships" id="260" r:id="R4cf2856ca2dc44b2"/>
    <p:sldId xmlns:r="http://schemas.openxmlformats.org/officeDocument/2006/relationships" id="261" r:id="Red5f8de3aa294c76"/>
    <p:sldId xmlns:r="http://schemas.openxmlformats.org/officeDocument/2006/relationships" id="262" r:id="R31e397228473475f"/>
    <p:sldId xmlns:r="http://schemas.openxmlformats.org/officeDocument/2006/relationships" id="263" r:id="R8f454fe7efea436c"/>
    <p:sldId xmlns:r="http://schemas.openxmlformats.org/officeDocument/2006/relationships" id="264" r:id="R073845e46b7247d3"/>
    <p:sldId xmlns:r="http://schemas.openxmlformats.org/officeDocument/2006/relationships" id="265" r:id="R7a82c7d51046479b"/>
    <p:sldId xmlns:r="http://schemas.openxmlformats.org/officeDocument/2006/relationships" id="266" r:id="Rbe4395525a1e460e"/>
    <p:sldId xmlns:r="http://schemas.openxmlformats.org/officeDocument/2006/relationships" id="267" r:id="R2e5f5cecc3784d23"/>
    <p:sldId xmlns:r="http://schemas.openxmlformats.org/officeDocument/2006/relationships" id="268" r:id="R8a08c1acf6e3491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eefa50cf00048da" /><Relationship Type="http://schemas.openxmlformats.org/officeDocument/2006/relationships/slideMaster" Target="/ppt/slideMasters/slideMaster1.xml" Id="R1033e8773d444514" /><Relationship Type="http://schemas.openxmlformats.org/officeDocument/2006/relationships/notesMaster" Target="/ppt/notesMasters/notesMaster1.xml" Id="R482e48389c8a4814" /><Relationship Type="http://schemas.openxmlformats.org/officeDocument/2006/relationships/presProps" Target="/ppt/presProps.xml" Id="R4beff23152ee4b68" /><Relationship Type="http://schemas.openxmlformats.org/officeDocument/2006/relationships/tableStyles" Target="/ppt/tableStyles.xml" Id="R6a3686d217e646c8" /><Relationship Type="http://schemas.openxmlformats.org/officeDocument/2006/relationships/slide" Target="/ppt/slides/slide1.xml" Id="R06d27db64d6841ca" /><Relationship Type="http://schemas.openxmlformats.org/officeDocument/2006/relationships/slide" Target="/ppt/slides/slide2.xml" Id="R8c2e5cdd61be45f3" /><Relationship Type="http://schemas.openxmlformats.org/officeDocument/2006/relationships/slide" Target="/ppt/slides/slide3.xml" Id="R4bb6600db8c64985" /><Relationship Type="http://schemas.openxmlformats.org/officeDocument/2006/relationships/slide" Target="/ppt/slides/slide4.xml" Id="Ra3705cde756343e4" /><Relationship Type="http://schemas.openxmlformats.org/officeDocument/2006/relationships/slide" Target="/ppt/slides/slide5.xml" Id="R4cf2856ca2dc44b2" /><Relationship Type="http://schemas.openxmlformats.org/officeDocument/2006/relationships/slide" Target="/ppt/slides/slide6.xml" Id="Red5f8de3aa294c76" /><Relationship Type="http://schemas.openxmlformats.org/officeDocument/2006/relationships/slide" Target="/ppt/slides/slide7.xml" Id="R31e397228473475f" /><Relationship Type="http://schemas.openxmlformats.org/officeDocument/2006/relationships/slide" Target="/ppt/slides/slide8.xml" Id="R8f454fe7efea436c" /><Relationship Type="http://schemas.openxmlformats.org/officeDocument/2006/relationships/slide" Target="/ppt/slides/slide9.xml" Id="R073845e46b7247d3" /><Relationship Type="http://schemas.openxmlformats.org/officeDocument/2006/relationships/slide" Target="/ppt/slides/slide10.xml" Id="R7a82c7d51046479b" /><Relationship Type="http://schemas.openxmlformats.org/officeDocument/2006/relationships/slide" Target="/ppt/slides/slide11.xml" Id="Rbe4395525a1e460e" /><Relationship Type="http://schemas.openxmlformats.org/officeDocument/2006/relationships/slide" Target="/ppt/slides/slide12.xml" Id="R2e5f5cecc3784d23" /><Relationship Type="http://schemas.openxmlformats.org/officeDocument/2006/relationships/slide" Target="/ppt/slides/slide13.xml" Id="R8a08c1acf6e349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481bd62d6b140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b2f5c189974f11" /><Relationship Type="http://schemas.openxmlformats.org/officeDocument/2006/relationships/notesMaster" Target="/ppt/notesMasters/notesMaster1.xml" Id="R4a002f899ff1495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a82fead5c0489b" /><Relationship Type="http://schemas.openxmlformats.org/officeDocument/2006/relationships/notesMaster" Target="/ppt/notesMasters/notesMaster1.xml" Id="R96577cf60c2840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89ec0a99b841ae" /><Relationship Type="http://schemas.openxmlformats.org/officeDocument/2006/relationships/notesMaster" Target="/ppt/notesMasters/notesMaster1.xml" Id="Rf3ef4b08ec7f40d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99f55f811449b4" /><Relationship Type="http://schemas.openxmlformats.org/officeDocument/2006/relationships/notesMaster" Target="/ppt/notesMasters/notesMaster1.xml" Id="R25994851869a48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7004cf39194903" /><Relationship Type="http://schemas.openxmlformats.org/officeDocument/2006/relationships/notesMaster" Target="/ppt/notesMasters/notesMaster1.xml" Id="R30b6d9f476ca44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e02956630746b7" /><Relationship Type="http://schemas.openxmlformats.org/officeDocument/2006/relationships/notesMaster" Target="/ppt/notesMasters/notesMaster1.xml" Id="Rf7ee1df9ff6a4c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ef018f87634421b" /><Relationship Type="http://schemas.openxmlformats.org/officeDocument/2006/relationships/notesMaster" Target="/ppt/notesMasters/notesMaster1.xml" Id="R321688dab815426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23a96c2cd2f4248" /><Relationship Type="http://schemas.openxmlformats.org/officeDocument/2006/relationships/notesMaster" Target="/ppt/notesMasters/notesMaster1.xml" Id="Raf156f9878524e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acc9f262f454f51" /><Relationship Type="http://schemas.openxmlformats.org/officeDocument/2006/relationships/notesMaster" Target="/ppt/notesMasters/notesMaster1.xml" Id="Raa1bdbb30d3149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2dffd28f3141d6" /><Relationship Type="http://schemas.openxmlformats.org/officeDocument/2006/relationships/notesMaster" Target="/ppt/notesMasters/notesMaster1.xml" Id="R1d6a99f581f848c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eb197df81d6476e" /><Relationship Type="http://schemas.openxmlformats.org/officeDocument/2006/relationships/notesMaster" Target="/ppt/notesMasters/notesMaster1.xml" Id="R5854f27dac1548e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4b17ee007174376" /><Relationship Type="http://schemas.openxmlformats.org/officeDocument/2006/relationships/notesMaster" Target="/ppt/notesMasters/notesMaster1.xml" Id="R99d868435d64429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6cee679eb2d4562" /><Relationship Type="http://schemas.openxmlformats.org/officeDocument/2006/relationships/notesMaster" Target="/ppt/notesMasters/notesMaster1.xml" Id="Rd4a01fdecd7645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https://github.com/QualityMinds/AIppliance-Magic-Stick</a:t>
            </a:r>
          </a:p>
          <a:p xmlns:a="http://schemas.openxmlformats.org/drawingml/2006/main">
            <a:r>
              <a:t>- Repository snapshot: README.md and docs/architecture.md at commit 2871009ae1aff5a360d0267568b512db5cd4cf1a</a:t>
            </a:r>
          </a:p>
          <a:p xmlns:a="http://schemas.openxmlformats.org/drawingml/2006/main">
            <a:r>
              <a:t>- Generated visual: assets/hero-appliance.png, created for this deck with built-in image generation.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snapshot: docs/architecture.md and docs/getting-started.md at commit 2871009ae1aff5a360d0267568b512db5cd4cf1a</a:t>
            </a:r>
          </a:p>
          <a:p xmlns:a="http://schemas.openxmlformats.org/drawingml/2006/main">
            <a:r>
              <a:t>- Authentic installation capture extracted from Magicstick-First-Run-Pitchdeck.pptx.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snapshot: docs/dashboard.md at commit 2871009ae1aff5a360d0267568b512db5cd4cf1a</a:t>
            </a:r>
          </a:p>
          <a:p xmlns:a="http://schemas.openxmlformats.org/drawingml/2006/main">
            <a:r>
              <a:t>- Live product capture from https://magicstick.local on 2026-08-19; browser chrome and account identity were removed from the crop.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snapshot: docs/installation/bare-metal.md, cloud-init-vm.md, existing-vm.md, and existing-kubernetes.md at commit 2871009ae1aff5a360d0267568b512db5cd4cf1a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snapshot: README.md, docs/getting-started.md, and docs/model-catalog.md at commit 2871009ae1aff5a360d0267568b512db5cd4cf1a</a:t>
            </a:r>
          </a:p>
          <a:p xmlns:a="http://schemas.openxmlformats.org/drawingml/2006/main">
            <a:r>
              <a:t>- Generated visual: assets/hybrid-models.png, created for this deck with built-in image generation.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snapshot: docs/architecture.md at commit 2871009ae1aff5a360d0267568b512db5cd4cf1a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snapshot: magic-cluster/platform/magicstick-operator/module-catalog.yaml and app-catalog.yaml at commit 2871009ae1aff5a360d0267568b512db5cd4cf1a</a:t>
            </a:r>
          </a:p>
          <a:p xmlns:a="http://schemas.openxmlformats.org/drawingml/2006/main">
            <a:r>
              <a:t>- Repository snapshot: docs/dashboard.md and docs/modules.md at commit 2871009ae1aff5a360d0267568b512db5cd4cf1a</a:t>
            </a:r>
          </a:p>
          <a:p xmlns:a="http://schemas.openxmlformats.org/drawingml/2006/main">
            <a:r>
              <a:t>- Generated visual: assets/app-workspaces.png, created for this deck with built-in image generation.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snapshot: docs/authentication.md and docs/installation/after-installation-dashboard.md at commit 2871009ae1aff5a360d0267568b512db5cd4cf1a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snapshot: LICENSE and current Community capabilities in docs/dashboard.md at commit 2871009ae1aff5a360d0267568b512db5cd4cf1a</a:t>
            </a:r>
          </a:p>
          <a:p xmlns:a="http://schemas.openxmlformats.org/drawingml/2006/main">
            <a:r>
              <a:t>- Enterprise packaging and per-resource RBAC: user-approved product strategy from 2026-08-18; presented as on-request capability, not as currently shipped Community functionality.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Enterprise RBAC: user-approved product concept from 2026-08-18; implementation must enforce authorization at gateway and backend, not only in the UI.</a:t>
            </a:r>
          </a:p>
          <a:p xmlns:a="http://schemas.openxmlformats.org/drawingml/2006/main">
            <a:r>
              <a:t>- Current baseline roles and route-level minimum-role behavior: docs/authentication.md and docs/dashboard.md at commit 2871009ae1aff5a360d0267568b512db5cd4cf1a.</a:t>
            </a:r>
          </a:p>
          <a:p xmlns:a="http://schemas.openxmlformats.org/drawingml/2006/main">
            <a:r>
              <a:t>- Generated visual: assets/enterprise-governance.png, created for this deck with built-in image generation.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 capture of the Create Instance dialog from https://magicstick.local on 2026-08-20; browser chrome and account identity were removed from the crop.</a:t>
            </a:r>
          </a:p>
          <a:p xmlns:a="http://schemas.openxmlformats.org/drawingml/2006/main">
            <a:r>
              <a:t>- Create Model and Create User captures use the current dashboard UI from repository snapshot 2871009ae1aff5a360d0267568b512db5cd4cf1a with non-sensitive mock API data on 2026-08-20.</a:t>
            </a:r>
          </a:p>
          <a:p xmlns:a="http://schemas.openxmlformats.org/drawingml/2006/main">
            <a:r>
              <a:t>- Dashboard creation workflows: docs/dashboard.md and magic-cluster/apps/dashboard/configmap.yaml at commit 2871009ae1aff5a360d0267568b512db5cd4cf1a.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Pilot proposal based on docs/installation/README.md and docs/installation/after-installation-dashboard.md at commit 2871009ae1aff5a360d0267568b512db5cd4cf1a.</a:t>
            </a:r>
          </a:p>
          <a:p xmlns:a="http://schemas.openxmlformats.org/drawingml/2006/main">
            <a:r>
              <a:t>- Live product capture from https://magicstick.local on 2026-08-19; browser chrome and account identity were removed from the crop.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QualityMinds contact: SECURITY.md and docs/legal-notice.html at commit 2871009ae1aff5a360d0267568b512db5cd4cf1a.</a:t>
            </a:r>
          </a:p>
          <a:p xmlns:a="http://schemas.openxmlformats.org/drawingml/2006/main">
            <a:r>
              <a:t>- Public repository: https://github.com/QualityMinds/AIppliance-Magic-Stick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f4396877c540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7a9521d42e46c6" /><Relationship Type="http://schemas.openxmlformats.org/officeDocument/2006/relationships/slideLayout" Target="/ppt/slideLayouts/slideLayout1.xml" Id="Rf4d49d34f22d4ff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d49d34f22d4ff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9c29af199421a" /><Relationship Type="http://schemas.openxmlformats.org/officeDocument/2006/relationships/image" Target="/ppt/media/image.png" Id="R8710f9dbab8f4597" /><Relationship Type="http://schemas.openxmlformats.org/officeDocument/2006/relationships/notesSlide" Target="/ppt/notesSlides/notesSlide1.xml" Id="R84da262d843c4d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e5065c28143ea" /><Relationship Type="http://schemas.openxmlformats.org/officeDocument/2006/relationships/image" Target="/ppt/media/image.jpeg" Id="R01ab98510b134d42" /><Relationship Type="http://schemas.openxmlformats.org/officeDocument/2006/relationships/notesSlide" Target="/ppt/notesSlides/notesSlide2.xml" Id="R31aa319e8fef4b3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f2d5d1355489c" /><Relationship Type="http://schemas.openxmlformats.org/officeDocument/2006/relationships/image" Target="/ppt/media/image2.png" Id="R95aed529895b4bc6" /><Relationship Type="http://schemas.openxmlformats.org/officeDocument/2006/relationships/notesSlide" Target="/ppt/notesSlides/notesSlide3.xml" Id="R62f25f6c2ab74c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cc8b84225b4172" /><Relationship Type="http://schemas.openxmlformats.org/officeDocument/2006/relationships/notesSlide" Target="/ppt/notesSlides/notesSlide4.xml" Id="R2b73d7cb0c8c49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d9db53c78e4732" /><Relationship Type="http://schemas.openxmlformats.org/officeDocument/2006/relationships/image" Target="/ppt/media/image3.png" Id="R730c5f663df248c7" /><Relationship Type="http://schemas.openxmlformats.org/officeDocument/2006/relationships/notesSlide" Target="/ppt/notesSlides/notesSlide5.xml" Id="Rd9f34384b25b4d0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30b9a9ae1a46ac" /><Relationship Type="http://schemas.openxmlformats.org/officeDocument/2006/relationships/notesSlide" Target="/ppt/notesSlides/notesSlide6.xml" Id="R87123abd2ee045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f5968bfa94294" /><Relationship Type="http://schemas.openxmlformats.org/officeDocument/2006/relationships/image" Target="/ppt/media/image4.png" Id="R1a4868153ae84c27" /><Relationship Type="http://schemas.openxmlformats.org/officeDocument/2006/relationships/notesSlide" Target="/ppt/notesSlides/notesSlide7.xml" Id="R5872a0ebe5ed4d8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cdfe59783349e7" /><Relationship Type="http://schemas.openxmlformats.org/officeDocument/2006/relationships/notesSlide" Target="/ppt/notesSlides/notesSlide8.xml" Id="Rcb99434ac47a48b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6ff620a2d84eed" /><Relationship Type="http://schemas.openxmlformats.org/officeDocument/2006/relationships/notesSlide" Target="/ppt/notesSlides/notesSlide9.xml" Id="R3a2a43dec4124d8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37998bd32b4bf7" /><Relationship Type="http://schemas.openxmlformats.org/officeDocument/2006/relationships/image" Target="/ppt/media/image5.png" Id="R5207f39180ca448e" /><Relationship Type="http://schemas.openxmlformats.org/officeDocument/2006/relationships/notesSlide" Target="/ppt/notesSlides/notesSlide10.xml" Id="R223ec23f54ca4bc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c602b47e954609" /><Relationship Type="http://schemas.openxmlformats.org/officeDocument/2006/relationships/image" Target="/ppt/media/image6.png" Id="Rb7e47337738344a5" /><Relationship Type="http://schemas.openxmlformats.org/officeDocument/2006/relationships/image" Target="/ppt/media/image7.png" Id="Rc977a4a1b3504007" /><Relationship Type="http://schemas.openxmlformats.org/officeDocument/2006/relationships/image" Target="/ppt/media/image8.png" Id="R96e76f9fffa9454e" /><Relationship Type="http://schemas.openxmlformats.org/officeDocument/2006/relationships/notesSlide" Target="/ppt/notesSlides/notesSlide11.xml" Id="R87be106e9eab4b7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0415f064384612" /><Relationship Type="http://schemas.openxmlformats.org/officeDocument/2006/relationships/image" Target="/ppt/media/image9.png" Id="R737ff2bee8d04575" /><Relationship Type="http://schemas.openxmlformats.org/officeDocument/2006/relationships/notesSlide" Target="/ppt/notesSlides/notesSlide12.xml" Id="Raa0ee088c1a3475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ea9b111935454c" /><Relationship Type="http://schemas.openxmlformats.org/officeDocument/2006/relationships/notesSlide" Target="/ppt/notesSlides/notesSlide13.xml" Id="R94eb200cbf7e430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0f9dbab8f459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ero-copy-panel">
            <a:extLst xmlns:a="http://schemas.openxmlformats.org/drawingml/2006/main">
              <a:ext uri="{FF2B5EF4-FFF2-40B4-BE49-F238E27FC236}">
                <a16:creationId xmlns:a16="http://schemas.microsoft.com/office/drawing/2014/main" id="{E1210A75-AD7B-45FE-9715-8B680302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570800CC-E0E0-4D5B-AF00-B0320607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OPEN SOURCE AI APPLIANCE</a:t>
            </a:r>
          </a:p>
        </p:txBody>
      </p:sp>
      <p:sp>
        <p:nvSpPr>
          <p:cNvPr id="4" name="hero-title">
            <a:extLst xmlns:a="http://schemas.openxmlformats.org/drawingml/2006/main">
              <a:ext uri="{FF2B5EF4-FFF2-40B4-BE49-F238E27FC236}">
                <a16:creationId xmlns:a16="http://schemas.microsoft.com/office/drawing/2014/main" id="{47911193-4E62-4CC0-8575-3ADD29FD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143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buNone/>
              <a:defRPr sz="4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Ihre KI-Plattform.</a:t>
            </a:r>
          </a:p>
          <a:p xmlns:a="http://schemas.openxmlformats.org/drawingml/2006/main">
            <a:pPr>
              <a:lnSpc>
                <a:spcPct val="90000"/>
              </a:lnSpc>
              <a:buNone/>
              <a:defRPr sz="4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Unter Ihrer Kontrolle.</a:t>
            </a:r>
          </a:p>
        </p:txBody>
      </p:sp>
      <p:sp>
        <p:nvSpPr>
          <p:cNvPr id="5" name="hero-subtitle">
            <a:extLst xmlns:a="http://schemas.openxmlformats.org/drawingml/2006/main">
              <a:ext uri="{FF2B5EF4-FFF2-40B4-BE49-F238E27FC236}">
                <a16:creationId xmlns:a16="http://schemas.microsoft.com/office/drawing/2014/main" id="{8C61C155-0B0D-4588-9F3B-E2FFA892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Auf eigener Hardware, in der Cloud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oder im vorhandenen Kubernetes-Cluster.</a:t>
            </a:r>
          </a:p>
        </p:txBody>
      </p:sp>
      <p:sp>
        <p:nvSpPr>
          <p:cNvPr id="6" name="tag-LOCAL-FIRST">
            <a:extLst xmlns:a="http://schemas.openxmlformats.org/drawingml/2006/main">
              <a:ext uri="{FF2B5EF4-FFF2-40B4-BE49-F238E27FC236}">
                <a16:creationId xmlns:a16="http://schemas.microsoft.com/office/drawing/2014/main" id="{7BB95C7E-FFE6-47C7-9252-00D43096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4287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LOCAL-FIRST</a:t>
            </a:r>
          </a:p>
        </p:txBody>
      </p:sp>
      <p:sp>
        <p:nvSpPr>
          <p:cNvPr id="7" name="tag-HYBRID">
            <a:extLst xmlns:a="http://schemas.openxmlformats.org/drawingml/2006/main">
              <a:ext uri="{FF2B5EF4-FFF2-40B4-BE49-F238E27FC236}">
                <a16:creationId xmlns:a16="http://schemas.microsoft.com/office/drawing/2014/main" id="{F3B5F95E-8EB1-4419-8E87-CAB30263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124450"/>
            <a:ext cx="10096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8BDF8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8BDF8"/>
                </a:solidFill>
                <a:latin typeface="Avenir Next"/>
                <a:ea typeface="Avenir Next"/>
                <a:cs typeface="Avenir Next"/>
              </a:rPr>
              <a:t>HYBRID</a:t>
            </a:r>
          </a:p>
        </p:txBody>
      </p:sp>
      <p:sp>
        <p:nvSpPr>
          <p:cNvPr id="8" name="tag-OPEN">
            <a:extLst xmlns:a="http://schemas.openxmlformats.org/drawingml/2006/main">
              <a:ext uri="{FF2B5EF4-FFF2-40B4-BE49-F238E27FC236}">
                <a16:creationId xmlns:a16="http://schemas.microsoft.com/office/drawing/2014/main" id="{F3D58804-459E-424E-B807-568CF5A6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24450"/>
            <a:ext cx="8953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OPEN</a:t>
            </a:r>
          </a:p>
        </p:txBody>
      </p:sp>
      <p:sp>
        <p:nvSpPr>
          <p:cNvPr id="9" name="qualityminds">
            <a:extLst xmlns:a="http://schemas.openxmlformats.org/drawingml/2006/main">
              <a:ext uri="{FF2B5EF4-FFF2-40B4-BE49-F238E27FC236}">
                <a16:creationId xmlns:a16="http://schemas.microsoft.com/office/drawing/2014/main" id="{4BE3276B-E3A0-4775-B5AA-86F4C368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1435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B8C9DD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B8C9DD"/>
                </a:solidFill>
                <a:latin typeface="Avenir Next"/>
                <a:ea typeface="Avenir Next"/>
                <a:cs typeface="Avenir Next"/>
              </a:rPr>
              <a:t>QUALITYMINDS</a:t>
            </a:r>
          </a:p>
        </p:txBody>
      </p:sp>
    </p:spTree>
    <p:extLst>
      <p:ext uri="{BB962C8B-B14F-4D97-AF65-F5344CB8AC3E}">
        <p14:creationId xmlns:p14="http://schemas.microsoft.com/office/powerpoint/2010/main" val="6455617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D657BBDD-3C65-4CA3-A644-63FC75C9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1CEF70D-CF6F-4F5C-A9F1-7DAF3FBF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966C18B7-7BD1-4DC1-9EDB-6C4BF422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DIE REALITÄT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CAAD781-3995-4060-BDAD-CD4EDD2D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581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Die Herausforderung ist nicht das Modell</a:t>
            </a:r>
          </a:p>
        </p:txBody>
      </p:sp>
      <p:sp>
        <p:nvSpPr>
          <p:cNvPr id="5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473DB350-A00F-4518-9AB3-95FAFD20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514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Produktive KI entsteht erst, wenn sechs technische Grenzen zusammenspielen.</a:t>
            </a:r>
          </a:p>
        </p:txBody>
      </p:sp>
      <p:sp>
        <p:nvSpPr>
          <p:cNvPr id="6" name="problem-dot-0">
            <a:extLst xmlns:a="http://schemas.openxmlformats.org/drawingml/2006/main">
              <a:ext uri="{FF2B5EF4-FFF2-40B4-BE49-F238E27FC236}">
                <a16:creationId xmlns:a16="http://schemas.microsoft.com/office/drawing/2014/main" id="{629B8594-3D7C-4F3E-9B84-B27D8500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blem-item-0">
            <a:extLst xmlns:a="http://schemas.openxmlformats.org/drawingml/2006/main">
              <a:ext uri="{FF2B5EF4-FFF2-40B4-BE49-F238E27FC236}">
                <a16:creationId xmlns:a16="http://schemas.microsoft.com/office/drawing/2014/main" id="{FBD4866A-921F-4F60-B1F4-4C439D4F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432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Installation</a:t>
            </a:r>
          </a:p>
        </p:txBody>
      </p:sp>
      <p:sp>
        <p:nvSpPr>
          <p:cNvPr id="8" name="problem-dot-1">
            <a:extLst xmlns:a="http://schemas.openxmlformats.org/drawingml/2006/main">
              <a:ext uri="{FF2B5EF4-FFF2-40B4-BE49-F238E27FC236}">
                <a16:creationId xmlns:a16="http://schemas.microsoft.com/office/drawing/2014/main" id="{31B17CBA-8C23-40F3-9F56-EFB3B26F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670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roblem-item-1">
            <a:extLst xmlns:a="http://schemas.openxmlformats.org/drawingml/2006/main">
              <a:ext uri="{FF2B5EF4-FFF2-40B4-BE49-F238E27FC236}">
                <a16:creationId xmlns:a16="http://schemas.microsoft.com/office/drawing/2014/main" id="{B7B7D41C-837A-400C-8384-121B3BAB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432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GitOps</a:t>
            </a:r>
          </a:p>
        </p:txBody>
      </p:sp>
      <p:sp>
        <p:nvSpPr>
          <p:cNvPr id="10" name="problem-dot-2">
            <a:extLst xmlns:a="http://schemas.openxmlformats.org/drawingml/2006/main">
              <a:ext uri="{FF2B5EF4-FFF2-40B4-BE49-F238E27FC236}">
                <a16:creationId xmlns:a16="http://schemas.microsoft.com/office/drawing/2014/main" id="{46CB54DE-D163-412F-9414-52171F73D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roblem-item-2">
            <a:extLst xmlns:a="http://schemas.openxmlformats.org/drawingml/2006/main">
              <a:ext uri="{FF2B5EF4-FFF2-40B4-BE49-F238E27FC236}">
                <a16:creationId xmlns:a16="http://schemas.microsoft.com/office/drawing/2014/main" id="{DE8D0DD3-E4A5-4C17-ADC0-31B91D7F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909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Netzwerk</a:t>
            </a:r>
          </a:p>
        </p:txBody>
      </p:sp>
      <p:sp>
        <p:nvSpPr>
          <p:cNvPr id="12" name="problem-dot-3">
            <a:extLst xmlns:a="http://schemas.openxmlformats.org/drawingml/2006/main">
              <a:ext uri="{FF2B5EF4-FFF2-40B4-BE49-F238E27FC236}">
                <a16:creationId xmlns:a16="http://schemas.microsoft.com/office/drawing/2014/main" id="{68977283-D06E-4A82-89CD-03091EFAF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7147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roblem-item-3">
            <a:extLst xmlns:a="http://schemas.openxmlformats.org/drawingml/2006/main">
              <a:ext uri="{FF2B5EF4-FFF2-40B4-BE49-F238E27FC236}">
                <a16:creationId xmlns:a16="http://schemas.microsoft.com/office/drawing/2014/main" id="{C8A012D1-AB11-4E29-908C-69088005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909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Identität</a:t>
            </a:r>
          </a:p>
        </p:txBody>
      </p:sp>
      <p:sp>
        <p:nvSpPr>
          <p:cNvPr id="14" name="problem-dot-4">
            <a:extLst xmlns:a="http://schemas.openxmlformats.org/drawingml/2006/main">
              <a:ext uri="{FF2B5EF4-FFF2-40B4-BE49-F238E27FC236}">
                <a16:creationId xmlns:a16="http://schemas.microsoft.com/office/drawing/2014/main" id="{B352F90F-F667-4F06-A031-55B3E0FA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roblem-item-4">
            <a:extLst xmlns:a="http://schemas.openxmlformats.org/drawingml/2006/main">
              <a:ext uri="{FF2B5EF4-FFF2-40B4-BE49-F238E27FC236}">
                <a16:creationId xmlns:a16="http://schemas.microsoft.com/office/drawing/2014/main" id="{B0AA1220-A43D-4056-A758-5E1DFA43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386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Modelle</a:t>
            </a:r>
          </a:p>
        </p:txBody>
      </p:sp>
      <p:sp>
        <p:nvSpPr>
          <p:cNvPr id="16" name="problem-dot-5">
            <a:extLst xmlns:a="http://schemas.openxmlformats.org/drawingml/2006/main">
              <a:ext uri="{FF2B5EF4-FFF2-40B4-BE49-F238E27FC236}">
                <a16:creationId xmlns:a16="http://schemas.microsoft.com/office/drawing/2014/main" id="{35910B41-B4FA-46B6-9B8E-8F0D26A3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624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roblem-item-5">
            <a:extLst xmlns:a="http://schemas.openxmlformats.org/drawingml/2006/main">
              <a:ext uri="{FF2B5EF4-FFF2-40B4-BE49-F238E27FC236}">
                <a16:creationId xmlns:a16="http://schemas.microsoft.com/office/drawing/2014/main" id="{61FABD15-B568-46E8-85C6-07F8DBE5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386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Anwendungen</a:t>
            </a:r>
          </a:p>
        </p:txBody>
      </p:sp>
      <p:sp>
        <p:nvSpPr>
          <p:cNvPr id="18" name="terminal-frame">
            <a:extLst xmlns:a="http://schemas.openxmlformats.org/drawingml/2006/main">
              <a:ext uri="{FF2B5EF4-FFF2-40B4-BE49-F238E27FC236}">
                <a16:creationId xmlns:a16="http://schemas.microsoft.com/office/drawing/2014/main" id="{1ECB56CF-F27A-4E9C-B3D4-22485647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143000"/>
            <a:ext cx="5124450" cy="4476750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ab98510b134d42"/>
          <a:srcRect xmlns:a="http://schemas.openxmlformats.org/drawingml/2006/main" l="12070" t="0" r="1207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53200" y="1314450"/>
            <a:ext cx="4781550" cy="4133850"/>
          </a:xfrm>
          <a:prstGeom xmlns:a="http://schemas.openxmlformats.org/drawingml/2006/main" prst="roundRect">
            <a:avLst>
              <a:gd name="adj" fmla="val 4608"/>
            </a:avLst>
          </a:prstGeom>
        </p:spPr>
      </p:pic>
      <p:sp>
        <p:nvSpPr>
          <p:cNvPr id="20" name="tag-EIN PRODUKT STATT SECHS BAUSTELLEN">
            <a:extLst xmlns:a="http://schemas.openxmlformats.org/drawingml/2006/main">
              <a:ext uri="{FF2B5EF4-FFF2-40B4-BE49-F238E27FC236}">
                <a16:creationId xmlns:a16="http://schemas.microsoft.com/office/drawing/2014/main" id="{E1F3C630-A82E-4B28-883E-E53E6109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086350"/>
            <a:ext cx="43243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EIN PRODUKT STATT SECHS BAUSTELLEN</a:t>
            </a:r>
          </a:p>
        </p:txBody>
      </p:sp>
    </p:spTree>
    <p:extLst>
      <p:ext uri="{BB962C8B-B14F-4D97-AF65-F5344CB8AC3E}">
        <p14:creationId xmlns:p14="http://schemas.microsoft.com/office/powerpoint/2010/main" val="556131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BEDD8DD2-66B0-4EE8-88A1-10015763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066EE3-4723-49C1-9860-FC08DE34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BF8A3B08-CC98-416B-9614-0DB08CAE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CONTROL PLANE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5950E5F-C5DE-4D04-81FE-797011CB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Eine Oberfläche steuert die Appliance</a:t>
            </a:r>
          </a:p>
        </p:txBody>
      </p:sp>
      <p:sp>
        <p:nvSpPr>
          <p:cNvPr id="5" name="dashboard-copy">
            <a:extLst xmlns:a="http://schemas.openxmlformats.org/drawingml/2006/main">
              <a:ext uri="{FF2B5EF4-FFF2-40B4-BE49-F238E27FC236}">
                <a16:creationId xmlns:a16="http://schemas.microsoft.com/office/drawing/2014/main" id="{D3917849-9DB3-4DD9-B911-284DE7F3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Module aktivieren. Modelle verbinden.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Instanzen bereitstellen. Benutzer verwalten.</a:t>
            </a:r>
          </a:p>
        </p:txBody>
      </p:sp>
      <p:sp>
        <p:nvSpPr>
          <p:cNvPr id="6" name="dashboard-divider">
            <a:extLst xmlns:a="http://schemas.openxmlformats.org/drawingml/2006/main">
              <a:ext uri="{FF2B5EF4-FFF2-40B4-BE49-F238E27FC236}">
                <a16:creationId xmlns:a16="http://schemas.microsoft.com/office/drawing/2014/main" id="{2E53289E-E005-4B6E-A19E-11E34690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15F"/>
            </a:solidFill>
            <a:prstDash val="solid"/>
          </a:ln>
        </p:spPr>
      </p:sp>
      <p:sp>
        <p:nvSpPr>
          <p:cNvPr id="7" name="dashboard-proof">
            <a:extLst xmlns:a="http://schemas.openxmlformats.org/drawingml/2006/main">
              <a:ext uri="{FF2B5EF4-FFF2-40B4-BE49-F238E27FC236}">
                <a16:creationId xmlns:a16="http://schemas.microsoft.com/office/drawing/2014/main" id="{4E355DC2-8B18-4DD5-BC53-A501A8E2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381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Kubernetes bleibt das Fundament.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Der Nutzer arbeitet im Dashboard.</a:t>
            </a:r>
          </a:p>
        </p:txBody>
      </p:sp>
      <p:sp>
        <p:nvSpPr>
          <p:cNvPr id="8" name="tag-CONNECTED">
            <a:extLst xmlns:a="http://schemas.openxmlformats.org/drawingml/2006/main">
              <a:ext uri="{FF2B5EF4-FFF2-40B4-BE49-F238E27FC236}">
                <a16:creationId xmlns:a16="http://schemas.microsoft.com/office/drawing/2014/main" id="{5774BC3C-4029-4BB9-98B1-76874ADE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12573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CONNECTED</a:t>
            </a:r>
          </a:p>
        </p:txBody>
      </p:sp>
      <p:sp>
        <p:nvSpPr>
          <p:cNvPr id="9" name="dashboard-frame">
            <a:extLst xmlns:a="http://schemas.openxmlformats.org/drawingml/2006/main">
              <a:ext uri="{FF2B5EF4-FFF2-40B4-BE49-F238E27FC236}">
                <a16:creationId xmlns:a16="http://schemas.microsoft.com/office/drawing/2014/main" id="{62FDBA7A-CBAA-486D-9641-98B1D9DD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52600"/>
            <a:ext cx="6362700" cy="4095750"/>
          </a:xfrm>
          <a:prstGeom xmlns:a="http://schemas.openxmlformats.org/drawingml/2006/main" prst="roundRect">
            <a:avLst>
              <a:gd name="adj" fmla="val 6512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aed529895b4bc6"/>
          <a:stretch xmlns:a="http://schemas.openxmlformats.org/drawingml/2006/main"/>
        </p:blipFill>
        <p:spPr>
          <a:xfrm xmlns:a="http://schemas.openxmlformats.org/drawingml/2006/main">
            <a:off x="5314950" y="2174833"/>
            <a:ext cx="6019800" cy="3251283"/>
          </a:xfrm>
          <a:prstGeom xmlns:a="http://schemas.openxmlformats.org/drawingml/2006/main" prst="roundRect">
            <a:avLst>
              <a:gd name="adj" fmla="val 5584"/>
            </a:avLst>
          </a:prstGeom>
        </p:spPr>
      </p:pic>
    </p:spTree>
    <p:extLst>
      <p:ext uri="{BB962C8B-B14F-4D97-AF65-F5344CB8AC3E}">
        <p14:creationId xmlns:p14="http://schemas.microsoft.com/office/powerpoint/2010/main" val="19059913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28020345-D7E8-42A9-9F38-97D9EE74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F01963B-EA36-4D01-8A73-647E94FA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DAF73F52-7F31-4CAD-95DF-F4958BFE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EIN BETRIEBSMODELL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AF63596-E7ED-423D-9E95-9428484E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Vier Zielumgebungen. Ein Installationspfad.</a:t>
            </a:r>
          </a:p>
        </p:txBody>
      </p:sp>
      <p:sp>
        <p:nvSpPr>
          <p:cNvPr id="5" name="deploy-lead">
            <a:extLst xmlns:a="http://schemas.openxmlformats.org/drawingml/2006/main">
              <a:ext uri="{FF2B5EF4-FFF2-40B4-BE49-F238E27FC236}">
                <a16:creationId xmlns:a16="http://schemas.microsoft.com/office/drawing/2014/main" id="{8C03F186-E9A3-4D51-B50A-FDE6D9847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Magic Stick passt sich der Infrastruktur an – nicht umgekehrt.</a:t>
            </a:r>
          </a:p>
        </p:txBody>
      </p:sp>
      <p:sp>
        <p:nvSpPr>
          <p:cNvPr id="6" name="deploy-line-1">
            <a:extLst xmlns:a="http://schemas.openxmlformats.org/drawingml/2006/main">
              <a:ext uri="{FF2B5EF4-FFF2-40B4-BE49-F238E27FC236}">
                <a16:creationId xmlns:a16="http://schemas.microsoft.com/office/drawing/2014/main" id="{DDCB640C-70A8-4BA1-97AC-1154BAF5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429000"/>
            <a:ext cx="165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D3EE"/>
            </a:solidFill>
            <a:prstDash val="solid"/>
          </a:ln>
        </p:spPr>
      </p:sp>
      <p:sp>
        <p:nvSpPr>
          <p:cNvPr id="7" name="deploy-line-2">
            <a:extLst xmlns:a="http://schemas.openxmlformats.org/drawingml/2006/main">
              <a:ext uri="{FF2B5EF4-FFF2-40B4-BE49-F238E27FC236}">
                <a16:creationId xmlns:a16="http://schemas.microsoft.com/office/drawing/2014/main" id="{38E737B3-5DD7-4092-880F-A1B559CD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3429000"/>
            <a:ext cx="165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D3EE"/>
            </a:solidFill>
            <a:prstDash val="solid"/>
          </a:ln>
        </p:spPr>
      </p:sp>
      <p:sp>
        <p:nvSpPr>
          <p:cNvPr id="8" name="deploy-line-3">
            <a:extLst xmlns:a="http://schemas.openxmlformats.org/drawingml/2006/main">
              <a:ext uri="{FF2B5EF4-FFF2-40B4-BE49-F238E27FC236}">
                <a16:creationId xmlns:a16="http://schemas.microsoft.com/office/drawing/2014/main" id="{C0A6269F-C244-4617-BCDD-1BA22A43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429000"/>
            <a:ext cx="165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D3EE"/>
            </a:solidFill>
            <a:prstDash val="solid"/>
          </a:ln>
        </p:spPr>
      </p:sp>
      <p:sp>
        <p:nvSpPr>
          <p:cNvPr id="9" name="deploy-number-0">
            <a:extLst xmlns:a="http://schemas.openxmlformats.org/drawingml/2006/main">
              <a:ext uri="{FF2B5EF4-FFF2-40B4-BE49-F238E27FC236}">
                <a16:creationId xmlns:a16="http://schemas.microsoft.com/office/drawing/2014/main" id="{01C125FF-FD3A-4F8C-8249-8324363B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3700"/>
            <a:ext cx="8382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deploy-number-text-0">
            <a:extLst xmlns:a="http://schemas.openxmlformats.org/drawingml/2006/main">
              <a:ext uri="{FF2B5EF4-FFF2-40B4-BE49-F238E27FC236}">
                <a16:creationId xmlns:a16="http://schemas.microsoft.com/office/drawing/2014/main" id="{E3FF9D06-27ED-4190-BD15-550EFF6A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337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11" name="deploy-title-0">
            <a:extLst xmlns:a="http://schemas.openxmlformats.org/drawingml/2006/main">
              <a:ext uri="{FF2B5EF4-FFF2-40B4-BE49-F238E27FC236}">
                <a16:creationId xmlns:a16="http://schemas.microsoft.com/office/drawing/2014/main" id="{1064272F-C89B-4E23-9D73-8A113F11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Hardware</a:t>
            </a:r>
          </a:p>
        </p:txBody>
      </p:sp>
      <p:sp>
        <p:nvSpPr>
          <p:cNvPr id="12" name="deploy-body-0">
            <a:extLst xmlns:a="http://schemas.openxmlformats.org/drawingml/2006/main">
              <a:ext uri="{FF2B5EF4-FFF2-40B4-BE49-F238E27FC236}">
                <a16:creationId xmlns:a16="http://schemas.microsoft.com/office/drawing/2014/main" id="{D002A069-630D-432A-BF80-03749807B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7200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Bootfähiges Ubuntu-Image</a:t>
            </a:r>
          </a:p>
        </p:txBody>
      </p:sp>
      <p:sp>
        <p:nvSpPr>
          <p:cNvPr id="13" name="deploy-number-1">
            <a:extLst xmlns:a="http://schemas.openxmlformats.org/drawingml/2006/main">
              <a:ext uri="{FF2B5EF4-FFF2-40B4-BE49-F238E27FC236}">
                <a16:creationId xmlns:a16="http://schemas.microsoft.com/office/drawing/2014/main" id="{3DBE7336-8F20-4901-85F8-2FC7A94D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933700"/>
            <a:ext cx="8382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4" name="deploy-number-text-1">
            <a:extLst xmlns:a="http://schemas.openxmlformats.org/drawingml/2006/main">
              <a:ext uri="{FF2B5EF4-FFF2-40B4-BE49-F238E27FC236}">
                <a16:creationId xmlns:a16="http://schemas.microsoft.com/office/drawing/2014/main" id="{A6406289-EFC2-4AAE-BD4F-07664EB1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337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5" name="deploy-title-1">
            <a:extLst xmlns:a="http://schemas.openxmlformats.org/drawingml/2006/main">
              <a:ext uri="{FF2B5EF4-FFF2-40B4-BE49-F238E27FC236}">
                <a16:creationId xmlns:a16="http://schemas.microsoft.com/office/drawing/2014/main" id="{7789CDC9-FD0C-4CD3-BBAF-82D8B68D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Neue Cloud-VM</a:t>
            </a:r>
          </a:p>
        </p:txBody>
      </p:sp>
      <p:sp>
        <p:nvSpPr>
          <p:cNvPr id="16" name="deploy-body-1">
            <a:extLst xmlns:a="http://schemas.openxmlformats.org/drawingml/2006/main">
              <a:ext uri="{FF2B5EF4-FFF2-40B4-BE49-F238E27FC236}">
                <a16:creationId xmlns:a16="http://schemas.microsoft.com/office/drawing/2014/main" id="{64B14715-F9B4-4A27-A9AA-B59EBF8E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57200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Cloud-init bei Azure oder Hetzner</a:t>
            </a:r>
          </a:p>
        </p:txBody>
      </p:sp>
      <p:sp>
        <p:nvSpPr>
          <p:cNvPr id="17" name="deploy-number-2">
            <a:extLst xmlns:a="http://schemas.openxmlformats.org/drawingml/2006/main">
              <a:ext uri="{FF2B5EF4-FFF2-40B4-BE49-F238E27FC236}">
                <a16:creationId xmlns:a16="http://schemas.microsoft.com/office/drawing/2014/main" id="{4C9DC61C-61CD-4D6F-B5F2-0550BB64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33700"/>
            <a:ext cx="8382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8" name="deploy-number-text-2">
            <a:extLst xmlns:a="http://schemas.openxmlformats.org/drawingml/2006/main">
              <a:ext uri="{FF2B5EF4-FFF2-40B4-BE49-F238E27FC236}">
                <a16:creationId xmlns:a16="http://schemas.microsoft.com/office/drawing/2014/main" id="{E3467D21-F2C8-4756-972D-F815FCDB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337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9" name="deploy-title-2">
            <a:extLst xmlns:a="http://schemas.openxmlformats.org/drawingml/2006/main">
              <a:ext uri="{FF2B5EF4-FFF2-40B4-BE49-F238E27FC236}">
                <a16:creationId xmlns:a16="http://schemas.microsoft.com/office/drawing/2014/main" id="{C777A778-5F1E-4858-843F-10EAF28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9575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Bestehende VM</a:t>
            </a:r>
          </a:p>
        </p:txBody>
      </p:sp>
      <p:sp>
        <p:nvSpPr>
          <p:cNvPr id="20" name="deploy-body-2">
            <a:extLst xmlns:a="http://schemas.openxmlformats.org/drawingml/2006/main">
              <a:ext uri="{FF2B5EF4-FFF2-40B4-BE49-F238E27FC236}">
                <a16:creationId xmlns:a16="http://schemas.microsoft.com/office/drawing/2014/main" id="{E4D9D0DB-A283-470E-8071-C6B5B29E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7200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Host-Automation auf Ubuntu</a:t>
            </a:r>
          </a:p>
        </p:txBody>
      </p:sp>
      <p:sp>
        <p:nvSpPr>
          <p:cNvPr id="21" name="deploy-number-3">
            <a:extLst xmlns:a="http://schemas.openxmlformats.org/drawingml/2006/main">
              <a:ext uri="{FF2B5EF4-FFF2-40B4-BE49-F238E27FC236}">
                <a16:creationId xmlns:a16="http://schemas.microsoft.com/office/drawing/2014/main" id="{751282DC-E7F6-4640-B134-54F4162C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933700"/>
            <a:ext cx="8382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2" name="deploy-number-text-3">
            <a:extLst xmlns:a="http://schemas.openxmlformats.org/drawingml/2006/main">
              <a:ext uri="{FF2B5EF4-FFF2-40B4-BE49-F238E27FC236}">
                <a16:creationId xmlns:a16="http://schemas.microsoft.com/office/drawing/2014/main" id="{B815FABC-4D50-4AB7-AAC7-09147090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337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3" name="deploy-title-3">
            <a:extLst xmlns:a="http://schemas.openxmlformats.org/drawingml/2006/main">
              <a:ext uri="{FF2B5EF4-FFF2-40B4-BE49-F238E27FC236}">
                <a16:creationId xmlns:a16="http://schemas.microsoft.com/office/drawing/2014/main" id="{D5E42D26-9522-4221-9E11-5D23C00A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09575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Kubernetes</a:t>
            </a:r>
          </a:p>
        </p:txBody>
      </p:sp>
      <p:sp>
        <p:nvSpPr>
          <p:cNvPr id="24" name="deploy-body-3">
            <a:extLst xmlns:a="http://schemas.openxmlformats.org/drawingml/2006/main">
              <a:ext uri="{FF2B5EF4-FFF2-40B4-BE49-F238E27FC236}">
                <a16:creationId xmlns:a16="http://schemas.microsoft.com/office/drawing/2014/main" id="{8B04396E-65BE-4240-BCB1-C567CE61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57200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Flux im vorhandenen Cluster</a:t>
            </a:r>
          </a:p>
        </p:txBody>
      </p:sp>
    </p:spTree>
    <p:extLst>
      <p:ext uri="{BB962C8B-B14F-4D97-AF65-F5344CB8AC3E}">
        <p14:creationId xmlns:p14="http://schemas.microsoft.com/office/powerpoint/2010/main" val="6504633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c5f663df248c7"/>
          <a:srcRect xmlns:a="http://schemas.openxmlformats.org/drawingml/2006/main" l="16388" t="0" r="1638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0" y="0"/>
            <a:ext cx="8191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ybrid-copy-panel">
            <a:extLst xmlns:a="http://schemas.openxmlformats.org/drawingml/2006/main">
              <a:ext uri="{FF2B5EF4-FFF2-40B4-BE49-F238E27FC236}">
                <a16:creationId xmlns:a16="http://schemas.microsoft.com/office/drawing/2014/main" id="{E07A2568-BA7A-492F-8AE6-9953DABD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AB950608-0F1B-4509-AE5C-699ED960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MODELLSTRATEGIE</a:t>
            </a:r>
          </a:p>
        </p:txBody>
      </p:sp>
      <p:sp>
        <p:nvSpPr>
          <p:cNvPr id="4" name="hybrid-title">
            <a:extLst xmlns:a="http://schemas.openxmlformats.org/drawingml/2006/main">
              <a:ext uri="{FF2B5EF4-FFF2-40B4-BE49-F238E27FC236}">
                <a16:creationId xmlns:a16="http://schemas.microsoft.com/office/drawing/2014/main" id="{AB16E886-118D-40F7-B396-EAC464F7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3905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2000"/>
              </a:lnSpc>
              <a:buNone/>
              <a:def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Lokal. Cloud.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Austauschbar.</a:t>
            </a:r>
          </a:p>
        </p:txBody>
      </p:sp>
      <p:sp>
        <p:nvSpPr>
          <p:cNvPr id="5" name="hybrid-copy">
            <a:extLst xmlns:a="http://schemas.openxmlformats.org/drawingml/2006/main">
              <a:ext uri="{FF2B5EF4-FFF2-40B4-BE49-F238E27FC236}">
                <a16:creationId xmlns:a16="http://schemas.microsoft.com/office/drawing/2014/main" id="{74BCA774-2557-47D2-9B21-149A88A1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3714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LiteLLM bündelt Provider.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KubeAI startet lokale Modelle erst bei Bedarf.</a:t>
            </a:r>
          </a:p>
        </p:txBody>
      </p:sp>
      <p:sp>
        <p:nvSpPr>
          <p:cNvPr id="6" name="tag-GPU-NEUTRALE BASIS">
            <a:extLst xmlns:a="http://schemas.openxmlformats.org/drawingml/2006/main">
              <a:ext uri="{FF2B5EF4-FFF2-40B4-BE49-F238E27FC236}">
                <a16:creationId xmlns:a16="http://schemas.microsoft.com/office/drawing/2014/main" id="{724F006E-BAA1-4E1F-8A43-8CCCCE25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20574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GPU-NEUTRALE BASIS</a:t>
            </a:r>
          </a:p>
        </p:txBody>
      </p:sp>
      <p:sp>
        <p:nvSpPr>
          <p:cNvPr id="7" name="tag-OPENAI-KOMPATIBEL">
            <a:extLst xmlns:a="http://schemas.openxmlformats.org/drawingml/2006/main">
              <a:ext uri="{FF2B5EF4-FFF2-40B4-BE49-F238E27FC236}">
                <a16:creationId xmlns:a16="http://schemas.microsoft.com/office/drawing/2014/main" id="{F2910298-D6FA-4A7B-9412-44827CD1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05425"/>
            <a:ext cx="21526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OPENAI-KOMPATIBEL</a:t>
            </a:r>
          </a:p>
        </p:txBody>
      </p:sp>
      <p:sp>
        <p:nvSpPr>
          <p:cNvPr id="8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785DF2F5-10A4-4B24-8F3A-3EA5CDBF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9789FDE-AE83-4989-8FB3-6C705F9B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443841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B4FED71C-4E91-41CE-AD83-0C38469F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FE50A5-BB2A-4FE4-8C1B-C6AF22B9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AD433B31-076F-4870-B642-2B6C1A37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DEKLARATIVER CONTROL PLANE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358F3F3-D277-4C1E-8096-DF486B8B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4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Vier Schichten. Wiederholbarer Betrieb.</a:t>
            </a:r>
          </a:p>
        </p:txBody>
      </p:sp>
      <p:sp>
        <p:nvSpPr>
          <p:cNvPr id="5" name="architecture-lead">
            <a:extLst xmlns:a="http://schemas.openxmlformats.org/drawingml/2006/main">
              <a:ext uri="{FF2B5EF4-FFF2-40B4-BE49-F238E27FC236}">
                <a16:creationId xmlns:a16="http://schemas.microsoft.com/office/drawing/2014/main" id="{2519588D-B8F1-46E0-9F9F-BF4DAFDB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Jede Schicht hat eine klare Aufgabe – und einen versionierten Sollzustand.</a:t>
            </a:r>
          </a:p>
        </p:txBody>
      </p:sp>
      <p:sp>
        <p:nvSpPr>
          <p:cNvPr id="6" name="layer-0">
            <a:extLst xmlns:a="http://schemas.openxmlformats.org/drawingml/2006/main">
              <a:ext uri="{FF2B5EF4-FFF2-40B4-BE49-F238E27FC236}">
                <a16:creationId xmlns:a16="http://schemas.microsoft.com/office/drawing/2014/main" id="{A92C6721-738F-4216-B56D-F3919B0D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7" name="layer-bar-0">
            <a:extLst xmlns:a="http://schemas.openxmlformats.org/drawingml/2006/main">
              <a:ext uri="{FF2B5EF4-FFF2-40B4-BE49-F238E27FC236}">
                <a16:creationId xmlns:a16="http://schemas.microsoft.com/office/drawing/2014/main" id="{94D4CB0E-8928-423E-97FF-25BFAD92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ayer-number-0">
            <a:extLst xmlns:a="http://schemas.openxmlformats.org/drawingml/2006/main">
              <a:ext uri="{FF2B5EF4-FFF2-40B4-BE49-F238E27FC236}">
                <a16:creationId xmlns:a16="http://schemas.microsoft.com/office/drawing/2014/main" id="{5C53C113-C9EF-4BF8-90FB-D8604381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9082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9" name="layer-title-0">
            <a:extLst xmlns:a="http://schemas.openxmlformats.org/drawingml/2006/main">
              <a:ext uri="{FF2B5EF4-FFF2-40B4-BE49-F238E27FC236}">
                <a16:creationId xmlns:a16="http://schemas.microsoft.com/office/drawing/2014/main" id="{AF44BF44-F451-4B00-8380-3D3719C7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622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Automation</a:t>
            </a:r>
          </a:p>
        </p:txBody>
      </p:sp>
      <p:sp>
        <p:nvSpPr>
          <p:cNvPr id="10" name="layer-detail-0">
            <a:extLst xmlns:a="http://schemas.openxmlformats.org/drawingml/2006/main">
              <a:ext uri="{FF2B5EF4-FFF2-40B4-BE49-F238E27FC236}">
                <a16:creationId xmlns:a16="http://schemas.microsoft.com/office/drawing/2014/main" id="{36F48A18-BBF3-4F90-950C-82964E6B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0035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Installer + Ansible</a:t>
            </a:r>
          </a:p>
        </p:txBody>
      </p:sp>
      <p:sp>
        <p:nvSpPr>
          <p:cNvPr id="11" name="layer-1">
            <a:extLst xmlns:a="http://schemas.openxmlformats.org/drawingml/2006/main">
              <a:ext uri="{FF2B5EF4-FFF2-40B4-BE49-F238E27FC236}">
                <a16:creationId xmlns:a16="http://schemas.microsoft.com/office/drawing/2014/main" id="{06B286B9-E838-4324-B08B-924738ED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2" name="layer-bar-1">
            <a:extLst xmlns:a="http://schemas.openxmlformats.org/drawingml/2006/main">
              <a:ext uri="{FF2B5EF4-FFF2-40B4-BE49-F238E27FC236}">
                <a16:creationId xmlns:a16="http://schemas.microsoft.com/office/drawing/2014/main" id="{748E7812-DFB8-4542-931B-C35DDB1B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layer-number-1">
            <a:extLst xmlns:a="http://schemas.openxmlformats.org/drawingml/2006/main">
              <a:ext uri="{FF2B5EF4-FFF2-40B4-BE49-F238E27FC236}">
                <a16:creationId xmlns:a16="http://schemas.microsoft.com/office/drawing/2014/main" id="{C23E496D-6119-4289-8CE2-90CA84C4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997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8BDF8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38BDF8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4" name="layer-title-1">
            <a:extLst xmlns:a="http://schemas.openxmlformats.org/drawingml/2006/main">
              <a:ext uri="{FF2B5EF4-FFF2-40B4-BE49-F238E27FC236}">
                <a16:creationId xmlns:a16="http://schemas.microsoft.com/office/drawing/2014/main" id="{D4D7148D-3C9E-47F9-94BA-13FD4A4E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5814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GitOps</a:t>
            </a:r>
          </a:p>
        </p:txBody>
      </p:sp>
      <p:sp>
        <p:nvSpPr>
          <p:cNvPr id="15" name="layer-detail-1">
            <a:extLst xmlns:a="http://schemas.openxmlformats.org/drawingml/2006/main">
              <a:ext uri="{FF2B5EF4-FFF2-40B4-BE49-F238E27FC236}">
                <a16:creationId xmlns:a16="http://schemas.microsoft.com/office/drawing/2014/main" id="{30175DBE-1CA8-4E80-9C11-0E8AFF77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K3s + Flux</a:t>
            </a:r>
          </a:p>
        </p:txBody>
      </p:sp>
      <p:sp>
        <p:nvSpPr>
          <p:cNvPr id="16" name="layer-2">
            <a:extLst xmlns:a="http://schemas.openxmlformats.org/drawingml/2006/main">
              <a:ext uri="{FF2B5EF4-FFF2-40B4-BE49-F238E27FC236}">
                <a16:creationId xmlns:a16="http://schemas.microsoft.com/office/drawing/2014/main" id="{0EF058A1-8E87-4C3A-A024-6E079266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7" name="layer-bar-2">
            <a:extLst xmlns:a="http://schemas.openxmlformats.org/drawingml/2006/main">
              <a:ext uri="{FF2B5EF4-FFF2-40B4-BE49-F238E27FC236}">
                <a16:creationId xmlns:a16="http://schemas.microsoft.com/office/drawing/2014/main" id="{D95EE72F-B5B0-4BE4-8319-4D79F44A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layer-number-2">
            <a:extLst xmlns:a="http://schemas.openxmlformats.org/drawingml/2006/main">
              <a:ext uri="{FF2B5EF4-FFF2-40B4-BE49-F238E27FC236}">
                <a16:creationId xmlns:a16="http://schemas.microsoft.com/office/drawing/2014/main" id="{6212AA2E-E445-4386-BD54-F1F5F599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2912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9" name="layer-title-2">
            <a:extLst xmlns:a="http://schemas.openxmlformats.org/drawingml/2006/main">
              <a:ext uri="{FF2B5EF4-FFF2-40B4-BE49-F238E27FC236}">
                <a16:creationId xmlns:a16="http://schemas.microsoft.com/office/drawing/2014/main" id="{B6B7CB4C-1C80-416E-BD9B-1737F804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005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Identität</a:t>
            </a:r>
          </a:p>
        </p:txBody>
      </p:sp>
      <p:sp>
        <p:nvSpPr>
          <p:cNvPr id="20" name="layer-detail-2">
            <a:extLst xmlns:a="http://schemas.openxmlformats.org/drawingml/2006/main">
              <a:ext uri="{FF2B5EF4-FFF2-40B4-BE49-F238E27FC236}">
                <a16:creationId xmlns:a16="http://schemas.microsoft.com/office/drawing/2014/main" id="{E6EBCD84-C954-4E0F-BB10-1F210B23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3865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Envoy + Keycloak</a:t>
            </a:r>
          </a:p>
        </p:txBody>
      </p:sp>
      <p:sp>
        <p:nvSpPr>
          <p:cNvPr id="21" name="layer-3">
            <a:extLst xmlns:a="http://schemas.openxmlformats.org/drawingml/2006/main">
              <a:ext uri="{FF2B5EF4-FFF2-40B4-BE49-F238E27FC236}">
                <a16:creationId xmlns:a16="http://schemas.microsoft.com/office/drawing/2014/main" id="{238D0C50-90C0-4D7B-BBB9-FED95F61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2" name="layer-bar-3">
            <a:extLst xmlns:a="http://schemas.openxmlformats.org/drawingml/2006/main">
              <a:ext uri="{FF2B5EF4-FFF2-40B4-BE49-F238E27FC236}">
                <a16:creationId xmlns:a16="http://schemas.microsoft.com/office/drawing/2014/main" id="{E202C055-A07A-4859-A004-E1E874CA1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layer-number-3">
            <a:extLst xmlns:a="http://schemas.openxmlformats.org/drawingml/2006/main">
              <a:ext uri="{FF2B5EF4-FFF2-40B4-BE49-F238E27FC236}">
                <a16:creationId xmlns:a16="http://schemas.microsoft.com/office/drawing/2014/main" id="{6960E9B5-A652-49BF-AC8F-22E9B18F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4827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4" name="layer-title-3">
            <a:extLst xmlns:a="http://schemas.openxmlformats.org/drawingml/2006/main">
              <a:ext uri="{FF2B5EF4-FFF2-40B4-BE49-F238E27FC236}">
                <a16:creationId xmlns:a16="http://schemas.microsoft.com/office/drawing/2014/main" id="{E7EE075F-5E28-4CB2-BD3B-B26F772C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2197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AI Workloads</a:t>
            </a:r>
          </a:p>
        </p:txBody>
      </p:sp>
      <p:sp>
        <p:nvSpPr>
          <p:cNvPr id="25" name="layer-detail-3">
            <a:extLst xmlns:a="http://schemas.openxmlformats.org/drawingml/2006/main">
              <a:ext uri="{FF2B5EF4-FFF2-40B4-BE49-F238E27FC236}">
                <a16:creationId xmlns:a16="http://schemas.microsoft.com/office/drawing/2014/main" id="{56337E75-D9E4-4A5C-95F3-FA5CC51C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5780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LiteLLM + KubeAI + Apps</a:t>
            </a:r>
          </a:p>
        </p:txBody>
      </p:sp>
    </p:spTree>
    <p:extLst>
      <p:ext uri="{BB962C8B-B14F-4D97-AF65-F5344CB8AC3E}">
        <p14:creationId xmlns:p14="http://schemas.microsoft.com/office/powerpoint/2010/main" val="19442361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4868153ae84c27"/>
          <a:srcRect xmlns:a="http://schemas.openxmlformats.org/drawingml/2006/main" l="9422" t="0" r="94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29000" y="781050"/>
            <a:ext cx="8763000" cy="6076950"/>
          </a:xfrm>
          <a:prstGeom xmlns:a="http://schemas.openxmlformats.org/drawingml/2006/main" prst="rect">
            <a:avLst/>
          </a:prstGeom>
        </p:spPr>
      </p:pic>
      <p:sp>
        <p:nvSpPr>
          <p:cNvPr id="2" name="apps-copy-panel">
            <a:extLst xmlns:a="http://schemas.openxmlformats.org/drawingml/2006/main">
              <a:ext uri="{FF2B5EF4-FFF2-40B4-BE49-F238E27FC236}">
                <a16:creationId xmlns:a16="http://schemas.microsoft.com/office/drawing/2014/main" id="{DD6273E0-772C-45D9-B3F2-A96D671E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6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766C1D39-D726-43A9-9652-F30F80DAD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ANWENDUNGEN</a:t>
            </a:r>
          </a:p>
        </p:txBody>
      </p:sp>
      <p:sp>
        <p:nvSpPr>
          <p:cNvPr id="4" name="apps-title">
            <a:extLst xmlns:a="http://schemas.openxmlformats.org/drawingml/2006/main">
              <a:ext uri="{FF2B5EF4-FFF2-40B4-BE49-F238E27FC236}">
                <a16:creationId xmlns:a16="http://schemas.microsoft.com/office/drawing/2014/main" id="{BB0DBB31-D5D2-44AC-991B-6AE941EF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34290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2000"/>
              </a:lnSpc>
              <a:buNone/>
              <a:def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Chat, Agenten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und Coding</a:t>
            </a:r>
          </a:p>
        </p:txBody>
      </p:sp>
      <p:sp>
        <p:nvSpPr>
          <p:cNvPr id="5" name="apps-copy">
            <a:extLst xmlns:a="http://schemas.openxmlformats.org/drawingml/2006/main">
              <a:ext uri="{FF2B5EF4-FFF2-40B4-BE49-F238E27FC236}">
                <a16:creationId xmlns:a16="http://schemas.microsoft.com/office/drawing/2014/main" id="{108837D4-846F-44DD-BA3B-1126E217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Instanzen erhalten eine eigene URL, SSO und ein ausgewähltes Modell.</a:t>
            </a:r>
          </a:p>
        </p:txBody>
      </p:sp>
      <p:sp>
        <p:nvSpPr>
          <p:cNvPr id="6" name="tag-ANYTHINGLLM">
            <a:extLst xmlns:a="http://schemas.openxmlformats.org/drawingml/2006/main">
              <a:ext uri="{FF2B5EF4-FFF2-40B4-BE49-F238E27FC236}">
                <a16:creationId xmlns:a16="http://schemas.microsoft.com/office/drawing/2014/main" id="{79459B4D-0454-4B99-81E1-B17E1E07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562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ANYTHINGLLM</a:t>
            </a:r>
          </a:p>
        </p:txBody>
      </p:sp>
      <p:sp>
        <p:nvSpPr>
          <p:cNvPr id="7" name="tag-OPENCLAW · HERMES">
            <a:extLst xmlns:a="http://schemas.openxmlformats.org/drawingml/2006/main">
              <a:ext uri="{FF2B5EF4-FFF2-40B4-BE49-F238E27FC236}">
                <a16:creationId xmlns:a16="http://schemas.microsoft.com/office/drawing/2014/main" id="{9FA4CBE4-CA80-41C2-AD6F-27CD530E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21336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8BDF8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8BDF8"/>
                </a:solidFill>
                <a:latin typeface="Avenir Next"/>
                <a:ea typeface="Avenir Next"/>
                <a:cs typeface="Avenir Next"/>
              </a:rPr>
              <a:t>OPENCLAW · HERMES</a:t>
            </a:r>
          </a:p>
        </p:txBody>
      </p:sp>
      <p:sp>
        <p:nvSpPr>
          <p:cNvPr id="8" name="tag-PAPERCLIP · KUBEOPENCODE">
            <a:extLst xmlns:a="http://schemas.openxmlformats.org/drawingml/2006/main">
              <a:ext uri="{FF2B5EF4-FFF2-40B4-BE49-F238E27FC236}">
                <a16:creationId xmlns:a16="http://schemas.microsoft.com/office/drawing/2014/main" id="{B790825B-C0DD-4273-B7E1-31A4DCD0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27813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PAPERCLIP · KUBEOPENCODE</a:t>
            </a:r>
          </a:p>
        </p:txBody>
      </p:sp>
      <p:sp>
        <p:nvSpPr>
          <p:cNvPr id="9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C853599F-3F4E-410E-B3A4-6FCA07B9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E2C55BF-1AC2-4B2E-8FCE-E5F1340C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14224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A5AB3AF5-8866-4389-9BCE-253E42E1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B55DB9-A12A-4CEE-9EEB-45D86B49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E68882CD-87A3-4C53-B376-B406E1EF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EINE IDENTITÄTSGRENZE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7C384BC-A24D-46CC-A371-243E0D2F8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SSO schützt Dashboard und Anwendungen</a:t>
            </a:r>
          </a:p>
        </p:txBody>
      </p:sp>
      <p:sp>
        <p:nvSpPr>
          <p:cNvPr id="5" name="identity-line-local">
            <a:extLst xmlns:a="http://schemas.openxmlformats.org/drawingml/2006/main">
              <a:ext uri="{FF2B5EF4-FFF2-40B4-BE49-F238E27FC236}">
                <a16:creationId xmlns:a16="http://schemas.microsoft.com/office/drawing/2014/main" id="{24B43AFC-0BCE-4DA3-8E3D-43FF45A9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67100"/>
            <a:ext cx="165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2D3EE"/>
            </a:solidFill>
            <a:prstDash val="solid"/>
          </a:ln>
        </p:spPr>
      </p:sp>
      <p:sp>
        <p:nvSpPr>
          <p:cNvPr id="6" name="identity-line-upstream">
            <a:extLst xmlns:a="http://schemas.openxmlformats.org/drawingml/2006/main">
              <a:ext uri="{FF2B5EF4-FFF2-40B4-BE49-F238E27FC236}">
                <a16:creationId xmlns:a16="http://schemas.microsoft.com/office/drawing/2014/main" id="{2E0B31BA-310D-4B1A-874C-A4118B43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191250" y="2247900"/>
            <a:ext cx="1676400" cy="781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B5CF6"/>
            </a:solidFill>
            <a:prstDash val="solid"/>
          </a:ln>
        </p:spPr>
      </p:sp>
      <p:sp>
        <p:nvSpPr>
          <p:cNvPr id="7" name="identity-line-apps">
            <a:extLst xmlns:a="http://schemas.openxmlformats.org/drawingml/2006/main">
              <a:ext uri="{FF2B5EF4-FFF2-40B4-BE49-F238E27FC236}">
                <a16:creationId xmlns:a16="http://schemas.microsoft.com/office/drawing/2014/main" id="{D1904FD1-1E02-42BF-BC76-53EFF966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05250"/>
            <a:ext cx="1676400" cy="781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8BDF8"/>
            </a:solidFill>
            <a:prstDash val="solid"/>
          </a:ln>
        </p:spPr>
      </p:sp>
      <p:sp>
        <p:nvSpPr>
          <p:cNvPr id="8" name="identity-local">
            <a:extLst xmlns:a="http://schemas.openxmlformats.org/drawingml/2006/main">
              <a:ext uri="{FF2B5EF4-FFF2-40B4-BE49-F238E27FC236}">
                <a16:creationId xmlns:a16="http://schemas.microsoft.com/office/drawing/2014/main" id="{0E343C9B-A3A4-4F89-8992-382CE3E9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2476500" cy="1200150"/>
          </a:xfrm>
          <a:prstGeom xmlns:a="http://schemas.openxmlformats.org/drawingml/2006/main" prst="roundRect">
            <a:avLst>
              <a:gd name="adj" fmla="val 17460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9" name="identity-local-accent">
            <a:extLst xmlns:a="http://schemas.openxmlformats.org/drawingml/2006/main">
              <a:ext uri="{FF2B5EF4-FFF2-40B4-BE49-F238E27FC236}">
                <a16:creationId xmlns:a16="http://schemas.microsoft.com/office/drawing/2014/main" id="{050DDD4D-A005-4B4E-B2AC-33F91494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5715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dentity-local-label">
            <a:extLst xmlns:a="http://schemas.openxmlformats.org/drawingml/2006/main">
              <a:ext uri="{FF2B5EF4-FFF2-40B4-BE49-F238E27FC236}">
                <a16:creationId xmlns:a16="http://schemas.microsoft.com/office/drawing/2014/main" id="{6CAD1522-9096-4ADD-A080-695830C9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Lokaler Broker</a:t>
            </a:r>
          </a:p>
        </p:txBody>
      </p:sp>
      <p:sp>
        <p:nvSpPr>
          <p:cNvPr id="11" name="identity-local-sublabel">
            <a:extLst xmlns:a="http://schemas.openxmlformats.org/drawingml/2006/main">
              <a:ext uri="{FF2B5EF4-FFF2-40B4-BE49-F238E27FC236}">
                <a16:creationId xmlns:a16="http://schemas.microsoft.com/office/drawing/2014/main" id="{F78F2C59-D079-4C55-88E7-96DEA15E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33775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Keycloak funktioniert ohne Cloud</a:t>
            </a:r>
          </a:p>
        </p:txBody>
      </p:sp>
      <p:sp>
        <p:nvSpPr>
          <p:cNvPr id="12" name="identity-hub">
            <a:extLst xmlns:a="http://schemas.openxmlformats.org/drawingml/2006/main">
              <a:ext uri="{FF2B5EF4-FFF2-40B4-BE49-F238E27FC236}">
                <a16:creationId xmlns:a16="http://schemas.microsoft.com/office/drawing/2014/main" id="{C1EC5804-0EC8-4CC7-B9C7-EBBE28C8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762250"/>
            <a:ext cx="1371600" cy="1371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SSO</a:t>
            </a:r>
          </a:p>
        </p:txBody>
      </p:sp>
      <p:sp>
        <p:nvSpPr>
          <p:cNvPr id="13" name="identity-upstream">
            <a:extLst xmlns:a="http://schemas.openxmlformats.org/drawingml/2006/main">
              <a:ext uri="{FF2B5EF4-FFF2-40B4-BE49-F238E27FC236}">
                <a16:creationId xmlns:a16="http://schemas.microsoft.com/office/drawing/2014/main" id="{2B19D53D-C91C-4899-AC75-03AFC2E7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90700"/>
            <a:ext cx="3638550" cy="1200150"/>
          </a:xfrm>
          <a:prstGeom xmlns:a="http://schemas.openxmlformats.org/drawingml/2006/main" prst="roundRect">
            <a:avLst>
              <a:gd name="adj" fmla="val 17460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4" name="identity-upstream-accent">
            <a:extLst xmlns:a="http://schemas.openxmlformats.org/drawingml/2006/main">
              <a:ext uri="{FF2B5EF4-FFF2-40B4-BE49-F238E27FC236}">
                <a16:creationId xmlns:a16="http://schemas.microsoft.com/office/drawing/2014/main" id="{8FABE613-28E9-46F3-BFA6-FE0E19CD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90700"/>
            <a:ext cx="5715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dentity-upstream-label">
            <a:extLst xmlns:a="http://schemas.openxmlformats.org/drawingml/2006/main">
              <a:ext uri="{FF2B5EF4-FFF2-40B4-BE49-F238E27FC236}">
                <a16:creationId xmlns:a16="http://schemas.microsoft.com/office/drawing/2014/main" id="{121D01A2-ED6F-4D7F-B774-177716E5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28825"/>
            <a:ext cx="3162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Enterprise IdP</a:t>
            </a:r>
          </a:p>
        </p:txBody>
      </p:sp>
      <p:sp>
        <p:nvSpPr>
          <p:cNvPr id="16" name="identity-upstream-sublabel">
            <a:extLst xmlns:a="http://schemas.openxmlformats.org/drawingml/2006/main">
              <a:ext uri="{FF2B5EF4-FFF2-40B4-BE49-F238E27FC236}">
                <a16:creationId xmlns:a16="http://schemas.microsoft.com/office/drawing/2014/main" id="{E568520E-37AD-494D-9144-01A0B271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47925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Entra ID · Google · AWS · OIDC/SAML</a:t>
            </a:r>
          </a:p>
        </p:txBody>
      </p:sp>
      <p:sp>
        <p:nvSpPr>
          <p:cNvPr id="17" name="identity-apps">
            <a:extLst xmlns:a="http://schemas.openxmlformats.org/drawingml/2006/main">
              <a:ext uri="{FF2B5EF4-FFF2-40B4-BE49-F238E27FC236}">
                <a16:creationId xmlns:a16="http://schemas.microsoft.com/office/drawing/2014/main" id="{45E29E97-923C-4617-8B75-B943FC63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24350"/>
            <a:ext cx="3638550" cy="1200150"/>
          </a:xfrm>
          <a:prstGeom xmlns:a="http://schemas.openxmlformats.org/drawingml/2006/main" prst="roundRect">
            <a:avLst>
              <a:gd name="adj" fmla="val 17460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8" name="identity-apps-accent">
            <a:extLst xmlns:a="http://schemas.openxmlformats.org/drawingml/2006/main">
              <a:ext uri="{FF2B5EF4-FFF2-40B4-BE49-F238E27FC236}">
                <a16:creationId xmlns:a16="http://schemas.microsoft.com/office/drawing/2014/main" id="{7E891912-77F3-4E5D-A62A-5B5EC35B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24350"/>
            <a:ext cx="5715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dentity-apps-label">
            <a:extLst xmlns:a="http://schemas.openxmlformats.org/drawingml/2006/main">
              <a:ext uri="{FF2B5EF4-FFF2-40B4-BE49-F238E27FC236}">
                <a16:creationId xmlns:a16="http://schemas.microsoft.com/office/drawing/2014/main" id="{CC4EC42A-8F79-416F-BA15-A408BBE5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62475"/>
            <a:ext cx="3162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Dashboard + Apps</a:t>
            </a:r>
          </a:p>
        </p:txBody>
      </p:sp>
      <p:sp>
        <p:nvSpPr>
          <p:cNvPr id="20" name="identity-apps-sublabel">
            <a:extLst xmlns:a="http://schemas.openxmlformats.org/drawingml/2006/main">
              <a:ext uri="{FF2B5EF4-FFF2-40B4-BE49-F238E27FC236}">
                <a16:creationId xmlns:a16="http://schemas.microsoft.com/office/drawing/2014/main" id="{50463A35-565F-44F3-8ECB-753311A3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981575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Eine Anmeldung für alle geschützten Routen</a:t>
            </a:r>
          </a:p>
        </p:txBody>
      </p:sp>
      <p:sp>
        <p:nvSpPr>
          <p:cNvPr id="21" name="tag-LOCAL-FIRST">
            <a:extLst xmlns:a="http://schemas.openxmlformats.org/drawingml/2006/main">
              <a:ext uri="{FF2B5EF4-FFF2-40B4-BE49-F238E27FC236}">
                <a16:creationId xmlns:a16="http://schemas.microsoft.com/office/drawing/2014/main" id="{DDD34568-FC34-452D-8DD9-A0A83E64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4287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LOCAL-FIRST</a:t>
            </a:r>
          </a:p>
        </p:txBody>
      </p:sp>
      <p:sp>
        <p:nvSpPr>
          <p:cNvPr id="22" name="tag-FEDERATION READY">
            <a:extLst xmlns:a="http://schemas.openxmlformats.org/drawingml/2006/main">
              <a:ext uri="{FF2B5EF4-FFF2-40B4-BE49-F238E27FC236}">
                <a16:creationId xmlns:a16="http://schemas.microsoft.com/office/drawing/2014/main" id="{813CC8BE-043A-4E00-89D1-B5ED1A40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62500"/>
            <a:ext cx="18669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FEDERATION READY</a:t>
            </a:r>
          </a:p>
        </p:txBody>
      </p:sp>
    </p:spTree>
    <p:extLst>
      <p:ext uri="{BB962C8B-B14F-4D97-AF65-F5344CB8AC3E}">
        <p14:creationId xmlns:p14="http://schemas.microsoft.com/office/powerpoint/2010/main" val="18397066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2228BEDA-4712-4198-AAB7-D5BFCF66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A7D2355-D960-4D1F-B196-D90C4DF2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303BC3A2-8A9F-48BA-90A1-C20B9A95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OPEN CORE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FB94D5C-E842-4785-ACF9-F198DEFF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4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Open Source liefert die Plattform. Enterprise die Governance.</a:t>
            </a:r>
          </a:p>
        </p:txBody>
      </p:sp>
      <p:sp>
        <p:nvSpPr>
          <p:cNvPr id="5" name="community-surface">
            <a:extLst xmlns:a="http://schemas.openxmlformats.org/drawingml/2006/main">
              <a:ext uri="{FF2B5EF4-FFF2-40B4-BE49-F238E27FC236}">
                <a16:creationId xmlns:a16="http://schemas.microsoft.com/office/drawing/2014/main" id="{D2F1BD44-FABB-4DFE-A5E3-490B3052A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5162550" cy="3409950"/>
          </a:xfrm>
          <a:prstGeom xmlns:a="http://schemas.openxmlformats.org/drawingml/2006/main" prst="roundRect">
            <a:avLst>
              <a:gd name="adj" fmla="val 7821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6" name="enterprise-surface">
            <a:extLst xmlns:a="http://schemas.openxmlformats.org/drawingml/2006/main">
              <a:ext uri="{FF2B5EF4-FFF2-40B4-BE49-F238E27FC236}">
                <a16:creationId xmlns:a16="http://schemas.microsoft.com/office/drawing/2014/main" id="{A8E3BFB4-436B-4167-BC65-D8B0BD62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71700"/>
            <a:ext cx="5162550" cy="3409950"/>
          </a:xfrm>
          <a:prstGeom xmlns:a="http://schemas.openxmlformats.org/drawingml/2006/main" prst="roundRect">
            <a:avLst>
              <a:gd name="adj" fmla="val 7821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7" name="community-title">
            <a:extLst xmlns:a="http://schemas.openxmlformats.org/drawingml/2006/main">
              <a:ext uri="{FF2B5EF4-FFF2-40B4-BE49-F238E27FC236}">
                <a16:creationId xmlns:a16="http://schemas.microsoft.com/office/drawing/2014/main" id="{933EB90C-FD72-4516-90E0-99822252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COMMUNITY</a:t>
            </a:r>
          </a:p>
        </p:txBody>
      </p:sp>
      <p:sp>
        <p:nvSpPr>
          <p:cNvPr id="8" name="community-claim">
            <a:extLst xmlns:a="http://schemas.openxmlformats.org/drawingml/2006/main">
              <a:ext uri="{FF2B5EF4-FFF2-40B4-BE49-F238E27FC236}">
                <a16:creationId xmlns:a16="http://schemas.microsoft.com/office/drawing/2014/main" id="{BF7D2CD6-F202-42B4-8077-C1DF6779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0375"/>
            <a:ext cx="3619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4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Vollständige</a:t>
            </a:r>
          </a:p>
          <a:p xmlns:a="http://schemas.openxmlformats.org/drawingml/2006/main">
            <a:pPr>
              <a:lnSpc>
                <a:spcPct val="94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AI-Appliance</a:t>
            </a:r>
          </a:p>
        </p:txBody>
      </p:sp>
      <p:sp>
        <p:nvSpPr>
          <p:cNvPr id="9" name="community-list">
            <a:extLst xmlns:a="http://schemas.openxmlformats.org/drawingml/2006/main">
              <a:ext uri="{FF2B5EF4-FFF2-40B4-BE49-F238E27FC236}">
                <a16:creationId xmlns:a16="http://schemas.microsoft.com/office/drawing/2014/main" id="{3890427B-23CB-4CA3-9150-95FD4A9B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57675"/>
            <a:ext cx="4095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Lokales SSO und Benutzerverwaltung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Module, Modelle und Instanzen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Owner-only oder alle angemeldeten Nutzer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MIT-Lizenz</a:t>
            </a:r>
          </a:p>
        </p:txBody>
      </p:sp>
      <p:sp>
        <p:nvSpPr>
          <p:cNvPr id="10" name="enterprise-title">
            <a:extLst xmlns:a="http://schemas.openxmlformats.org/drawingml/2006/main">
              <a:ext uri="{FF2B5EF4-FFF2-40B4-BE49-F238E27FC236}">
                <a16:creationId xmlns:a16="http://schemas.microsoft.com/office/drawing/2014/main" id="{EA9D0837-5A55-474C-8369-7D99FFD5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5146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ENTERPRISE · AUF ANFRAGE</a:t>
            </a:r>
          </a:p>
        </p:txBody>
      </p:sp>
      <p:sp>
        <p:nvSpPr>
          <p:cNvPr id="11" name="enterprise-claim">
            <a:extLst xmlns:a="http://schemas.openxmlformats.org/drawingml/2006/main">
              <a:ext uri="{FF2B5EF4-FFF2-40B4-BE49-F238E27FC236}">
                <a16:creationId xmlns:a16="http://schemas.microsoft.com/office/drawing/2014/main" id="{20D6790F-6E23-4C04-8F15-EE1DF192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00375"/>
            <a:ext cx="400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4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Governance</a:t>
            </a:r>
          </a:p>
          <a:p xmlns:a="http://schemas.openxmlformats.org/drawingml/2006/main">
            <a:pPr>
              <a:lnSpc>
                <a:spcPct val="94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für Organisationen</a:t>
            </a:r>
          </a:p>
        </p:txBody>
      </p:sp>
      <p:sp>
        <p:nvSpPr>
          <p:cNvPr id="12" name="enterprise-list">
            <a:extLst xmlns:a="http://schemas.openxmlformats.org/drawingml/2006/main">
              <a:ext uri="{FF2B5EF4-FFF2-40B4-BE49-F238E27FC236}">
                <a16:creationId xmlns:a16="http://schemas.microsoft.com/office/drawing/2014/main" id="{16CC02CF-1F9A-43B7-83F3-C5897533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257675"/>
            <a:ext cx="4095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Freigaben pro Modul und Instanz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Benutzer- und Gruppen-RBAC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IdP-Gruppenzuordnung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Delegierte Administration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Preise auf Anfrage</a:t>
            </a:r>
          </a:p>
        </p:txBody>
      </p:sp>
    </p:spTree>
    <p:extLst>
      <p:ext uri="{BB962C8B-B14F-4D97-AF65-F5344CB8AC3E}">
        <p14:creationId xmlns:p14="http://schemas.microsoft.com/office/powerpoint/2010/main" val="19086103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07f39180ca448e"/>
          <a:srcRect xmlns:a="http://schemas.openxmlformats.org/drawingml/2006/main" l="15607" t="0" r="1560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10000" y="0"/>
            <a:ext cx="838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bac-copy-panel">
            <a:extLst xmlns:a="http://schemas.openxmlformats.org/drawingml/2006/main">
              <a:ext uri="{FF2B5EF4-FFF2-40B4-BE49-F238E27FC236}">
                <a16:creationId xmlns:a16="http://schemas.microsoft.com/office/drawing/2014/main" id="{57DD2954-38C6-4CA6-B893-C2708485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857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E7CE1C97-CA68-403B-B5D4-5CFE5274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ENTERPRISE · AUF ANFRAGE</a:t>
            </a:r>
          </a:p>
        </p:txBody>
      </p:sp>
      <p:sp>
        <p:nvSpPr>
          <p:cNvPr id="4" name="rbac-title">
            <a:extLst xmlns:a="http://schemas.openxmlformats.org/drawingml/2006/main">
              <a:ext uri="{FF2B5EF4-FFF2-40B4-BE49-F238E27FC236}">
                <a16:creationId xmlns:a16="http://schemas.microsoft.com/office/drawing/2014/main" id="{7C72C459-A055-42F8-8DA1-03F499C5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714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2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Teams sehen nur,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was sie brauchen.</a:t>
            </a:r>
          </a:p>
        </p:txBody>
      </p:sp>
      <p:sp>
        <p:nvSpPr>
          <p:cNvPr id="5" name="rbac-copy">
            <a:extLst xmlns:a="http://schemas.openxmlformats.org/drawingml/2006/main">
              <a:ext uri="{FF2B5EF4-FFF2-40B4-BE49-F238E27FC236}">
                <a16:creationId xmlns:a16="http://schemas.microsoft.com/office/drawing/2014/main" id="{C55C4EC3-827E-46E3-B622-AF4B9E17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3667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Rollen pro Modul und Instanz: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Viewer · User · Operator · Admin</a:t>
            </a:r>
          </a:p>
        </p:txBody>
      </p:sp>
      <p:sp>
        <p:nvSpPr>
          <p:cNvPr id="6" name="tag-IDP-GRUPPEN">
            <a:extLst xmlns:a="http://schemas.openxmlformats.org/drawingml/2006/main">
              <a:ext uri="{FF2B5EF4-FFF2-40B4-BE49-F238E27FC236}">
                <a16:creationId xmlns:a16="http://schemas.microsoft.com/office/drawing/2014/main" id="{A8DCEDA5-8781-4F8F-B701-CD1AE8DE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5811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IDP-GRUPPEN</a:t>
            </a:r>
          </a:p>
        </p:txBody>
      </p:sp>
      <p:sp>
        <p:nvSpPr>
          <p:cNvPr id="7" name="tag-DELEGIERTE ADMINS">
            <a:extLst xmlns:a="http://schemas.openxmlformats.org/drawingml/2006/main">
              <a:ext uri="{FF2B5EF4-FFF2-40B4-BE49-F238E27FC236}">
                <a16:creationId xmlns:a16="http://schemas.microsoft.com/office/drawing/2014/main" id="{26198A03-8C28-478D-97D1-132FC3BD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0764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DELEGIERTE ADMINS</a:t>
            </a:r>
          </a:p>
        </p:txBody>
      </p:sp>
      <p:sp>
        <p:nvSpPr>
          <p:cNvPr id="8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7A3B09E4-FA48-4D03-90BC-7DBC02F5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A94E9A-AC4E-4A78-B2E6-3BB8FAD9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859501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AFE751DB-495F-4C94-9DFB-F41F33F3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1F3F848-59D7-4EA4-9FE9-A7E89214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368DAD5E-60F0-44CB-BCB7-9CE85A08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GEFÜHRTE KONFIGURATION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7AB7D28-8AF8-465B-86A0-01062683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Neue Ressourcen entstehen geführt statt über YAML</a:t>
            </a:r>
          </a:p>
        </p:txBody>
      </p:sp>
      <p:sp>
        <p:nvSpPr>
          <p:cNvPr id="5" name="guided-lead">
            <a:extLst xmlns:a="http://schemas.openxmlformats.org/drawingml/2006/main">
              <a:ext uri="{FF2B5EF4-FFF2-40B4-BE49-F238E27FC236}">
                <a16:creationId xmlns:a16="http://schemas.microsoft.com/office/drawing/2014/main" id="{3EA32290-D9BC-4544-B73D-6BBE63A3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65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65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Auswählen, konfigurieren und freigeben – direkt im Dashboard.</a:t>
            </a:r>
          </a:p>
        </p:txBody>
      </p:sp>
      <p:sp>
        <p:nvSpPr>
          <p:cNvPr id="6" name="guided-card-0">
            <a:extLst xmlns:a="http://schemas.openxmlformats.org/drawingml/2006/main">
              <a:ext uri="{FF2B5EF4-FFF2-40B4-BE49-F238E27FC236}">
                <a16:creationId xmlns:a16="http://schemas.microsoft.com/office/drawing/2014/main" id="{11A3A281-2BAF-4BB8-8396-922AE2F6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35433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7" name="guided-accent-0">
            <a:extLst xmlns:a="http://schemas.openxmlformats.org/drawingml/2006/main">
              <a:ext uri="{FF2B5EF4-FFF2-40B4-BE49-F238E27FC236}">
                <a16:creationId xmlns:a16="http://schemas.microsoft.com/office/drawing/2014/main" id="{F12ECBFC-43BB-4E9E-80C2-0DFEE863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35433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guided-number-0">
            <a:extLst xmlns:a="http://schemas.openxmlformats.org/drawingml/2006/main">
              <a:ext uri="{FF2B5EF4-FFF2-40B4-BE49-F238E27FC236}">
                <a16:creationId xmlns:a16="http://schemas.microsoft.com/office/drawing/2014/main" id="{85362D62-4CFB-4588-AA41-6879C586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9" name="guided-title-0">
            <a:extLst xmlns:a="http://schemas.openxmlformats.org/drawingml/2006/main">
              <a:ext uri="{FF2B5EF4-FFF2-40B4-BE49-F238E27FC236}">
                <a16:creationId xmlns:a16="http://schemas.microsoft.com/office/drawing/2014/main" id="{85800A9E-DC88-4C1A-881E-BBFAABCD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241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Instanz auswählen</a:t>
            </a:r>
          </a:p>
        </p:txBody>
      </p:sp>
      <p:sp>
        <p:nvSpPr>
          <p:cNvPr id="10" name="guided-frame-0">
            <a:extLst xmlns:a="http://schemas.openxmlformats.org/drawingml/2006/main">
              <a:ext uri="{FF2B5EF4-FFF2-40B4-BE49-F238E27FC236}">
                <a16:creationId xmlns:a16="http://schemas.microsoft.com/office/drawing/2014/main" id="{FD37F8F1-962C-48F2-BE00-73A6381E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32004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50B18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e47337738344a5"/>
          <a:stretch xmlns:a="http://schemas.openxmlformats.org/drawingml/2006/main"/>
        </p:blipFill>
        <p:spPr>
          <a:xfrm xmlns:a="http://schemas.openxmlformats.org/drawingml/2006/main">
            <a:off x="762000" y="3235569"/>
            <a:ext cx="3048000" cy="1453662"/>
          </a:xfrm>
          <a:prstGeom xmlns:a="http://schemas.openxmlformats.org/drawingml/2006/main" prst="roundRect">
            <a:avLst>
              <a:gd name="adj" fmla="val 5172"/>
            </a:avLst>
          </a:prstGeom>
        </p:spPr>
      </p:pic>
      <p:sp>
        <p:nvSpPr>
          <p:cNvPr id="12" name="guided-body-0">
            <a:extLst xmlns:a="http://schemas.openxmlformats.org/drawingml/2006/main">
              <a:ext uri="{FF2B5EF4-FFF2-40B4-BE49-F238E27FC236}">
                <a16:creationId xmlns:a16="http://schemas.microsoft.com/office/drawing/2014/main" id="{F1E799C7-37C9-4ABF-88F7-52F2F574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306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Anwendungstyp aus dem Katalog wählen.</a:t>
            </a:r>
          </a:p>
        </p:txBody>
      </p:sp>
      <p:sp>
        <p:nvSpPr>
          <p:cNvPr id="13" name="guided-card-1">
            <a:extLst xmlns:a="http://schemas.openxmlformats.org/drawingml/2006/main">
              <a:ext uri="{FF2B5EF4-FFF2-40B4-BE49-F238E27FC236}">
                <a16:creationId xmlns:a16="http://schemas.microsoft.com/office/drawing/2014/main" id="{DE2962E5-DC7B-4455-AD90-8DB8FC85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14550"/>
            <a:ext cx="35433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4" name="guided-accent-1">
            <a:extLst xmlns:a="http://schemas.openxmlformats.org/drawingml/2006/main">
              <a:ext uri="{FF2B5EF4-FFF2-40B4-BE49-F238E27FC236}">
                <a16:creationId xmlns:a16="http://schemas.microsoft.com/office/drawing/2014/main" id="{26FA189A-8DC5-4BD9-B020-90D451EC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14550"/>
            <a:ext cx="35433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guided-number-1">
            <a:extLst xmlns:a="http://schemas.openxmlformats.org/drawingml/2006/main">
              <a:ext uri="{FF2B5EF4-FFF2-40B4-BE49-F238E27FC236}">
                <a16:creationId xmlns:a16="http://schemas.microsoft.com/office/drawing/2014/main" id="{D2C3BE7B-4C9D-4A8E-B9E0-0A4BAACC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62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6" name="guided-title-1">
            <a:extLst xmlns:a="http://schemas.openxmlformats.org/drawingml/2006/main">
              <a:ext uri="{FF2B5EF4-FFF2-40B4-BE49-F238E27FC236}">
                <a16:creationId xmlns:a16="http://schemas.microsoft.com/office/drawing/2014/main" id="{22591BE1-AA6A-4469-8DB3-099BA54C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3241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Modell konfigurieren</a:t>
            </a:r>
          </a:p>
        </p:txBody>
      </p:sp>
      <p:sp>
        <p:nvSpPr>
          <p:cNvPr id="17" name="guided-frame-1">
            <a:extLst xmlns:a="http://schemas.openxmlformats.org/drawingml/2006/main">
              <a:ext uri="{FF2B5EF4-FFF2-40B4-BE49-F238E27FC236}">
                <a16:creationId xmlns:a16="http://schemas.microsoft.com/office/drawing/2014/main" id="{29583777-3568-460B-95F5-C37EC4C6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81300"/>
            <a:ext cx="32004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50B18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77a4a1b3504007"/>
          <a:stretch xmlns:a="http://schemas.openxmlformats.org/drawingml/2006/main"/>
        </p:blipFill>
        <p:spPr>
          <a:xfrm xmlns:a="http://schemas.openxmlformats.org/drawingml/2006/main">
            <a:off x="4629150" y="3143794"/>
            <a:ext cx="3048000" cy="1637211"/>
          </a:xfrm>
          <a:prstGeom xmlns:a="http://schemas.openxmlformats.org/drawingml/2006/main" prst="roundRect">
            <a:avLst>
              <a:gd name="adj" fmla="val 5172"/>
            </a:avLst>
          </a:prstGeom>
        </p:spPr>
      </p:pic>
      <p:sp>
        <p:nvSpPr>
          <p:cNvPr id="19" name="guided-body-1">
            <a:extLst xmlns:a="http://schemas.openxmlformats.org/drawingml/2006/main">
              <a:ext uri="{FF2B5EF4-FFF2-40B4-BE49-F238E27FC236}">
                <a16:creationId xmlns:a16="http://schemas.microsoft.com/office/drawing/2014/main" id="{2FB9B5D8-507E-4856-A14C-4DE65559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372100"/>
            <a:ext cx="306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Lokale oder externe Modellquelle anbinden.</a:t>
            </a:r>
          </a:p>
        </p:txBody>
      </p:sp>
      <p:sp>
        <p:nvSpPr>
          <p:cNvPr id="20" name="guided-card-2">
            <a:extLst xmlns:a="http://schemas.openxmlformats.org/drawingml/2006/main">
              <a:ext uri="{FF2B5EF4-FFF2-40B4-BE49-F238E27FC236}">
                <a16:creationId xmlns:a16="http://schemas.microsoft.com/office/drawing/2014/main" id="{0FC7F1BA-A366-4688-AA58-0FB12228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14550"/>
            <a:ext cx="35433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1" name="guided-accent-2">
            <a:extLst xmlns:a="http://schemas.openxmlformats.org/drawingml/2006/main">
              <a:ext uri="{FF2B5EF4-FFF2-40B4-BE49-F238E27FC236}">
                <a16:creationId xmlns:a16="http://schemas.microsoft.com/office/drawing/2014/main" id="{58E8AA11-824A-4A76-901B-C633A8E0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14550"/>
            <a:ext cx="35433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guided-number-2">
            <a:extLst xmlns:a="http://schemas.openxmlformats.org/drawingml/2006/main">
              <a:ext uri="{FF2B5EF4-FFF2-40B4-BE49-F238E27FC236}">
                <a16:creationId xmlns:a16="http://schemas.microsoft.com/office/drawing/2014/main" id="{3C0AD646-6712-4886-A1E2-DC878B3F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62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23" name="guided-title-2">
            <a:extLst xmlns:a="http://schemas.openxmlformats.org/drawingml/2006/main">
              <a:ext uri="{FF2B5EF4-FFF2-40B4-BE49-F238E27FC236}">
                <a16:creationId xmlns:a16="http://schemas.microsoft.com/office/drawing/2014/main" id="{21AB2FE8-AFA6-441C-81B2-9301BAF8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241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Benutzer anlegen</a:t>
            </a:r>
          </a:p>
        </p:txBody>
      </p:sp>
      <p:sp>
        <p:nvSpPr>
          <p:cNvPr id="24" name="guided-frame-2">
            <a:extLst xmlns:a="http://schemas.openxmlformats.org/drawingml/2006/main">
              <a:ext uri="{FF2B5EF4-FFF2-40B4-BE49-F238E27FC236}">
                <a16:creationId xmlns:a16="http://schemas.microsoft.com/office/drawing/2014/main" id="{E70B5415-9A40-4A2A-80E1-3606D731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32004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50B18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e76f9fffa9454e"/>
          <a:stretch xmlns:a="http://schemas.openxmlformats.org/drawingml/2006/main"/>
        </p:blipFill>
        <p:spPr>
          <a:xfrm xmlns:a="http://schemas.openxmlformats.org/drawingml/2006/main">
            <a:off x="8496300" y="2880697"/>
            <a:ext cx="3048000" cy="2163407"/>
          </a:xfrm>
          <a:prstGeom xmlns:a="http://schemas.openxmlformats.org/drawingml/2006/main" prst="roundRect">
            <a:avLst>
              <a:gd name="adj" fmla="val 5172"/>
            </a:avLst>
          </a:prstGeom>
        </p:spPr>
      </p:pic>
      <p:sp>
        <p:nvSpPr>
          <p:cNvPr id="26" name="guided-body-2">
            <a:extLst xmlns:a="http://schemas.openxmlformats.org/drawingml/2006/main">
              <a:ext uri="{FF2B5EF4-FFF2-40B4-BE49-F238E27FC236}">
                <a16:creationId xmlns:a16="http://schemas.microsoft.com/office/drawing/2014/main" id="{F5D5A84F-FB93-4D7F-BA26-899BD6D8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372100"/>
            <a:ext cx="306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Rolle und ersten Zugang zentral vergeben.</a:t>
            </a:r>
          </a:p>
        </p:txBody>
      </p:sp>
    </p:spTree>
    <p:extLst>
      <p:ext uri="{BB962C8B-B14F-4D97-AF65-F5344CB8AC3E}">
        <p14:creationId xmlns:p14="http://schemas.microsoft.com/office/powerpoint/2010/main" val="20894007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6A44BC62-FCC4-46CB-929E-CF794C20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7BC55A6-48C2-4476-B7E8-E6B02B73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12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16FC6A1C-E8D0-405D-9E65-FE257BCB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DER PILOT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9D0F21A-1B28-404E-93DF-2893D2BB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In drei Schritten zum messbaren Pilotbetrieb</a:t>
            </a:r>
          </a:p>
        </p:txBody>
      </p:sp>
      <p:sp>
        <p:nvSpPr>
          <p:cNvPr id="5" name="pilot-number-0">
            <a:extLst xmlns:a="http://schemas.openxmlformats.org/drawingml/2006/main">
              <a:ext uri="{FF2B5EF4-FFF2-40B4-BE49-F238E27FC236}">
                <a16:creationId xmlns:a16="http://schemas.microsoft.com/office/drawing/2014/main" id="{0ECDC39A-9F5E-42FE-A205-0D831BD3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6" name="pilot-step-title-0">
            <a:extLst xmlns:a="http://schemas.openxmlformats.org/drawingml/2006/main">
              <a:ext uri="{FF2B5EF4-FFF2-40B4-BE49-F238E27FC236}">
                <a16:creationId xmlns:a16="http://schemas.microsoft.com/office/drawing/2014/main" id="{4C4E1973-43EF-4A15-A742-D7F2AD7E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574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Pilot festlegen</a:t>
            </a:r>
          </a:p>
        </p:txBody>
      </p:sp>
      <p:sp>
        <p:nvSpPr>
          <p:cNvPr id="7" name="pilot-step-body-0">
            <a:extLst xmlns:a="http://schemas.openxmlformats.org/drawingml/2006/main">
              <a:ext uri="{FF2B5EF4-FFF2-40B4-BE49-F238E27FC236}">
                <a16:creationId xmlns:a16="http://schemas.microsoft.com/office/drawing/2014/main" id="{69910931-1C34-4A00-9936-826514C24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4384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Use Case, Nutzergruppe und Zielumgebung</a:t>
            </a:r>
          </a:p>
        </p:txBody>
      </p:sp>
      <p:sp>
        <p:nvSpPr>
          <p:cNvPr id="8" name="pilot-number-1">
            <a:extLst xmlns:a="http://schemas.openxmlformats.org/drawingml/2006/main">
              <a:ext uri="{FF2B5EF4-FFF2-40B4-BE49-F238E27FC236}">
                <a16:creationId xmlns:a16="http://schemas.microsoft.com/office/drawing/2014/main" id="{B0738AF5-F95F-4066-8A21-183D1B73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9" name="pilot-step-title-1">
            <a:extLst xmlns:a="http://schemas.openxmlformats.org/drawingml/2006/main">
              <a:ext uri="{FF2B5EF4-FFF2-40B4-BE49-F238E27FC236}">
                <a16:creationId xmlns:a16="http://schemas.microsoft.com/office/drawing/2014/main" id="{1C684C6E-3E2B-41CA-86D4-513031C9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623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Magic Stick bereitstellen</a:t>
            </a:r>
          </a:p>
        </p:txBody>
      </p:sp>
      <p:sp>
        <p:nvSpPr>
          <p:cNvPr id="10" name="pilot-step-body-1">
            <a:extLst xmlns:a="http://schemas.openxmlformats.org/drawingml/2006/main">
              <a:ext uri="{FF2B5EF4-FFF2-40B4-BE49-F238E27FC236}">
                <a16:creationId xmlns:a16="http://schemas.microsoft.com/office/drawing/2014/main" id="{57BA7D62-3235-4778-A7AB-23D54D94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433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Installation, SSO und gewünschte Modellquellen</a:t>
            </a:r>
          </a:p>
        </p:txBody>
      </p:sp>
      <p:sp>
        <p:nvSpPr>
          <p:cNvPr id="11" name="pilot-number-2">
            <a:extLst xmlns:a="http://schemas.openxmlformats.org/drawingml/2006/main">
              <a:ext uri="{FF2B5EF4-FFF2-40B4-BE49-F238E27FC236}">
                <a16:creationId xmlns:a16="http://schemas.microsoft.com/office/drawing/2014/main" id="{46E3DC78-9D6D-4167-8ECE-EBB0F24A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2" name="pilot-step-title-2">
            <a:extLst xmlns:a="http://schemas.openxmlformats.org/drawingml/2006/main">
              <a:ext uri="{FF2B5EF4-FFF2-40B4-BE49-F238E27FC236}">
                <a16:creationId xmlns:a16="http://schemas.microsoft.com/office/drawing/2014/main" id="{FC996B72-E84E-472F-A975-A94C355A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2672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Nutzen nachweisen</a:t>
            </a:r>
          </a:p>
        </p:txBody>
      </p:sp>
      <p:sp>
        <p:nvSpPr>
          <p:cNvPr id="13" name="pilot-step-body-2">
            <a:extLst xmlns:a="http://schemas.openxmlformats.org/drawingml/2006/main">
              <a:ext uri="{FF2B5EF4-FFF2-40B4-BE49-F238E27FC236}">
                <a16:creationId xmlns:a16="http://schemas.microsoft.com/office/drawing/2014/main" id="{F0B8B2CA-ACFF-4558-B194-BCEB6A66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482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Qualität, Geschwindigkeit, Kosten und Akzeptanz messen</a:t>
            </a:r>
          </a:p>
        </p:txBody>
      </p:sp>
      <p:sp>
        <p:nvSpPr>
          <p:cNvPr id="14" name="tag-PILOT AUF IHRER INFRASTRUKTUR">
            <a:extLst xmlns:a="http://schemas.openxmlformats.org/drawingml/2006/main">
              <a:ext uri="{FF2B5EF4-FFF2-40B4-BE49-F238E27FC236}">
                <a16:creationId xmlns:a16="http://schemas.microsoft.com/office/drawing/2014/main" id="{F8802782-52F2-4997-B903-E525DAC9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32575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PILOT AUF IHRER INFRASTRUKTUR</a:t>
            </a:r>
          </a:p>
        </p:txBody>
      </p:sp>
      <p:sp>
        <p:nvSpPr>
          <p:cNvPr id="15" name="pilot-proof-label">
            <a:extLst xmlns:a="http://schemas.openxmlformats.org/drawingml/2006/main">
              <a:ext uri="{FF2B5EF4-FFF2-40B4-BE49-F238E27FC236}">
                <a16:creationId xmlns:a16="http://schemas.microsoft.com/office/drawing/2014/main" id="{B39E610B-C54F-4509-B518-39DC26E8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9240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ECHTER TESTSERVER · MODELL BEREIT</a:t>
            </a:r>
          </a:p>
        </p:txBody>
      </p:sp>
      <p:sp>
        <p:nvSpPr>
          <p:cNvPr id="16" name="pilot-proof-frame">
            <a:extLst xmlns:a="http://schemas.openxmlformats.org/drawingml/2006/main">
              <a:ext uri="{FF2B5EF4-FFF2-40B4-BE49-F238E27FC236}">
                <a16:creationId xmlns:a16="http://schemas.microsoft.com/office/drawing/2014/main" id="{88BDA1B1-82A5-4233-B96E-498DAEA8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209800"/>
            <a:ext cx="565785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7ff2bee8d04575"/>
          <a:stretch xmlns:a="http://schemas.openxmlformats.org/drawingml/2006/main"/>
        </p:blipFill>
        <p:spPr>
          <a:xfrm xmlns:a="http://schemas.openxmlformats.org/drawingml/2006/main">
            <a:off x="6000750" y="2571672"/>
            <a:ext cx="5353050" cy="2838606"/>
          </a:xfrm>
          <a:prstGeom xmlns:a="http://schemas.openxmlformats.org/drawingml/2006/main" prst="roundRect">
            <a:avLst>
              <a:gd name="adj" fmla="val 5263"/>
            </a:avLst>
          </a:prstGeom>
        </p:spPr>
      </p:pic>
    </p:spTree>
    <p:extLst>
      <p:ext uri="{BB962C8B-B14F-4D97-AF65-F5344CB8AC3E}">
        <p14:creationId xmlns:p14="http://schemas.microsoft.com/office/powerpoint/2010/main" val="6351531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ta-violet-band">
            <a:extLst xmlns:a="http://schemas.openxmlformats.org/drawingml/2006/main">
              <a:ext uri="{FF2B5EF4-FFF2-40B4-BE49-F238E27FC236}">
                <a16:creationId xmlns:a16="http://schemas.microsoft.com/office/drawing/2014/main" id="{3E2C89B9-7B1D-4A47-A138-8EE21516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0"/>
            <a:ext cx="2571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ta-cyan-band">
            <a:extLst xmlns:a="http://schemas.openxmlformats.org/drawingml/2006/main">
              <a:ext uri="{FF2B5EF4-FFF2-40B4-BE49-F238E27FC236}">
                <a16:creationId xmlns:a16="http://schemas.microsoft.com/office/drawing/2014/main" id="{0F40CEB1-B024-4EBB-B3C4-313BCAF5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ta-glow">
            <a:extLst xmlns:a="http://schemas.openxmlformats.org/drawingml/2006/main">
              <a:ext uri="{FF2B5EF4-FFF2-40B4-BE49-F238E27FC236}">
                <a16:creationId xmlns:a16="http://schemas.microsoft.com/office/drawing/2014/main" id="{B0F2DF70-4601-4CF2-A5A2-68358DC9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971550"/>
            <a:ext cx="1181100" cy="1181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023A9147-B9C5-4C4B-88C8-9B17FFEF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NÄCHSTER SCHRITT · PILOT</a:t>
            </a:r>
          </a:p>
        </p:txBody>
      </p:sp>
      <p:sp>
        <p:nvSpPr>
          <p:cNvPr id="5" name="cta-title">
            <a:extLst xmlns:a="http://schemas.openxmlformats.org/drawingml/2006/main">
              <a:ext uri="{FF2B5EF4-FFF2-40B4-BE49-F238E27FC236}">
                <a16:creationId xmlns:a16="http://schemas.microsoft.com/office/drawing/2014/main" id="{333B9048-2D52-4BD3-93B5-59B5D6D4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75247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2000"/>
              </a:lnSpc>
              <a:buNone/>
              <a:defRPr sz="45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5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Bringen wir Ihre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45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5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KI-Plattform unter Kontrolle.</a:t>
            </a:r>
          </a:p>
        </p:txBody>
      </p:sp>
      <p:sp>
        <p:nvSpPr>
          <p:cNvPr id="6" name="cta-subtitle">
            <a:extLst xmlns:a="http://schemas.openxmlformats.org/drawingml/2006/main">
              <a:ext uri="{FF2B5EF4-FFF2-40B4-BE49-F238E27FC236}">
                <a16:creationId xmlns:a16="http://schemas.microsoft.com/office/drawing/2014/main" id="{F146BB9B-C9A7-43D9-9974-0A68DD1F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Pilot auf Ihrer Infrastruktur · Preise und Umfang auf Anfrage</a:t>
            </a:r>
          </a:p>
        </p:txBody>
      </p:sp>
      <p:sp>
        <p:nvSpPr>
          <p:cNvPr id="7" name="cta-contact">
            <a:extLst xmlns:a="http://schemas.openxmlformats.org/drawingml/2006/main">
              <a:ext uri="{FF2B5EF4-FFF2-40B4-BE49-F238E27FC236}">
                <a16:creationId xmlns:a16="http://schemas.microsoft.com/office/drawing/2014/main" id="{197599F1-7374-4579-83BB-322B60B9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hello@qualityminds.de</a:t>
            </a:r>
          </a:p>
        </p:txBody>
      </p:sp>
      <p:sp>
        <p:nvSpPr>
          <p:cNvPr id="8" name="cta-company">
            <a:extLst xmlns:a="http://schemas.openxmlformats.org/drawingml/2006/main">
              <a:ext uri="{FF2B5EF4-FFF2-40B4-BE49-F238E27FC236}">
                <a16:creationId xmlns:a16="http://schemas.microsoft.com/office/drawing/2014/main" id="{0A06EDC9-A6FF-4858-A1AF-502344E13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CA3B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CA3BE"/>
                </a:solidFill>
                <a:latin typeface="Avenir Next"/>
                <a:ea typeface="Avenir Next"/>
                <a:cs typeface="Avenir Next"/>
              </a:rPr>
              <a:t>QUALITYMINDS</a:t>
            </a:r>
          </a:p>
        </p:txBody>
      </p:sp>
    </p:spTree>
    <p:extLst>
      <p:ext uri="{BB962C8B-B14F-4D97-AF65-F5344CB8AC3E}">
        <p14:creationId xmlns:p14="http://schemas.microsoft.com/office/powerpoint/2010/main" val="7503754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2026-08-20T07:20:47.8900000Z</dcterms:created>
  <dcterms:modified xsi:type="dcterms:W3CDTF">2026-08-20T07:20:47.8900000Z</dcterms:modified>
</coreProperties>
</file>