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cb332386e42496b" /><Relationship Type="http://schemas.openxmlformats.org/officeDocument/2006/relationships/extended-properties" Target="/docProps/app.xml" Id="R37d8597ef1eb4dc3" /><Relationship Type="http://schemas.openxmlformats.org/officeDocument/2006/relationships/officeDocument" Target="/ppt/presentation.xml" Id="Re94ba05dc1a44ad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5f5c6851542431c"/>
  </p:sldMasterIdLst>
  <p:notesMasterIdLst>
    <p:notesMasterId xmlns:r="http://schemas.openxmlformats.org/officeDocument/2006/relationships" r:id="Rac1390a606dd47da"/>
  </p:notesMasterIdLst>
  <p:sldIdLst>
    <p:sldId xmlns:r="http://schemas.openxmlformats.org/officeDocument/2006/relationships" id="256" r:id="R242d76f7d8774026"/>
    <p:sldId xmlns:r="http://schemas.openxmlformats.org/officeDocument/2006/relationships" id="257" r:id="Raf3373eeeef24f0f"/>
    <p:sldId xmlns:r="http://schemas.openxmlformats.org/officeDocument/2006/relationships" id="258" r:id="R4aaa523b0c91414f"/>
    <p:sldId xmlns:r="http://schemas.openxmlformats.org/officeDocument/2006/relationships" id="259" r:id="R5ad10c6beb164727"/>
    <p:sldId xmlns:r="http://schemas.openxmlformats.org/officeDocument/2006/relationships" id="260" r:id="Rcef3f7e9fb544749"/>
    <p:sldId xmlns:r="http://schemas.openxmlformats.org/officeDocument/2006/relationships" id="261" r:id="R0bdefd54f8f64f7d"/>
    <p:sldId xmlns:r="http://schemas.openxmlformats.org/officeDocument/2006/relationships" id="262" r:id="R2452819391904906"/>
    <p:sldId xmlns:r="http://schemas.openxmlformats.org/officeDocument/2006/relationships" id="263" r:id="Rfb383fb3a0994a22"/>
    <p:sldId xmlns:r="http://schemas.openxmlformats.org/officeDocument/2006/relationships" id="264" r:id="R7596df5f1a1c4ba1"/>
    <p:sldId xmlns:r="http://schemas.openxmlformats.org/officeDocument/2006/relationships" id="265" r:id="R820b8730587244ca"/>
    <p:sldId xmlns:r="http://schemas.openxmlformats.org/officeDocument/2006/relationships" id="266" r:id="Re9b442d7be6b4f9c"/>
    <p:sldId xmlns:r="http://schemas.openxmlformats.org/officeDocument/2006/relationships" id="267" r:id="R480c6018fdf640c7"/>
    <p:sldId xmlns:r="http://schemas.openxmlformats.org/officeDocument/2006/relationships" id="268" r:id="Re802c86c8aa449d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053bc124de84f79" /><Relationship Type="http://schemas.openxmlformats.org/officeDocument/2006/relationships/slideMaster" Target="/ppt/slideMasters/slideMaster1.xml" Id="R55f5c6851542431c" /><Relationship Type="http://schemas.openxmlformats.org/officeDocument/2006/relationships/notesMaster" Target="/ppt/notesMasters/notesMaster1.xml" Id="Rac1390a606dd47da" /><Relationship Type="http://schemas.openxmlformats.org/officeDocument/2006/relationships/presProps" Target="/ppt/presProps.xml" Id="Re29ed4b3da5a4f8f" /><Relationship Type="http://schemas.openxmlformats.org/officeDocument/2006/relationships/tableStyles" Target="/ppt/tableStyles.xml" Id="Ra041b91f508747ae" /><Relationship Type="http://schemas.openxmlformats.org/officeDocument/2006/relationships/slide" Target="/ppt/slides/slide1.xml" Id="R242d76f7d8774026" /><Relationship Type="http://schemas.openxmlformats.org/officeDocument/2006/relationships/slide" Target="/ppt/slides/slide2.xml" Id="Raf3373eeeef24f0f" /><Relationship Type="http://schemas.openxmlformats.org/officeDocument/2006/relationships/slide" Target="/ppt/slides/slide3.xml" Id="R4aaa523b0c91414f" /><Relationship Type="http://schemas.openxmlformats.org/officeDocument/2006/relationships/slide" Target="/ppt/slides/slide4.xml" Id="R5ad10c6beb164727" /><Relationship Type="http://schemas.openxmlformats.org/officeDocument/2006/relationships/slide" Target="/ppt/slides/slide5.xml" Id="Rcef3f7e9fb544749" /><Relationship Type="http://schemas.openxmlformats.org/officeDocument/2006/relationships/slide" Target="/ppt/slides/slide6.xml" Id="R0bdefd54f8f64f7d" /><Relationship Type="http://schemas.openxmlformats.org/officeDocument/2006/relationships/slide" Target="/ppt/slides/slide7.xml" Id="R2452819391904906" /><Relationship Type="http://schemas.openxmlformats.org/officeDocument/2006/relationships/slide" Target="/ppt/slides/slide8.xml" Id="Rfb383fb3a0994a22" /><Relationship Type="http://schemas.openxmlformats.org/officeDocument/2006/relationships/slide" Target="/ppt/slides/slide9.xml" Id="R7596df5f1a1c4ba1" /><Relationship Type="http://schemas.openxmlformats.org/officeDocument/2006/relationships/slide" Target="/ppt/slides/slide10.xml" Id="R820b8730587244ca" /><Relationship Type="http://schemas.openxmlformats.org/officeDocument/2006/relationships/slide" Target="/ppt/slides/slide11.xml" Id="Re9b442d7be6b4f9c" /><Relationship Type="http://schemas.openxmlformats.org/officeDocument/2006/relationships/slide" Target="/ppt/slides/slide12.xml" Id="R480c6018fdf640c7" /><Relationship Type="http://schemas.openxmlformats.org/officeDocument/2006/relationships/slide" Target="/ppt/slides/slide13.xml" Id="Re802c86c8aa449d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0ddd524274f4a5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2e4c7c6b483422b" /><Relationship Type="http://schemas.openxmlformats.org/officeDocument/2006/relationships/notesMaster" Target="/ppt/notesMasters/notesMaster1.xml" Id="Rb8a5b8ad661a435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0def6ffaf444acf" /><Relationship Type="http://schemas.openxmlformats.org/officeDocument/2006/relationships/notesMaster" Target="/ppt/notesMasters/notesMaster1.xml" Id="R451d64f54d39451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bc3c15af61a46a1" /><Relationship Type="http://schemas.openxmlformats.org/officeDocument/2006/relationships/notesMaster" Target="/ppt/notesMasters/notesMaster1.xml" Id="R99dbb893af3746d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28b9b2057454532" /><Relationship Type="http://schemas.openxmlformats.org/officeDocument/2006/relationships/notesMaster" Target="/ppt/notesMasters/notesMaster1.xml" Id="Ra1bbb300f0c6435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67e656ed6774d9f" /><Relationship Type="http://schemas.openxmlformats.org/officeDocument/2006/relationships/notesMaster" Target="/ppt/notesMasters/notesMaster1.xml" Id="R356b3da278c3425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40da3bfbcd94152" /><Relationship Type="http://schemas.openxmlformats.org/officeDocument/2006/relationships/notesMaster" Target="/ppt/notesMasters/notesMaster1.xml" Id="Rf5edf9834eca4a1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df9757be99745de" /><Relationship Type="http://schemas.openxmlformats.org/officeDocument/2006/relationships/notesMaster" Target="/ppt/notesMasters/notesMaster1.xml" Id="R7f5707e61cae40f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a7e79b6a3f048b7" /><Relationship Type="http://schemas.openxmlformats.org/officeDocument/2006/relationships/notesMaster" Target="/ppt/notesMasters/notesMaster1.xml" Id="Rbb3ce4b188a84c7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92ef77b24c743c2" /><Relationship Type="http://schemas.openxmlformats.org/officeDocument/2006/relationships/notesMaster" Target="/ppt/notesMasters/notesMaster1.xml" Id="Ra725c89031754e6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853aa9b83e246ce" /><Relationship Type="http://schemas.openxmlformats.org/officeDocument/2006/relationships/notesMaster" Target="/ppt/notesMasters/notesMaster1.xml" Id="Rf368a260b23c42b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da032232ace44d6" /><Relationship Type="http://schemas.openxmlformats.org/officeDocument/2006/relationships/notesMaster" Target="/ppt/notesMasters/notesMaster1.xml" Id="R2b1053fb2cf4473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3720cdd6e0b4276" /><Relationship Type="http://schemas.openxmlformats.org/officeDocument/2006/relationships/notesMaster" Target="/ppt/notesMasters/notesMaster1.xml" Id="R0862ec97316d4e8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fd2bfa6f1ff49cf" /><Relationship Type="http://schemas.openxmlformats.org/officeDocument/2006/relationships/notesMaster" Target="/ppt/notesMasters/notesMaster1.xml" Id="R2f2ead9bc78d4f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Public repository state: 13b9d83 (2026-09-01).</a:t>
            </a:r>
          </a:p>
          <a:p xmlns:a="http://schemas.openxmlformats.org/drawingml/2006/main">
            <a:r>
              <a:t>- README.md and docs/architecture.md.</a:t>
            </a:r>
          </a:p>
          <a:p xmlns:a="http://schemas.openxmlformats.org/drawingml/2006/main">
            <a:r>
              <a:t>- Existing Magic Stick hero artwork retained.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Public repository state: 13b9d83 (2026-09-01).</a:t>
            </a:r>
          </a:p>
          <a:p xmlns:a="http://schemas.openxmlformats.org/drawingml/2006/main">
            <a:r>
              <a:t>- docs/installation/README.md and docs/first-run-setup.md.</a:t>
            </a:r>
          </a:p>
          <a:p xmlns:a="http://schemas.openxmlformats.org/drawingml/2006/main">
            <a:r>
              <a:t>- Existing console capture retained; the updated claim describes the implemented protected First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Public repository state: 13b9d83 (2026-09-01).</a:t>
            </a:r>
          </a:p>
          <a:p xmlns:a="http://schemas.openxmlformats.org/drawingml/2006/main">
            <a:r>
              <a:t>- docs/dashboard.md and current dashboard implementation.</a:t>
            </a:r>
          </a:p>
          <a:p xmlns:a="http://schemas.openxmlformats.org/drawingml/2006/main">
            <a:r>
              <a:t>- Product screenshot will be captured from the current test server in Chrome.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Public repository state: 13b9d83 (2026-09-01).</a:t>
            </a:r>
          </a:p>
          <a:p xmlns:a="http://schemas.openxmlformats.org/drawingml/2006/main">
            <a:r>
              <a:t>- docs/installation/bare-metal.md, cloud-init-vm.md, existing-vm.md, existing-kubernetes.md.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Public repository state: 13b9d83 (2026-09-01).</a:t>
            </a:r>
          </a:p>
          <a:p xmlns:a="http://schemas.openxmlformats.org/drawingml/2006/main">
            <a:r>
              <a:t>- docs/model-catalog.md and compute-target documentation.</a:t>
            </a:r>
          </a:p>
          <a:p xmlns:a="http://schemas.openxmlformats.org/drawingml/2006/main">
            <a:r>
              <a:t>- vLLM: CPU, NVIDIA, AMD, Intel. Ollama: CPU, NVIDIA, AMD.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Public repository state: 13b9d83 (2026-09-01).</a:t>
            </a:r>
          </a:p>
          <a:p xmlns:a="http://schemas.openxmlformats.org/drawingml/2006/main">
            <a:r>
              <a:t>- docs/architecture.md, Flux manifests, Magic Stick Operator and hardware-provider lifecycle.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Public repository state: 13b9d83 (2026-09-01).</a:t>
            </a:r>
          </a:p>
          <a:p xmlns:a="http://schemas.openxmlformats.org/drawingml/2006/main">
            <a:r>
              <a:t>- module-catalog.yaml, app-catalog.yaml, docs/modules.md.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Public repository state: 13b9d83 (2026-09-01).</a:t>
            </a:r>
          </a:p>
          <a:p xmlns:a="http://schemas.openxmlformats.org/drawingml/2006/main">
            <a:r>
              <a:t>- docs/authentication.md and First Run implementation.</a:t>
            </a:r>
          </a:p>
          <a:p xmlns:a="http://schemas.openxmlformats.org/drawingml/2006/main">
            <a:r>
              <a:t>- Upstream providers are broker/integration targets, not preconfigured dashboard features.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Public repository state: 13b9d83 (2026-09-01).</a:t>
            </a:r>
          </a:p>
          <a:p xmlns:a="http://schemas.openxmlformats.org/drawingml/2006/main">
            <a:r>
              <a:t>- LICENSE, docs/dashboard.md and docs/authentication.md.</a:t>
            </a:r>
          </a:p>
          <a:p xmlns:a="http://schemas.openxmlformats.org/drawingml/2006/main">
            <a:r>
              <a:t>- Enterprise capabilities are a product target in conception, not shipped Community functionality.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Public repository state: 13b9d83 (2026-09-01).</a:t>
            </a:r>
          </a:p>
          <a:p xmlns:a="http://schemas.openxmlformats.org/drawingml/2006/main">
            <a:r>
              <a:t>- Enterprise target concept: resource-specific user/group assignments, scopes, delegated administration and audit.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Public repository state: 13b9d83 (2026-09-01).</a:t>
            </a:r>
          </a:p>
          <a:p xmlns:a="http://schemas.openxmlformats.org/drawingml/2006/main">
            <a:r>
              <a:t>- Current dashboard workflows; screenshots will be captured from the current test server in Chrome.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Public repository state: 13b9d83 (2026-09-01).</a:t>
            </a:r>
          </a:p>
          <a:p xmlns:a="http://schemas.openxmlformats.org/drawingml/2006/main">
            <a:r>
              <a:t>- docs/installation/README.md and current dashboard workflows.</a:t>
            </a:r>
          </a:p>
          <a:p xmlns:a="http://schemas.openxmlformats.org/drawingml/2006/main">
            <a:r>
              <a:t>- Product screenshot will be captured from the current test server in Chrome.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Public repository state: 13b9d83 (2026-09-01).</a:t>
            </a:r>
          </a:p>
          <a:p xmlns:a="http://schemas.openxmlformats.org/drawingml/2006/main">
            <a:r>
              <a:t>- SECURITY.md, docs/legal-notice.html and public repository URL.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1486844afd4ff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a5ff1dc58f94324" /><Relationship Type="http://schemas.openxmlformats.org/officeDocument/2006/relationships/slideLayout" Target="/ppt/slideLayouts/slideLayout1.xml" Id="R2f33a2dbf2ae4d5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33a2dbf2ae4d5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17239a47f84b66" /><Relationship Type="http://schemas.openxmlformats.org/officeDocument/2006/relationships/image" Target="/ppt/media/image.png" Id="R544c4491b5794911" /><Relationship Type="http://schemas.openxmlformats.org/officeDocument/2006/relationships/notesSlide" Target="/ppt/notesSlides/notesSlide1.xml" Id="R8c143ae54b204de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a22772e546487e" /><Relationship Type="http://schemas.openxmlformats.org/officeDocument/2006/relationships/image" Target="/ppt/media/image.jpeg" Id="R4d421eeb88724544" /><Relationship Type="http://schemas.openxmlformats.org/officeDocument/2006/relationships/notesSlide" Target="/ppt/notesSlides/notesSlide2.xml" Id="Ra242b32a65d04f0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93d4752e4f45b1" /><Relationship Type="http://schemas.openxmlformats.org/officeDocument/2006/relationships/image" Target="/ppt/media/image2.jpeg" Id="R7fe948bcdffd4827" /><Relationship Type="http://schemas.openxmlformats.org/officeDocument/2006/relationships/notesSlide" Target="/ppt/notesSlides/notesSlide3.xml" Id="Rc295d23acde84e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eb376db45f4e08" /><Relationship Type="http://schemas.openxmlformats.org/officeDocument/2006/relationships/notesSlide" Target="/ppt/notesSlides/notesSlide4.xml" Id="R7492aa8d7872438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fb9e8e6f06411f" /><Relationship Type="http://schemas.openxmlformats.org/officeDocument/2006/relationships/image" Target="/ppt/media/image2.png" Id="R47eed8d08f394499" /><Relationship Type="http://schemas.openxmlformats.org/officeDocument/2006/relationships/notesSlide" Target="/ppt/notesSlides/notesSlide5.xml" Id="Rbe86e75984b548c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4c877069bf4af5" /><Relationship Type="http://schemas.openxmlformats.org/officeDocument/2006/relationships/notesSlide" Target="/ppt/notesSlides/notesSlide6.xml" Id="Rf3a7cb62648c4ea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e0501bd17b4835" /><Relationship Type="http://schemas.openxmlformats.org/officeDocument/2006/relationships/image" Target="/ppt/media/image3.png" Id="R43b602ff18ee42a4" /><Relationship Type="http://schemas.openxmlformats.org/officeDocument/2006/relationships/notesSlide" Target="/ppt/notesSlides/notesSlide7.xml" Id="Ree8e664fac5f42d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071672ea51412b" /><Relationship Type="http://schemas.openxmlformats.org/officeDocument/2006/relationships/notesSlide" Target="/ppt/notesSlides/notesSlide8.xml" Id="Re5380ae6cadb43e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c36983b610454e" /><Relationship Type="http://schemas.openxmlformats.org/officeDocument/2006/relationships/notesSlide" Target="/ppt/notesSlides/notesSlide9.xml" Id="R252d38362c134da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1792405761477a" /><Relationship Type="http://schemas.openxmlformats.org/officeDocument/2006/relationships/image" Target="/ppt/media/image4.png" Id="R7c5e7354d0614e09" /><Relationship Type="http://schemas.openxmlformats.org/officeDocument/2006/relationships/notesSlide" Target="/ppt/notesSlides/notesSlide10.xml" Id="Re0385ba12807409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dc2ac2ace149ad" /><Relationship Type="http://schemas.openxmlformats.org/officeDocument/2006/relationships/image" Target="/ppt/media/image3.jpeg" Id="R5f2defd685804817" /><Relationship Type="http://schemas.openxmlformats.org/officeDocument/2006/relationships/image" Target="/ppt/media/image4.jpeg" Id="R686f56b4598545ae" /><Relationship Type="http://schemas.openxmlformats.org/officeDocument/2006/relationships/image" Target="/ppt/media/image5.jpeg" Id="R30625055366143d4" /><Relationship Type="http://schemas.openxmlformats.org/officeDocument/2006/relationships/notesSlide" Target="/ppt/notesSlides/notesSlide11.xml" Id="R41250cadf0fc45a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d4de8d1e8f4b1e" /><Relationship Type="http://schemas.openxmlformats.org/officeDocument/2006/relationships/image" Target="/ppt/media/image6.jpeg" Id="Rf17f66e6aac644cd" /><Relationship Type="http://schemas.openxmlformats.org/officeDocument/2006/relationships/notesSlide" Target="/ppt/notesSlides/notesSlide12.xml" Id="Rce20e0ab4f87470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dacfe9b2d444c0" /><Relationship Type="http://schemas.openxmlformats.org/officeDocument/2006/relationships/notesSlide" Target="/ppt/notesSlides/notesSlide13.xml" Id="R9b6658b8b3c541e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4c4491b579491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hero-copy-panel">
            <a:extLst xmlns:a="http://schemas.openxmlformats.org/drawingml/2006/main">
              <a:ext uri="{FF2B5EF4-FFF2-40B4-BE49-F238E27FC236}">
                <a16:creationId xmlns:a16="http://schemas.microsoft.com/office/drawing/2014/main" id="{E1210A75-AD7B-45FE-9715-8B680302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09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570800CC-E0E0-4D5B-AF00-B0320607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OPEN SOURCE AI APPLIANCE</a:t>
            </a:r>
          </a:p>
        </p:txBody>
      </p:sp>
      <p:sp>
        <p:nvSpPr>
          <p:cNvPr id="4" name="hero-title">
            <a:extLst xmlns:a="http://schemas.openxmlformats.org/drawingml/2006/main">
              <a:ext uri="{FF2B5EF4-FFF2-40B4-BE49-F238E27FC236}">
                <a16:creationId xmlns:a16="http://schemas.microsoft.com/office/drawing/2014/main" id="{47911193-4E62-4CC0-8575-3ADD29FD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51435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0000"/>
              </a:lnSpc>
              <a:buNone/>
              <a:defRPr sz="48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48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Ihre KI-Plattform.</a:t>
            </a:r>
          </a:p>
          <a:p xmlns:a="http://schemas.openxmlformats.org/drawingml/2006/main">
            <a:pPr>
              <a:lnSpc>
                <a:spcPct val="90000"/>
              </a:lnSpc>
              <a:buNone/>
              <a:defRPr sz="48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48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Unter Ihrer Kontrolle.</a:t>
            </a:r>
          </a:p>
        </p:txBody>
      </p:sp>
      <p:sp>
        <p:nvSpPr>
          <p:cNvPr id="5" name="hero-subtitle">
            <a:extLst xmlns:a="http://schemas.openxmlformats.org/drawingml/2006/main">
              <a:ext uri="{FF2B5EF4-FFF2-40B4-BE49-F238E27FC236}">
                <a16:creationId xmlns:a16="http://schemas.microsoft.com/office/drawing/2014/main" id="{8C61C155-0B0D-4588-9F3B-E2FFA892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87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7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Auf eigener Hardware, in der Cloud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7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7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oder im vorhandenen Kubernetes-Cluster.</a:t>
            </a:r>
          </a:p>
        </p:txBody>
      </p:sp>
      <p:sp>
        <p:nvSpPr>
          <p:cNvPr id="6" name="tag-LOCAL-FIRST">
            <a:extLst xmlns:a="http://schemas.openxmlformats.org/drawingml/2006/main">
              <a:ext uri="{FF2B5EF4-FFF2-40B4-BE49-F238E27FC236}">
                <a16:creationId xmlns:a16="http://schemas.microsoft.com/office/drawing/2014/main" id="{7BB95C7E-FFE6-47C7-9252-00D430963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14287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LOCAL-FIRST</a:t>
            </a:r>
          </a:p>
        </p:txBody>
      </p:sp>
      <p:sp>
        <p:nvSpPr>
          <p:cNvPr id="7" name="tag-HYBRID">
            <a:extLst xmlns:a="http://schemas.openxmlformats.org/drawingml/2006/main">
              <a:ext uri="{FF2B5EF4-FFF2-40B4-BE49-F238E27FC236}">
                <a16:creationId xmlns:a16="http://schemas.microsoft.com/office/drawing/2014/main" id="{F3B5F95E-8EB1-4419-8E87-CAB30263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124450"/>
            <a:ext cx="10096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38BDF8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38BDF8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8BDF8"/>
                </a:solidFill>
                <a:latin typeface="Avenir Next"/>
                <a:ea typeface="Avenir Next"/>
                <a:cs typeface="Avenir Next"/>
              </a:rPr>
              <a:t>HYBRID</a:t>
            </a:r>
          </a:p>
        </p:txBody>
      </p:sp>
      <p:sp>
        <p:nvSpPr>
          <p:cNvPr id="8" name="tag-OPEN">
            <a:extLst xmlns:a="http://schemas.openxmlformats.org/drawingml/2006/main">
              <a:ext uri="{FF2B5EF4-FFF2-40B4-BE49-F238E27FC236}">
                <a16:creationId xmlns:a16="http://schemas.microsoft.com/office/drawing/2014/main" id="{F3D58804-459E-424E-B807-568CF5A6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124450"/>
            <a:ext cx="8953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OPEN</a:t>
            </a:r>
          </a:p>
        </p:txBody>
      </p:sp>
      <p:sp>
        <p:nvSpPr>
          <p:cNvPr id="9" name="qualityminds">
            <a:extLst xmlns:a="http://schemas.openxmlformats.org/drawingml/2006/main">
              <a:ext uri="{FF2B5EF4-FFF2-40B4-BE49-F238E27FC236}">
                <a16:creationId xmlns:a16="http://schemas.microsoft.com/office/drawing/2014/main" id="{4BE3276B-E3A0-4775-B5AA-86F4C368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14350"/>
            <a:ext cx="1600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B8C9DD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B8C9DD"/>
                </a:solidFill>
                <a:latin typeface="Avenir Next"/>
                <a:ea typeface="Avenir Next"/>
                <a:cs typeface="Avenir Next"/>
              </a:rPr>
              <a:t>QUALITYMINDS</a:t>
            </a:r>
          </a:p>
        </p:txBody>
      </p:sp>
    </p:spTree>
    <p:extLst>
      <p:ext uri="{BB962C8B-B14F-4D97-AF65-F5344CB8AC3E}">
        <p14:creationId xmlns:p14="http://schemas.microsoft.com/office/powerpoint/2010/main" val="6455617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D657BBDD-3C65-4CA3-A644-63FC75C9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1CEF70D-CF6F-4F5C-A9F1-7DAF3FBF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966C18B7-7BD1-4DC1-9EDB-6C4BF4222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DIE REALITÄT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CAAD781-3995-4060-BDAD-CD4EDD2D2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581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Die Herausforderung ist nicht das Modell</a:t>
            </a:r>
          </a:p>
        </p:txBody>
      </p:sp>
      <p:sp>
        <p:nvSpPr>
          <p:cNvPr id="5" name="problem-lead">
            <a:extLst xmlns:a="http://schemas.openxmlformats.org/drawingml/2006/main">
              <a:ext uri="{FF2B5EF4-FFF2-40B4-BE49-F238E27FC236}">
                <a16:creationId xmlns:a16="http://schemas.microsoft.com/office/drawing/2014/main" id="{473DB350-A00F-4518-9AB3-95FAFD208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5143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87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7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Produktive KI entsteht erst, wenn sechs technische Grenzen zusammenspielen.</a:t>
            </a:r>
          </a:p>
        </p:txBody>
      </p:sp>
      <p:sp>
        <p:nvSpPr>
          <p:cNvPr id="6" name="problem-dot-0">
            <a:extLst xmlns:a="http://schemas.openxmlformats.org/drawingml/2006/main">
              <a:ext uri="{FF2B5EF4-FFF2-40B4-BE49-F238E27FC236}">
                <a16:creationId xmlns:a16="http://schemas.microsoft.com/office/drawing/2014/main" id="{629B8594-3D7C-4F3E-9B84-B27D8500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roblem-item-0">
            <a:extLst xmlns:a="http://schemas.openxmlformats.org/drawingml/2006/main">
              <a:ext uri="{FF2B5EF4-FFF2-40B4-BE49-F238E27FC236}">
                <a16:creationId xmlns:a16="http://schemas.microsoft.com/office/drawing/2014/main" id="{FBD4866A-921F-4F60-B1F4-4C439D4F1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432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Installation</a:t>
            </a:r>
          </a:p>
        </p:txBody>
      </p:sp>
      <p:sp>
        <p:nvSpPr>
          <p:cNvPr id="8" name="problem-dot-1">
            <a:extLst xmlns:a="http://schemas.openxmlformats.org/drawingml/2006/main">
              <a:ext uri="{FF2B5EF4-FFF2-40B4-BE49-F238E27FC236}">
                <a16:creationId xmlns:a16="http://schemas.microsoft.com/office/drawing/2014/main" id="{31B17CBA-8C23-40F3-9F56-EFB3B26F5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670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roblem-item-1">
            <a:extLst xmlns:a="http://schemas.openxmlformats.org/drawingml/2006/main">
              <a:ext uri="{FF2B5EF4-FFF2-40B4-BE49-F238E27FC236}">
                <a16:creationId xmlns:a16="http://schemas.microsoft.com/office/drawing/2014/main" id="{B7B7D41C-837A-400C-8384-121B3BAB0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432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GitOps</a:t>
            </a:r>
          </a:p>
        </p:txBody>
      </p:sp>
      <p:sp>
        <p:nvSpPr>
          <p:cNvPr id="10" name="problem-dot-2">
            <a:extLst xmlns:a="http://schemas.openxmlformats.org/drawingml/2006/main">
              <a:ext uri="{FF2B5EF4-FFF2-40B4-BE49-F238E27FC236}">
                <a16:creationId xmlns:a16="http://schemas.microsoft.com/office/drawing/2014/main" id="{46CB54DE-D163-412F-9414-52171F73D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roblem-item-2">
            <a:extLst xmlns:a="http://schemas.openxmlformats.org/drawingml/2006/main">
              <a:ext uri="{FF2B5EF4-FFF2-40B4-BE49-F238E27FC236}">
                <a16:creationId xmlns:a16="http://schemas.microsoft.com/office/drawing/2014/main" id="{DE8D0DD3-E4A5-4C17-ADC0-31B91D7F7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909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Netzwerk</a:t>
            </a:r>
          </a:p>
        </p:txBody>
      </p:sp>
      <p:sp>
        <p:nvSpPr>
          <p:cNvPr id="12" name="problem-dot-3">
            <a:extLst xmlns:a="http://schemas.openxmlformats.org/drawingml/2006/main">
              <a:ext uri="{FF2B5EF4-FFF2-40B4-BE49-F238E27FC236}">
                <a16:creationId xmlns:a16="http://schemas.microsoft.com/office/drawing/2014/main" id="{68977283-D06E-4A82-89CD-03091EFAF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7147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roblem-item-3">
            <a:extLst xmlns:a="http://schemas.openxmlformats.org/drawingml/2006/main">
              <a:ext uri="{FF2B5EF4-FFF2-40B4-BE49-F238E27FC236}">
                <a16:creationId xmlns:a16="http://schemas.microsoft.com/office/drawing/2014/main" id="{C8A012D1-AB11-4E29-908C-69088005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909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Identität</a:t>
            </a:r>
          </a:p>
        </p:txBody>
      </p:sp>
      <p:sp>
        <p:nvSpPr>
          <p:cNvPr id="14" name="problem-dot-4">
            <a:extLst xmlns:a="http://schemas.openxmlformats.org/drawingml/2006/main">
              <a:ext uri="{FF2B5EF4-FFF2-40B4-BE49-F238E27FC236}">
                <a16:creationId xmlns:a16="http://schemas.microsoft.com/office/drawing/2014/main" id="{B352F90F-F667-4F06-A031-55B3E0FA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roblem-item-4">
            <a:extLst xmlns:a="http://schemas.openxmlformats.org/drawingml/2006/main">
              <a:ext uri="{FF2B5EF4-FFF2-40B4-BE49-F238E27FC236}">
                <a16:creationId xmlns:a16="http://schemas.microsoft.com/office/drawing/2014/main" id="{B0AA1220-A43D-4056-A758-5E1DFA43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386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Modelle</a:t>
            </a:r>
          </a:p>
        </p:txBody>
      </p:sp>
      <p:sp>
        <p:nvSpPr>
          <p:cNvPr id="16" name="problem-dot-5">
            <a:extLst xmlns:a="http://schemas.openxmlformats.org/drawingml/2006/main">
              <a:ext uri="{FF2B5EF4-FFF2-40B4-BE49-F238E27FC236}">
                <a16:creationId xmlns:a16="http://schemas.microsoft.com/office/drawing/2014/main" id="{35910B41-B4FA-46B6-9B8E-8F0D26A31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3624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roblem-item-5">
            <a:extLst xmlns:a="http://schemas.openxmlformats.org/drawingml/2006/main">
              <a:ext uri="{FF2B5EF4-FFF2-40B4-BE49-F238E27FC236}">
                <a16:creationId xmlns:a16="http://schemas.microsoft.com/office/drawing/2014/main" id="{61FABD15-B568-46E8-85C6-07F8DBE5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386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Anwendungen</a:t>
            </a:r>
          </a:p>
        </p:txBody>
      </p:sp>
      <p:sp>
        <p:nvSpPr>
          <p:cNvPr id="18" name="terminal-frame">
            <a:extLst xmlns:a="http://schemas.openxmlformats.org/drawingml/2006/main">
              <a:ext uri="{FF2B5EF4-FFF2-40B4-BE49-F238E27FC236}">
                <a16:creationId xmlns:a16="http://schemas.microsoft.com/office/drawing/2014/main" id="{1ECB56CF-F27A-4E9C-B3D4-224856476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143000"/>
            <a:ext cx="5124450" cy="4476750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421eeb88724544"/>
          <a:srcRect xmlns:a="http://schemas.openxmlformats.org/drawingml/2006/main" l="12070" t="0" r="1207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53200" y="1314450"/>
            <a:ext cx="4781550" cy="4133850"/>
          </a:xfrm>
          <a:prstGeom xmlns:a="http://schemas.openxmlformats.org/drawingml/2006/main" prst="roundRect">
            <a:avLst>
              <a:gd name="adj" fmla="val 4608"/>
            </a:avLst>
          </a:prstGeom>
        </p:spPr>
      </p:pic>
      <p:sp>
        <p:nvSpPr>
          <p:cNvPr id="20" name="tag-EIN PRODUKT STATT SECHS BAUSTELLEN">
            <a:extLst xmlns:a="http://schemas.openxmlformats.org/drawingml/2006/main">
              <a:ext uri="{FF2B5EF4-FFF2-40B4-BE49-F238E27FC236}">
                <a16:creationId xmlns:a16="http://schemas.microsoft.com/office/drawing/2014/main" id="{E1F3C630-A82E-4B28-883E-E53E61098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086350"/>
            <a:ext cx="43243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SICHERER FIRST RUN · KEIN DEFAULT-PASSWORT</a:t>
            </a:r>
          </a:p>
        </p:txBody>
      </p:sp>
    </p:spTree>
    <p:extLst>
      <p:ext uri="{BB962C8B-B14F-4D97-AF65-F5344CB8AC3E}">
        <p14:creationId xmlns:p14="http://schemas.microsoft.com/office/powerpoint/2010/main" val="556131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BEDD8DD2-66B0-4EE8-88A1-10015763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4066EE3-4723-49C1-9860-FC08DE34A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BF8A3B08-CC98-416B-9614-0DB08CAE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CONTROL PLANE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5950E5F-C5DE-4D04-81FE-797011CB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Eine Oberfläche steuert Services, Modelle und Benutzer</a:t>
            </a:r>
          </a:p>
        </p:txBody>
      </p:sp>
      <p:sp>
        <p:nvSpPr>
          <p:cNvPr id="5" name="dashboard-copy">
            <a:extLst xmlns:a="http://schemas.openxmlformats.org/drawingml/2006/main">
              <a:ext uri="{FF2B5EF4-FFF2-40B4-BE49-F238E27FC236}">
                <a16:creationId xmlns:a16="http://schemas.microsoft.com/office/drawing/2014/main" id="{D3917849-9DB3-4DD9-B911-284DE7F3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Services bündeln Module und Instanzen.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Modelle nutzen nur verfügbare Hardware.</a:t>
            </a:r>
          </a:p>
        </p:txBody>
      </p:sp>
      <p:sp>
        <p:nvSpPr>
          <p:cNvPr id="6" name="dashboard-divider">
            <a:extLst xmlns:a="http://schemas.openxmlformats.org/drawingml/2006/main">
              <a:ext uri="{FF2B5EF4-FFF2-40B4-BE49-F238E27FC236}">
                <a16:creationId xmlns:a16="http://schemas.microsoft.com/office/drawing/2014/main" id="{2E53289E-E005-4B6E-A19E-11E34690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4415F"/>
            </a:solidFill>
            <a:prstDash val="solid"/>
          </a:ln>
        </p:spPr>
      </p:sp>
      <p:sp>
        <p:nvSpPr>
          <p:cNvPr id="7" name="dashboard-proof">
            <a:extLst xmlns:a="http://schemas.openxmlformats.org/drawingml/2006/main">
              <a:ext uri="{FF2B5EF4-FFF2-40B4-BE49-F238E27FC236}">
                <a16:creationId xmlns:a16="http://schemas.microsoft.com/office/drawing/2014/main" id="{4E355DC2-8B18-4DD5-BC53-A501A8E2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3810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575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575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SSO und Rollen schützen die Zugänge.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575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575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Kubernetes bleibt das Fundament.</a:t>
            </a:r>
          </a:p>
        </p:txBody>
      </p:sp>
      <p:sp>
        <p:nvSpPr>
          <p:cNvPr id="8" name="tag-CONNECTED">
            <a:extLst xmlns:a="http://schemas.openxmlformats.org/drawingml/2006/main">
              <a:ext uri="{FF2B5EF4-FFF2-40B4-BE49-F238E27FC236}">
                <a16:creationId xmlns:a16="http://schemas.microsoft.com/office/drawing/2014/main" id="{5774BC3C-4029-4BB9-98B1-76874ADED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12573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AKTUELLER STAND</a:t>
            </a:r>
          </a:p>
        </p:txBody>
      </p:sp>
      <p:sp>
        <p:nvSpPr>
          <p:cNvPr id="9" name="dashboard-frame">
            <a:extLst xmlns:a="http://schemas.openxmlformats.org/drawingml/2006/main">
              <a:ext uri="{FF2B5EF4-FFF2-40B4-BE49-F238E27FC236}">
                <a16:creationId xmlns:a16="http://schemas.microsoft.com/office/drawing/2014/main" id="{62FDBA7A-CBAA-486D-9641-98B1D9DD2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52600"/>
            <a:ext cx="6362700" cy="4095750"/>
          </a:xfrm>
          <a:prstGeom xmlns:a="http://schemas.openxmlformats.org/drawingml/2006/main" prst="roundRect">
            <a:avLst>
              <a:gd name="adj" fmla="val 6512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e948bcdffd4827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5314950" y="2174833"/>
            <a:ext cx="6019800" cy="3251283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90599133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28020345-D7E8-42A9-9F38-97D9EE749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F01963B-EA36-4D01-8A73-647E94FAA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DAF73F52-7F31-4CAD-95DF-F4958BFEF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EIN BETRIEBSMODELL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AF63596-E7ED-423D-9E95-9428484E2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Vier Startpunkte. Ein Zielzustand.</a:t>
            </a:r>
          </a:p>
        </p:txBody>
      </p:sp>
      <p:sp>
        <p:nvSpPr>
          <p:cNvPr id="5" name="deploy-lead">
            <a:extLst xmlns:a="http://schemas.openxmlformats.org/drawingml/2006/main">
              <a:ext uri="{FF2B5EF4-FFF2-40B4-BE49-F238E27FC236}">
                <a16:creationId xmlns:a16="http://schemas.microsoft.com/office/drawing/2014/main" id="{8C03F186-E9A3-4D51-B50A-FDE6D9847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USB, Cloud-init, Ubuntu-Skript oder vorhandenes Kubernetes.</a:t>
            </a:r>
          </a:p>
        </p:txBody>
      </p:sp>
      <p:sp>
        <p:nvSpPr>
          <p:cNvPr id="6" name="deploy-line-1">
            <a:extLst xmlns:a="http://schemas.openxmlformats.org/drawingml/2006/main">
              <a:ext uri="{FF2B5EF4-FFF2-40B4-BE49-F238E27FC236}">
                <a16:creationId xmlns:a16="http://schemas.microsoft.com/office/drawing/2014/main" id="{DDCB640C-70A8-4BA1-97AC-1154BAF5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429000"/>
            <a:ext cx="165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D3EE"/>
            </a:solidFill>
            <a:prstDash val="solid"/>
          </a:ln>
        </p:spPr>
      </p:sp>
      <p:sp>
        <p:nvSpPr>
          <p:cNvPr id="7" name="deploy-line-2">
            <a:extLst xmlns:a="http://schemas.openxmlformats.org/drawingml/2006/main">
              <a:ext uri="{FF2B5EF4-FFF2-40B4-BE49-F238E27FC236}">
                <a16:creationId xmlns:a16="http://schemas.microsoft.com/office/drawing/2014/main" id="{38E737B3-5DD7-4092-880F-A1B559CD6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3429000"/>
            <a:ext cx="165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D3EE"/>
            </a:solidFill>
            <a:prstDash val="solid"/>
          </a:ln>
        </p:spPr>
      </p:sp>
      <p:sp>
        <p:nvSpPr>
          <p:cNvPr id="8" name="deploy-line-3">
            <a:extLst xmlns:a="http://schemas.openxmlformats.org/drawingml/2006/main">
              <a:ext uri="{FF2B5EF4-FFF2-40B4-BE49-F238E27FC236}">
                <a16:creationId xmlns:a16="http://schemas.microsoft.com/office/drawing/2014/main" id="{C0A6269F-C244-4617-BCDD-1BA22A43D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429000"/>
            <a:ext cx="165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D3EE"/>
            </a:solidFill>
            <a:prstDash val="solid"/>
          </a:ln>
        </p:spPr>
      </p:sp>
      <p:sp>
        <p:nvSpPr>
          <p:cNvPr id="9" name="deploy-number-0">
            <a:extLst xmlns:a="http://schemas.openxmlformats.org/drawingml/2006/main">
              <a:ext uri="{FF2B5EF4-FFF2-40B4-BE49-F238E27FC236}">
                <a16:creationId xmlns:a16="http://schemas.microsoft.com/office/drawing/2014/main" id="{01C125FF-FD3A-4F8C-8249-8324363B3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33700"/>
            <a:ext cx="838200" cy="838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deploy-number-text-0">
            <a:extLst xmlns:a="http://schemas.openxmlformats.org/drawingml/2006/main">
              <a:ext uri="{FF2B5EF4-FFF2-40B4-BE49-F238E27FC236}">
                <a16:creationId xmlns:a16="http://schemas.microsoft.com/office/drawing/2014/main" id="{E3FF9D06-27ED-4190-BD15-550EFF6A0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3372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11" name="deploy-title-0">
            <a:extLst xmlns:a="http://schemas.openxmlformats.org/drawingml/2006/main">
              <a:ext uri="{FF2B5EF4-FFF2-40B4-BE49-F238E27FC236}">
                <a16:creationId xmlns:a16="http://schemas.microsoft.com/office/drawing/2014/main" id="{1064272F-C89B-4E23-9D73-8A113F113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9575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Hardware</a:t>
            </a:r>
          </a:p>
        </p:txBody>
      </p:sp>
      <p:sp>
        <p:nvSpPr>
          <p:cNvPr id="12" name="deploy-body-0">
            <a:extLst xmlns:a="http://schemas.openxmlformats.org/drawingml/2006/main">
              <a:ext uri="{FF2B5EF4-FFF2-40B4-BE49-F238E27FC236}">
                <a16:creationId xmlns:a16="http://schemas.microsoft.com/office/drawing/2014/main" id="{D002A069-630D-432A-BF80-03749807B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72000"/>
            <a:ext cx="2324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350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USB-Installer + sicherer First Run</a:t>
            </a:r>
          </a:p>
        </p:txBody>
      </p:sp>
      <p:sp>
        <p:nvSpPr>
          <p:cNvPr id="13" name="deploy-number-1">
            <a:extLst xmlns:a="http://schemas.openxmlformats.org/drawingml/2006/main">
              <a:ext uri="{FF2B5EF4-FFF2-40B4-BE49-F238E27FC236}">
                <a16:creationId xmlns:a16="http://schemas.microsoft.com/office/drawing/2014/main" id="{3DBE7336-8F20-4901-85F8-2FC7A94D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933700"/>
            <a:ext cx="838200" cy="838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4" name="deploy-number-text-1">
            <a:extLst xmlns:a="http://schemas.openxmlformats.org/drawingml/2006/main">
              <a:ext uri="{FF2B5EF4-FFF2-40B4-BE49-F238E27FC236}">
                <a16:creationId xmlns:a16="http://schemas.microsoft.com/office/drawing/2014/main" id="{A6406289-EFC2-4AAE-BD4F-07664EB1A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13372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5" name="deploy-title-1">
            <a:extLst xmlns:a="http://schemas.openxmlformats.org/drawingml/2006/main">
              <a:ext uri="{FF2B5EF4-FFF2-40B4-BE49-F238E27FC236}">
                <a16:creationId xmlns:a16="http://schemas.microsoft.com/office/drawing/2014/main" id="{7789CDC9-FD0C-4CD3-BBAF-82D8B68D9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9575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Neue Cloud-VM</a:t>
            </a:r>
          </a:p>
        </p:txBody>
      </p:sp>
      <p:sp>
        <p:nvSpPr>
          <p:cNvPr id="16" name="deploy-body-1">
            <a:extLst xmlns:a="http://schemas.openxmlformats.org/drawingml/2006/main">
              <a:ext uri="{FF2B5EF4-FFF2-40B4-BE49-F238E27FC236}">
                <a16:creationId xmlns:a16="http://schemas.microsoft.com/office/drawing/2014/main" id="{64B14715-F9B4-4A27-A9AA-B59EBF8E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572000"/>
            <a:ext cx="2324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350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Cloud-init + sicherer First Run</a:t>
            </a:r>
          </a:p>
        </p:txBody>
      </p:sp>
      <p:sp>
        <p:nvSpPr>
          <p:cNvPr id="17" name="deploy-number-2">
            <a:extLst xmlns:a="http://schemas.openxmlformats.org/drawingml/2006/main">
              <a:ext uri="{FF2B5EF4-FFF2-40B4-BE49-F238E27FC236}">
                <a16:creationId xmlns:a16="http://schemas.microsoft.com/office/drawing/2014/main" id="{4C9DC61C-61CD-4D6F-B5F2-0550BB642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933700"/>
            <a:ext cx="838200" cy="838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8" name="deploy-number-text-2">
            <a:extLst xmlns:a="http://schemas.openxmlformats.org/drawingml/2006/main">
              <a:ext uri="{FF2B5EF4-FFF2-40B4-BE49-F238E27FC236}">
                <a16:creationId xmlns:a16="http://schemas.microsoft.com/office/drawing/2014/main" id="{E3467D21-F2C8-4756-972D-F815FCDB2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13372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19" name="deploy-title-2">
            <a:extLst xmlns:a="http://schemas.openxmlformats.org/drawingml/2006/main">
              <a:ext uri="{FF2B5EF4-FFF2-40B4-BE49-F238E27FC236}">
                <a16:creationId xmlns:a16="http://schemas.microsoft.com/office/drawing/2014/main" id="{C777A778-5F1E-4858-843F-10EAF28F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09575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Bestehende VM</a:t>
            </a:r>
          </a:p>
        </p:txBody>
      </p:sp>
      <p:sp>
        <p:nvSpPr>
          <p:cNvPr id="20" name="deploy-body-2">
            <a:extLst xmlns:a="http://schemas.openxmlformats.org/drawingml/2006/main">
              <a:ext uri="{FF2B5EF4-FFF2-40B4-BE49-F238E27FC236}">
                <a16:creationId xmlns:a16="http://schemas.microsoft.com/office/drawing/2014/main" id="{E4D9D0DB-A283-470E-8071-C6B5B29EB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572000"/>
            <a:ext cx="2324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350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install-from-linux.sh auf Ubuntu 24.04</a:t>
            </a:r>
          </a:p>
        </p:txBody>
      </p:sp>
      <p:sp>
        <p:nvSpPr>
          <p:cNvPr id="21" name="deploy-number-3">
            <a:extLst xmlns:a="http://schemas.openxmlformats.org/drawingml/2006/main">
              <a:ext uri="{FF2B5EF4-FFF2-40B4-BE49-F238E27FC236}">
                <a16:creationId xmlns:a16="http://schemas.microsoft.com/office/drawing/2014/main" id="{751282DC-E7F6-4640-B134-54F4162CD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933700"/>
            <a:ext cx="838200" cy="838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22" name="deploy-number-text-3">
            <a:extLst xmlns:a="http://schemas.openxmlformats.org/drawingml/2006/main">
              <a:ext uri="{FF2B5EF4-FFF2-40B4-BE49-F238E27FC236}">
                <a16:creationId xmlns:a16="http://schemas.microsoft.com/office/drawing/2014/main" id="{B815FABC-4D50-4AB7-AAC7-091470902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3372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23" name="deploy-title-3">
            <a:extLst xmlns:a="http://schemas.openxmlformats.org/drawingml/2006/main">
              <a:ext uri="{FF2B5EF4-FFF2-40B4-BE49-F238E27FC236}">
                <a16:creationId xmlns:a16="http://schemas.microsoft.com/office/drawing/2014/main" id="{D5E42D26-9522-4221-9E11-5D23C00A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09575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Kubernetes</a:t>
            </a:r>
          </a:p>
        </p:txBody>
      </p:sp>
      <p:sp>
        <p:nvSpPr>
          <p:cNvPr id="24" name="deploy-body-3">
            <a:extLst xmlns:a="http://schemas.openxmlformats.org/drawingml/2006/main">
              <a:ext uri="{FF2B5EF4-FFF2-40B4-BE49-F238E27FC236}">
                <a16:creationId xmlns:a16="http://schemas.microsoft.com/office/drawing/2014/main" id="{8B04396E-65BE-4240-BCB1-C567CE617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572000"/>
            <a:ext cx="2324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350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deploy-on-k8s.sh/.ps1 + Flux</a:t>
            </a:r>
          </a:p>
        </p:txBody>
      </p:sp>
    </p:spTree>
    <p:extLst>
      <p:ext uri="{BB962C8B-B14F-4D97-AF65-F5344CB8AC3E}">
        <p14:creationId xmlns:p14="http://schemas.microsoft.com/office/powerpoint/2010/main" val="6504633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eed8d08f394499"/>
          <a:srcRect xmlns:a="http://schemas.openxmlformats.org/drawingml/2006/main" l="16388" t="0" r="1638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0" y="0"/>
            <a:ext cx="8191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hybrid-copy-panel">
            <a:extLst xmlns:a="http://schemas.openxmlformats.org/drawingml/2006/main">
              <a:ext uri="{FF2B5EF4-FFF2-40B4-BE49-F238E27FC236}">
                <a16:creationId xmlns:a16="http://schemas.microsoft.com/office/drawing/2014/main" id="{E07A2568-BA7A-492F-8AE6-9953DABD2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762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AB950608-0F1B-4509-AE5C-699ED960F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MODELLSTRATEGIE</a:t>
            </a:r>
          </a:p>
        </p:txBody>
      </p:sp>
      <p:sp>
        <p:nvSpPr>
          <p:cNvPr id="4" name="hybrid-title">
            <a:extLst xmlns:a="http://schemas.openxmlformats.org/drawingml/2006/main">
              <a:ext uri="{FF2B5EF4-FFF2-40B4-BE49-F238E27FC236}">
                <a16:creationId xmlns:a16="http://schemas.microsoft.com/office/drawing/2014/main" id="{AB16E886-118D-40F7-B396-EAC464F74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3905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2000"/>
              </a:lnSpc>
              <a:buNone/>
              <a:defRPr sz="33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Ein Modellzugang.</a:t>
            </a:r>
          </a:p>
          <a:p xmlns:a="http://schemas.openxmlformats.org/drawingml/2006/main">
            <a:pPr>
              <a:lnSpc>
                <a:spcPct val="92000"/>
              </a:lnSpc>
              <a:buNone/>
              <a:defRPr sz="33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Mehrere Laufzeiten.</a:t>
            </a:r>
          </a:p>
        </p:txBody>
      </p:sp>
      <p:sp>
        <p:nvSpPr>
          <p:cNvPr id="5" name="hybrid-copy">
            <a:extLst xmlns:a="http://schemas.openxmlformats.org/drawingml/2006/main">
              <a:ext uri="{FF2B5EF4-FFF2-40B4-BE49-F238E27FC236}">
                <a16:creationId xmlns:a16="http://schemas.microsoft.com/office/drawing/2014/main" id="{74BCA774-2557-47D2-9B21-149A88A1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3714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LiteLLM bündelt externe Provider.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KubeAI startet lokale Modelle nur bei Bedarf.</a:t>
            </a:r>
          </a:p>
        </p:txBody>
      </p:sp>
      <p:sp>
        <p:nvSpPr>
          <p:cNvPr id="6" name="tag-GPU-NEUTRALE BASIS">
            <a:extLst xmlns:a="http://schemas.openxmlformats.org/drawingml/2006/main">
              <a:ext uri="{FF2B5EF4-FFF2-40B4-BE49-F238E27FC236}">
                <a16:creationId xmlns:a16="http://schemas.microsoft.com/office/drawing/2014/main" id="{724F006E-BAA1-4E1F-8A43-8CCCCE257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20574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VLLM · CPU + 3 GPU-TYPEN</a:t>
            </a:r>
          </a:p>
        </p:txBody>
      </p:sp>
      <p:sp>
        <p:nvSpPr>
          <p:cNvPr id="7" name="tag-OPENAI-KOMPATIBEL">
            <a:extLst xmlns:a="http://schemas.openxmlformats.org/drawingml/2006/main">
              <a:ext uri="{FF2B5EF4-FFF2-40B4-BE49-F238E27FC236}">
                <a16:creationId xmlns:a16="http://schemas.microsoft.com/office/drawing/2014/main" id="{F2910298-D6FA-4A7B-9412-44827CD1B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05425"/>
            <a:ext cx="21526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OLLAMA · CPU + NVIDIA/AMD</a:t>
            </a:r>
          </a:p>
        </p:txBody>
      </p:sp>
      <p:sp>
        <p:nvSpPr>
          <p:cNvPr id="8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785DF2F5-10A4-4B24-8F3A-3EA5CDBF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9789FDE-AE83-4989-8FB3-6C705F9B1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443841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B4FED71C-4E91-41CE-AD83-0C38469F2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2FE50A5-BB2A-4FE4-8C1B-C6AF22B92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06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AD433B31-076F-4870-B642-2B6C1A371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DEKLARATIVER CONTROL PLANE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358F3F3-D277-4C1E-8096-DF486B8B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4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4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Vier Schichten. Wiederholbarer Betrieb.</a:t>
            </a:r>
          </a:p>
        </p:txBody>
      </p:sp>
      <p:sp>
        <p:nvSpPr>
          <p:cNvPr id="5" name="architecture-lead">
            <a:extLst xmlns:a="http://schemas.openxmlformats.org/drawingml/2006/main">
              <a:ext uri="{FF2B5EF4-FFF2-40B4-BE49-F238E27FC236}">
                <a16:creationId xmlns:a16="http://schemas.microsoft.com/office/drawing/2014/main" id="{2519588D-B8F1-46E0-9F9F-BF4DAFDB8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800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Von der Installation bis zum Modell bleibt der Sollzustand versioniert.</a:t>
            </a:r>
          </a:p>
        </p:txBody>
      </p:sp>
      <p:sp>
        <p:nvSpPr>
          <p:cNvPr id="6" name="layer-0">
            <a:extLst xmlns:a="http://schemas.openxmlformats.org/drawingml/2006/main">
              <a:ext uri="{FF2B5EF4-FFF2-40B4-BE49-F238E27FC236}">
                <a16:creationId xmlns:a16="http://schemas.microsoft.com/office/drawing/2014/main" id="{A92C6721-738F-4216-B56D-F3919B0D3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0820400" cy="62865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7" name="layer-bar-0">
            <a:extLst xmlns:a="http://schemas.openxmlformats.org/drawingml/2006/main">
              <a:ext uri="{FF2B5EF4-FFF2-40B4-BE49-F238E27FC236}">
                <a16:creationId xmlns:a16="http://schemas.microsoft.com/office/drawing/2014/main" id="{94D4CB0E-8928-423E-97FF-25BFAD92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85725" cy="6286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layer-number-0">
            <a:extLst xmlns:a="http://schemas.openxmlformats.org/drawingml/2006/main">
              <a:ext uri="{FF2B5EF4-FFF2-40B4-BE49-F238E27FC236}">
                <a16:creationId xmlns:a16="http://schemas.microsoft.com/office/drawing/2014/main" id="{5C53C113-C9EF-4BF8-90FB-D8604381E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90825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9" name="layer-title-0">
            <a:extLst xmlns:a="http://schemas.openxmlformats.org/drawingml/2006/main">
              <a:ext uri="{FF2B5EF4-FFF2-40B4-BE49-F238E27FC236}">
                <a16:creationId xmlns:a16="http://schemas.microsoft.com/office/drawing/2014/main" id="{AF44BF44-F451-4B00-8380-3D3719C7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622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Automation</a:t>
            </a:r>
          </a:p>
        </p:txBody>
      </p:sp>
      <p:sp>
        <p:nvSpPr>
          <p:cNvPr id="10" name="layer-detail-0">
            <a:extLst xmlns:a="http://schemas.openxmlformats.org/drawingml/2006/main">
              <a:ext uri="{FF2B5EF4-FFF2-40B4-BE49-F238E27FC236}">
                <a16:creationId xmlns:a16="http://schemas.microsoft.com/office/drawing/2014/main" id="{36F48A18-BBF3-4F90-950C-82964E6B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00350"/>
            <a:ext cx="417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USB · cloud-init · Install-Skripte</a:t>
            </a:r>
          </a:p>
        </p:txBody>
      </p:sp>
      <p:sp>
        <p:nvSpPr>
          <p:cNvPr id="11" name="layer-1">
            <a:extLst xmlns:a="http://schemas.openxmlformats.org/drawingml/2006/main">
              <a:ext uri="{FF2B5EF4-FFF2-40B4-BE49-F238E27FC236}">
                <a16:creationId xmlns:a16="http://schemas.microsoft.com/office/drawing/2014/main" id="{06B286B9-E838-4324-B08B-924738ED2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62865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2" name="layer-bar-1">
            <a:extLst xmlns:a="http://schemas.openxmlformats.org/drawingml/2006/main">
              <a:ext uri="{FF2B5EF4-FFF2-40B4-BE49-F238E27FC236}">
                <a16:creationId xmlns:a16="http://schemas.microsoft.com/office/drawing/2014/main" id="{748E7812-DFB8-4542-931B-C35DDB1B5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85725" cy="6286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layer-number-1">
            <a:extLst xmlns:a="http://schemas.openxmlformats.org/drawingml/2006/main">
              <a:ext uri="{FF2B5EF4-FFF2-40B4-BE49-F238E27FC236}">
                <a16:creationId xmlns:a16="http://schemas.microsoft.com/office/drawing/2014/main" id="{C23E496D-6119-4289-8CE2-90CA84C4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09975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38BDF8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38BDF8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4" name="layer-title-1">
            <a:extLst xmlns:a="http://schemas.openxmlformats.org/drawingml/2006/main">
              <a:ext uri="{FF2B5EF4-FFF2-40B4-BE49-F238E27FC236}">
                <a16:creationId xmlns:a16="http://schemas.microsoft.com/office/drawing/2014/main" id="{D4D7148D-3C9E-47F9-94BA-13FD4A4E5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5814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GitOps</a:t>
            </a:r>
          </a:p>
        </p:txBody>
      </p:sp>
      <p:sp>
        <p:nvSpPr>
          <p:cNvPr id="15" name="layer-detail-1">
            <a:extLst xmlns:a="http://schemas.openxmlformats.org/drawingml/2006/main">
              <a:ext uri="{FF2B5EF4-FFF2-40B4-BE49-F238E27FC236}">
                <a16:creationId xmlns:a16="http://schemas.microsoft.com/office/drawing/2014/main" id="{30175DBE-1CA8-4E80-9C11-0E8AFF770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19500"/>
            <a:ext cx="417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Kubernetes/K3s · Flux</a:t>
            </a:r>
          </a:p>
        </p:txBody>
      </p:sp>
      <p:sp>
        <p:nvSpPr>
          <p:cNvPr id="16" name="layer-2">
            <a:extLst xmlns:a="http://schemas.openxmlformats.org/drawingml/2006/main">
              <a:ext uri="{FF2B5EF4-FFF2-40B4-BE49-F238E27FC236}">
                <a16:creationId xmlns:a16="http://schemas.microsoft.com/office/drawing/2014/main" id="{0EF058A1-8E87-4C3A-A024-6E079266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10820400" cy="62865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7" name="layer-bar-2">
            <a:extLst xmlns:a="http://schemas.openxmlformats.org/drawingml/2006/main">
              <a:ext uri="{FF2B5EF4-FFF2-40B4-BE49-F238E27FC236}">
                <a16:creationId xmlns:a16="http://schemas.microsoft.com/office/drawing/2014/main" id="{D95EE72F-B5B0-4BE4-8319-4D79F44A3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85725" cy="6286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layer-number-2">
            <a:extLst xmlns:a="http://schemas.openxmlformats.org/drawingml/2006/main">
              <a:ext uri="{FF2B5EF4-FFF2-40B4-BE49-F238E27FC236}">
                <a16:creationId xmlns:a16="http://schemas.microsoft.com/office/drawing/2014/main" id="{6212AA2E-E445-4386-BD54-F1F5F5995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29125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19" name="layer-title-2">
            <a:extLst xmlns:a="http://schemas.openxmlformats.org/drawingml/2006/main">
              <a:ext uri="{FF2B5EF4-FFF2-40B4-BE49-F238E27FC236}">
                <a16:creationId xmlns:a16="http://schemas.microsoft.com/office/drawing/2014/main" id="{B6B7CB4C-1C80-416E-BD9B-1737F804D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4005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Identität</a:t>
            </a:r>
          </a:p>
        </p:txBody>
      </p:sp>
      <p:sp>
        <p:nvSpPr>
          <p:cNvPr id="20" name="layer-detail-2">
            <a:extLst xmlns:a="http://schemas.openxmlformats.org/drawingml/2006/main">
              <a:ext uri="{FF2B5EF4-FFF2-40B4-BE49-F238E27FC236}">
                <a16:creationId xmlns:a16="http://schemas.microsoft.com/office/drawing/2014/main" id="{E6EBCD84-C954-4E0F-BB10-1F210B236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38650"/>
            <a:ext cx="417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Envoy · Keycloak · First Run</a:t>
            </a:r>
          </a:p>
        </p:txBody>
      </p:sp>
      <p:sp>
        <p:nvSpPr>
          <p:cNvPr id="21" name="layer-3">
            <a:extLst xmlns:a="http://schemas.openxmlformats.org/drawingml/2006/main">
              <a:ext uri="{FF2B5EF4-FFF2-40B4-BE49-F238E27FC236}">
                <a16:creationId xmlns:a16="http://schemas.microsoft.com/office/drawing/2014/main" id="{238D0C50-90C0-4D7B-BBB9-FED95F61C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10820400" cy="62865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22" name="layer-bar-3">
            <a:extLst xmlns:a="http://schemas.openxmlformats.org/drawingml/2006/main">
              <a:ext uri="{FF2B5EF4-FFF2-40B4-BE49-F238E27FC236}">
                <a16:creationId xmlns:a16="http://schemas.microsoft.com/office/drawing/2014/main" id="{E202C055-A07A-4859-A004-E1E874CA1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85725" cy="628650"/>
          </a:xfrm>
          <a:prstGeom xmlns:a="http://schemas.openxmlformats.org/drawingml/2006/main" prst="roundRect">
            <a:avLst>
              <a:gd name="adj" fmla="val 44444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layer-number-3">
            <a:extLst xmlns:a="http://schemas.openxmlformats.org/drawingml/2006/main">
              <a:ext uri="{FF2B5EF4-FFF2-40B4-BE49-F238E27FC236}">
                <a16:creationId xmlns:a16="http://schemas.microsoft.com/office/drawing/2014/main" id="{6960E9B5-A652-49BF-AC8F-22E9B18F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48275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24" name="layer-title-3">
            <a:extLst xmlns:a="http://schemas.openxmlformats.org/drawingml/2006/main">
              <a:ext uri="{FF2B5EF4-FFF2-40B4-BE49-F238E27FC236}">
                <a16:creationId xmlns:a16="http://schemas.microsoft.com/office/drawing/2014/main" id="{E7EE075F-5E28-4CB2-BD3B-B26F772CE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2197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AI Workloads</a:t>
            </a:r>
          </a:p>
        </p:txBody>
      </p:sp>
      <p:sp>
        <p:nvSpPr>
          <p:cNvPr id="25" name="layer-detail-3">
            <a:extLst xmlns:a="http://schemas.openxmlformats.org/drawingml/2006/main">
              <a:ext uri="{FF2B5EF4-FFF2-40B4-BE49-F238E27FC236}">
                <a16:creationId xmlns:a16="http://schemas.microsoft.com/office/drawing/2014/main" id="{56337E75-D9E4-4A5C-95F3-FA5CC51CA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257800"/>
            <a:ext cx="417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Operator · KubeAI · LiteLLM · Apps</a:t>
            </a:r>
          </a:p>
        </p:txBody>
      </p:sp>
    </p:spTree>
    <p:extLst>
      <p:ext uri="{BB962C8B-B14F-4D97-AF65-F5344CB8AC3E}">
        <p14:creationId xmlns:p14="http://schemas.microsoft.com/office/powerpoint/2010/main" val="19442361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b602ff18ee42a4"/>
          <a:srcRect xmlns:a="http://schemas.openxmlformats.org/drawingml/2006/main" l="9422" t="0" r="942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29000" y="781050"/>
            <a:ext cx="8763000" cy="6076950"/>
          </a:xfrm>
          <a:prstGeom xmlns:a="http://schemas.openxmlformats.org/drawingml/2006/main" prst="rect">
            <a:avLst/>
          </a:prstGeom>
        </p:spPr>
      </p:pic>
      <p:sp>
        <p:nvSpPr>
          <p:cNvPr id="2" name="apps-copy-panel">
            <a:extLst xmlns:a="http://schemas.openxmlformats.org/drawingml/2006/main">
              <a:ext uri="{FF2B5EF4-FFF2-40B4-BE49-F238E27FC236}">
                <a16:creationId xmlns:a16="http://schemas.microsoft.com/office/drawing/2014/main" id="{DD6273E0-772C-45D9-B3F2-A96D671E8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6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766C1D39-D726-43A9-9652-F30F80DAD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ANWENDUNGEN</a:t>
            </a:r>
          </a:p>
        </p:txBody>
      </p:sp>
      <p:sp>
        <p:nvSpPr>
          <p:cNvPr id="4" name="apps-title">
            <a:extLst xmlns:a="http://schemas.openxmlformats.org/drawingml/2006/main">
              <a:ext uri="{FF2B5EF4-FFF2-40B4-BE49-F238E27FC236}">
                <a16:creationId xmlns:a16="http://schemas.microsoft.com/office/drawing/2014/main" id="{BB0DBB31-D5D2-44AC-991B-6AE941EF3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34290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2000"/>
              </a:lnSpc>
              <a:buNone/>
              <a:defRPr sz="42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42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Chat, Agenten</a:t>
            </a:r>
          </a:p>
          <a:p xmlns:a="http://schemas.openxmlformats.org/drawingml/2006/main">
            <a:pPr>
              <a:lnSpc>
                <a:spcPct val="92000"/>
              </a:lnSpc>
              <a:buNone/>
              <a:defRPr sz="42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42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und Coding</a:t>
            </a:r>
          </a:p>
        </p:txBody>
      </p:sp>
      <p:sp>
        <p:nvSpPr>
          <p:cNvPr id="5" name="apps-copy">
            <a:extLst xmlns:a="http://schemas.openxmlformats.org/drawingml/2006/main">
              <a:ext uri="{FF2B5EF4-FFF2-40B4-BE49-F238E27FC236}">
                <a16:creationId xmlns:a16="http://schemas.microsoft.com/office/drawing/2014/main" id="{108837D4-846F-44DD-BA3B-1126E2172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3143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AnythingLLM bündelt Wissen.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OpenClaw, Hermes, Paperclip,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7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KubeOpenCode · Odysseus.</a:t>
            </a:r>
          </a:p>
        </p:txBody>
      </p:sp>
      <p:sp>
        <p:nvSpPr>
          <p:cNvPr id="6" name="tag-ANYTHINGLLM">
            <a:extLst xmlns:a="http://schemas.openxmlformats.org/drawingml/2006/main">
              <a:ext uri="{FF2B5EF4-FFF2-40B4-BE49-F238E27FC236}">
                <a16:creationId xmlns:a16="http://schemas.microsoft.com/office/drawing/2014/main" id="{79459B4D-0454-4B99-81E1-B17E1E07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15621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ANYTHINGLLM</a:t>
            </a:r>
          </a:p>
        </p:txBody>
      </p:sp>
      <p:sp>
        <p:nvSpPr>
          <p:cNvPr id="7" name="tag-OPENCLAW · HERMES">
            <a:extLst xmlns:a="http://schemas.openxmlformats.org/drawingml/2006/main">
              <a:ext uri="{FF2B5EF4-FFF2-40B4-BE49-F238E27FC236}">
                <a16:creationId xmlns:a16="http://schemas.microsoft.com/office/drawing/2014/main" id="{9FA4CBE4-CA80-41C2-AD6F-27CD530EA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21336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38BDF8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38BDF8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8BDF8"/>
                </a:solidFill>
                <a:latin typeface="Avenir Next"/>
                <a:ea typeface="Avenir Next"/>
                <a:cs typeface="Avenir Next"/>
              </a:rPr>
              <a:t>OPENCLAW · HERMES</a:t>
            </a:r>
          </a:p>
        </p:txBody>
      </p:sp>
      <p:sp>
        <p:nvSpPr>
          <p:cNvPr id="8" name="tag-PAPERCLIP · KUBEOPENCODE">
            <a:extLst xmlns:a="http://schemas.openxmlformats.org/drawingml/2006/main">
              <a:ext uri="{FF2B5EF4-FFF2-40B4-BE49-F238E27FC236}">
                <a16:creationId xmlns:a16="http://schemas.microsoft.com/office/drawing/2014/main" id="{B790825B-C0DD-4273-B7E1-31A4DCD0C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27813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PAPERCLIP · KUBEOPENCODE</a:t>
            </a:r>
          </a:p>
        </p:txBody>
      </p:sp>
      <p:sp>
        <p:nvSpPr>
          <p:cNvPr id="9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C853599F-3F4E-410E-B3A4-6FCA07B91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E2C55BF-1AC2-4B2E-8FCE-E5F1340C3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14224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A5AB3AF5-8866-4389-9BCE-253E42E1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3B55DB9-A12A-4CEE-9EEB-45D86B49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08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E68882CD-87A3-4C53-B376-B406E1EF2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EINE IDENTITÄTSGRENZE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7C384BC-A24D-46CC-A371-243E0D2F8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Lokales SSO schützt jede Route</a:t>
            </a:r>
          </a:p>
        </p:txBody>
      </p:sp>
      <p:sp>
        <p:nvSpPr>
          <p:cNvPr id="5" name="identity-line-local">
            <a:extLst xmlns:a="http://schemas.openxmlformats.org/drawingml/2006/main">
              <a:ext uri="{FF2B5EF4-FFF2-40B4-BE49-F238E27FC236}">
                <a16:creationId xmlns:a16="http://schemas.microsoft.com/office/drawing/2014/main" id="{24B43AFC-0BCE-4DA3-8E3D-43FF45A9A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467100"/>
            <a:ext cx="165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2D3EE"/>
            </a:solidFill>
            <a:prstDash val="solid"/>
          </a:ln>
        </p:spPr>
      </p:sp>
      <p:sp>
        <p:nvSpPr>
          <p:cNvPr id="6" name="identity-line-upstream">
            <a:extLst xmlns:a="http://schemas.openxmlformats.org/drawingml/2006/main">
              <a:ext uri="{FF2B5EF4-FFF2-40B4-BE49-F238E27FC236}">
                <a16:creationId xmlns:a16="http://schemas.microsoft.com/office/drawing/2014/main" id="{2E0B31BA-310D-4B1A-874C-A4118B433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191250" y="2247900"/>
            <a:ext cx="1676400" cy="781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B5CF6"/>
            </a:solidFill>
            <a:prstDash val="solid"/>
          </a:ln>
        </p:spPr>
      </p:sp>
      <p:sp>
        <p:nvSpPr>
          <p:cNvPr id="7" name="identity-line-apps">
            <a:extLst xmlns:a="http://schemas.openxmlformats.org/drawingml/2006/main">
              <a:ext uri="{FF2B5EF4-FFF2-40B4-BE49-F238E27FC236}">
                <a16:creationId xmlns:a16="http://schemas.microsoft.com/office/drawing/2014/main" id="{D1904FD1-1E02-42BF-BC76-53EFF966B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05250"/>
            <a:ext cx="1676400" cy="781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8BDF8"/>
            </a:solidFill>
            <a:prstDash val="solid"/>
          </a:ln>
        </p:spPr>
      </p:sp>
      <p:sp>
        <p:nvSpPr>
          <p:cNvPr id="8" name="identity-local">
            <a:extLst xmlns:a="http://schemas.openxmlformats.org/drawingml/2006/main">
              <a:ext uri="{FF2B5EF4-FFF2-40B4-BE49-F238E27FC236}">
                <a16:creationId xmlns:a16="http://schemas.microsoft.com/office/drawing/2014/main" id="{0E343C9B-A3A4-4F89-8992-382CE3E9F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2476500" cy="1200150"/>
          </a:xfrm>
          <a:prstGeom xmlns:a="http://schemas.openxmlformats.org/drawingml/2006/main" prst="roundRect">
            <a:avLst>
              <a:gd name="adj" fmla="val 17460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9" name="identity-local-accent">
            <a:extLst xmlns:a="http://schemas.openxmlformats.org/drawingml/2006/main">
              <a:ext uri="{FF2B5EF4-FFF2-40B4-BE49-F238E27FC236}">
                <a16:creationId xmlns:a16="http://schemas.microsoft.com/office/drawing/2014/main" id="{050DDD4D-A005-4B4E-B2AC-33F914947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5715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identity-local-label">
            <a:extLst xmlns:a="http://schemas.openxmlformats.org/drawingml/2006/main">
              <a:ext uri="{FF2B5EF4-FFF2-40B4-BE49-F238E27FC236}">
                <a16:creationId xmlns:a16="http://schemas.microsoft.com/office/drawing/2014/main" id="{6CAD1522-9096-4ADD-A080-695830C9C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14675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Keycloak</a:t>
            </a:r>
          </a:p>
        </p:txBody>
      </p:sp>
      <p:sp>
        <p:nvSpPr>
          <p:cNvPr id="11" name="identity-local-sublabel">
            <a:extLst xmlns:a="http://schemas.openxmlformats.org/drawingml/2006/main">
              <a:ext uri="{FF2B5EF4-FFF2-40B4-BE49-F238E27FC236}">
                <a16:creationId xmlns:a16="http://schemas.microsoft.com/office/drawing/2014/main" id="{F78F2C59-D079-4C55-88E7-96DEA15EA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33775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275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275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Setup · offline · kein Default-Passwort</a:t>
            </a:r>
          </a:p>
        </p:txBody>
      </p:sp>
      <p:sp>
        <p:nvSpPr>
          <p:cNvPr id="12" name="identity-hub">
            <a:extLst xmlns:a="http://schemas.openxmlformats.org/drawingml/2006/main">
              <a:ext uri="{FF2B5EF4-FFF2-40B4-BE49-F238E27FC236}">
                <a16:creationId xmlns:a16="http://schemas.microsoft.com/office/drawing/2014/main" id="{C1EC5804-0EC8-4CC7-B9C7-EBBE28C8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762250"/>
            <a:ext cx="1371600" cy="1371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5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SSO</a:t>
            </a:r>
          </a:p>
        </p:txBody>
      </p:sp>
      <p:sp>
        <p:nvSpPr>
          <p:cNvPr id="13" name="identity-upstream">
            <a:extLst xmlns:a="http://schemas.openxmlformats.org/drawingml/2006/main">
              <a:ext uri="{FF2B5EF4-FFF2-40B4-BE49-F238E27FC236}">
                <a16:creationId xmlns:a16="http://schemas.microsoft.com/office/drawing/2014/main" id="{2B19D53D-C91C-4899-AC75-03AFC2E79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90700"/>
            <a:ext cx="3638550" cy="1200150"/>
          </a:xfrm>
          <a:prstGeom xmlns:a="http://schemas.openxmlformats.org/drawingml/2006/main" prst="roundRect">
            <a:avLst>
              <a:gd name="adj" fmla="val 17460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4" name="identity-upstream-accent">
            <a:extLst xmlns:a="http://schemas.openxmlformats.org/drawingml/2006/main">
              <a:ext uri="{FF2B5EF4-FFF2-40B4-BE49-F238E27FC236}">
                <a16:creationId xmlns:a16="http://schemas.microsoft.com/office/drawing/2014/main" id="{8FABE613-28E9-46F3-BFA6-FE0E19CD2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90700"/>
            <a:ext cx="5715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identity-upstream-label">
            <a:extLst xmlns:a="http://schemas.openxmlformats.org/drawingml/2006/main">
              <a:ext uri="{FF2B5EF4-FFF2-40B4-BE49-F238E27FC236}">
                <a16:creationId xmlns:a16="http://schemas.microsoft.com/office/drawing/2014/main" id="{121D01A2-ED6F-4D7F-B774-177716E5C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028825"/>
            <a:ext cx="3162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Upstream IdP</a:t>
            </a:r>
          </a:p>
        </p:txBody>
      </p:sp>
      <p:sp>
        <p:nvSpPr>
          <p:cNvPr id="16" name="identity-upstream-sublabel">
            <a:extLst xmlns:a="http://schemas.openxmlformats.org/drawingml/2006/main">
              <a:ext uri="{FF2B5EF4-FFF2-40B4-BE49-F238E27FC236}">
                <a16:creationId xmlns:a16="http://schemas.microsoft.com/office/drawing/2014/main" id="{E568520E-37AD-494D-9144-01A0B271B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447925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275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275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Entra · Google · weitere OIDC/SAML</a:t>
            </a:r>
          </a:p>
        </p:txBody>
      </p:sp>
      <p:sp>
        <p:nvSpPr>
          <p:cNvPr id="17" name="identity-apps">
            <a:extLst xmlns:a="http://schemas.openxmlformats.org/drawingml/2006/main">
              <a:ext uri="{FF2B5EF4-FFF2-40B4-BE49-F238E27FC236}">
                <a16:creationId xmlns:a16="http://schemas.microsoft.com/office/drawing/2014/main" id="{45E29E97-923C-4617-8B75-B943FC63B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24350"/>
            <a:ext cx="3638550" cy="1200150"/>
          </a:xfrm>
          <a:prstGeom xmlns:a="http://schemas.openxmlformats.org/drawingml/2006/main" prst="roundRect">
            <a:avLst>
              <a:gd name="adj" fmla="val 17460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8" name="identity-apps-accent">
            <a:extLst xmlns:a="http://schemas.openxmlformats.org/drawingml/2006/main">
              <a:ext uri="{FF2B5EF4-FFF2-40B4-BE49-F238E27FC236}">
                <a16:creationId xmlns:a16="http://schemas.microsoft.com/office/drawing/2014/main" id="{7E891912-77F3-4E5D-A62A-5B5EC35BA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24350"/>
            <a:ext cx="57150" cy="1200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identity-apps-label">
            <a:extLst xmlns:a="http://schemas.openxmlformats.org/drawingml/2006/main">
              <a:ext uri="{FF2B5EF4-FFF2-40B4-BE49-F238E27FC236}">
                <a16:creationId xmlns:a16="http://schemas.microsoft.com/office/drawing/2014/main" id="{CC4EC42A-8F79-416F-BA15-A408BBE57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62475"/>
            <a:ext cx="3162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Dashboard + Services</a:t>
            </a:r>
          </a:p>
        </p:txBody>
      </p:sp>
      <p:sp>
        <p:nvSpPr>
          <p:cNvPr id="20" name="identity-apps-sublabel">
            <a:extLst xmlns:a="http://schemas.openxmlformats.org/drawingml/2006/main">
              <a:ext uri="{FF2B5EF4-FFF2-40B4-BE49-F238E27FC236}">
                <a16:creationId xmlns:a16="http://schemas.microsoft.com/office/drawing/2014/main" id="{50463A35-565F-44F3-8ECB-753311A31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981575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275">
                <a:solidFill>
                  <a:srgbClr val="9FB1C7"/>
                </a:solidFill>
                <a:latin typeface="Avenir Next"/>
                <a:ea typeface="Avenir Next"/>
                <a:cs typeface="Avenir Next"/>
              </a:defRPr>
            </a:pPr>
            <a:r>
              <a:rPr sz="1275">
                <a:solidFill>
                  <a:srgbClr val="9FB1C7"/>
                </a:solidFill>
                <a:latin typeface="Avenir Next"/>
                <a:ea typeface="Avenir Next"/>
                <a:cs typeface="Avenir Next"/>
              </a:rPr>
              <a:t>Zentraler Gateway-Login</a:t>
            </a:r>
          </a:p>
        </p:txBody>
      </p:sp>
      <p:sp>
        <p:nvSpPr>
          <p:cNvPr id="21" name="tag-LOCAL-FIRST">
            <a:extLst xmlns:a="http://schemas.openxmlformats.org/drawingml/2006/main">
              <a:ext uri="{FF2B5EF4-FFF2-40B4-BE49-F238E27FC236}">
                <a16:creationId xmlns:a16="http://schemas.microsoft.com/office/drawing/2014/main" id="{DDD34568-FC34-452D-8DD9-A0A83E648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4287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LOCAL-FIRST</a:t>
            </a:r>
          </a:p>
        </p:txBody>
      </p:sp>
      <p:sp>
        <p:nvSpPr>
          <p:cNvPr id="22" name="tag-FEDERATION READY">
            <a:extLst xmlns:a="http://schemas.openxmlformats.org/drawingml/2006/main">
              <a:ext uri="{FF2B5EF4-FFF2-40B4-BE49-F238E27FC236}">
                <a16:creationId xmlns:a16="http://schemas.microsoft.com/office/drawing/2014/main" id="{813CC8BE-043A-4E00-89D1-B5ED1A40F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762500"/>
            <a:ext cx="18669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IDP-BROKER READY</a:t>
            </a:r>
          </a:p>
        </p:txBody>
      </p:sp>
    </p:spTree>
    <p:extLst>
      <p:ext uri="{BB962C8B-B14F-4D97-AF65-F5344CB8AC3E}">
        <p14:creationId xmlns:p14="http://schemas.microsoft.com/office/powerpoint/2010/main" val="18397066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2228BEDA-4712-4198-AAB7-D5BFCF66E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A7D2355-D960-4D1F-B196-D90C4DF2D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09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303BC3A2-8A9F-48BA-90A1-C20B9A95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OPEN CORE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FB94D5C-E842-4785-ACF9-F198DEFF1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10820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4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4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Open Source liefert die Plattform. Enterprise die Governance.</a:t>
            </a:r>
          </a:p>
        </p:txBody>
      </p:sp>
      <p:sp>
        <p:nvSpPr>
          <p:cNvPr id="5" name="community-surface">
            <a:extLst xmlns:a="http://schemas.openxmlformats.org/drawingml/2006/main">
              <a:ext uri="{FF2B5EF4-FFF2-40B4-BE49-F238E27FC236}">
                <a16:creationId xmlns:a16="http://schemas.microsoft.com/office/drawing/2014/main" id="{D2F1BD44-FABB-4DFE-A5E3-490B3052A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5162550" cy="3409950"/>
          </a:xfrm>
          <a:prstGeom xmlns:a="http://schemas.openxmlformats.org/drawingml/2006/main" prst="roundRect">
            <a:avLst>
              <a:gd name="adj" fmla="val 7821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6" name="enterprise-surface">
            <a:extLst xmlns:a="http://schemas.openxmlformats.org/drawingml/2006/main">
              <a:ext uri="{FF2B5EF4-FFF2-40B4-BE49-F238E27FC236}">
                <a16:creationId xmlns:a16="http://schemas.microsoft.com/office/drawing/2014/main" id="{A8E3BFB4-436B-4167-BC65-D8B0BD62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71700"/>
            <a:ext cx="5162550" cy="3409950"/>
          </a:xfrm>
          <a:prstGeom xmlns:a="http://schemas.openxmlformats.org/drawingml/2006/main" prst="roundRect">
            <a:avLst>
              <a:gd name="adj" fmla="val 7821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</p:sp>
      <p:sp>
        <p:nvSpPr>
          <p:cNvPr id="7" name="community-title">
            <a:extLst xmlns:a="http://schemas.openxmlformats.org/drawingml/2006/main">
              <a:ext uri="{FF2B5EF4-FFF2-40B4-BE49-F238E27FC236}">
                <a16:creationId xmlns:a16="http://schemas.microsoft.com/office/drawing/2014/main" id="{933EB90C-FD72-4516-90E0-99822252E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146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COMMUNITY</a:t>
            </a:r>
          </a:p>
        </p:txBody>
      </p:sp>
      <p:sp>
        <p:nvSpPr>
          <p:cNvPr id="8" name="community-claim">
            <a:extLst xmlns:a="http://schemas.openxmlformats.org/drawingml/2006/main">
              <a:ext uri="{FF2B5EF4-FFF2-40B4-BE49-F238E27FC236}">
                <a16:creationId xmlns:a16="http://schemas.microsoft.com/office/drawing/2014/main" id="{BF7D2CD6-F202-42B4-8077-C1DF6779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00375"/>
            <a:ext cx="3619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4000"/>
              </a:lnSpc>
              <a:buNone/>
              <a:def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Vollständige</a:t>
            </a:r>
          </a:p>
          <a:p xmlns:a="http://schemas.openxmlformats.org/drawingml/2006/main">
            <a:pPr>
              <a:lnSpc>
                <a:spcPct val="94000"/>
              </a:lnSpc>
              <a:buNone/>
              <a:def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AI-Appliance</a:t>
            </a:r>
          </a:p>
        </p:txBody>
      </p:sp>
      <p:sp>
        <p:nvSpPr>
          <p:cNvPr id="9" name="community-list">
            <a:extLst xmlns:a="http://schemas.openxmlformats.org/drawingml/2006/main">
              <a:ext uri="{FF2B5EF4-FFF2-40B4-BE49-F238E27FC236}">
                <a16:creationId xmlns:a16="http://schemas.microsoft.com/office/drawing/2014/main" id="{3890427B-23CB-4CA3-9150-95FD4A9B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57675"/>
            <a:ext cx="4095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Magic-Stick-Code unter MIT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Services, Modelle und Benutzer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Globale Rollen + Mindestrolle je Instanz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Vollständig selbst betreibbar</a:t>
            </a:r>
          </a:p>
        </p:txBody>
      </p:sp>
      <p:sp>
        <p:nvSpPr>
          <p:cNvPr id="10" name="enterprise-title">
            <a:extLst xmlns:a="http://schemas.openxmlformats.org/drawingml/2006/main">
              <a:ext uri="{FF2B5EF4-FFF2-40B4-BE49-F238E27FC236}">
                <a16:creationId xmlns:a16="http://schemas.microsoft.com/office/drawing/2014/main" id="{EA9D0837-5A55-474C-8369-7D99FFD55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5146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ENTERPRISE · IN KONZEPTION</a:t>
            </a:r>
          </a:p>
        </p:txBody>
      </p:sp>
      <p:sp>
        <p:nvSpPr>
          <p:cNvPr id="11" name="enterprise-claim">
            <a:extLst xmlns:a="http://schemas.openxmlformats.org/drawingml/2006/main">
              <a:ext uri="{FF2B5EF4-FFF2-40B4-BE49-F238E27FC236}">
                <a16:creationId xmlns:a16="http://schemas.microsoft.com/office/drawing/2014/main" id="{20D6790F-6E23-4C04-8F15-EE1DF192B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00375"/>
            <a:ext cx="4000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4000"/>
              </a:lnSpc>
              <a:buNone/>
              <a:def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Governance</a:t>
            </a:r>
          </a:p>
          <a:p xmlns:a="http://schemas.openxmlformats.org/drawingml/2006/main">
            <a:pPr>
              <a:lnSpc>
                <a:spcPct val="94000"/>
              </a:lnSpc>
              <a:buNone/>
              <a:def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für Organisationen</a:t>
            </a:r>
          </a:p>
        </p:txBody>
      </p:sp>
      <p:sp>
        <p:nvSpPr>
          <p:cNvPr id="12" name="enterprise-list">
            <a:extLst xmlns:a="http://schemas.openxmlformats.org/drawingml/2006/main">
              <a:ext uri="{FF2B5EF4-FFF2-40B4-BE49-F238E27FC236}">
                <a16:creationId xmlns:a16="http://schemas.microsoft.com/office/drawing/2014/main" id="{16CC02CF-1F9A-43B7-83F3-C5897533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257675"/>
            <a:ext cx="4095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Nutzer/Gruppen je Ressource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Organisatorische Scopes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Delegierte Admins · Richtlinien · Audit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Preise auf Anfrage</a:t>
            </a:r>
          </a:p>
        </p:txBody>
      </p:sp>
    </p:spTree>
    <p:extLst>
      <p:ext uri="{BB962C8B-B14F-4D97-AF65-F5344CB8AC3E}">
        <p14:creationId xmlns:p14="http://schemas.microsoft.com/office/powerpoint/2010/main" val="190861034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5e7354d0614e09"/>
          <a:srcRect xmlns:a="http://schemas.openxmlformats.org/drawingml/2006/main" l="15607" t="0" r="1560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10000" y="0"/>
            <a:ext cx="838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bac-copy-panel">
            <a:extLst xmlns:a="http://schemas.openxmlformats.org/drawingml/2006/main">
              <a:ext uri="{FF2B5EF4-FFF2-40B4-BE49-F238E27FC236}">
                <a16:creationId xmlns:a16="http://schemas.microsoft.com/office/drawing/2014/main" id="{57DD2954-38C6-4CA6-B893-C2708485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857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E7CE1C97-CA68-403B-B5D4-5CFE5274B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ENTERPRISE-ZIELBILD · IN KONZEPTION</a:t>
            </a:r>
          </a:p>
        </p:txBody>
      </p:sp>
      <p:sp>
        <p:nvSpPr>
          <p:cNvPr id="4" name="rbac-title">
            <a:extLst xmlns:a="http://schemas.openxmlformats.org/drawingml/2006/main">
              <a:ext uri="{FF2B5EF4-FFF2-40B4-BE49-F238E27FC236}">
                <a16:creationId xmlns:a16="http://schemas.microsoft.com/office/drawing/2014/main" id="{7C72C459-A055-42F8-8DA1-03F499C5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714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2000"/>
              </a:lnSpc>
              <a:buNone/>
              <a:def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Zugriff folgt Teams</a:t>
            </a:r>
          </a:p>
          <a:p xmlns:a="http://schemas.openxmlformats.org/drawingml/2006/main">
            <a:pPr>
              <a:lnSpc>
                <a:spcPct val="92000"/>
              </a:lnSpc>
              <a:buNone/>
              <a:def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und Ressourcen.</a:t>
            </a:r>
          </a:p>
        </p:txBody>
      </p:sp>
      <p:sp>
        <p:nvSpPr>
          <p:cNvPr id="5" name="rbac-copy">
            <a:extLst xmlns:a="http://schemas.openxmlformats.org/drawingml/2006/main">
              <a:ext uri="{FF2B5EF4-FFF2-40B4-BE49-F238E27FC236}">
                <a16:creationId xmlns:a16="http://schemas.microsoft.com/office/drawing/2014/main" id="{C55C4EC3-827E-46E3-B622-AF4B9E177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36671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57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57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Nutzer und IdP-Gruppen werden konkreten Services und Instanzen zugeordnet.</a:t>
            </a:r>
          </a:p>
        </p:txBody>
      </p:sp>
      <p:sp>
        <p:nvSpPr>
          <p:cNvPr id="6" name="tag-IDP-GRUPPEN">
            <a:extLst xmlns:a="http://schemas.openxmlformats.org/drawingml/2006/main">
              <a:ext uri="{FF2B5EF4-FFF2-40B4-BE49-F238E27FC236}">
                <a16:creationId xmlns:a16="http://schemas.microsoft.com/office/drawing/2014/main" id="{A8DCEDA5-8781-4F8F-B701-CD1AE8DE9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5811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GRUPPEN-RBAC</a:t>
            </a:r>
          </a:p>
        </p:txBody>
      </p:sp>
      <p:sp>
        <p:nvSpPr>
          <p:cNvPr id="7" name="tag-DELEGIERTE ADMINS">
            <a:extLst xmlns:a="http://schemas.openxmlformats.org/drawingml/2006/main">
              <a:ext uri="{FF2B5EF4-FFF2-40B4-BE49-F238E27FC236}">
                <a16:creationId xmlns:a16="http://schemas.microsoft.com/office/drawing/2014/main" id="{26198A03-8C28-478D-97D1-132FC3BD1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20764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DELEGIERTE ADMINS</a:t>
            </a:r>
          </a:p>
        </p:txBody>
      </p:sp>
      <p:sp>
        <p:nvSpPr>
          <p:cNvPr id="8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7A3B09E4-FA48-4D03-90BC-7DBC02F5B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EA94E9A-AC4E-4A78-B2E6-3BB8FAD9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38595010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AFE751DB-495F-4C94-9DFB-F41F33F3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1F3F848-59D7-4EA4-9FE9-A7E89214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11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368DAD5E-60F0-44CB-BCB7-9CE85A084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GEFÜHRTE KONFIGURATION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7AB7D28-8AF8-465B-86A0-01062683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820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3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Services, Modelle und Benutzer entstehen geführt</a:t>
            </a:r>
          </a:p>
        </p:txBody>
      </p:sp>
      <p:sp>
        <p:nvSpPr>
          <p:cNvPr id="5" name="guided-lead">
            <a:extLst xmlns:a="http://schemas.openxmlformats.org/drawingml/2006/main">
              <a:ext uri="{FF2B5EF4-FFF2-40B4-BE49-F238E27FC236}">
                <a16:creationId xmlns:a16="http://schemas.microsoft.com/office/drawing/2014/main" id="{3EA32290-D9BC-4544-B73D-6BBE63A3C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838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65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65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Auswählen, konfigurieren und freigeben – ohne YAML.</a:t>
            </a:r>
          </a:p>
        </p:txBody>
      </p:sp>
      <p:sp>
        <p:nvSpPr>
          <p:cNvPr id="6" name="guided-card-0">
            <a:extLst xmlns:a="http://schemas.openxmlformats.org/drawingml/2006/main">
              <a:ext uri="{FF2B5EF4-FFF2-40B4-BE49-F238E27FC236}">
                <a16:creationId xmlns:a16="http://schemas.microsoft.com/office/drawing/2014/main" id="{11A3A281-2BAF-4BB8-8396-922AE2F6A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14550"/>
            <a:ext cx="35433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7" name="guided-accent-0">
            <a:extLst xmlns:a="http://schemas.openxmlformats.org/drawingml/2006/main">
              <a:ext uri="{FF2B5EF4-FFF2-40B4-BE49-F238E27FC236}">
                <a16:creationId xmlns:a16="http://schemas.microsoft.com/office/drawing/2014/main" id="{F12ECBFC-43BB-4E9E-80C2-0DFEE863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14550"/>
            <a:ext cx="35433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guided-number-0">
            <a:extLst xmlns:a="http://schemas.openxmlformats.org/drawingml/2006/main">
              <a:ext uri="{FF2B5EF4-FFF2-40B4-BE49-F238E27FC236}">
                <a16:creationId xmlns:a16="http://schemas.microsoft.com/office/drawing/2014/main" id="{85362D62-4CFB-4588-AA41-6879C586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9" name="guided-title-0">
            <a:extLst xmlns:a="http://schemas.openxmlformats.org/drawingml/2006/main">
              <a:ext uri="{FF2B5EF4-FFF2-40B4-BE49-F238E27FC236}">
                <a16:creationId xmlns:a16="http://schemas.microsoft.com/office/drawing/2014/main" id="{85800A9E-DC88-4C1A-881E-BBFAABCD4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2410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Service instanziieren</a:t>
            </a:r>
          </a:p>
        </p:txBody>
      </p:sp>
      <p:sp>
        <p:nvSpPr>
          <p:cNvPr id="10" name="guided-frame-0">
            <a:extLst xmlns:a="http://schemas.openxmlformats.org/drawingml/2006/main">
              <a:ext uri="{FF2B5EF4-FFF2-40B4-BE49-F238E27FC236}">
                <a16:creationId xmlns:a16="http://schemas.microsoft.com/office/drawing/2014/main" id="{FD37F8F1-962C-48F2-BE00-73A6381E7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3200400" cy="23622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50B18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defd685804817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762000" y="3235569"/>
            <a:ext cx="3048000" cy="1453662"/>
          </a:xfrm>
          <a:prstGeom xmlns:a="http://schemas.openxmlformats.org/drawingml/2006/main" prst="roundRect">
            <a:avLst/>
          </a:prstGeom>
        </p:spPr>
      </p:pic>
      <p:sp>
        <p:nvSpPr>
          <p:cNvPr id="12" name="guided-body-0">
            <a:extLst xmlns:a="http://schemas.openxmlformats.org/drawingml/2006/main">
              <a:ext uri="{FF2B5EF4-FFF2-40B4-BE49-F238E27FC236}">
                <a16:creationId xmlns:a16="http://schemas.microsoft.com/office/drawing/2014/main" id="{F1E799C7-37C9-4ABF-88F7-52F2F574D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3067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27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27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Typ, Modell, Rolle und URL konfigurieren.</a:t>
            </a:r>
          </a:p>
        </p:txBody>
      </p:sp>
      <p:sp>
        <p:nvSpPr>
          <p:cNvPr id="13" name="guided-card-1">
            <a:extLst xmlns:a="http://schemas.openxmlformats.org/drawingml/2006/main">
              <a:ext uri="{FF2B5EF4-FFF2-40B4-BE49-F238E27FC236}">
                <a16:creationId xmlns:a16="http://schemas.microsoft.com/office/drawing/2014/main" id="{DE2962E5-DC7B-4455-AD90-8DB8FC851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14550"/>
            <a:ext cx="35433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4" name="guided-accent-1">
            <a:extLst xmlns:a="http://schemas.openxmlformats.org/drawingml/2006/main">
              <a:ext uri="{FF2B5EF4-FFF2-40B4-BE49-F238E27FC236}">
                <a16:creationId xmlns:a16="http://schemas.microsoft.com/office/drawing/2014/main" id="{26FA189A-8DC5-4BD9-B020-90D451EC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14550"/>
            <a:ext cx="35433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guided-number-1">
            <a:extLst xmlns:a="http://schemas.openxmlformats.org/drawingml/2006/main">
              <a:ext uri="{FF2B5EF4-FFF2-40B4-BE49-F238E27FC236}">
                <a16:creationId xmlns:a16="http://schemas.microsoft.com/office/drawing/2014/main" id="{D2C3BE7B-4C9D-4A8E-B9E0-0A4BAACCF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3622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6" name="guided-title-1">
            <a:extLst xmlns:a="http://schemas.openxmlformats.org/drawingml/2006/main">
              <a:ext uri="{FF2B5EF4-FFF2-40B4-BE49-F238E27FC236}">
                <a16:creationId xmlns:a16="http://schemas.microsoft.com/office/drawing/2014/main" id="{22591BE1-AA6A-4469-8DB3-099BA54CD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32410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Modell + Compute</a:t>
            </a:r>
          </a:p>
        </p:txBody>
      </p:sp>
      <p:sp>
        <p:nvSpPr>
          <p:cNvPr id="17" name="guided-frame-1">
            <a:extLst xmlns:a="http://schemas.openxmlformats.org/drawingml/2006/main">
              <a:ext uri="{FF2B5EF4-FFF2-40B4-BE49-F238E27FC236}">
                <a16:creationId xmlns:a16="http://schemas.microsoft.com/office/drawing/2014/main" id="{29583777-3568-460B-95F5-C37EC4C63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81300"/>
            <a:ext cx="3200400" cy="23622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50B18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6f56b4598545ae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4629150" y="3143794"/>
            <a:ext cx="3048000" cy="1637211"/>
          </a:xfrm>
          <a:prstGeom xmlns:a="http://schemas.openxmlformats.org/drawingml/2006/main" prst="roundRect">
            <a:avLst/>
          </a:prstGeom>
        </p:spPr>
      </p:pic>
      <p:sp>
        <p:nvSpPr>
          <p:cNvPr id="19" name="guided-body-1">
            <a:extLst xmlns:a="http://schemas.openxmlformats.org/drawingml/2006/main">
              <a:ext uri="{FF2B5EF4-FFF2-40B4-BE49-F238E27FC236}">
                <a16:creationId xmlns:a16="http://schemas.microsoft.com/office/drawing/2014/main" id="{2FB9B5D8-507E-4856-A14C-4DE65559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372100"/>
            <a:ext cx="3067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27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27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Engine, verfügbare Hardware und Speicher wählen.</a:t>
            </a:r>
          </a:p>
        </p:txBody>
      </p:sp>
      <p:sp>
        <p:nvSpPr>
          <p:cNvPr id="20" name="guided-card-2">
            <a:extLst xmlns:a="http://schemas.openxmlformats.org/drawingml/2006/main">
              <a:ext uri="{FF2B5EF4-FFF2-40B4-BE49-F238E27FC236}">
                <a16:creationId xmlns:a16="http://schemas.microsoft.com/office/drawing/2014/main" id="{0FC7F1BA-A366-4688-AA58-0FB122288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14550"/>
            <a:ext cx="35433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21" name="guided-accent-2">
            <a:extLst xmlns:a="http://schemas.openxmlformats.org/drawingml/2006/main">
              <a:ext uri="{FF2B5EF4-FFF2-40B4-BE49-F238E27FC236}">
                <a16:creationId xmlns:a16="http://schemas.microsoft.com/office/drawing/2014/main" id="{58E8AA11-824A-4A76-901B-C633A8E0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14550"/>
            <a:ext cx="35433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guided-number-2">
            <a:extLst xmlns:a="http://schemas.openxmlformats.org/drawingml/2006/main">
              <a:ext uri="{FF2B5EF4-FFF2-40B4-BE49-F238E27FC236}">
                <a16:creationId xmlns:a16="http://schemas.microsoft.com/office/drawing/2014/main" id="{3C0AD646-6712-4886-A1E2-DC878B3F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622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23" name="guided-title-2">
            <a:extLst xmlns:a="http://schemas.openxmlformats.org/drawingml/2006/main">
              <a:ext uri="{FF2B5EF4-FFF2-40B4-BE49-F238E27FC236}">
                <a16:creationId xmlns:a16="http://schemas.microsoft.com/office/drawing/2014/main" id="{21AB2FE8-AFA6-441C-81B2-9301BAF85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32410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Benutzer verwalten</a:t>
            </a:r>
          </a:p>
        </p:txBody>
      </p:sp>
      <p:sp>
        <p:nvSpPr>
          <p:cNvPr id="24" name="guided-frame-2">
            <a:extLst xmlns:a="http://schemas.openxmlformats.org/drawingml/2006/main">
              <a:ext uri="{FF2B5EF4-FFF2-40B4-BE49-F238E27FC236}">
                <a16:creationId xmlns:a16="http://schemas.microsoft.com/office/drawing/2014/main" id="{E70B5415-9A40-4A2A-80E1-3606D7311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81300"/>
            <a:ext cx="3200400" cy="23622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50B18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625055366143d4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8496300" y="2880697"/>
            <a:ext cx="3048000" cy="2163407"/>
          </a:xfrm>
          <a:prstGeom xmlns:a="http://schemas.openxmlformats.org/drawingml/2006/main" prst="roundRect">
            <a:avLst/>
          </a:prstGeom>
        </p:spPr>
      </p:pic>
      <p:sp>
        <p:nvSpPr>
          <p:cNvPr id="26" name="guided-body-2">
            <a:extLst xmlns:a="http://schemas.openxmlformats.org/drawingml/2006/main">
              <a:ext uri="{FF2B5EF4-FFF2-40B4-BE49-F238E27FC236}">
                <a16:creationId xmlns:a16="http://schemas.microsoft.com/office/drawing/2014/main" id="{F5D5A84F-FB93-4D7F-BA26-899BD6D8A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372100"/>
            <a:ext cx="3067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275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275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Anlegen, Rollen ändern, deaktivieren oder löschen.</a:t>
            </a:r>
          </a:p>
        </p:txBody>
      </p:sp>
    </p:spTree>
    <p:extLst>
      <p:ext uri="{BB962C8B-B14F-4D97-AF65-F5344CB8AC3E}">
        <p14:creationId xmlns:p14="http://schemas.microsoft.com/office/powerpoint/2010/main" val="208940076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rand-footer">
            <a:extLst xmlns:a="http://schemas.openxmlformats.org/drawingml/2006/main">
              <a:ext uri="{FF2B5EF4-FFF2-40B4-BE49-F238E27FC236}">
                <a16:creationId xmlns:a16="http://schemas.microsoft.com/office/drawing/2014/main" id="{6A44BC62-FCC4-46CB-929E-CF794C20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MAGIC STICK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7BC55A6-48C2-4476-B7E8-E6B02B73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28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5C7695"/>
                </a:solidFill>
                <a:latin typeface="Avenir Next"/>
                <a:ea typeface="Avenir Next"/>
                <a:cs typeface="Avenir Next"/>
              </a:rPr>
              <a:t>12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16FC6A1C-E8D0-405D-9E65-FE257BCB8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DER PILOT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9D0F21A-1B28-404E-93DF-2893D2BB1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In drei Schritten zum belegbaren Pilotbetrieb</a:t>
            </a:r>
          </a:p>
        </p:txBody>
      </p:sp>
      <p:sp>
        <p:nvSpPr>
          <p:cNvPr id="5" name="pilot-number-0">
            <a:extLst xmlns:a="http://schemas.openxmlformats.org/drawingml/2006/main">
              <a:ext uri="{FF2B5EF4-FFF2-40B4-BE49-F238E27FC236}">
                <a16:creationId xmlns:a16="http://schemas.microsoft.com/office/drawing/2014/main" id="{0ECDC39A-9F5E-42FE-A205-0D831BD36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4953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6" name="pilot-step-title-0">
            <a:extLst xmlns:a="http://schemas.openxmlformats.org/drawingml/2006/main">
              <a:ext uri="{FF2B5EF4-FFF2-40B4-BE49-F238E27FC236}">
                <a16:creationId xmlns:a16="http://schemas.microsoft.com/office/drawing/2014/main" id="{4C4E1973-43EF-4A15-A742-D7F2AD7EC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0574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Pilot festlegen</a:t>
            </a:r>
          </a:p>
        </p:txBody>
      </p:sp>
      <p:sp>
        <p:nvSpPr>
          <p:cNvPr id="7" name="pilot-step-body-0">
            <a:extLst xmlns:a="http://schemas.openxmlformats.org/drawingml/2006/main">
              <a:ext uri="{FF2B5EF4-FFF2-40B4-BE49-F238E27FC236}">
                <a16:creationId xmlns:a16="http://schemas.microsoft.com/office/drawing/2014/main" id="{69910931-1C34-4A00-9936-826514C24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4384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35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Use Case, Nutzergruppe und Zielumgebung</a:t>
            </a:r>
          </a:p>
        </p:txBody>
      </p:sp>
      <p:sp>
        <p:nvSpPr>
          <p:cNvPr id="8" name="pilot-number-1">
            <a:extLst xmlns:a="http://schemas.openxmlformats.org/drawingml/2006/main">
              <a:ext uri="{FF2B5EF4-FFF2-40B4-BE49-F238E27FC236}">
                <a16:creationId xmlns:a16="http://schemas.microsoft.com/office/drawing/2014/main" id="{B0738AF5-F95F-4066-8A21-183D1B732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4953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8B5CF6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9" name="pilot-step-title-1">
            <a:extLst xmlns:a="http://schemas.openxmlformats.org/drawingml/2006/main">
              <a:ext uri="{FF2B5EF4-FFF2-40B4-BE49-F238E27FC236}">
                <a16:creationId xmlns:a16="http://schemas.microsoft.com/office/drawing/2014/main" id="{1C684C6E-3E2B-41CA-86D4-513031C92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623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Magic Stick bereitstellen</a:t>
            </a:r>
          </a:p>
        </p:txBody>
      </p:sp>
      <p:sp>
        <p:nvSpPr>
          <p:cNvPr id="10" name="pilot-step-body-1">
            <a:extLst xmlns:a="http://schemas.openxmlformats.org/drawingml/2006/main">
              <a:ext uri="{FF2B5EF4-FFF2-40B4-BE49-F238E27FC236}">
                <a16:creationId xmlns:a16="http://schemas.microsoft.com/office/drawing/2014/main" id="{57BA7D62-3235-4778-A7AB-23D54D94F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5433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35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First Run, SSO, externe oder lokale Modelle</a:t>
            </a:r>
          </a:p>
        </p:txBody>
      </p:sp>
      <p:sp>
        <p:nvSpPr>
          <p:cNvPr id="11" name="pilot-number-2">
            <a:extLst xmlns:a="http://schemas.openxmlformats.org/drawingml/2006/main">
              <a:ext uri="{FF2B5EF4-FFF2-40B4-BE49-F238E27FC236}">
                <a16:creationId xmlns:a16="http://schemas.microsoft.com/office/drawing/2014/main" id="{46E3DC78-9D6D-4167-8ECE-EBB0F24A7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53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12" name="pilot-step-title-2">
            <a:extLst xmlns:a="http://schemas.openxmlformats.org/drawingml/2006/main">
              <a:ext uri="{FF2B5EF4-FFF2-40B4-BE49-F238E27FC236}">
                <a16:creationId xmlns:a16="http://schemas.microsoft.com/office/drawing/2014/main" id="{FC996B72-E84E-472F-A975-A94C355A8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2672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Nutzen nachweisen</a:t>
            </a:r>
          </a:p>
        </p:txBody>
      </p:sp>
      <p:sp>
        <p:nvSpPr>
          <p:cNvPr id="13" name="pilot-step-body-2">
            <a:extLst xmlns:a="http://schemas.openxmlformats.org/drawingml/2006/main">
              <a:ext uri="{FF2B5EF4-FFF2-40B4-BE49-F238E27FC236}">
                <a16:creationId xmlns:a16="http://schemas.microsoft.com/office/drawing/2014/main" id="{F0B8B2CA-ACFF-4558-B194-BCEB6A66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482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35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35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Qualität, Geschwindigkeit, Kosten und Akzeptanz</a:t>
            </a:r>
          </a:p>
        </p:txBody>
      </p:sp>
      <p:sp>
        <p:nvSpPr>
          <p:cNvPr id="14" name="tag-PILOT AUF IHRER INFRASTRUKTUR">
            <a:extLst xmlns:a="http://schemas.openxmlformats.org/drawingml/2006/main">
              <a:ext uri="{FF2B5EF4-FFF2-40B4-BE49-F238E27FC236}">
                <a16:creationId xmlns:a16="http://schemas.microsoft.com/office/drawing/2014/main" id="{F8802782-52F2-4997-B903-E525DAC92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72125"/>
            <a:ext cx="32575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F3A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PILOT AUF IHRER INFRASTRUKTUR</a:t>
            </a:r>
          </a:p>
        </p:txBody>
      </p:sp>
      <p:sp>
        <p:nvSpPr>
          <p:cNvPr id="15" name="pilot-proof-label">
            <a:extLst xmlns:a="http://schemas.openxmlformats.org/drawingml/2006/main">
              <a:ext uri="{FF2B5EF4-FFF2-40B4-BE49-F238E27FC236}">
                <a16:creationId xmlns:a16="http://schemas.microsoft.com/office/drawing/2014/main" id="{B39E610B-C54F-4509-B518-39DC26E8B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9240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AKTUELLE UI · BEISPIELKONFIGURATION</a:t>
            </a:r>
          </a:p>
        </p:txBody>
      </p:sp>
      <p:sp>
        <p:nvSpPr>
          <p:cNvPr id="16" name="pilot-proof-frame">
            <a:extLst xmlns:a="http://schemas.openxmlformats.org/drawingml/2006/main">
              <a:ext uri="{FF2B5EF4-FFF2-40B4-BE49-F238E27FC236}">
                <a16:creationId xmlns:a16="http://schemas.microsoft.com/office/drawing/2014/main" id="{88BDA1B1-82A5-4233-B96E-498DAEA8F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209800"/>
            <a:ext cx="5657850" cy="3562350"/>
          </a:xfrm>
          <a:prstGeom xmlns:a="http://schemas.openxmlformats.org/drawingml/2006/main" prst="roundRect">
            <a:avLst>
              <a:gd name="adj" fmla="val 6417"/>
            </a:avLst>
          </a:prstGeom>
          <a:solidFill xmlns:a="http://schemas.openxmlformats.org/drawingml/2006/main">
            <a:srgbClr val="0B1730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7f66e6aac644cd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6000750" y="2571672"/>
            <a:ext cx="5353050" cy="2838606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63515317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ta-violet-band">
            <a:extLst xmlns:a="http://schemas.openxmlformats.org/drawingml/2006/main">
              <a:ext uri="{FF2B5EF4-FFF2-40B4-BE49-F238E27FC236}">
                <a16:creationId xmlns:a16="http://schemas.microsoft.com/office/drawing/2014/main" id="{3E2C89B9-7B1D-4A47-A138-8EE21516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0"/>
            <a:ext cx="2571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ta-cyan-band">
            <a:extLst xmlns:a="http://schemas.openxmlformats.org/drawingml/2006/main">
              <a:ext uri="{FF2B5EF4-FFF2-40B4-BE49-F238E27FC236}">
                <a16:creationId xmlns:a16="http://schemas.microsoft.com/office/drawing/2014/main" id="{0F40CEB1-B024-4EBB-B3C4-313BCAF5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ta-glow">
            <a:extLst xmlns:a="http://schemas.openxmlformats.org/drawingml/2006/main">
              <a:ext uri="{FF2B5EF4-FFF2-40B4-BE49-F238E27FC236}">
                <a16:creationId xmlns:a16="http://schemas.microsoft.com/office/drawing/2014/main" id="{B0F2DF70-4601-4CF2-A5A2-68358DC96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971550"/>
            <a:ext cx="1181100" cy="1181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023A9147-B9C5-4C4B-88C8-9B17FFEFB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NÄCHSTER SCHRITT · PILOT</a:t>
            </a:r>
          </a:p>
        </p:txBody>
      </p:sp>
      <p:sp>
        <p:nvSpPr>
          <p:cNvPr id="5" name="cta-title">
            <a:extLst xmlns:a="http://schemas.openxmlformats.org/drawingml/2006/main">
              <a:ext uri="{FF2B5EF4-FFF2-40B4-BE49-F238E27FC236}">
                <a16:creationId xmlns:a16="http://schemas.microsoft.com/office/drawing/2014/main" id="{333B9048-2D52-4BD3-93B5-59B5D6D4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75247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2000"/>
              </a:lnSpc>
              <a:buNone/>
              <a:defRPr sz="45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45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Bringen wir Ihre</a:t>
            </a:r>
          </a:p>
          <a:p xmlns:a="http://schemas.openxmlformats.org/drawingml/2006/main">
            <a:pPr>
              <a:lnSpc>
                <a:spcPct val="92000"/>
              </a:lnSpc>
              <a:buNone/>
              <a:defRPr sz="45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45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KI-Plattform unter Kontrolle.</a:t>
            </a:r>
          </a:p>
        </p:txBody>
      </p:sp>
      <p:sp>
        <p:nvSpPr>
          <p:cNvPr id="6" name="cta-subtitle">
            <a:extLst xmlns:a="http://schemas.openxmlformats.org/drawingml/2006/main">
              <a:ext uri="{FF2B5EF4-FFF2-40B4-BE49-F238E27FC236}">
                <a16:creationId xmlns:a16="http://schemas.microsoft.com/office/drawing/2014/main" id="{F146BB9B-C9A7-43D9-9974-0A68DD1FB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buNone/>
              <a:def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0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Pilot auf Ihrer Infrastruktur · Preise und Umfang auf Anfrage</a:t>
            </a:r>
          </a:p>
        </p:txBody>
      </p:sp>
      <p:sp>
        <p:nvSpPr>
          <p:cNvPr id="7" name="cta-contact">
            <a:extLst xmlns:a="http://schemas.openxmlformats.org/drawingml/2006/main">
              <a:ext uri="{FF2B5EF4-FFF2-40B4-BE49-F238E27FC236}">
                <a16:creationId xmlns:a16="http://schemas.microsoft.com/office/drawing/2014/main" id="{197599F1-7374-4579-83BB-322B60B98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054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hello@qualityminds.de</a:t>
            </a:r>
          </a:p>
        </p:txBody>
      </p:sp>
      <p:sp>
        <p:nvSpPr>
          <p:cNvPr id="8" name="cta-company">
            <a:extLst xmlns:a="http://schemas.openxmlformats.org/drawingml/2006/main">
              <a:ext uri="{FF2B5EF4-FFF2-40B4-BE49-F238E27FC236}">
                <a16:creationId xmlns:a16="http://schemas.microsoft.com/office/drawing/2014/main" id="{0A06EDC9-A6FF-4858-A1AF-502344E13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CA3B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CA3BE"/>
                </a:solidFill>
                <a:latin typeface="Avenir Next"/>
                <a:ea typeface="Avenir Next"/>
                <a:cs typeface="Avenir Next"/>
              </a:rPr>
              <a:t>QUALITYMINDS</a:t>
            </a:r>
          </a:p>
        </p:txBody>
      </p:sp>
    </p:spTree>
    <p:extLst>
      <p:ext uri="{BB962C8B-B14F-4D97-AF65-F5344CB8AC3E}">
        <p14:creationId xmlns:p14="http://schemas.microsoft.com/office/powerpoint/2010/main" val="7503754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2026-09-01T21:28:45.4460000Z</dcterms:created>
  <dcterms:modified xsi:type="dcterms:W3CDTF">2026-09-01T21:28:45.4460000Z</dcterms:modified>
</coreProperties>
</file>