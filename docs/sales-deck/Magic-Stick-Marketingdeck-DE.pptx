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1d740988704bb3" /><Relationship Type="http://schemas.openxmlformats.org/officeDocument/2006/relationships/extended-properties" Target="/docProps/app.xml" Id="R59771d063f4448d7" /><Relationship Type="http://schemas.openxmlformats.org/officeDocument/2006/relationships/officeDocument" Target="/ppt/presentation.xml" Id="R266ed2abd70f48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c20434ad734459"/>
  </p:sldMasterIdLst>
  <p:notesMasterIdLst>
    <p:notesMasterId xmlns:r="http://schemas.openxmlformats.org/officeDocument/2006/relationships" r:id="R668f12be9adf47f9"/>
  </p:notesMasterIdLst>
  <p:sldIdLst>
    <p:sldId xmlns:r="http://schemas.openxmlformats.org/officeDocument/2006/relationships" id="256" r:id="R6472561f9d074513"/>
    <p:sldId xmlns:r="http://schemas.openxmlformats.org/officeDocument/2006/relationships" id="257" r:id="Rbffd529241e34797"/>
    <p:sldId xmlns:r="http://schemas.openxmlformats.org/officeDocument/2006/relationships" id="258" r:id="Rda4b5203bd9c49dd"/>
    <p:sldId xmlns:r="http://schemas.openxmlformats.org/officeDocument/2006/relationships" id="259" r:id="Rf267bd84d6164941"/>
    <p:sldId xmlns:r="http://schemas.openxmlformats.org/officeDocument/2006/relationships" id="260" r:id="R509b1ded97e84708"/>
    <p:sldId xmlns:r="http://schemas.openxmlformats.org/officeDocument/2006/relationships" id="261" r:id="Rb3f2d060785a4a45"/>
    <p:sldId xmlns:r="http://schemas.openxmlformats.org/officeDocument/2006/relationships" id="262" r:id="R9812d682e8ee4994"/>
    <p:sldId xmlns:r="http://schemas.openxmlformats.org/officeDocument/2006/relationships" id="263" r:id="R5ae621fb693b404b"/>
    <p:sldId xmlns:r="http://schemas.openxmlformats.org/officeDocument/2006/relationships" id="264" r:id="Rce1a7a054490484d"/>
    <p:sldId xmlns:r="http://schemas.openxmlformats.org/officeDocument/2006/relationships" id="265" r:id="Rda04e10063d74bea"/>
    <p:sldId xmlns:r="http://schemas.openxmlformats.org/officeDocument/2006/relationships" id="266" r:id="R8f88240fd70a4ed9"/>
    <p:sldId xmlns:r="http://schemas.openxmlformats.org/officeDocument/2006/relationships" id="267" r:id="R0f36a7974d8b4231"/>
    <p:sldId xmlns:r="http://schemas.openxmlformats.org/officeDocument/2006/relationships" id="268" r:id="Re4ddafc4387a4344"/>
    <p:sldId xmlns:r="http://schemas.openxmlformats.org/officeDocument/2006/relationships" id="269" r:id="R5ab79a7db0ff4993"/>
    <p:sldId xmlns:r="http://schemas.openxmlformats.org/officeDocument/2006/relationships" id="270" r:id="R4f63fdf88bcf487e"/>
    <p:sldId xmlns:r="http://schemas.openxmlformats.org/officeDocument/2006/relationships" id="271" r:id="Rbc23acada1c6400a"/>
    <p:sldId xmlns:r="http://schemas.openxmlformats.org/officeDocument/2006/relationships" id="272" r:id="Rd47c0a8a76a24ecd"/>
    <p:sldId xmlns:r="http://schemas.openxmlformats.org/officeDocument/2006/relationships" id="273" r:id="Re5a203309f134f39"/>
    <p:sldId xmlns:r="http://schemas.openxmlformats.org/officeDocument/2006/relationships" id="274" r:id="Rb578bfd6a494452c"/>
    <p:sldId xmlns:r="http://schemas.openxmlformats.org/officeDocument/2006/relationships" id="275" r:id="R15ca308a27ac4f6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1568c4785a4236" /><Relationship Type="http://schemas.openxmlformats.org/officeDocument/2006/relationships/slideMaster" Target="/ppt/slideMasters/slideMaster1.xml" Id="R96c20434ad734459" /><Relationship Type="http://schemas.openxmlformats.org/officeDocument/2006/relationships/notesMaster" Target="/ppt/notesMasters/notesMaster1.xml" Id="R668f12be9adf47f9" /><Relationship Type="http://schemas.openxmlformats.org/officeDocument/2006/relationships/presProps" Target="/ppt/presProps.xml" Id="R34c7a6d922344326" /><Relationship Type="http://schemas.openxmlformats.org/officeDocument/2006/relationships/tableStyles" Target="/ppt/tableStyles.xml" Id="R60a1a19f73104f05" /><Relationship Type="http://schemas.openxmlformats.org/officeDocument/2006/relationships/slide" Target="/ppt/slides/slide1.xml" Id="R6472561f9d074513" /><Relationship Type="http://schemas.openxmlformats.org/officeDocument/2006/relationships/slide" Target="/ppt/slides/slide2.xml" Id="Rbffd529241e34797" /><Relationship Type="http://schemas.openxmlformats.org/officeDocument/2006/relationships/slide" Target="/ppt/slides/slide3.xml" Id="Rda4b5203bd9c49dd" /><Relationship Type="http://schemas.openxmlformats.org/officeDocument/2006/relationships/slide" Target="/ppt/slides/slide4.xml" Id="Rf267bd84d6164941" /><Relationship Type="http://schemas.openxmlformats.org/officeDocument/2006/relationships/slide" Target="/ppt/slides/slide5.xml" Id="R509b1ded97e84708" /><Relationship Type="http://schemas.openxmlformats.org/officeDocument/2006/relationships/slide" Target="/ppt/slides/slide6.xml" Id="Rb3f2d060785a4a45" /><Relationship Type="http://schemas.openxmlformats.org/officeDocument/2006/relationships/slide" Target="/ppt/slides/slide7.xml" Id="R9812d682e8ee4994" /><Relationship Type="http://schemas.openxmlformats.org/officeDocument/2006/relationships/slide" Target="/ppt/slides/slide8.xml" Id="R5ae621fb693b404b" /><Relationship Type="http://schemas.openxmlformats.org/officeDocument/2006/relationships/slide" Target="/ppt/slides/slide9.xml" Id="Rce1a7a054490484d" /><Relationship Type="http://schemas.openxmlformats.org/officeDocument/2006/relationships/slide" Target="/ppt/slides/slide10.xml" Id="Rda04e10063d74bea" /><Relationship Type="http://schemas.openxmlformats.org/officeDocument/2006/relationships/slide" Target="/ppt/slides/slide11.xml" Id="R8f88240fd70a4ed9" /><Relationship Type="http://schemas.openxmlformats.org/officeDocument/2006/relationships/slide" Target="/ppt/slides/slide12.xml" Id="R0f36a7974d8b4231" /><Relationship Type="http://schemas.openxmlformats.org/officeDocument/2006/relationships/slide" Target="/ppt/slides/slide13.xml" Id="Re4ddafc4387a4344" /><Relationship Type="http://schemas.openxmlformats.org/officeDocument/2006/relationships/slide" Target="/ppt/slides/slide14.xml" Id="R5ab79a7db0ff4993" /><Relationship Type="http://schemas.openxmlformats.org/officeDocument/2006/relationships/slide" Target="/ppt/slides/slide15.xml" Id="R4f63fdf88bcf487e" /><Relationship Type="http://schemas.openxmlformats.org/officeDocument/2006/relationships/slide" Target="/ppt/slides/slide16.xml" Id="Rbc23acada1c6400a" /><Relationship Type="http://schemas.openxmlformats.org/officeDocument/2006/relationships/slide" Target="/ppt/slides/slide17.xml" Id="Rd47c0a8a76a24ecd" /><Relationship Type="http://schemas.openxmlformats.org/officeDocument/2006/relationships/slide" Target="/ppt/slides/slide18.xml" Id="Re5a203309f134f39" /><Relationship Type="http://schemas.openxmlformats.org/officeDocument/2006/relationships/slide" Target="/ppt/slides/slide19.xml" Id="Rb578bfd6a494452c" /><Relationship Type="http://schemas.openxmlformats.org/officeDocument/2006/relationships/slide" Target="/ppt/slides/slide20.xml" Id="R15ca308a27ac4f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b985d3f420a44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3029fbdd6e40fa" /><Relationship Type="http://schemas.openxmlformats.org/officeDocument/2006/relationships/notesMaster" Target="/ppt/notesMasters/notesMaster1.xml" Id="R1f956c211bc54a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2515215b954849" /><Relationship Type="http://schemas.openxmlformats.org/officeDocument/2006/relationships/notesMaster" Target="/ppt/notesMasters/notesMaster1.xml" Id="Rff98def3310d48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8e0aed7a9e472e" /><Relationship Type="http://schemas.openxmlformats.org/officeDocument/2006/relationships/notesMaster" Target="/ppt/notesMasters/notesMaster1.xml" Id="Rf2c33cd547404b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8c7e5372fc49d4" /><Relationship Type="http://schemas.openxmlformats.org/officeDocument/2006/relationships/notesMaster" Target="/ppt/notesMasters/notesMaster1.xml" Id="Rf6d62a31df6744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2a207ca77d40a3" /><Relationship Type="http://schemas.openxmlformats.org/officeDocument/2006/relationships/notesMaster" Target="/ppt/notesMasters/notesMaster1.xml" Id="Rc5ebeba9e5f94a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f946c3087f483c" /><Relationship Type="http://schemas.openxmlformats.org/officeDocument/2006/relationships/notesMaster" Target="/ppt/notesMasters/notesMaster1.xml" Id="Rb04093c8754741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2d916bced54f26" /><Relationship Type="http://schemas.openxmlformats.org/officeDocument/2006/relationships/notesMaster" Target="/ppt/notesMasters/notesMaster1.xml" Id="Re2c29a18c1c246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90af74772f4dd1" /><Relationship Type="http://schemas.openxmlformats.org/officeDocument/2006/relationships/notesMaster" Target="/ppt/notesMasters/notesMaster1.xml" Id="R24fb7869a38b4d2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837e9b245034049" /><Relationship Type="http://schemas.openxmlformats.org/officeDocument/2006/relationships/notesMaster" Target="/ppt/notesMasters/notesMaster1.xml" Id="R5268b12a8d9d48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4add322ba104561" /><Relationship Type="http://schemas.openxmlformats.org/officeDocument/2006/relationships/notesMaster" Target="/ppt/notesMasters/notesMaster1.xml" Id="Raec6f655aff1441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df9c85f818e46ae" /><Relationship Type="http://schemas.openxmlformats.org/officeDocument/2006/relationships/notesMaster" Target="/ppt/notesMasters/notesMaster1.xml" Id="Rdbb78849569347e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469d7c8bf1e4398" /><Relationship Type="http://schemas.openxmlformats.org/officeDocument/2006/relationships/notesMaster" Target="/ppt/notesMasters/notesMaster1.xml" Id="R4581066d0d624ad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cc550557a7b45ed" /><Relationship Type="http://schemas.openxmlformats.org/officeDocument/2006/relationships/notesMaster" Target="/ppt/notesMasters/notesMaster1.xml" Id="R5a05926e68b1418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1c9aa428b8342de" /><Relationship Type="http://schemas.openxmlformats.org/officeDocument/2006/relationships/notesMaster" Target="/ppt/notesMasters/notesMaster1.xml" Id="R6354bb891cca4a2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88bf5bb992d480c" /><Relationship Type="http://schemas.openxmlformats.org/officeDocument/2006/relationships/notesMaster" Target="/ppt/notesMasters/notesMaster1.xml" Id="R97d5a18740534d7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7b510d55fa0433a" /><Relationship Type="http://schemas.openxmlformats.org/officeDocument/2006/relationships/notesMaster" Target="/ppt/notesMasters/notesMaster1.xml" Id="R81ea410ae22e4d9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a22825769ed4b8e" /><Relationship Type="http://schemas.openxmlformats.org/officeDocument/2006/relationships/notesMaster" Target="/ppt/notesMasters/notesMaster1.xml" Id="Rbeb28ef13a3f477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9a9a6cd614a4046" /><Relationship Type="http://schemas.openxmlformats.org/officeDocument/2006/relationships/notesMaster" Target="/ppt/notesMasters/notesMaster1.xml" Id="Rb5eedf059051459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a49d8e5d3434e4c" /><Relationship Type="http://schemas.openxmlformats.org/officeDocument/2006/relationships/notesMaster" Target="/ppt/notesMasters/notesMaster1.xml" Id="R4950cb1f1d78406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01a3b6822b643ae" /><Relationship Type="http://schemas.openxmlformats.org/officeDocument/2006/relationships/notesMaster" Target="/ppt/notesMasters/notesMaster1.xml" Id="Rfa32ac9072b849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Magic Stick macht aus Kubernetes, Identität, Modellen und Anwendungen eine bedienbare AI-Appliance. Die Plattform kann lokal, hybrid oder mit externen Modellen betrieben werden.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docs/dashboard.md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eigentliche Hürde ist nicht nur Inferenz. Ein produktiver KI-Dienst braucht reproduzierbare Installation, Netzwerk, Identität, Modellbetrieb und Anwendungen als zusammenhängendes System.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docs/installation/README.md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Das Dashboard ist die Produktoberfläche: Es bündelt den Zustand der Appliance, verfügbare Anwendungen, Modelle und Zugriffsverwaltung, ohne den Kubernetes-Unterbau zu verstecken oder vorauszusetzen.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docs/dashboard.md</a:t>
            </a:r>
          </a:p>
          <a:p xmlns:a="http://schemas.openxmlformats.org/drawingml/2006/main">
            <a:r>
              <a:t>- Screenshot: docs/sales-deck/assets/Magic-Stick-Dashboard-Overview-Current.png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Magic Stick bietet vier klar dokumentierte Einstiegspunkte. Alle führen zu einem deklarativ verwalteten Cluster und derselben geschützten Ersteinrichtung.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docs/installation/bare-metal.md</a:t>
            </a:r>
          </a:p>
          <a:p xmlns:a="http://schemas.openxmlformats.org/drawingml/2006/main">
            <a:r>
              <a:t>- docs/installation/cloud-init-vm.md</a:t>
            </a:r>
          </a:p>
          <a:p xmlns:a="http://schemas.openxmlformats.org/drawingml/2006/main">
            <a:r>
              <a:t>- docs/installation/existing-vm.md</a:t>
            </a:r>
          </a:p>
          <a:p xmlns:a="http://schemas.openxmlformats.org/drawingml/2006/main">
            <a:r>
              <a:t>- docs/installation/existing-kubernetes.md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Beim ersten Start zeigt die lokale Konsole einen einmaligen Einrichtungscode. Erst danach werden Appliance-Daten und der erste Keycloak-Administrator gesetzt; die normale Oberfläche bleibt bis zum Abschluss gesperrt.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docs/first-run-setup.md</a:t>
            </a:r>
          </a:p>
          <a:p xmlns:a="http://schemas.openxmlformats.org/drawingml/2006/main">
            <a:r>
              <a:t>- magic-cluster/platform/first-run-setup/setup-crd.yaml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Services-Seite verbindet Plattformmodule mit den daraus erzeugten Instanzen. Anwender sehen Bereitschaft, Endpunkte und Abhängigkeiten in einer gemeinsamen Oberfläche.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docs/dashboard.md</a:t>
            </a:r>
          </a:p>
          <a:p xmlns:a="http://schemas.openxmlformats.org/drawingml/2006/main">
            <a:r>
              <a:t>- Screenshot: docs/sales-deck/assets/Magic-Stick-Dashboard-Services-Current.png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Oberfläche übersetzt deklarative Ressourcen in geführte Auswahlfelder. Nur verfügbare Engines und Compute-Ziele erscheinen; instanzbezogene Optionen werden erst nach der Typwahl gezeigt.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docs/dashboard.md</a:t>
            </a:r>
          </a:p>
          <a:p xmlns:a="http://schemas.openxmlformats.org/drawingml/2006/main">
            <a:r>
              <a:t>- Screenshots: docs/sales-deck/assets/Magic-Stick-Create-Instance-Current.png; Magic-Stick-Create-Model-Current.png; Magic-Stick-Dashboard-Overview-Strip-Current.png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Externe Modelle sind ein gleichwertiger Betriebsmodus. Sie werden zentral katalogisiert und stehen den Anwendungen über LiteLLM zur Verfügung, ohne dass lokale Inferenz vorausgesetzt wird.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docs/model-catalog.md</a:t>
            </a:r>
          </a:p>
          <a:p xmlns:a="http://schemas.openxmlformats.org/drawingml/2006/main">
            <a:r>
              <a:t>- Screenshot: docs/sales-deck/assets/Magic-Stick-Create-External-Model-Current.png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Basisinstallation benötigt keine GPU. Lokale Inferenz wird bedarfsgesteuert aktiviert: vLLM für CPU und mehrere GPU-Familien, Ollama als zweite Laufzeit für CPU, NVIDIA und AMD.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docs/model-catalog.md</a:t>
            </a:r>
          </a:p>
          <a:p xmlns:a="http://schemas.openxmlformats.org/drawingml/2006/main">
            <a:r>
              <a:t>- magic-cluster/platform/magicstick-operator/model-presets.yaml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Compute-Ziele sind ein Vertrag zwischen Katalog, Operator und Dashboard. Nicht verfügbare Hardware wird nicht angeboten; CPU bleibt als unabhängiger Basispfad nutzbar.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docs/model-catalog.md</a:t>
            </a:r>
          </a:p>
          <a:p xmlns:a="http://schemas.openxmlformats.org/drawingml/2006/main">
            <a:r>
              <a:t>- magic-cluster/platform/gpu/kustomization.yaml</a:t>
            </a:r>
          </a:p>
          <a:p xmlns:a="http://schemas.openxmlformats.org/drawingml/2006/main">
            <a:r>
              <a:t>- magic-cluster/apps/dashboard/configmap.yaml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Modelle-Seite trennt unreservierten von tatsächlich freiem Speicher. Minimum und empfohlene Belegung helfen bereits vor dem Start, Preset und Hardware realistisch einzuordnen.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docs/dashboard.md</a:t>
            </a:r>
          </a:p>
          <a:p xmlns:a="http://schemas.openxmlformats.org/drawingml/2006/main">
            <a:r>
              <a:t>- docs/model-catalog.md</a:t>
            </a:r>
          </a:p>
          <a:p xmlns:a="http://schemas.openxmlformats.org/drawingml/2006/main">
            <a:r>
              <a:t>- Screenshot: docs/sales-deck/assets/Magic-Stick-Dashboard-Models-Current.png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Magic Stick ist kein einzelnes Chat-Frontend. Der gemeinsame Modellzugang versorgt Wissensarbeit, Chat, Agenten-Workflows und Coding-Werkzeuge; Anwendungen werden als Module oder getrennte Instanzen betrieben.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docs/dashboard.md</a:t>
            </a:r>
          </a:p>
          <a:p xmlns:a="http://schemas.openxmlformats.org/drawingml/2006/main">
            <a:r>
              <a:t>- magic-cluster/apps/instances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Keycloak bleibt die lokale Identitätsgrenze und funktioniert auch ohne externen Provider. Enterprise-IdPs können über OIDC oder SAML angebunden werden, ohne dass die Anwendungen ihre Integration ändern müssen.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docs/first-run-setup.md</a:t>
            </a:r>
          </a:p>
          <a:p xmlns:a="http://schemas.openxmlformats.org/drawingml/2006/main">
            <a:r>
              <a:t>- magic-cluster/platform/identity/keycloak-realm.yaml</a:t>
            </a:r>
          </a:p>
          <a:p xmlns:a="http://schemas.openxmlformats.org/drawingml/2006/main">
            <a:r>
              <a:t>- magic-cluster/platform/identity/security-policy.yaml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Community-Version enthält bereits den vollständigen Benutzerlebenszyklus und globale Rollen. Das schafft eine klare Sicherheitsbasis, ohne die spätere Enterprise-Governance vorwegzunehmen.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docs/dashboard.md</a:t>
            </a:r>
          </a:p>
          <a:p xmlns:a="http://schemas.openxmlformats.org/drawingml/2006/main">
            <a:r>
              <a:t>- magic-cluster/apps/dashboard/user-admin-rbac.yaml</a:t>
            </a:r>
          </a:p>
          <a:p xmlns:a="http://schemas.openxmlformats.org/drawingml/2006/main">
            <a:r>
              <a:t>- Screenshot: docs/sales-deck/assets/Magic-Stick-Create-User-Current.png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Magic Stick verbindet Installationsautomation mit GitOps. Änderungen bleiben nachvollziehbar, wiederholbar und über denselben deklarativen Weg auf neue Systeme übertragbar.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magic-cluster/README.md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Node Feature Discovery erkennt Hardwaremerkmale kontinuierlich. Magic Stick fordert die passenden Provider an und meldet einen Compute-Pfad erst dann als nutzbar, wenn Ressourcen wirklich im Cluster verfügbar sind.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magic-cluster/platform/gpu/kustomization.yaml</a:t>
            </a:r>
          </a:p>
          <a:p xmlns:a="http://schemas.openxmlformats.org/drawingml/2006/main">
            <a:r>
              <a:t>- docs/dashboard.md</a:t>
            </a:r>
          </a:p>
          <a:p xmlns:a="http://schemas.openxmlformats.org/drawingml/2006/main">
            <a:r>
              <a:t>- Screenshot: docs/sales-deck/assets/Magic-Stick-System-Status-Current.png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Open-Source-Ausgabe bleibt eine vollständige, selbst betreibbare Appliance. Enterprise differenziert nicht über künstlich entfernte Kernfunktionen, sondern über organisationsbezogene Governance und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docs/dashboard.md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Das Enterprise-Zielbild ergänzt die globale Rollenbasis um Ressourcenzuweisungen, organisatorische Grenzen, delegierte Administration, Richtlinien und Audit. Diese Funktionen sind klar als Konzeption gekennzeichnet.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Produktpositionierung: Enterprise-Zielbild, Stand 2026-09-01</a:t>
            </a:r>
          </a:p>
          <a:p xmlns:a="http://schemas.openxmlformats.org/drawingml/2006/main">
            <a:r>
              <a:t>- docs/dashboard.md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Ein Pilot beginnt nicht mit einer langen Plattformmigration. Wir wählen einen Use Case, stellen Magic Stick auf der vorhandenen Zielumgebung bereit und messen technische sowie fachliche Wirkung.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docs/installation/README.md</a:t>
            </a:r>
          </a:p>
          <a:p xmlns:a="http://schemas.openxmlformats.org/drawingml/2006/main">
            <a:r>
              <a:t>- Screenshot: docs/sales-deck/assets/Magic-Stick-Dashboard-Overview-Strip-Current.png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Der nächste sinnvolle Schritt ist ein abgegrenzter Pilot auf der Infrastruktur des Interessenten. Community ist offen nutzbar; Pilot, Integration und Enterprise-Governance werden passend zum Bedarf angeboten.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QualityMinds GmbH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6785d2028547c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4c0815ab3f4bf1" /><Relationship Type="http://schemas.openxmlformats.org/officeDocument/2006/relationships/slideLayout" Target="/ppt/slideLayouts/slideLayout1.xml" Id="R99f7fbb5d62e4bf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f7fbb5d62e4bf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e34f55f0864af1" /><Relationship Type="http://schemas.openxmlformats.org/officeDocument/2006/relationships/image" Target="/ppt/media/image.png" Id="R106d95fc54b14df6" /><Relationship Type="http://schemas.openxmlformats.org/officeDocument/2006/relationships/notesSlide" Target="/ppt/notesSlides/notesSlide1.xml" Id="R3e243f7ef4df46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665b630197433d" /><Relationship Type="http://schemas.openxmlformats.org/officeDocument/2006/relationships/image" Target="/ppt/media/image.jpeg" Id="R2c97f4cafc5344a3" /><Relationship Type="http://schemas.openxmlformats.org/officeDocument/2006/relationships/notesSlide" Target="/ppt/notesSlides/notesSlide2.xml" Id="R12e8c23aeef4420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de1d3cdc2b473b" /><Relationship Type="http://schemas.openxmlformats.org/officeDocument/2006/relationships/image" Target="/ppt/media/image2.jpeg" Id="Rf6edade339b640f0" /><Relationship Type="http://schemas.openxmlformats.org/officeDocument/2006/relationships/notesSlide" Target="/ppt/notesSlides/notesSlide3.xml" Id="R14b647b6525349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d81e2533d24138" /><Relationship Type="http://schemas.openxmlformats.org/officeDocument/2006/relationships/notesSlide" Target="/ppt/notesSlides/notesSlide4.xml" Id="R02557ef4edb142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817b302704177" /><Relationship Type="http://schemas.openxmlformats.org/officeDocument/2006/relationships/image" Target="/ppt/media/image.jpeg" Id="Rf775569787d3414a" /><Relationship Type="http://schemas.openxmlformats.org/officeDocument/2006/relationships/notesSlide" Target="/ppt/notesSlides/notesSlide5.xml" Id="R63bec145f4bc4a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952ff89f14d30" /><Relationship Type="http://schemas.openxmlformats.org/officeDocument/2006/relationships/image" Target="/ppt/media/image3.jpeg" Id="R393e34aece93422d" /><Relationship Type="http://schemas.openxmlformats.org/officeDocument/2006/relationships/notesSlide" Target="/ppt/notesSlides/notesSlide6.xml" Id="R93df6a7fe98448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ffd6184968432e" /><Relationship Type="http://schemas.openxmlformats.org/officeDocument/2006/relationships/image" Target="/ppt/media/image4.jpeg" Id="Ra34c3b5463ec4809" /><Relationship Type="http://schemas.openxmlformats.org/officeDocument/2006/relationships/image" Target="/ppt/media/image5.jpeg" Id="R3eec5fdbf4a14f1c" /><Relationship Type="http://schemas.openxmlformats.org/officeDocument/2006/relationships/image" Target="/ppt/media/image6.jpeg" Id="R66d188570dae4fb0" /><Relationship Type="http://schemas.openxmlformats.org/officeDocument/2006/relationships/notesSlide" Target="/ppt/notesSlides/notesSlide7.xml" Id="Rcf6a6e3473034d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392063dec4b56" /><Relationship Type="http://schemas.openxmlformats.org/officeDocument/2006/relationships/image" Target="/ppt/media/image7.jpeg" Id="R2d5de161403e4328" /><Relationship Type="http://schemas.openxmlformats.org/officeDocument/2006/relationships/notesSlide" Target="/ppt/notesSlides/notesSlide8.xml" Id="R0906159cc81246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3eb83f8e484d1d" /><Relationship Type="http://schemas.openxmlformats.org/officeDocument/2006/relationships/image" Target="/ppt/media/image2.png" Id="R15a4b886061b455a" /><Relationship Type="http://schemas.openxmlformats.org/officeDocument/2006/relationships/notesSlide" Target="/ppt/notesSlides/notesSlide9.xml" Id="Rd257a8c0572d44a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f7e0cb67014bc1" /><Relationship Type="http://schemas.openxmlformats.org/officeDocument/2006/relationships/notesSlide" Target="/ppt/notesSlides/notesSlide10.xml" Id="R68f8f30e88214cc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266305d659448f" /><Relationship Type="http://schemas.openxmlformats.org/officeDocument/2006/relationships/image" Target="/ppt/media/image8.jpeg" Id="Rc0abde96ae854970" /><Relationship Type="http://schemas.openxmlformats.org/officeDocument/2006/relationships/notesSlide" Target="/ppt/notesSlides/notesSlide11.xml" Id="R00a9fdaea5984ed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7a10a40cb4f29" /><Relationship Type="http://schemas.openxmlformats.org/officeDocument/2006/relationships/image" Target="/ppt/media/image3.png" Id="R99d5c909fdd345e3" /><Relationship Type="http://schemas.openxmlformats.org/officeDocument/2006/relationships/notesSlide" Target="/ppt/notesSlides/notesSlide12.xml" Id="Re6a9b4849c02447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3ea76dcfe4420" /><Relationship Type="http://schemas.openxmlformats.org/officeDocument/2006/relationships/notesSlide" Target="/ppt/notesSlides/notesSlide13.xml" Id="R81d50a10b99143e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7b848ce0054262" /><Relationship Type="http://schemas.openxmlformats.org/officeDocument/2006/relationships/image" Target="/ppt/media/image9.jpeg" Id="R184596259c5f48ba" /><Relationship Type="http://schemas.openxmlformats.org/officeDocument/2006/relationships/notesSlide" Target="/ppt/notesSlides/notesSlide14.xml" Id="R4bcede56d5a945b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8357a914c40a0" /><Relationship Type="http://schemas.openxmlformats.org/officeDocument/2006/relationships/notesSlide" Target="/ppt/notesSlides/notesSlide15.xml" Id="R83f6949f6633485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2f043b1154802" /><Relationship Type="http://schemas.openxmlformats.org/officeDocument/2006/relationships/image" Target="/ppt/media/image10.jpeg" Id="R5272214b566749bf" /><Relationship Type="http://schemas.openxmlformats.org/officeDocument/2006/relationships/notesSlide" Target="/ppt/notesSlides/notesSlide16.xml" Id="R2d7fcc06535f42c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02a8954314407" /><Relationship Type="http://schemas.openxmlformats.org/officeDocument/2006/relationships/notesSlide" Target="/ppt/notesSlides/notesSlide17.xml" Id="R26b675e13f284a4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0c012714054f5c" /><Relationship Type="http://schemas.openxmlformats.org/officeDocument/2006/relationships/image" Target="/ppt/media/image4.png" Id="R37053c33b5904e66" /><Relationship Type="http://schemas.openxmlformats.org/officeDocument/2006/relationships/notesSlide" Target="/ppt/notesSlides/notesSlide18.xml" Id="R692675c9711b411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033459ed84483" /><Relationship Type="http://schemas.openxmlformats.org/officeDocument/2006/relationships/image" Target="/ppt/media/image11.jpeg" Id="R092e91355922412b" /><Relationship Type="http://schemas.openxmlformats.org/officeDocument/2006/relationships/notesSlide" Target="/ppt/notesSlides/notesSlide19.xml" Id="R9ca36e57f0cd41d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f291d91d154c7c" /><Relationship Type="http://schemas.openxmlformats.org/officeDocument/2006/relationships/notesSlide" Target="/ppt/notesSlides/notesSlide20.xml" Id="R7a7733115fc443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6d95fc54b14df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ero-copy-panel">
            <a:extLst xmlns:a="http://schemas.openxmlformats.org/drawingml/2006/main">
              <a:ext uri="{FF2B5EF4-FFF2-40B4-BE49-F238E27FC236}">
                <a16:creationId xmlns:a16="http://schemas.microsoft.com/office/drawing/2014/main" id="{E1210A75-AD7B-45FE-9715-8B680302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570800CC-E0E0-4D5B-AF00-B0320607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OPEN SOURCE AI APPLIANCE</a:t>
            </a:r>
          </a:p>
        </p:txBody>
      </p:sp>
      <p:sp>
        <p:nvSpPr>
          <p:cNvPr id="4" name="hero-title">
            <a:extLst xmlns:a="http://schemas.openxmlformats.org/drawingml/2006/main">
              <a:ext uri="{FF2B5EF4-FFF2-40B4-BE49-F238E27FC236}">
                <a16:creationId xmlns:a16="http://schemas.microsoft.com/office/drawing/2014/main" id="{47911193-4E62-4CC0-8575-3ADD29FD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143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buNone/>
              <a:defRPr sz="4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Ihre KI-Plattform.</a:t>
            </a:r>
          </a:p>
          <a:p xmlns:a="http://schemas.openxmlformats.org/drawingml/2006/main">
            <a:pPr>
              <a:lnSpc>
                <a:spcPct val="90000"/>
              </a:lnSpc>
              <a:buNone/>
              <a:defRPr sz="4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Einfach betreibbar.</a:t>
            </a:r>
          </a:p>
        </p:txBody>
      </p:sp>
      <p:sp>
        <p:nvSpPr>
          <p:cNvPr id="5" name="hero-subtitle">
            <a:extLst xmlns:a="http://schemas.openxmlformats.org/drawingml/2006/main">
              <a:ext uri="{FF2B5EF4-FFF2-40B4-BE49-F238E27FC236}">
                <a16:creationId xmlns:a16="http://schemas.microsoft.com/office/drawing/2014/main" id="{8C61C155-0B0D-4588-9F3B-E2FFA892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Modelle, Services, Benutzer und Betrieb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auf Ihrer Infrastruktur.</a:t>
            </a:r>
          </a:p>
        </p:txBody>
      </p:sp>
      <p:sp>
        <p:nvSpPr>
          <p:cNvPr id="6" name="tag-LOCAL-FIRST">
            <a:extLst xmlns:a="http://schemas.openxmlformats.org/drawingml/2006/main">
              <a:ext uri="{FF2B5EF4-FFF2-40B4-BE49-F238E27FC236}">
                <a16:creationId xmlns:a16="http://schemas.microsoft.com/office/drawing/2014/main" id="{7BB95C7E-FFE6-47C7-9252-00D43096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4287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LOCAL-FIRST</a:t>
            </a:r>
          </a:p>
        </p:txBody>
      </p:sp>
      <p:sp>
        <p:nvSpPr>
          <p:cNvPr id="7" name="tag-HYBRID">
            <a:extLst xmlns:a="http://schemas.openxmlformats.org/drawingml/2006/main">
              <a:ext uri="{FF2B5EF4-FFF2-40B4-BE49-F238E27FC236}">
                <a16:creationId xmlns:a16="http://schemas.microsoft.com/office/drawing/2014/main" id="{F3B5F95E-8EB1-4419-8E87-CAB30263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124450"/>
            <a:ext cx="10096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8BDF8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8BDF8"/>
                </a:solidFill>
                <a:latin typeface="Avenir Next"/>
                <a:ea typeface="Avenir Next"/>
                <a:cs typeface="Avenir Next"/>
              </a:rPr>
              <a:t>HYBRID</a:t>
            </a:r>
          </a:p>
        </p:txBody>
      </p:sp>
      <p:sp>
        <p:nvSpPr>
          <p:cNvPr id="8" name="tag-OPEN">
            <a:extLst xmlns:a="http://schemas.openxmlformats.org/drawingml/2006/main">
              <a:ext uri="{FF2B5EF4-FFF2-40B4-BE49-F238E27FC236}">
                <a16:creationId xmlns:a16="http://schemas.microsoft.com/office/drawing/2014/main" id="{F3D58804-459E-424E-B807-568CF5A6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24450"/>
            <a:ext cx="8953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OPEN</a:t>
            </a:r>
          </a:p>
        </p:txBody>
      </p:sp>
      <p:sp>
        <p:nvSpPr>
          <p:cNvPr id="9" name="qualityminds">
            <a:extLst xmlns:a="http://schemas.openxmlformats.org/drawingml/2006/main">
              <a:ext uri="{FF2B5EF4-FFF2-40B4-BE49-F238E27FC236}">
                <a16:creationId xmlns:a16="http://schemas.microsoft.com/office/drawing/2014/main" id="{4BE3276B-E3A0-4775-B5AA-86F4C368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1435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B8C9DD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B8C9DD"/>
                </a:solidFill>
                <a:latin typeface="Avenir Next"/>
                <a:ea typeface="Avenir Next"/>
                <a:cs typeface="Avenir Next"/>
              </a:rPr>
              <a:t>QUALITYMINDS</a:t>
            </a:r>
          </a:p>
        </p:txBody>
      </p:sp>
    </p:spTree>
    <p:extLst>
      <p:ext uri="{BB962C8B-B14F-4D97-AF65-F5344CB8AC3E}">
        <p14:creationId xmlns:p14="http://schemas.microsoft.com/office/powerpoint/2010/main" val="6455617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D657BBDD-3C65-4CA3-A644-63FC75C9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1CEF70D-CF6F-4F5C-A9F1-7DAF3FBF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966C18B7-7BD1-4DC1-9EDB-6C4BF422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DIE REALITÄT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CAAD781-3995-4060-BDAD-CD4EDD2D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581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Produktive KI ist mehr als ein Modell</a:t>
            </a:r>
          </a:p>
        </p:txBody>
      </p:sp>
      <p:sp>
        <p:nvSpPr>
          <p:cNvPr id="5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473DB350-A00F-4518-9AB3-95FAFD20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514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Sechs Grenzen entscheiden, ob aus einem Experiment ein nutzbarer Dienst wird.</a:t>
            </a:r>
          </a:p>
        </p:txBody>
      </p:sp>
      <p:sp>
        <p:nvSpPr>
          <p:cNvPr id="6" name="problem-dot-0">
            <a:extLst xmlns:a="http://schemas.openxmlformats.org/drawingml/2006/main">
              <a:ext uri="{FF2B5EF4-FFF2-40B4-BE49-F238E27FC236}">
                <a16:creationId xmlns:a16="http://schemas.microsoft.com/office/drawing/2014/main" id="{629B8594-3D7C-4F3E-9B84-B27D8500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blem-item-0">
            <a:extLst xmlns:a="http://schemas.openxmlformats.org/drawingml/2006/main">
              <a:ext uri="{FF2B5EF4-FFF2-40B4-BE49-F238E27FC236}">
                <a16:creationId xmlns:a16="http://schemas.microsoft.com/office/drawing/2014/main" id="{FBD4866A-921F-4F60-B1F4-4C439D4F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432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Installation</a:t>
            </a:r>
          </a:p>
        </p:txBody>
      </p:sp>
      <p:sp>
        <p:nvSpPr>
          <p:cNvPr id="8" name="problem-dot-1">
            <a:extLst xmlns:a="http://schemas.openxmlformats.org/drawingml/2006/main">
              <a:ext uri="{FF2B5EF4-FFF2-40B4-BE49-F238E27FC236}">
                <a16:creationId xmlns:a16="http://schemas.microsoft.com/office/drawing/2014/main" id="{31B17CBA-8C23-40F3-9F56-EFB3B26F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670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roblem-item-1">
            <a:extLst xmlns:a="http://schemas.openxmlformats.org/drawingml/2006/main">
              <a:ext uri="{FF2B5EF4-FFF2-40B4-BE49-F238E27FC236}">
                <a16:creationId xmlns:a16="http://schemas.microsoft.com/office/drawing/2014/main" id="{B7B7D41C-837A-400C-8384-121B3BAB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432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GitOps</a:t>
            </a:r>
          </a:p>
        </p:txBody>
      </p:sp>
      <p:sp>
        <p:nvSpPr>
          <p:cNvPr id="10" name="problem-dot-2">
            <a:extLst xmlns:a="http://schemas.openxmlformats.org/drawingml/2006/main">
              <a:ext uri="{FF2B5EF4-FFF2-40B4-BE49-F238E27FC236}">
                <a16:creationId xmlns:a16="http://schemas.microsoft.com/office/drawing/2014/main" id="{46CB54DE-D163-412F-9414-52171F73D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roblem-item-2">
            <a:extLst xmlns:a="http://schemas.openxmlformats.org/drawingml/2006/main">
              <a:ext uri="{FF2B5EF4-FFF2-40B4-BE49-F238E27FC236}">
                <a16:creationId xmlns:a16="http://schemas.microsoft.com/office/drawing/2014/main" id="{DE8D0DD3-E4A5-4C17-ADC0-31B91D7F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909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Netzwerk</a:t>
            </a:r>
          </a:p>
        </p:txBody>
      </p:sp>
      <p:sp>
        <p:nvSpPr>
          <p:cNvPr id="12" name="problem-dot-3">
            <a:extLst xmlns:a="http://schemas.openxmlformats.org/drawingml/2006/main">
              <a:ext uri="{FF2B5EF4-FFF2-40B4-BE49-F238E27FC236}">
                <a16:creationId xmlns:a16="http://schemas.microsoft.com/office/drawing/2014/main" id="{68977283-D06E-4A82-89CD-03091EFAF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7147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roblem-item-3">
            <a:extLst xmlns:a="http://schemas.openxmlformats.org/drawingml/2006/main">
              <a:ext uri="{FF2B5EF4-FFF2-40B4-BE49-F238E27FC236}">
                <a16:creationId xmlns:a16="http://schemas.microsoft.com/office/drawing/2014/main" id="{C8A012D1-AB11-4E29-908C-69088005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909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Identität</a:t>
            </a:r>
          </a:p>
        </p:txBody>
      </p:sp>
      <p:sp>
        <p:nvSpPr>
          <p:cNvPr id="14" name="problem-dot-4">
            <a:extLst xmlns:a="http://schemas.openxmlformats.org/drawingml/2006/main">
              <a:ext uri="{FF2B5EF4-FFF2-40B4-BE49-F238E27FC236}">
                <a16:creationId xmlns:a16="http://schemas.microsoft.com/office/drawing/2014/main" id="{B352F90F-F667-4F06-A031-55B3E0FA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roblem-item-4">
            <a:extLst xmlns:a="http://schemas.openxmlformats.org/drawingml/2006/main">
              <a:ext uri="{FF2B5EF4-FFF2-40B4-BE49-F238E27FC236}">
                <a16:creationId xmlns:a16="http://schemas.microsoft.com/office/drawing/2014/main" id="{B0AA1220-A43D-4056-A758-5E1DFA43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386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Modelle</a:t>
            </a:r>
          </a:p>
        </p:txBody>
      </p:sp>
      <p:sp>
        <p:nvSpPr>
          <p:cNvPr id="16" name="problem-dot-5">
            <a:extLst xmlns:a="http://schemas.openxmlformats.org/drawingml/2006/main">
              <a:ext uri="{FF2B5EF4-FFF2-40B4-BE49-F238E27FC236}">
                <a16:creationId xmlns:a16="http://schemas.microsoft.com/office/drawing/2014/main" id="{35910B41-B4FA-46B6-9B8E-8F0D26A3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624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roblem-item-5">
            <a:extLst xmlns:a="http://schemas.openxmlformats.org/drawingml/2006/main">
              <a:ext uri="{FF2B5EF4-FFF2-40B4-BE49-F238E27FC236}">
                <a16:creationId xmlns:a16="http://schemas.microsoft.com/office/drawing/2014/main" id="{61FABD15-B568-46E8-85C6-07F8DBE5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386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Anwendungen</a:t>
            </a:r>
          </a:p>
        </p:txBody>
      </p:sp>
      <p:sp>
        <p:nvSpPr>
          <p:cNvPr id="18" name="terminal-frame">
            <a:extLst xmlns:a="http://schemas.openxmlformats.org/drawingml/2006/main">
              <a:ext uri="{FF2B5EF4-FFF2-40B4-BE49-F238E27FC236}">
                <a16:creationId xmlns:a16="http://schemas.microsoft.com/office/drawing/2014/main" id="{1ECB56CF-F27A-4E9C-B3D4-22485647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143000"/>
            <a:ext cx="5124450" cy="4476750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7f4cafc5344a3"/>
          <a:srcRect xmlns:a="http://schemas.openxmlformats.org/drawingml/2006/main" l="12070" t="0" r="1207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53200" y="1314450"/>
            <a:ext cx="4781550" cy="4133850"/>
          </a:xfrm>
          <a:prstGeom xmlns:a="http://schemas.openxmlformats.org/drawingml/2006/main" prst="roundRect">
            <a:avLst>
              <a:gd name="adj" fmla="val 4608"/>
            </a:avLst>
          </a:prstGeom>
        </p:spPr>
      </p:pic>
      <p:sp>
        <p:nvSpPr>
          <p:cNvPr id="20" name="tag-EIN PRODUKT STATT SECHS BAUSTELLEN">
            <a:extLst xmlns:a="http://schemas.openxmlformats.org/drawingml/2006/main">
              <a:ext uri="{FF2B5EF4-FFF2-40B4-BE49-F238E27FC236}">
                <a16:creationId xmlns:a16="http://schemas.microsoft.com/office/drawing/2014/main" id="{E1F3C630-A82E-4B28-883E-E53E6109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086350"/>
            <a:ext cx="43243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EINE APPLIANCE STATT SECHS BAUSTELLEN</a:t>
            </a:r>
          </a:p>
        </p:txBody>
      </p:sp>
    </p:spTree>
    <p:extLst>
      <p:ext uri="{BB962C8B-B14F-4D97-AF65-F5344CB8AC3E}">
        <p14:creationId xmlns:p14="http://schemas.microsoft.com/office/powerpoint/2010/main" val="556131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BEDD8DD2-66B0-4EE8-88A1-10015763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066EE3-4723-49C1-9860-FC08DE34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BF8A3B08-CC98-416B-9614-0DB08CAE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DIE PRODUKTIDEE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5950E5F-C5DE-4D04-81FE-797011CB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 Control Plane macht KI zur Appliance</a:t>
            </a:r>
          </a:p>
        </p:txBody>
      </p:sp>
      <p:sp>
        <p:nvSpPr>
          <p:cNvPr id="5" name="dashboard-copy">
            <a:extLst xmlns:a="http://schemas.openxmlformats.org/drawingml/2006/main">
              <a:ext uri="{FF2B5EF4-FFF2-40B4-BE49-F238E27FC236}">
                <a16:creationId xmlns:a16="http://schemas.microsoft.com/office/drawing/2014/main" id="{D3917849-9DB3-4DD9-B911-284DE7F3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Eine Oberfläche verbindet Services,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Modelle, Benutzer und Systemstatus.</a:t>
            </a:r>
          </a:p>
        </p:txBody>
      </p:sp>
      <p:sp>
        <p:nvSpPr>
          <p:cNvPr id="6" name="dashboard-divider">
            <a:extLst xmlns:a="http://schemas.openxmlformats.org/drawingml/2006/main">
              <a:ext uri="{FF2B5EF4-FFF2-40B4-BE49-F238E27FC236}">
                <a16:creationId xmlns:a16="http://schemas.microsoft.com/office/drawing/2014/main" id="{2E53289E-E005-4B6E-A19E-11E34690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15F"/>
            </a:solidFill>
            <a:prstDash val="solid"/>
          </a:ln>
        </p:spPr>
      </p:sp>
      <p:sp>
        <p:nvSpPr>
          <p:cNvPr id="7" name="dashboard-proof">
            <a:extLst xmlns:a="http://schemas.openxmlformats.org/drawingml/2006/main">
              <a:ext uri="{FF2B5EF4-FFF2-40B4-BE49-F238E27FC236}">
                <a16:creationId xmlns:a16="http://schemas.microsoft.com/office/drawing/2014/main" id="{4E355DC2-8B18-4DD5-BC53-A501A8E2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381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Kubernetes liefert das Fundament.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Magic Stick macht es bedienbar.</a:t>
            </a:r>
          </a:p>
        </p:txBody>
      </p:sp>
      <p:sp>
        <p:nvSpPr>
          <p:cNvPr id="8" name="tag-CONNECTED">
            <a:extLst xmlns:a="http://schemas.openxmlformats.org/drawingml/2006/main">
              <a:ext uri="{FF2B5EF4-FFF2-40B4-BE49-F238E27FC236}">
                <a16:creationId xmlns:a16="http://schemas.microsoft.com/office/drawing/2014/main" id="{5774BC3C-4029-4BB9-98B1-76874ADE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12573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UI · AKTUELL</a:t>
            </a:r>
          </a:p>
        </p:txBody>
      </p:sp>
      <p:sp>
        <p:nvSpPr>
          <p:cNvPr id="9" name="dashboard-frame">
            <a:extLst xmlns:a="http://schemas.openxmlformats.org/drawingml/2006/main">
              <a:ext uri="{FF2B5EF4-FFF2-40B4-BE49-F238E27FC236}">
                <a16:creationId xmlns:a16="http://schemas.microsoft.com/office/drawing/2014/main" id="{62FDBA7A-CBAA-486D-9641-98B1D9DD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52600"/>
            <a:ext cx="6362700" cy="4095750"/>
          </a:xfrm>
          <a:prstGeom xmlns:a="http://schemas.openxmlformats.org/drawingml/2006/main" prst="roundRect">
            <a:avLst>
              <a:gd name="adj" fmla="val 6512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edade339b640f0"/>
          <a:stretch xmlns:a="http://schemas.openxmlformats.org/drawingml/2006/main"/>
        </p:blipFill>
        <p:spPr>
          <a:xfrm xmlns:a="http://schemas.openxmlformats.org/drawingml/2006/main" flipH="0" flipV="0">
            <a:off x="5314950" y="2618426"/>
            <a:ext cx="6019800" cy="2364098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9059913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28020345-D7E8-42A9-9F38-97D9EE74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F01963B-EA36-4D01-8A73-647E94FA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DAF73F52-7F31-4CAD-95DF-F4958BFE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VIER STARTPUNKTE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AF63596-E7ED-423D-9E95-9428484E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Installieren, wo Sie schon sind.</a:t>
            </a:r>
          </a:p>
        </p:txBody>
      </p:sp>
      <p:sp>
        <p:nvSpPr>
          <p:cNvPr id="5" name="deploy-lead">
            <a:extLst xmlns:a="http://schemas.openxmlformats.org/drawingml/2006/main">
              <a:ext uri="{FF2B5EF4-FFF2-40B4-BE49-F238E27FC236}">
                <a16:creationId xmlns:a16="http://schemas.microsoft.com/office/drawing/2014/main" id="{8C03F186-E9A3-4D51-B50A-FDE6D9847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Der Einstieg ändert sich. Der sichere Zielzustand bleibt gleich.</a:t>
            </a:r>
          </a:p>
        </p:txBody>
      </p:sp>
      <p:sp>
        <p:nvSpPr>
          <p:cNvPr id="6" name="deploy-line-1">
            <a:extLst xmlns:a="http://schemas.openxmlformats.org/drawingml/2006/main">
              <a:ext uri="{FF2B5EF4-FFF2-40B4-BE49-F238E27FC236}">
                <a16:creationId xmlns:a16="http://schemas.microsoft.com/office/drawing/2014/main" id="{DDCB640C-70A8-4BA1-97AC-1154BAF5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429000"/>
            <a:ext cx="165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D3EE"/>
            </a:solidFill>
            <a:prstDash val="solid"/>
          </a:ln>
        </p:spPr>
      </p:sp>
      <p:sp>
        <p:nvSpPr>
          <p:cNvPr id="7" name="deploy-line-2">
            <a:extLst xmlns:a="http://schemas.openxmlformats.org/drawingml/2006/main">
              <a:ext uri="{FF2B5EF4-FFF2-40B4-BE49-F238E27FC236}">
                <a16:creationId xmlns:a16="http://schemas.microsoft.com/office/drawing/2014/main" id="{38E737B3-5DD7-4092-880F-A1B559CD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3429000"/>
            <a:ext cx="165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D3EE"/>
            </a:solidFill>
            <a:prstDash val="solid"/>
          </a:ln>
        </p:spPr>
      </p:sp>
      <p:sp>
        <p:nvSpPr>
          <p:cNvPr id="8" name="deploy-line-3">
            <a:extLst xmlns:a="http://schemas.openxmlformats.org/drawingml/2006/main">
              <a:ext uri="{FF2B5EF4-FFF2-40B4-BE49-F238E27FC236}">
                <a16:creationId xmlns:a16="http://schemas.microsoft.com/office/drawing/2014/main" id="{C0A6269F-C244-4617-BCDD-1BA22A43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429000"/>
            <a:ext cx="165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D3EE"/>
            </a:solidFill>
            <a:prstDash val="solid"/>
          </a:ln>
        </p:spPr>
      </p:sp>
      <p:sp>
        <p:nvSpPr>
          <p:cNvPr id="9" name="deploy-number-0">
            <a:extLst xmlns:a="http://schemas.openxmlformats.org/drawingml/2006/main">
              <a:ext uri="{FF2B5EF4-FFF2-40B4-BE49-F238E27FC236}">
                <a16:creationId xmlns:a16="http://schemas.microsoft.com/office/drawing/2014/main" id="{01C125FF-FD3A-4F8C-8249-8324363B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3700"/>
            <a:ext cx="8382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deploy-number-text-0">
            <a:extLst xmlns:a="http://schemas.openxmlformats.org/drawingml/2006/main">
              <a:ext uri="{FF2B5EF4-FFF2-40B4-BE49-F238E27FC236}">
                <a16:creationId xmlns:a16="http://schemas.microsoft.com/office/drawing/2014/main" id="{E3FF9D06-27ED-4190-BD15-550EFF6A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337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11" name="deploy-title-0">
            <a:extLst xmlns:a="http://schemas.openxmlformats.org/drawingml/2006/main">
              <a:ext uri="{FF2B5EF4-FFF2-40B4-BE49-F238E27FC236}">
                <a16:creationId xmlns:a16="http://schemas.microsoft.com/office/drawing/2014/main" id="{1064272F-C89B-4E23-9D73-8A113F11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Hardware</a:t>
            </a:r>
          </a:p>
        </p:txBody>
      </p:sp>
      <p:sp>
        <p:nvSpPr>
          <p:cNvPr id="12" name="deploy-body-0">
            <a:extLst xmlns:a="http://schemas.openxmlformats.org/drawingml/2006/main">
              <a:ext uri="{FF2B5EF4-FFF2-40B4-BE49-F238E27FC236}">
                <a16:creationId xmlns:a16="http://schemas.microsoft.com/office/drawing/2014/main" id="{D002A069-630D-432A-BF80-03749807B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7200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USB-Installer + geschützter First Run</a:t>
            </a:r>
          </a:p>
        </p:txBody>
      </p:sp>
      <p:sp>
        <p:nvSpPr>
          <p:cNvPr id="13" name="deploy-number-1">
            <a:extLst xmlns:a="http://schemas.openxmlformats.org/drawingml/2006/main">
              <a:ext uri="{FF2B5EF4-FFF2-40B4-BE49-F238E27FC236}">
                <a16:creationId xmlns:a16="http://schemas.microsoft.com/office/drawing/2014/main" id="{3DBE7336-8F20-4901-85F8-2FC7A94D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933700"/>
            <a:ext cx="8382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4" name="deploy-number-text-1">
            <a:extLst xmlns:a="http://schemas.openxmlformats.org/drawingml/2006/main">
              <a:ext uri="{FF2B5EF4-FFF2-40B4-BE49-F238E27FC236}">
                <a16:creationId xmlns:a16="http://schemas.microsoft.com/office/drawing/2014/main" id="{A6406289-EFC2-4AAE-BD4F-07664EB1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337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5" name="deploy-title-1">
            <a:extLst xmlns:a="http://schemas.openxmlformats.org/drawingml/2006/main">
              <a:ext uri="{FF2B5EF4-FFF2-40B4-BE49-F238E27FC236}">
                <a16:creationId xmlns:a16="http://schemas.microsoft.com/office/drawing/2014/main" id="{7789CDC9-FD0C-4CD3-BBAF-82D8B68D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Neue Cloud-VM</a:t>
            </a:r>
          </a:p>
        </p:txBody>
      </p:sp>
      <p:sp>
        <p:nvSpPr>
          <p:cNvPr id="16" name="deploy-body-1">
            <a:extLst xmlns:a="http://schemas.openxmlformats.org/drawingml/2006/main">
              <a:ext uri="{FF2B5EF4-FFF2-40B4-BE49-F238E27FC236}">
                <a16:creationId xmlns:a16="http://schemas.microsoft.com/office/drawing/2014/main" id="{64B14715-F9B4-4A27-A9AA-B59EBF8E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57200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Cloud-init + geschützter First Run</a:t>
            </a:r>
          </a:p>
        </p:txBody>
      </p:sp>
      <p:sp>
        <p:nvSpPr>
          <p:cNvPr id="17" name="deploy-number-2">
            <a:extLst xmlns:a="http://schemas.openxmlformats.org/drawingml/2006/main">
              <a:ext uri="{FF2B5EF4-FFF2-40B4-BE49-F238E27FC236}">
                <a16:creationId xmlns:a16="http://schemas.microsoft.com/office/drawing/2014/main" id="{4C9DC61C-61CD-4D6F-B5F2-0550BB64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33700"/>
            <a:ext cx="8382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8" name="deploy-number-text-2">
            <a:extLst xmlns:a="http://schemas.openxmlformats.org/drawingml/2006/main">
              <a:ext uri="{FF2B5EF4-FFF2-40B4-BE49-F238E27FC236}">
                <a16:creationId xmlns:a16="http://schemas.microsoft.com/office/drawing/2014/main" id="{E3467D21-F2C8-4756-972D-F815FCDB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337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9" name="deploy-title-2">
            <a:extLst xmlns:a="http://schemas.openxmlformats.org/drawingml/2006/main">
              <a:ext uri="{FF2B5EF4-FFF2-40B4-BE49-F238E27FC236}">
                <a16:creationId xmlns:a16="http://schemas.microsoft.com/office/drawing/2014/main" id="{C777A778-5F1E-4858-843F-10EAF28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9575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Bestehende VM</a:t>
            </a:r>
          </a:p>
        </p:txBody>
      </p:sp>
      <p:sp>
        <p:nvSpPr>
          <p:cNvPr id="20" name="deploy-body-2">
            <a:extLst xmlns:a="http://schemas.openxmlformats.org/drawingml/2006/main">
              <a:ext uri="{FF2B5EF4-FFF2-40B4-BE49-F238E27FC236}">
                <a16:creationId xmlns:a16="http://schemas.microsoft.com/office/drawing/2014/main" id="{E4D9D0DB-A283-470E-8071-C6B5B29E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7200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Ein Installationsskript auf Ubuntu 24.04</a:t>
            </a:r>
          </a:p>
        </p:txBody>
      </p:sp>
      <p:sp>
        <p:nvSpPr>
          <p:cNvPr id="21" name="deploy-number-3">
            <a:extLst xmlns:a="http://schemas.openxmlformats.org/drawingml/2006/main">
              <a:ext uri="{FF2B5EF4-FFF2-40B4-BE49-F238E27FC236}">
                <a16:creationId xmlns:a16="http://schemas.microsoft.com/office/drawing/2014/main" id="{751282DC-E7F6-4640-B134-54F4162C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933700"/>
            <a:ext cx="8382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2" name="deploy-number-text-3">
            <a:extLst xmlns:a="http://schemas.openxmlformats.org/drawingml/2006/main">
              <a:ext uri="{FF2B5EF4-FFF2-40B4-BE49-F238E27FC236}">
                <a16:creationId xmlns:a16="http://schemas.microsoft.com/office/drawing/2014/main" id="{B815FABC-4D50-4AB7-AAC7-09147090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337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3" name="deploy-title-3">
            <a:extLst xmlns:a="http://schemas.openxmlformats.org/drawingml/2006/main">
              <a:ext uri="{FF2B5EF4-FFF2-40B4-BE49-F238E27FC236}">
                <a16:creationId xmlns:a16="http://schemas.microsoft.com/office/drawing/2014/main" id="{D5E42D26-9522-4221-9E11-5D23C00A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09575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Kubernetes</a:t>
            </a:r>
          </a:p>
        </p:txBody>
      </p:sp>
      <p:sp>
        <p:nvSpPr>
          <p:cNvPr id="24" name="deploy-body-3">
            <a:extLst xmlns:a="http://schemas.openxmlformats.org/drawingml/2006/main">
              <a:ext uri="{FF2B5EF4-FFF2-40B4-BE49-F238E27FC236}">
                <a16:creationId xmlns:a16="http://schemas.microsoft.com/office/drawing/2014/main" id="{8B04396E-65BE-4240-BCB1-C567CE61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57200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Bash oder PowerShell + Flux</a:t>
            </a:r>
          </a:p>
        </p:txBody>
      </p:sp>
    </p:spTree>
    <p:extLst>
      <p:ext uri="{BB962C8B-B14F-4D97-AF65-F5344CB8AC3E}">
        <p14:creationId xmlns:p14="http://schemas.microsoft.com/office/powerpoint/2010/main" val="6504633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D657BBDD-3C65-4CA3-A644-63FC75C9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1CEF70D-CF6F-4F5C-A9F1-7DAF3FBF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966C18B7-7BD1-4DC1-9EDB-6C4BF422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SICHERER ERSTER START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CAAD781-3995-4060-BDAD-CD4EDD2D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581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Der erste Admin entsteht bei Ihnen</a:t>
            </a:r>
          </a:p>
        </p:txBody>
      </p:sp>
      <p:sp>
        <p:nvSpPr>
          <p:cNvPr id="5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473DB350-A00F-4518-9AB3-95FAFD20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514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Kein festes Standardkonto. Kein bekanntes Benutzerpasswort im Repository.</a:t>
            </a:r>
          </a:p>
        </p:txBody>
      </p:sp>
      <p:sp>
        <p:nvSpPr>
          <p:cNvPr id="6" name="problem-dot-0">
            <a:extLst xmlns:a="http://schemas.openxmlformats.org/drawingml/2006/main">
              <a:ext uri="{FF2B5EF4-FFF2-40B4-BE49-F238E27FC236}">
                <a16:creationId xmlns:a16="http://schemas.microsoft.com/office/drawing/2014/main" id="{629B8594-3D7C-4F3E-9B84-B27D8500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blem-item-0">
            <a:extLst xmlns:a="http://schemas.openxmlformats.org/drawingml/2006/main">
              <a:ext uri="{FF2B5EF4-FFF2-40B4-BE49-F238E27FC236}">
                <a16:creationId xmlns:a16="http://schemas.microsoft.com/office/drawing/2014/main" id="{FBD4866A-921F-4F60-B1F4-4C439D4F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432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Konsolencode</a:t>
            </a:r>
          </a:p>
        </p:txBody>
      </p:sp>
      <p:sp>
        <p:nvSpPr>
          <p:cNvPr id="8" name="problem-dot-1">
            <a:extLst xmlns:a="http://schemas.openxmlformats.org/drawingml/2006/main">
              <a:ext uri="{FF2B5EF4-FFF2-40B4-BE49-F238E27FC236}">
                <a16:creationId xmlns:a16="http://schemas.microsoft.com/office/drawing/2014/main" id="{31B17CBA-8C23-40F3-9F56-EFB3B26F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670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roblem-item-1">
            <a:extLst xmlns:a="http://schemas.openxmlformats.org/drawingml/2006/main">
              <a:ext uri="{FF2B5EF4-FFF2-40B4-BE49-F238E27FC236}">
                <a16:creationId xmlns:a16="http://schemas.microsoft.com/office/drawing/2014/main" id="{B7B7D41C-837A-400C-8384-121B3BAB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432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Lokaler Zugriff</a:t>
            </a:r>
          </a:p>
        </p:txBody>
      </p:sp>
      <p:sp>
        <p:nvSpPr>
          <p:cNvPr id="10" name="problem-dot-2">
            <a:extLst xmlns:a="http://schemas.openxmlformats.org/drawingml/2006/main">
              <a:ext uri="{FF2B5EF4-FFF2-40B4-BE49-F238E27FC236}">
                <a16:creationId xmlns:a16="http://schemas.microsoft.com/office/drawing/2014/main" id="{46CB54DE-D163-412F-9414-52171F73D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roblem-item-2">
            <a:extLst xmlns:a="http://schemas.openxmlformats.org/drawingml/2006/main">
              <a:ext uri="{FF2B5EF4-FFF2-40B4-BE49-F238E27FC236}">
                <a16:creationId xmlns:a16="http://schemas.microsoft.com/office/drawing/2014/main" id="{DE8D0DD3-E4A5-4C17-ADC0-31B91D7F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909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First Run</a:t>
            </a:r>
          </a:p>
        </p:txBody>
      </p:sp>
      <p:sp>
        <p:nvSpPr>
          <p:cNvPr id="12" name="problem-dot-3">
            <a:extLst xmlns:a="http://schemas.openxmlformats.org/drawingml/2006/main">
              <a:ext uri="{FF2B5EF4-FFF2-40B4-BE49-F238E27FC236}">
                <a16:creationId xmlns:a16="http://schemas.microsoft.com/office/drawing/2014/main" id="{68977283-D06E-4A82-89CD-03091EFAF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7147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roblem-item-3">
            <a:extLst xmlns:a="http://schemas.openxmlformats.org/drawingml/2006/main">
              <a:ext uri="{FF2B5EF4-FFF2-40B4-BE49-F238E27FC236}">
                <a16:creationId xmlns:a16="http://schemas.microsoft.com/office/drawing/2014/main" id="{C8A012D1-AB11-4E29-908C-69088005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909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Keycloak</a:t>
            </a:r>
          </a:p>
        </p:txBody>
      </p:sp>
      <p:sp>
        <p:nvSpPr>
          <p:cNvPr id="14" name="problem-dot-4">
            <a:extLst xmlns:a="http://schemas.openxmlformats.org/drawingml/2006/main">
              <a:ext uri="{FF2B5EF4-FFF2-40B4-BE49-F238E27FC236}">
                <a16:creationId xmlns:a16="http://schemas.microsoft.com/office/drawing/2014/main" id="{B352F90F-F667-4F06-A031-55B3E0FA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roblem-item-4">
            <a:extLst xmlns:a="http://schemas.openxmlformats.org/drawingml/2006/main">
              <a:ext uri="{FF2B5EF4-FFF2-40B4-BE49-F238E27FC236}">
                <a16:creationId xmlns:a16="http://schemas.microsoft.com/office/drawing/2014/main" id="{B0AA1220-A43D-4056-A758-5E1DFA43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386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Admin</a:t>
            </a:r>
          </a:p>
        </p:txBody>
      </p:sp>
      <p:sp>
        <p:nvSpPr>
          <p:cNvPr id="16" name="problem-dot-5">
            <a:extLst xmlns:a="http://schemas.openxmlformats.org/drawingml/2006/main">
              <a:ext uri="{FF2B5EF4-FFF2-40B4-BE49-F238E27FC236}">
                <a16:creationId xmlns:a16="http://schemas.microsoft.com/office/drawing/2014/main" id="{35910B41-B4FA-46B6-9B8E-8F0D26A3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624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roblem-item-5">
            <a:extLst xmlns:a="http://schemas.openxmlformats.org/drawingml/2006/main">
              <a:ext uri="{FF2B5EF4-FFF2-40B4-BE49-F238E27FC236}">
                <a16:creationId xmlns:a16="http://schemas.microsoft.com/office/drawing/2014/main" id="{61FABD15-B568-46E8-85C6-07F8DBE5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386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SSO aktiv</a:t>
            </a:r>
          </a:p>
        </p:txBody>
      </p:sp>
      <p:sp>
        <p:nvSpPr>
          <p:cNvPr id="18" name="terminal-frame">
            <a:extLst xmlns:a="http://schemas.openxmlformats.org/drawingml/2006/main">
              <a:ext uri="{FF2B5EF4-FFF2-40B4-BE49-F238E27FC236}">
                <a16:creationId xmlns:a16="http://schemas.microsoft.com/office/drawing/2014/main" id="{1ECB56CF-F27A-4E9C-B3D4-22485647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143000"/>
            <a:ext cx="5124450" cy="4476750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75569787d3414a"/>
          <a:srcRect xmlns:a="http://schemas.openxmlformats.org/drawingml/2006/main" l="12070" t="0" r="1207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53200" y="1314450"/>
            <a:ext cx="4781550" cy="4133850"/>
          </a:xfrm>
          <a:prstGeom xmlns:a="http://schemas.openxmlformats.org/drawingml/2006/main" prst="roundRect">
            <a:avLst>
              <a:gd name="adj" fmla="val 4608"/>
            </a:avLst>
          </a:prstGeom>
        </p:spPr>
      </p:pic>
      <p:sp>
        <p:nvSpPr>
          <p:cNvPr id="20" name="tag-EIN PRODUKT STATT SECHS BAUSTELLEN">
            <a:extLst xmlns:a="http://schemas.openxmlformats.org/drawingml/2006/main">
              <a:ext uri="{FF2B5EF4-FFF2-40B4-BE49-F238E27FC236}">
                <a16:creationId xmlns:a16="http://schemas.microsoft.com/office/drawing/2014/main" id="{E1F3C630-A82E-4B28-883E-E53E6109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086350"/>
            <a:ext cx="43243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EINMAL EINRICHTEN · DANACH SSO</a:t>
            </a:r>
          </a:p>
        </p:txBody>
      </p:sp>
    </p:spTree>
    <p:extLst>
      <p:ext uri="{BB962C8B-B14F-4D97-AF65-F5344CB8AC3E}">
        <p14:creationId xmlns:p14="http://schemas.microsoft.com/office/powerpoint/2010/main" val="556131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BEDD8DD2-66B0-4EE8-88A1-10015763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066EE3-4723-49C1-9860-FC08DE34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BF8A3B08-CC98-416B-9614-0DB08CAE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SERVICES + INSTANZEN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5950E5F-C5DE-4D04-81FE-797011CB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 Katalog macht Anwendungen beherrschbar</a:t>
            </a:r>
          </a:p>
        </p:txBody>
      </p:sp>
      <p:sp>
        <p:nvSpPr>
          <p:cNvPr id="5" name="dashboard-copy">
            <a:extLst xmlns:a="http://schemas.openxmlformats.org/drawingml/2006/main">
              <a:ext uri="{FF2B5EF4-FFF2-40B4-BE49-F238E27FC236}">
                <a16:creationId xmlns:a16="http://schemas.microsoft.com/office/drawing/2014/main" id="{D3917849-9DB3-4DD9-B911-284DE7F3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Module aktivieren. Instanzen erzeugen.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Status und URLs an einer Stelle sehen.</a:t>
            </a:r>
          </a:p>
        </p:txBody>
      </p:sp>
      <p:sp>
        <p:nvSpPr>
          <p:cNvPr id="6" name="dashboard-divider">
            <a:extLst xmlns:a="http://schemas.openxmlformats.org/drawingml/2006/main">
              <a:ext uri="{FF2B5EF4-FFF2-40B4-BE49-F238E27FC236}">
                <a16:creationId xmlns:a16="http://schemas.microsoft.com/office/drawing/2014/main" id="{2E53289E-E005-4B6E-A19E-11E34690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15F"/>
            </a:solidFill>
            <a:prstDash val="solid"/>
          </a:ln>
        </p:spPr>
      </p:sp>
      <p:sp>
        <p:nvSpPr>
          <p:cNvPr id="7" name="dashboard-proof">
            <a:extLst xmlns:a="http://schemas.openxmlformats.org/drawingml/2006/main">
              <a:ext uri="{FF2B5EF4-FFF2-40B4-BE49-F238E27FC236}">
                <a16:creationId xmlns:a16="http://schemas.microsoft.com/office/drawing/2014/main" id="{4E355DC2-8B18-4DD5-BC53-A501A8E2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381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Abhängigkeiten werden automatisch geprüft.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Jede Instanz bleibt separat konfigurierbar.</a:t>
            </a:r>
          </a:p>
        </p:txBody>
      </p:sp>
      <p:sp>
        <p:nvSpPr>
          <p:cNvPr id="8" name="tag-CONNECTED">
            <a:extLst xmlns:a="http://schemas.openxmlformats.org/drawingml/2006/main">
              <a:ext uri="{FF2B5EF4-FFF2-40B4-BE49-F238E27FC236}">
                <a16:creationId xmlns:a16="http://schemas.microsoft.com/office/drawing/2014/main" id="{5774BC3C-4029-4BB9-98B1-76874ADE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12573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SERVICES · AKTUELL</a:t>
            </a:r>
          </a:p>
        </p:txBody>
      </p:sp>
      <p:sp>
        <p:nvSpPr>
          <p:cNvPr id="9" name="dashboard-frame">
            <a:extLst xmlns:a="http://schemas.openxmlformats.org/drawingml/2006/main">
              <a:ext uri="{FF2B5EF4-FFF2-40B4-BE49-F238E27FC236}">
                <a16:creationId xmlns:a16="http://schemas.microsoft.com/office/drawing/2014/main" id="{62FDBA7A-CBAA-486D-9641-98B1D9DD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52600"/>
            <a:ext cx="6362700" cy="4095750"/>
          </a:xfrm>
          <a:prstGeom xmlns:a="http://schemas.openxmlformats.org/drawingml/2006/main" prst="roundRect">
            <a:avLst>
              <a:gd name="adj" fmla="val 6512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3e34aece93422d"/>
          <a:stretch xmlns:a="http://schemas.openxmlformats.org/drawingml/2006/main"/>
        </p:blipFill>
        <p:spPr>
          <a:xfrm xmlns:a="http://schemas.openxmlformats.org/drawingml/2006/main" flipH="0" flipV="0">
            <a:off x="5314950" y="2185969"/>
            <a:ext cx="6019800" cy="3229011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9059913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AFE751DB-495F-4C94-9DFB-F41F33F3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1F3F848-59D7-4EA4-9FE9-A7E89214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368DAD5E-60F0-44CB-BCB7-9CE85A08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GEFÜHRTE KONFIGURATION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7AB7D28-8AF8-465B-86A0-01062683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Konfigurieren, ohne Kubernetes lesen zu müssen</a:t>
            </a:r>
          </a:p>
        </p:txBody>
      </p:sp>
      <p:sp>
        <p:nvSpPr>
          <p:cNvPr id="5" name="guided-lead">
            <a:extLst xmlns:a="http://schemas.openxmlformats.org/drawingml/2006/main">
              <a:ext uri="{FF2B5EF4-FFF2-40B4-BE49-F238E27FC236}">
                <a16:creationId xmlns:a16="http://schemas.microsoft.com/office/drawing/2014/main" id="{3EA32290-D9BC-4544-B73D-6BBE63A3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65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65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Auswählen, prüfen und freigeben – direkt im Dashboard.</a:t>
            </a:r>
          </a:p>
        </p:txBody>
      </p:sp>
      <p:sp>
        <p:nvSpPr>
          <p:cNvPr id="6" name="guided-card-0">
            <a:extLst xmlns:a="http://schemas.openxmlformats.org/drawingml/2006/main">
              <a:ext uri="{FF2B5EF4-FFF2-40B4-BE49-F238E27FC236}">
                <a16:creationId xmlns:a16="http://schemas.microsoft.com/office/drawing/2014/main" id="{11A3A281-2BAF-4BB8-8396-922AE2F6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35433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7" name="guided-accent-0">
            <a:extLst xmlns:a="http://schemas.openxmlformats.org/drawingml/2006/main">
              <a:ext uri="{FF2B5EF4-FFF2-40B4-BE49-F238E27FC236}">
                <a16:creationId xmlns:a16="http://schemas.microsoft.com/office/drawing/2014/main" id="{F12ECBFC-43BB-4E9E-80C2-0DFEE863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35433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guided-number-0">
            <a:extLst xmlns:a="http://schemas.openxmlformats.org/drawingml/2006/main">
              <a:ext uri="{FF2B5EF4-FFF2-40B4-BE49-F238E27FC236}">
                <a16:creationId xmlns:a16="http://schemas.microsoft.com/office/drawing/2014/main" id="{85362D62-4CFB-4588-AA41-6879C586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9" name="guided-title-0">
            <a:extLst xmlns:a="http://schemas.openxmlformats.org/drawingml/2006/main">
              <a:ext uri="{FF2B5EF4-FFF2-40B4-BE49-F238E27FC236}">
                <a16:creationId xmlns:a16="http://schemas.microsoft.com/office/drawing/2014/main" id="{85800A9E-DC88-4C1A-881E-BBFAABCD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241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Service instanziieren</a:t>
            </a:r>
          </a:p>
        </p:txBody>
      </p:sp>
      <p:sp>
        <p:nvSpPr>
          <p:cNvPr id="10" name="guided-frame-0">
            <a:extLst xmlns:a="http://schemas.openxmlformats.org/drawingml/2006/main">
              <a:ext uri="{FF2B5EF4-FFF2-40B4-BE49-F238E27FC236}">
                <a16:creationId xmlns:a16="http://schemas.microsoft.com/office/drawing/2014/main" id="{FD37F8F1-962C-48F2-BE00-73A6381E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32004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50B18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2" name="guided-body-0">
            <a:extLst xmlns:a="http://schemas.openxmlformats.org/drawingml/2006/main">
              <a:ext uri="{FF2B5EF4-FFF2-40B4-BE49-F238E27FC236}">
                <a16:creationId xmlns:a16="http://schemas.microsoft.com/office/drawing/2014/main" id="{F1E799C7-37C9-4ABF-88F7-52F2F574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306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Typ, Modell, Zugriff und URL wählen.</a:t>
            </a:r>
          </a:p>
        </p:txBody>
      </p:sp>
      <p:sp>
        <p:nvSpPr>
          <p:cNvPr id="13" name="guided-card-1">
            <a:extLst xmlns:a="http://schemas.openxmlformats.org/drawingml/2006/main">
              <a:ext uri="{FF2B5EF4-FFF2-40B4-BE49-F238E27FC236}">
                <a16:creationId xmlns:a16="http://schemas.microsoft.com/office/drawing/2014/main" id="{DE2962E5-DC7B-4455-AD90-8DB8FC85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14550"/>
            <a:ext cx="35433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4" name="guided-accent-1">
            <a:extLst xmlns:a="http://schemas.openxmlformats.org/drawingml/2006/main">
              <a:ext uri="{FF2B5EF4-FFF2-40B4-BE49-F238E27FC236}">
                <a16:creationId xmlns:a16="http://schemas.microsoft.com/office/drawing/2014/main" id="{26FA189A-8DC5-4BD9-B020-90D451EC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14550"/>
            <a:ext cx="35433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guided-number-1">
            <a:extLst xmlns:a="http://schemas.openxmlformats.org/drawingml/2006/main">
              <a:ext uri="{FF2B5EF4-FFF2-40B4-BE49-F238E27FC236}">
                <a16:creationId xmlns:a16="http://schemas.microsoft.com/office/drawing/2014/main" id="{D2C3BE7B-4C9D-4A8E-B9E0-0A4BAACC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62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6" name="guided-title-1">
            <a:extLst xmlns:a="http://schemas.openxmlformats.org/drawingml/2006/main">
              <a:ext uri="{FF2B5EF4-FFF2-40B4-BE49-F238E27FC236}">
                <a16:creationId xmlns:a16="http://schemas.microsoft.com/office/drawing/2014/main" id="{22591BE1-AA6A-4469-8DB3-099BA54C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3241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Lokales Modell</a:t>
            </a:r>
          </a:p>
        </p:txBody>
      </p:sp>
      <p:sp>
        <p:nvSpPr>
          <p:cNvPr id="17" name="guided-frame-1">
            <a:extLst xmlns:a="http://schemas.openxmlformats.org/drawingml/2006/main">
              <a:ext uri="{FF2B5EF4-FFF2-40B4-BE49-F238E27FC236}">
                <a16:creationId xmlns:a16="http://schemas.microsoft.com/office/drawing/2014/main" id="{29583777-3568-460B-95F5-C37EC4C6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81300"/>
            <a:ext cx="32004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50B18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9" name="guided-body-1">
            <a:extLst xmlns:a="http://schemas.openxmlformats.org/drawingml/2006/main">
              <a:ext uri="{FF2B5EF4-FFF2-40B4-BE49-F238E27FC236}">
                <a16:creationId xmlns:a16="http://schemas.microsoft.com/office/drawing/2014/main" id="{2FB9B5D8-507E-4856-A14C-4DE65559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372100"/>
            <a:ext cx="306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Engine, Compute-Ziel und Speicher festlegen.</a:t>
            </a:r>
          </a:p>
        </p:txBody>
      </p:sp>
      <p:sp>
        <p:nvSpPr>
          <p:cNvPr id="20" name="guided-card-2">
            <a:extLst xmlns:a="http://schemas.openxmlformats.org/drawingml/2006/main">
              <a:ext uri="{FF2B5EF4-FFF2-40B4-BE49-F238E27FC236}">
                <a16:creationId xmlns:a16="http://schemas.microsoft.com/office/drawing/2014/main" id="{0FC7F1BA-A366-4688-AA58-0FB12228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14550"/>
            <a:ext cx="35433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1" name="guided-accent-2">
            <a:extLst xmlns:a="http://schemas.openxmlformats.org/drawingml/2006/main">
              <a:ext uri="{FF2B5EF4-FFF2-40B4-BE49-F238E27FC236}">
                <a16:creationId xmlns:a16="http://schemas.microsoft.com/office/drawing/2014/main" id="{58E8AA11-824A-4A76-901B-C633A8E0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14550"/>
            <a:ext cx="35433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guided-number-2">
            <a:extLst xmlns:a="http://schemas.openxmlformats.org/drawingml/2006/main">
              <a:ext uri="{FF2B5EF4-FFF2-40B4-BE49-F238E27FC236}">
                <a16:creationId xmlns:a16="http://schemas.microsoft.com/office/drawing/2014/main" id="{3C0AD646-6712-4886-A1E2-DC878B3F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62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23" name="guided-title-2">
            <a:extLst xmlns:a="http://schemas.openxmlformats.org/drawingml/2006/main">
              <a:ext uri="{FF2B5EF4-FFF2-40B4-BE49-F238E27FC236}">
                <a16:creationId xmlns:a16="http://schemas.microsoft.com/office/drawing/2014/main" id="{21AB2FE8-AFA6-441C-81B2-9301BAF8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241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Appliance prüfen</a:t>
            </a:r>
          </a:p>
        </p:txBody>
      </p:sp>
      <p:sp>
        <p:nvSpPr>
          <p:cNvPr id="24" name="guided-frame-2">
            <a:extLst xmlns:a="http://schemas.openxmlformats.org/drawingml/2006/main">
              <a:ext uri="{FF2B5EF4-FFF2-40B4-BE49-F238E27FC236}">
                <a16:creationId xmlns:a16="http://schemas.microsoft.com/office/drawing/2014/main" id="{E70B5415-9A40-4A2A-80E1-3606D731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32004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50B18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6" name="guided-body-2">
            <a:extLst xmlns:a="http://schemas.openxmlformats.org/drawingml/2006/main">
              <a:ext uri="{FF2B5EF4-FFF2-40B4-BE49-F238E27FC236}">
                <a16:creationId xmlns:a16="http://schemas.microsoft.com/office/drawing/2014/main" id="{F5D5A84F-FB93-4D7F-BA26-899BD6D8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372100"/>
            <a:ext cx="306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Zustand, URLs und Module auf einen Blick.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4c3b5463ec4809"/>
          <a:stretch xmlns:a="http://schemas.openxmlformats.org/drawingml/2006/main"/>
        </p:blipFill>
        <p:spPr>
          <a:xfrm xmlns:a="http://schemas.openxmlformats.org/drawingml/2006/main" flipH="0" flipV="0">
            <a:off x="762000" y="3256547"/>
            <a:ext cx="3048000" cy="1411705"/>
          </a:xfrm>
          <a:prstGeom xmlns:a="http://schemas.openxmlformats.org/drawingml/2006/main" prst="roundRect">
            <a:avLst/>
          </a:prstGeom>
        </p:spPr>
      </p:pic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ec5fdbf4a14f1c"/>
          <a:stretch xmlns:a="http://schemas.openxmlformats.org/drawingml/2006/main"/>
        </p:blipFill>
        <p:spPr>
          <a:xfrm xmlns:a="http://schemas.openxmlformats.org/drawingml/2006/main" flipH="0" flipV="0">
            <a:off x="4764001" y="3143794"/>
            <a:ext cx="2778297" cy="1637211"/>
          </a:xfrm>
          <a:prstGeom xmlns:a="http://schemas.openxmlformats.org/drawingml/2006/main" prst="roundRect">
            <a:avLst/>
          </a:prstGeom>
        </p:spPr>
      </p:pic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d188570dae4fb0"/>
          <a:stretch xmlns:a="http://schemas.openxmlformats.org/drawingml/2006/main"/>
        </p:blipFill>
        <p:spPr>
          <a:xfrm xmlns:a="http://schemas.openxmlformats.org/drawingml/2006/main" flipH="0" flipV="0">
            <a:off x="8496300" y="3506952"/>
            <a:ext cx="3048000" cy="910897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20894007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BEDD8DD2-66B0-4EE8-88A1-10015763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066EE3-4723-49C1-9860-FC08DE34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BF8A3B08-CC98-416B-9614-0DB08CAE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EXTERNE MODELLE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5950E5F-C5DE-4D04-81FE-797011CB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Externe Modelle. Ein gemeinsamer Zugang.</a:t>
            </a:r>
          </a:p>
        </p:txBody>
      </p:sp>
      <p:sp>
        <p:nvSpPr>
          <p:cNvPr id="5" name="dashboard-copy">
            <a:extLst xmlns:a="http://schemas.openxmlformats.org/drawingml/2006/main">
              <a:ext uri="{FF2B5EF4-FFF2-40B4-BE49-F238E27FC236}">
                <a16:creationId xmlns:a16="http://schemas.microsoft.com/office/drawing/2014/main" id="{D3917849-9DB3-4DD9-B911-284DE7F3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LiteLLM bündelt OpenAI-kompatible Provider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hinter einem gemeinsamen Modellzugang.</a:t>
            </a:r>
          </a:p>
        </p:txBody>
      </p:sp>
      <p:sp>
        <p:nvSpPr>
          <p:cNvPr id="6" name="dashboard-divider">
            <a:extLst xmlns:a="http://schemas.openxmlformats.org/drawingml/2006/main">
              <a:ext uri="{FF2B5EF4-FFF2-40B4-BE49-F238E27FC236}">
                <a16:creationId xmlns:a16="http://schemas.microsoft.com/office/drawing/2014/main" id="{2E53289E-E005-4B6E-A19E-11E34690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15F"/>
            </a:solidFill>
            <a:prstDash val="solid"/>
          </a:ln>
        </p:spPr>
      </p:sp>
      <p:sp>
        <p:nvSpPr>
          <p:cNvPr id="7" name="dashboard-proof">
            <a:extLst xmlns:a="http://schemas.openxmlformats.org/drawingml/2006/main">
              <a:ext uri="{FF2B5EF4-FFF2-40B4-BE49-F238E27FC236}">
                <a16:creationId xmlns:a16="http://schemas.microsoft.com/office/drawing/2014/main" id="{4E355DC2-8B18-4DD5-BC53-A501A8E2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381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Keine lokale GPU erforderlich.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Anwendungen behalten denselben Endpunkt.</a:t>
            </a:r>
          </a:p>
        </p:txBody>
      </p:sp>
      <p:sp>
        <p:nvSpPr>
          <p:cNvPr id="8" name="tag-CONNECTED">
            <a:extLst xmlns:a="http://schemas.openxmlformats.org/drawingml/2006/main">
              <a:ext uri="{FF2B5EF4-FFF2-40B4-BE49-F238E27FC236}">
                <a16:creationId xmlns:a16="http://schemas.microsoft.com/office/drawing/2014/main" id="{5774BC3C-4029-4BB9-98B1-76874ADE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12573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EXTERN · OPENAI</a:t>
            </a:r>
          </a:p>
        </p:txBody>
      </p:sp>
      <p:sp>
        <p:nvSpPr>
          <p:cNvPr id="9" name="dashboard-frame">
            <a:extLst xmlns:a="http://schemas.openxmlformats.org/drawingml/2006/main">
              <a:ext uri="{FF2B5EF4-FFF2-40B4-BE49-F238E27FC236}">
                <a16:creationId xmlns:a16="http://schemas.microsoft.com/office/drawing/2014/main" id="{62FDBA7A-CBAA-486D-9641-98B1D9DD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52600"/>
            <a:ext cx="6362700" cy="4095750"/>
          </a:xfrm>
          <a:prstGeom xmlns:a="http://schemas.openxmlformats.org/drawingml/2006/main" prst="roundRect">
            <a:avLst>
              <a:gd name="adj" fmla="val 6512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de161403e4328"/>
          <a:stretch xmlns:a="http://schemas.openxmlformats.org/drawingml/2006/main"/>
        </p:blipFill>
        <p:spPr>
          <a:xfrm xmlns:a="http://schemas.openxmlformats.org/drawingml/2006/main" flipH="0" flipV="0">
            <a:off x="5314950" y="2915004"/>
            <a:ext cx="6019800" cy="1770941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9059913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a4b886061b455a"/>
          <a:srcRect xmlns:a="http://schemas.openxmlformats.org/drawingml/2006/main" l="16388" t="0" r="1638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0" y="0"/>
            <a:ext cx="8191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ybrid-copy-panel">
            <a:extLst xmlns:a="http://schemas.openxmlformats.org/drawingml/2006/main">
              <a:ext uri="{FF2B5EF4-FFF2-40B4-BE49-F238E27FC236}">
                <a16:creationId xmlns:a16="http://schemas.microsoft.com/office/drawing/2014/main" id="{E07A2568-BA7A-492F-8AE6-9953DABD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AB950608-0F1B-4509-AE5C-699ED960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LOKALE INFERENZ</a:t>
            </a:r>
          </a:p>
        </p:txBody>
      </p:sp>
      <p:sp>
        <p:nvSpPr>
          <p:cNvPr id="4" name="hybrid-title">
            <a:extLst xmlns:a="http://schemas.openxmlformats.org/drawingml/2006/main">
              <a:ext uri="{FF2B5EF4-FFF2-40B4-BE49-F238E27FC236}">
                <a16:creationId xmlns:a16="http://schemas.microsoft.com/office/drawing/2014/main" id="{AB16E886-118D-40F7-B396-EAC464F7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3905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2000"/>
              </a:lnSpc>
              <a:buNone/>
              <a:def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 Modellzugang.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Mehrere Laufzeiten.</a:t>
            </a:r>
          </a:p>
        </p:txBody>
      </p:sp>
      <p:sp>
        <p:nvSpPr>
          <p:cNvPr id="5" name="hybrid-copy">
            <a:extLst xmlns:a="http://schemas.openxmlformats.org/drawingml/2006/main">
              <a:ext uri="{FF2B5EF4-FFF2-40B4-BE49-F238E27FC236}">
                <a16:creationId xmlns:a16="http://schemas.microsoft.com/office/drawing/2014/main" id="{74BCA774-2557-47D2-9B21-149A88A1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3714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vLLM und Ollama werden nur aktiviert,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wenn lokale Modelle sie wirklich brauchen.</a:t>
            </a:r>
          </a:p>
        </p:txBody>
      </p:sp>
      <p:sp>
        <p:nvSpPr>
          <p:cNvPr id="6" name="tag-GPU-NEUTRALE BASIS">
            <a:extLst xmlns:a="http://schemas.openxmlformats.org/drawingml/2006/main">
              <a:ext uri="{FF2B5EF4-FFF2-40B4-BE49-F238E27FC236}">
                <a16:creationId xmlns:a16="http://schemas.microsoft.com/office/drawing/2014/main" id="{724F006E-BAA1-4E1F-8A43-8CCCCE25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20574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VLLM · CPU + NVIDIA/AMD/INTEL</a:t>
            </a:r>
          </a:p>
        </p:txBody>
      </p:sp>
      <p:sp>
        <p:nvSpPr>
          <p:cNvPr id="7" name="tag-OPENAI-KOMPATIBEL">
            <a:extLst xmlns:a="http://schemas.openxmlformats.org/drawingml/2006/main">
              <a:ext uri="{FF2B5EF4-FFF2-40B4-BE49-F238E27FC236}">
                <a16:creationId xmlns:a16="http://schemas.microsoft.com/office/drawing/2014/main" id="{F2910298-D6FA-4A7B-9412-44827CD1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05425"/>
            <a:ext cx="21526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OLLAMA · CPU + NVIDIA/AMD</a:t>
            </a:r>
          </a:p>
        </p:txBody>
      </p:sp>
      <p:sp>
        <p:nvSpPr>
          <p:cNvPr id="8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785DF2F5-10A4-4B24-8F3A-3EA5CDBF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9789FDE-AE83-4989-8FB3-6C705F9B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4443841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B4FED71C-4E91-41CE-AD83-0C38469F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FE50A5-BB2A-4FE4-8C1B-C6AF22B9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AD433B31-076F-4870-B642-2B6C1A37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COMPUTE-ZIELE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358F3F3-D277-4C1E-8096-DF486B8B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4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Compute wechselt. Die Plattform bleibt.</a:t>
            </a:r>
          </a:p>
        </p:txBody>
      </p:sp>
      <p:sp>
        <p:nvSpPr>
          <p:cNvPr id="5" name="architecture-lead">
            <a:extLst xmlns:a="http://schemas.openxmlformats.org/drawingml/2006/main">
              <a:ext uri="{FF2B5EF4-FFF2-40B4-BE49-F238E27FC236}">
                <a16:creationId xmlns:a16="http://schemas.microsoft.com/office/drawing/2014/main" id="{2519588D-B8F1-46E0-9F9F-BF4DAFDB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Das Dashboard zeigt nur Kombinationen, die der Cluster wirklich bereitstellt.</a:t>
            </a:r>
          </a:p>
        </p:txBody>
      </p:sp>
      <p:sp>
        <p:nvSpPr>
          <p:cNvPr id="6" name="layer-0">
            <a:extLst xmlns:a="http://schemas.openxmlformats.org/drawingml/2006/main">
              <a:ext uri="{FF2B5EF4-FFF2-40B4-BE49-F238E27FC236}">
                <a16:creationId xmlns:a16="http://schemas.microsoft.com/office/drawing/2014/main" id="{A92C6721-738F-4216-B56D-F3919B0D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7" name="layer-bar-0">
            <a:extLst xmlns:a="http://schemas.openxmlformats.org/drawingml/2006/main">
              <a:ext uri="{FF2B5EF4-FFF2-40B4-BE49-F238E27FC236}">
                <a16:creationId xmlns:a16="http://schemas.microsoft.com/office/drawing/2014/main" id="{94D4CB0E-8928-423E-97FF-25BFAD92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ayer-number-0">
            <a:extLst xmlns:a="http://schemas.openxmlformats.org/drawingml/2006/main">
              <a:ext uri="{FF2B5EF4-FFF2-40B4-BE49-F238E27FC236}">
                <a16:creationId xmlns:a16="http://schemas.microsoft.com/office/drawing/2014/main" id="{5C53C113-C9EF-4BF8-90FB-D8604381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9082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9" name="layer-title-0">
            <a:extLst xmlns:a="http://schemas.openxmlformats.org/drawingml/2006/main">
              <a:ext uri="{FF2B5EF4-FFF2-40B4-BE49-F238E27FC236}">
                <a16:creationId xmlns:a16="http://schemas.microsoft.com/office/drawing/2014/main" id="{AF44BF44-F451-4B00-8380-3D3719C7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622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CPU</a:t>
            </a:r>
          </a:p>
        </p:txBody>
      </p:sp>
      <p:sp>
        <p:nvSpPr>
          <p:cNvPr id="10" name="layer-detail-0">
            <a:extLst xmlns:a="http://schemas.openxmlformats.org/drawingml/2006/main">
              <a:ext uri="{FF2B5EF4-FFF2-40B4-BE49-F238E27FC236}">
                <a16:creationId xmlns:a16="http://schemas.microsoft.com/office/drawing/2014/main" id="{36F48A18-BBF3-4F90-950C-82964E6B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0035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vLLM · Ollama · ohne GPU-Treiber</a:t>
            </a:r>
          </a:p>
        </p:txBody>
      </p:sp>
      <p:sp>
        <p:nvSpPr>
          <p:cNvPr id="11" name="layer-1">
            <a:extLst xmlns:a="http://schemas.openxmlformats.org/drawingml/2006/main">
              <a:ext uri="{FF2B5EF4-FFF2-40B4-BE49-F238E27FC236}">
                <a16:creationId xmlns:a16="http://schemas.microsoft.com/office/drawing/2014/main" id="{06B286B9-E838-4324-B08B-924738ED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2" name="layer-bar-1">
            <a:extLst xmlns:a="http://schemas.openxmlformats.org/drawingml/2006/main">
              <a:ext uri="{FF2B5EF4-FFF2-40B4-BE49-F238E27FC236}">
                <a16:creationId xmlns:a16="http://schemas.microsoft.com/office/drawing/2014/main" id="{748E7812-DFB8-4542-931B-C35DDB1B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layer-number-1">
            <a:extLst xmlns:a="http://schemas.openxmlformats.org/drawingml/2006/main">
              <a:ext uri="{FF2B5EF4-FFF2-40B4-BE49-F238E27FC236}">
                <a16:creationId xmlns:a16="http://schemas.microsoft.com/office/drawing/2014/main" id="{C23E496D-6119-4289-8CE2-90CA84C4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997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8BDF8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38BDF8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4" name="layer-title-1">
            <a:extLst xmlns:a="http://schemas.openxmlformats.org/drawingml/2006/main">
              <a:ext uri="{FF2B5EF4-FFF2-40B4-BE49-F238E27FC236}">
                <a16:creationId xmlns:a16="http://schemas.microsoft.com/office/drawing/2014/main" id="{D4D7148D-3C9E-47F9-94BA-13FD4A4E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5814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NVIDIA</a:t>
            </a:r>
          </a:p>
        </p:txBody>
      </p:sp>
      <p:sp>
        <p:nvSpPr>
          <p:cNvPr id="15" name="layer-detail-1">
            <a:extLst xmlns:a="http://schemas.openxmlformats.org/drawingml/2006/main">
              <a:ext uri="{FF2B5EF4-FFF2-40B4-BE49-F238E27FC236}">
                <a16:creationId xmlns:a16="http://schemas.microsoft.com/office/drawing/2014/main" id="{30175DBE-1CA8-4E80-9C11-0E8AFF77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vLLM · Ollama · CUDA Operator</a:t>
            </a:r>
          </a:p>
        </p:txBody>
      </p:sp>
      <p:sp>
        <p:nvSpPr>
          <p:cNvPr id="16" name="layer-2">
            <a:extLst xmlns:a="http://schemas.openxmlformats.org/drawingml/2006/main">
              <a:ext uri="{FF2B5EF4-FFF2-40B4-BE49-F238E27FC236}">
                <a16:creationId xmlns:a16="http://schemas.microsoft.com/office/drawing/2014/main" id="{0EF058A1-8E87-4C3A-A024-6E079266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7" name="layer-bar-2">
            <a:extLst xmlns:a="http://schemas.openxmlformats.org/drawingml/2006/main">
              <a:ext uri="{FF2B5EF4-FFF2-40B4-BE49-F238E27FC236}">
                <a16:creationId xmlns:a16="http://schemas.microsoft.com/office/drawing/2014/main" id="{D95EE72F-B5B0-4BE4-8319-4D79F44A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layer-number-2">
            <a:extLst xmlns:a="http://schemas.openxmlformats.org/drawingml/2006/main">
              <a:ext uri="{FF2B5EF4-FFF2-40B4-BE49-F238E27FC236}">
                <a16:creationId xmlns:a16="http://schemas.microsoft.com/office/drawing/2014/main" id="{6212AA2E-E445-4386-BD54-F1F5F599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2912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9" name="layer-title-2">
            <a:extLst xmlns:a="http://schemas.openxmlformats.org/drawingml/2006/main">
              <a:ext uri="{FF2B5EF4-FFF2-40B4-BE49-F238E27FC236}">
                <a16:creationId xmlns:a16="http://schemas.microsoft.com/office/drawing/2014/main" id="{B6B7CB4C-1C80-416E-BD9B-1737F804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005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AMD</a:t>
            </a:r>
          </a:p>
        </p:txBody>
      </p:sp>
      <p:sp>
        <p:nvSpPr>
          <p:cNvPr id="20" name="layer-detail-2">
            <a:extLst xmlns:a="http://schemas.openxmlformats.org/drawingml/2006/main">
              <a:ext uri="{FF2B5EF4-FFF2-40B4-BE49-F238E27FC236}">
                <a16:creationId xmlns:a16="http://schemas.microsoft.com/office/drawing/2014/main" id="{E6EBCD84-C954-4E0F-BB10-1F210B23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3865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vLLM · Ollama · ROCm Operator</a:t>
            </a:r>
          </a:p>
        </p:txBody>
      </p:sp>
      <p:sp>
        <p:nvSpPr>
          <p:cNvPr id="21" name="layer-3">
            <a:extLst xmlns:a="http://schemas.openxmlformats.org/drawingml/2006/main">
              <a:ext uri="{FF2B5EF4-FFF2-40B4-BE49-F238E27FC236}">
                <a16:creationId xmlns:a16="http://schemas.microsoft.com/office/drawing/2014/main" id="{238D0C50-90C0-4D7B-BBB9-FED95F61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2" name="layer-bar-3">
            <a:extLst xmlns:a="http://schemas.openxmlformats.org/drawingml/2006/main">
              <a:ext uri="{FF2B5EF4-FFF2-40B4-BE49-F238E27FC236}">
                <a16:creationId xmlns:a16="http://schemas.microsoft.com/office/drawing/2014/main" id="{E202C055-A07A-4859-A004-E1E874CA1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layer-number-3">
            <a:extLst xmlns:a="http://schemas.openxmlformats.org/drawingml/2006/main">
              <a:ext uri="{FF2B5EF4-FFF2-40B4-BE49-F238E27FC236}">
                <a16:creationId xmlns:a16="http://schemas.microsoft.com/office/drawing/2014/main" id="{6960E9B5-A652-49BF-AC8F-22E9B18F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4827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4" name="layer-title-3">
            <a:extLst xmlns:a="http://schemas.openxmlformats.org/drawingml/2006/main">
              <a:ext uri="{FF2B5EF4-FFF2-40B4-BE49-F238E27FC236}">
                <a16:creationId xmlns:a16="http://schemas.microsoft.com/office/drawing/2014/main" id="{E7EE075F-5E28-4CB2-BD3B-B26F772C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2197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Intel</a:t>
            </a:r>
          </a:p>
        </p:txBody>
      </p:sp>
      <p:sp>
        <p:nvSpPr>
          <p:cNvPr id="25" name="layer-detail-3">
            <a:extLst xmlns:a="http://schemas.openxmlformats.org/drawingml/2006/main">
              <a:ext uri="{FF2B5EF4-FFF2-40B4-BE49-F238E27FC236}">
                <a16:creationId xmlns:a16="http://schemas.microsoft.com/office/drawing/2014/main" id="{56337E75-D9E4-4A5C-95F3-FA5CC51C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5780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vLLM · Intel GPU Plugin</a:t>
            </a:r>
          </a:p>
        </p:txBody>
      </p:sp>
    </p:spTree>
    <p:extLst>
      <p:ext uri="{BB962C8B-B14F-4D97-AF65-F5344CB8AC3E}">
        <p14:creationId xmlns:p14="http://schemas.microsoft.com/office/powerpoint/2010/main" val="19442361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6A44BC62-FCC4-46CB-929E-CF794C20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7BC55A6-48C2-4476-B7E8-E6B02B73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16FC6A1C-E8D0-405D-9E65-FE257BCB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SPEICHER MIT KONTEXT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9D0F21A-1B28-404E-93DF-2893D2BB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Modelle werden gegen echte Kapazität geplant</a:t>
            </a:r>
          </a:p>
        </p:txBody>
      </p:sp>
      <p:sp>
        <p:nvSpPr>
          <p:cNvPr id="5" name="pilot-number-0">
            <a:extLst xmlns:a="http://schemas.openxmlformats.org/drawingml/2006/main">
              <a:ext uri="{FF2B5EF4-FFF2-40B4-BE49-F238E27FC236}">
                <a16:creationId xmlns:a16="http://schemas.microsoft.com/office/drawing/2014/main" id="{0ECDC39A-9F5E-42FE-A205-0D831BD3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6" name="pilot-step-title-0">
            <a:extLst xmlns:a="http://schemas.openxmlformats.org/drawingml/2006/main">
              <a:ext uri="{FF2B5EF4-FFF2-40B4-BE49-F238E27FC236}">
                <a16:creationId xmlns:a16="http://schemas.microsoft.com/office/drawing/2014/main" id="{4C4E1973-43EF-4A15-A742-D7F2AD7E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574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Unreserviert</a:t>
            </a:r>
          </a:p>
        </p:txBody>
      </p:sp>
      <p:sp>
        <p:nvSpPr>
          <p:cNvPr id="7" name="pilot-step-body-0">
            <a:extLst xmlns:a="http://schemas.openxmlformats.org/drawingml/2006/main">
              <a:ext uri="{FF2B5EF4-FFF2-40B4-BE49-F238E27FC236}">
                <a16:creationId xmlns:a16="http://schemas.microsoft.com/office/drawing/2014/main" id="{69910931-1C34-4A00-9936-826514C24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4384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Gesamtspeicher minus Modellreservierungen</a:t>
            </a:r>
          </a:p>
        </p:txBody>
      </p:sp>
      <p:sp>
        <p:nvSpPr>
          <p:cNvPr id="8" name="pilot-number-1">
            <a:extLst xmlns:a="http://schemas.openxmlformats.org/drawingml/2006/main">
              <a:ext uri="{FF2B5EF4-FFF2-40B4-BE49-F238E27FC236}">
                <a16:creationId xmlns:a16="http://schemas.microsoft.com/office/drawing/2014/main" id="{B0738AF5-F95F-4066-8A21-183D1B73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9" name="pilot-step-title-1">
            <a:extLst xmlns:a="http://schemas.openxmlformats.org/drawingml/2006/main">
              <a:ext uri="{FF2B5EF4-FFF2-40B4-BE49-F238E27FC236}">
                <a16:creationId xmlns:a16="http://schemas.microsoft.com/office/drawing/2014/main" id="{1C684C6E-3E2B-41CA-86D4-513031C9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623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Tatsächlich frei</a:t>
            </a:r>
          </a:p>
        </p:txBody>
      </p:sp>
      <p:sp>
        <p:nvSpPr>
          <p:cNvPr id="10" name="pilot-step-body-1">
            <a:extLst xmlns:a="http://schemas.openxmlformats.org/drawingml/2006/main">
              <a:ext uri="{FF2B5EF4-FFF2-40B4-BE49-F238E27FC236}">
                <a16:creationId xmlns:a16="http://schemas.microsoft.com/office/drawing/2014/main" id="{57BA7D62-3235-4778-A7AB-23D54D94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433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Live-Metriken von CPU oder GPU</a:t>
            </a:r>
          </a:p>
        </p:txBody>
      </p:sp>
      <p:sp>
        <p:nvSpPr>
          <p:cNvPr id="11" name="pilot-number-2">
            <a:extLst xmlns:a="http://schemas.openxmlformats.org/drawingml/2006/main">
              <a:ext uri="{FF2B5EF4-FFF2-40B4-BE49-F238E27FC236}">
                <a16:creationId xmlns:a16="http://schemas.microsoft.com/office/drawing/2014/main" id="{46E3DC78-9D6D-4167-8ECE-EBB0F24A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2" name="pilot-step-title-2">
            <a:extLst xmlns:a="http://schemas.openxmlformats.org/drawingml/2006/main">
              <a:ext uri="{FF2B5EF4-FFF2-40B4-BE49-F238E27FC236}">
                <a16:creationId xmlns:a16="http://schemas.microsoft.com/office/drawing/2014/main" id="{FC996B72-E84E-472F-A975-A94C355A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2672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Minimum + Empfehlung</a:t>
            </a:r>
          </a:p>
        </p:txBody>
      </p:sp>
      <p:sp>
        <p:nvSpPr>
          <p:cNvPr id="13" name="pilot-step-body-2">
            <a:extLst xmlns:a="http://schemas.openxmlformats.org/drawingml/2006/main">
              <a:ext uri="{FF2B5EF4-FFF2-40B4-BE49-F238E27FC236}">
                <a16:creationId xmlns:a16="http://schemas.microsoft.com/office/drawing/2014/main" id="{F0B8B2CA-ACFF-4558-B194-BCEB6A66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482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Regler zeigt Passform vor dem Start</a:t>
            </a:r>
          </a:p>
        </p:txBody>
      </p:sp>
      <p:sp>
        <p:nvSpPr>
          <p:cNvPr id="14" name="tag-PILOT AUF IHRER INFRASTRUKTUR">
            <a:extLst xmlns:a="http://schemas.openxmlformats.org/drawingml/2006/main">
              <a:ext uri="{FF2B5EF4-FFF2-40B4-BE49-F238E27FC236}">
                <a16:creationId xmlns:a16="http://schemas.microsoft.com/office/drawing/2014/main" id="{F8802782-52F2-4997-B903-E525DAC9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32575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RAM UND VRAM TRANSPARENT</a:t>
            </a:r>
          </a:p>
        </p:txBody>
      </p:sp>
      <p:sp>
        <p:nvSpPr>
          <p:cNvPr id="15" name="pilot-proof-label">
            <a:extLst xmlns:a="http://schemas.openxmlformats.org/drawingml/2006/main">
              <a:ext uri="{FF2B5EF4-FFF2-40B4-BE49-F238E27FC236}">
                <a16:creationId xmlns:a16="http://schemas.microsoft.com/office/drawing/2014/main" id="{B39E610B-C54F-4509-B518-39DC26E8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9240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AKTUELLE COMPUTE-MEMORY-ANSICHT</a:t>
            </a:r>
          </a:p>
        </p:txBody>
      </p:sp>
      <p:sp>
        <p:nvSpPr>
          <p:cNvPr id="16" name="pilot-proof-frame">
            <a:extLst xmlns:a="http://schemas.openxmlformats.org/drawingml/2006/main">
              <a:ext uri="{FF2B5EF4-FFF2-40B4-BE49-F238E27FC236}">
                <a16:creationId xmlns:a16="http://schemas.microsoft.com/office/drawing/2014/main" id="{88BDA1B1-82A5-4233-B96E-498DAEA8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209800"/>
            <a:ext cx="565785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abde96ae854970"/>
          <a:stretch xmlns:a="http://schemas.openxmlformats.org/drawingml/2006/main"/>
        </p:blipFill>
        <p:spPr>
          <a:xfrm xmlns:a="http://schemas.openxmlformats.org/drawingml/2006/main" flipH="0" flipV="0">
            <a:off x="6181611" y="2571672"/>
            <a:ext cx="4991329" cy="2838606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6351531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d5c909fdd345e3"/>
          <a:srcRect xmlns:a="http://schemas.openxmlformats.org/drawingml/2006/main" l="9422" t="0" r="94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29000" y="781050"/>
            <a:ext cx="8763000" cy="6076950"/>
          </a:xfrm>
          <a:prstGeom xmlns:a="http://schemas.openxmlformats.org/drawingml/2006/main" prst="rect">
            <a:avLst/>
          </a:prstGeom>
        </p:spPr>
      </p:pic>
      <p:sp>
        <p:nvSpPr>
          <p:cNvPr id="2" name="apps-copy-panel">
            <a:extLst xmlns:a="http://schemas.openxmlformats.org/drawingml/2006/main">
              <a:ext uri="{FF2B5EF4-FFF2-40B4-BE49-F238E27FC236}">
                <a16:creationId xmlns:a16="http://schemas.microsoft.com/office/drawing/2014/main" id="{DD6273E0-772C-45D9-B3F2-A96D671E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6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766C1D39-D726-43A9-9652-F30F80DAD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ANWENDUNGEN</a:t>
            </a:r>
          </a:p>
        </p:txBody>
      </p:sp>
      <p:sp>
        <p:nvSpPr>
          <p:cNvPr id="4" name="apps-title">
            <a:extLst xmlns:a="http://schemas.openxmlformats.org/drawingml/2006/main">
              <a:ext uri="{FF2B5EF4-FFF2-40B4-BE49-F238E27FC236}">
                <a16:creationId xmlns:a16="http://schemas.microsoft.com/office/drawing/2014/main" id="{BB0DBB31-D5D2-44AC-991B-6AE941EF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34290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2000"/>
              </a:lnSpc>
              <a:buNone/>
              <a:def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Wissen, Chat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und Agenten</a:t>
            </a:r>
          </a:p>
        </p:txBody>
      </p:sp>
      <p:sp>
        <p:nvSpPr>
          <p:cNvPr id="5" name="apps-copy">
            <a:extLst xmlns:a="http://schemas.openxmlformats.org/drawingml/2006/main">
              <a:ext uri="{FF2B5EF4-FFF2-40B4-BE49-F238E27FC236}">
                <a16:creationId xmlns:a16="http://schemas.microsoft.com/office/drawing/2014/main" id="{108837D4-846F-44DD-BA3B-1126E217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AnythingLLM, OpenClaw, Hermes,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Paperclip, KubeOpenCode und Odysseus.</a:t>
            </a:r>
          </a:p>
        </p:txBody>
      </p:sp>
      <p:sp>
        <p:nvSpPr>
          <p:cNvPr id="6" name="tag-ANYTHINGLLM">
            <a:extLst xmlns:a="http://schemas.openxmlformats.org/drawingml/2006/main">
              <a:ext uri="{FF2B5EF4-FFF2-40B4-BE49-F238E27FC236}">
                <a16:creationId xmlns:a16="http://schemas.microsoft.com/office/drawing/2014/main" id="{79459B4D-0454-4B99-81E1-B17E1E07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562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WISSEN + CHAT</a:t>
            </a:r>
          </a:p>
        </p:txBody>
      </p:sp>
      <p:sp>
        <p:nvSpPr>
          <p:cNvPr id="7" name="tag-OPENCLAW · HERMES">
            <a:extLst xmlns:a="http://schemas.openxmlformats.org/drawingml/2006/main">
              <a:ext uri="{FF2B5EF4-FFF2-40B4-BE49-F238E27FC236}">
                <a16:creationId xmlns:a16="http://schemas.microsoft.com/office/drawing/2014/main" id="{9FA4CBE4-CA80-41C2-AD6F-27CD530E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21336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8BDF8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8BDF8"/>
                </a:solidFill>
                <a:latin typeface="Avenir Next"/>
                <a:ea typeface="Avenir Next"/>
                <a:cs typeface="Avenir Next"/>
              </a:rPr>
              <a:t>AGENTEN + CODING</a:t>
            </a:r>
          </a:p>
        </p:txBody>
      </p:sp>
      <p:sp>
        <p:nvSpPr>
          <p:cNvPr id="8" name="tag-PAPERCLIP · KUBEOPENCODE">
            <a:extLst xmlns:a="http://schemas.openxmlformats.org/drawingml/2006/main">
              <a:ext uri="{FF2B5EF4-FFF2-40B4-BE49-F238E27FC236}">
                <a16:creationId xmlns:a16="http://schemas.microsoft.com/office/drawing/2014/main" id="{B790825B-C0DD-4273-B7E1-31A4DCD0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27813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INSTANZEN NACH BEDARF</a:t>
            </a:r>
          </a:p>
        </p:txBody>
      </p:sp>
      <p:sp>
        <p:nvSpPr>
          <p:cNvPr id="9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C853599F-3F4E-410E-B3A4-6FCA07B9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E2C55BF-1AC2-4B2E-8FCE-E5F1340C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14224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A5AB3AF5-8866-4389-9BCE-253E42E1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B55DB9-A12A-4CEE-9EEB-45D86B49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13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E68882CD-87A3-4C53-B376-B406E1EF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EINE IDENTITÄTSGRENZE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7C384BC-A24D-46CC-A371-243E0D2F8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Lokales SSO schützt Dashboard und Services</a:t>
            </a:r>
          </a:p>
        </p:txBody>
      </p:sp>
      <p:sp>
        <p:nvSpPr>
          <p:cNvPr id="5" name="identity-line-local">
            <a:extLst xmlns:a="http://schemas.openxmlformats.org/drawingml/2006/main">
              <a:ext uri="{FF2B5EF4-FFF2-40B4-BE49-F238E27FC236}">
                <a16:creationId xmlns:a16="http://schemas.microsoft.com/office/drawing/2014/main" id="{24B43AFC-0BCE-4DA3-8E3D-43FF45A9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67100"/>
            <a:ext cx="165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2D3EE"/>
            </a:solidFill>
            <a:prstDash val="solid"/>
          </a:ln>
        </p:spPr>
      </p:sp>
      <p:sp>
        <p:nvSpPr>
          <p:cNvPr id="6" name="identity-line-upstream">
            <a:extLst xmlns:a="http://schemas.openxmlformats.org/drawingml/2006/main">
              <a:ext uri="{FF2B5EF4-FFF2-40B4-BE49-F238E27FC236}">
                <a16:creationId xmlns:a16="http://schemas.microsoft.com/office/drawing/2014/main" id="{2E0B31BA-310D-4B1A-874C-A4118B43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191250" y="2247900"/>
            <a:ext cx="1676400" cy="781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B5CF6"/>
            </a:solidFill>
            <a:prstDash val="solid"/>
          </a:ln>
        </p:spPr>
      </p:sp>
      <p:sp>
        <p:nvSpPr>
          <p:cNvPr id="7" name="identity-line-apps">
            <a:extLst xmlns:a="http://schemas.openxmlformats.org/drawingml/2006/main">
              <a:ext uri="{FF2B5EF4-FFF2-40B4-BE49-F238E27FC236}">
                <a16:creationId xmlns:a16="http://schemas.microsoft.com/office/drawing/2014/main" id="{D1904FD1-1E02-42BF-BC76-53EFF966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05250"/>
            <a:ext cx="1676400" cy="781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8BDF8"/>
            </a:solidFill>
            <a:prstDash val="solid"/>
          </a:ln>
        </p:spPr>
      </p:sp>
      <p:sp>
        <p:nvSpPr>
          <p:cNvPr id="8" name="identity-local">
            <a:extLst xmlns:a="http://schemas.openxmlformats.org/drawingml/2006/main">
              <a:ext uri="{FF2B5EF4-FFF2-40B4-BE49-F238E27FC236}">
                <a16:creationId xmlns:a16="http://schemas.microsoft.com/office/drawing/2014/main" id="{0E343C9B-A3A4-4F89-8992-382CE3E9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2476500" cy="1200150"/>
          </a:xfrm>
          <a:prstGeom xmlns:a="http://schemas.openxmlformats.org/drawingml/2006/main" prst="roundRect">
            <a:avLst>
              <a:gd name="adj" fmla="val 17460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9" name="identity-local-accent">
            <a:extLst xmlns:a="http://schemas.openxmlformats.org/drawingml/2006/main">
              <a:ext uri="{FF2B5EF4-FFF2-40B4-BE49-F238E27FC236}">
                <a16:creationId xmlns:a16="http://schemas.microsoft.com/office/drawing/2014/main" id="{050DDD4D-A005-4B4E-B2AC-33F91494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5715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dentity-local-label">
            <a:extLst xmlns:a="http://schemas.openxmlformats.org/drawingml/2006/main">
              <a:ext uri="{FF2B5EF4-FFF2-40B4-BE49-F238E27FC236}">
                <a16:creationId xmlns:a16="http://schemas.microsoft.com/office/drawing/2014/main" id="{6CAD1522-9096-4ADD-A080-695830C9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Keycloak</a:t>
            </a:r>
          </a:p>
        </p:txBody>
      </p:sp>
      <p:sp>
        <p:nvSpPr>
          <p:cNvPr id="11" name="identity-local-sublabel">
            <a:extLst xmlns:a="http://schemas.openxmlformats.org/drawingml/2006/main">
              <a:ext uri="{FF2B5EF4-FFF2-40B4-BE49-F238E27FC236}">
                <a16:creationId xmlns:a16="http://schemas.microsoft.com/office/drawing/2014/main" id="{F78F2C59-D079-4C55-88E7-96DEA15E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33775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First Run · offline · lokale Benutzer</a:t>
            </a:r>
          </a:p>
        </p:txBody>
      </p:sp>
      <p:sp>
        <p:nvSpPr>
          <p:cNvPr id="12" name="identity-hub">
            <a:extLst xmlns:a="http://schemas.openxmlformats.org/drawingml/2006/main">
              <a:ext uri="{FF2B5EF4-FFF2-40B4-BE49-F238E27FC236}">
                <a16:creationId xmlns:a16="http://schemas.microsoft.com/office/drawing/2014/main" id="{C1EC5804-0EC8-4CC7-B9C7-EBBE28C8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762250"/>
            <a:ext cx="1371600" cy="1371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SSO</a:t>
            </a:r>
          </a:p>
        </p:txBody>
      </p:sp>
      <p:sp>
        <p:nvSpPr>
          <p:cNvPr id="13" name="identity-upstream">
            <a:extLst xmlns:a="http://schemas.openxmlformats.org/drawingml/2006/main">
              <a:ext uri="{FF2B5EF4-FFF2-40B4-BE49-F238E27FC236}">
                <a16:creationId xmlns:a16="http://schemas.microsoft.com/office/drawing/2014/main" id="{2B19D53D-C91C-4899-AC75-03AFC2E7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90700"/>
            <a:ext cx="3638550" cy="1200150"/>
          </a:xfrm>
          <a:prstGeom xmlns:a="http://schemas.openxmlformats.org/drawingml/2006/main" prst="roundRect">
            <a:avLst>
              <a:gd name="adj" fmla="val 17460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4" name="identity-upstream-accent">
            <a:extLst xmlns:a="http://schemas.openxmlformats.org/drawingml/2006/main">
              <a:ext uri="{FF2B5EF4-FFF2-40B4-BE49-F238E27FC236}">
                <a16:creationId xmlns:a16="http://schemas.microsoft.com/office/drawing/2014/main" id="{8FABE613-28E9-46F3-BFA6-FE0E19CD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90700"/>
            <a:ext cx="5715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dentity-upstream-label">
            <a:extLst xmlns:a="http://schemas.openxmlformats.org/drawingml/2006/main">
              <a:ext uri="{FF2B5EF4-FFF2-40B4-BE49-F238E27FC236}">
                <a16:creationId xmlns:a16="http://schemas.microsoft.com/office/drawing/2014/main" id="{121D01A2-ED6F-4D7F-B774-177716E5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28825"/>
            <a:ext cx="3162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Upstream IdP</a:t>
            </a:r>
          </a:p>
        </p:txBody>
      </p:sp>
      <p:sp>
        <p:nvSpPr>
          <p:cNvPr id="16" name="identity-upstream-sublabel">
            <a:extLst xmlns:a="http://schemas.openxmlformats.org/drawingml/2006/main">
              <a:ext uri="{FF2B5EF4-FFF2-40B4-BE49-F238E27FC236}">
                <a16:creationId xmlns:a16="http://schemas.microsoft.com/office/drawing/2014/main" id="{E568520E-37AD-494D-9144-01A0B271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47925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Entra · Google · weitere OIDC/SAML</a:t>
            </a:r>
          </a:p>
        </p:txBody>
      </p:sp>
      <p:sp>
        <p:nvSpPr>
          <p:cNvPr id="17" name="identity-apps">
            <a:extLst xmlns:a="http://schemas.openxmlformats.org/drawingml/2006/main">
              <a:ext uri="{FF2B5EF4-FFF2-40B4-BE49-F238E27FC236}">
                <a16:creationId xmlns:a16="http://schemas.microsoft.com/office/drawing/2014/main" id="{45E29E97-923C-4617-8B75-B943FC63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24350"/>
            <a:ext cx="3638550" cy="1200150"/>
          </a:xfrm>
          <a:prstGeom xmlns:a="http://schemas.openxmlformats.org/drawingml/2006/main" prst="roundRect">
            <a:avLst>
              <a:gd name="adj" fmla="val 17460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8" name="identity-apps-accent">
            <a:extLst xmlns:a="http://schemas.openxmlformats.org/drawingml/2006/main">
              <a:ext uri="{FF2B5EF4-FFF2-40B4-BE49-F238E27FC236}">
                <a16:creationId xmlns:a16="http://schemas.microsoft.com/office/drawing/2014/main" id="{7E891912-77F3-4E5D-A62A-5B5EC35B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24350"/>
            <a:ext cx="5715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dentity-apps-label">
            <a:extLst xmlns:a="http://schemas.openxmlformats.org/drawingml/2006/main">
              <a:ext uri="{FF2B5EF4-FFF2-40B4-BE49-F238E27FC236}">
                <a16:creationId xmlns:a16="http://schemas.microsoft.com/office/drawing/2014/main" id="{CC4EC42A-8F79-416F-BA15-A408BBE5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62475"/>
            <a:ext cx="3162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Dashboard + Services</a:t>
            </a:r>
          </a:p>
        </p:txBody>
      </p:sp>
      <p:sp>
        <p:nvSpPr>
          <p:cNvPr id="20" name="identity-apps-sublabel">
            <a:extLst xmlns:a="http://schemas.openxmlformats.org/drawingml/2006/main">
              <a:ext uri="{FF2B5EF4-FFF2-40B4-BE49-F238E27FC236}">
                <a16:creationId xmlns:a16="http://schemas.microsoft.com/office/drawing/2014/main" id="{50463A35-565F-44F3-8ECB-753311A3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981575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Ein Login für geschützte Routen</a:t>
            </a:r>
          </a:p>
        </p:txBody>
      </p:sp>
      <p:sp>
        <p:nvSpPr>
          <p:cNvPr id="21" name="tag-LOCAL-FIRST">
            <a:extLst xmlns:a="http://schemas.openxmlformats.org/drawingml/2006/main">
              <a:ext uri="{FF2B5EF4-FFF2-40B4-BE49-F238E27FC236}">
                <a16:creationId xmlns:a16="http://schemas.microsoft.com/office/drawing/2014/main" id="{DDD34568-FC34-452D-8DD9-A0A83E64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4287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LOCAL-FIRST</a:t>
            </a:r>
          </a:p>
        </p:txBody>
      </p:sp>
      <p:sp>
        <p:nvSpPr>
          <p:cNvPr id="22" name="tag-FEDERATION READY">
            <a:extLst xmlns:a="http://schemas.openxmlformats.org/drawingml/2006/main">
              <a:ext uri="{FF2B5EF4-FFF2-40B4-BE49-F238E27FC236}">
                <a16:creationId xmlns:a16="http://schemas.microsoft.com/office/drawing/2014/main" id="{813CC8BE-043A-4E00-89D1-B5ED1A40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62500"/>
            <a:ext cx="18669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IDP-BROKER READY</a:t>
            </a:r>
          </a:p>
        </p:txBody>
      </p:sp>
    </p:spTree>
    <p:extLst>
      <p:ext uri="{BB962C8B-B14F-4D97-AF65-F5344CB8AC3E}">
        <p14:creationId xmlns:p14="http://schemas.microsoft.com/office/powerpoint/2010/main" val="183970666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BEDD8DD2-66B0-4EE8-88A1-10015763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066EE3-4723-49C1-9860-FC08DE34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14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BF8A3B08-CC98-416B-9614-0DB08CAE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BENUTZERVERWALTUNG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5950E5F-C5DE-4D04-81FE-797011CB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Benutzer und Rollen bleiben im Control Plane</a:t>
            </a:r>
          </a:p>
        </p:txBody>
      </p:sp>
      <p:sp>
        <p:nvSpPr>
          <p:cNvPr id="5" name="dashboard-copy">
            <a:extLst xmlns:a="http://schemas.openxmlformats.org/drawingml/2006/main">
              <a:ext uri="{FF2B5EF4-FFF2-40B4-BE49-F238E27FC236}">
                <a16:creationId xmlns:a16="http://schemas.microsoft.com/office/drawing/2014/main" id="{D3917849-9DB3-4DD9-B911-284DE7F3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Anlegen, bearbeiten, deaktivieren,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Passwörter zurücksetzen und löschen.</a:t>
            </a:r>
          </a:p>
        </p:txBody>
      </p:sp>
      <p:sp>
        <p:nvSpPr>
          <p:cNvPr id="6" name="dashboard-divider">
            <a:extLst xmlns:a="http://schemas.openxmlformats.org/drawingml/2006/main">
              <a:ext uri="{FF2B5EF4-FFF2-40B4-BE49-F238E27FC236}">
                <a16:creationId xmlns:a16="http://schemas.microsoft.com/office/drawing/2014/main" id="{2E53289E-E005-4B6E-A19E-11E34690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15F"/>
            </a:solidFill>
            <a:prstDash val="solid"/>
          </a:ln>
        </p:spPr>
      </p:sp>
      <p:sp>
        <p:nvSpPr>
          <p:cNvPr id="7" name="dashboard-proof">
            <a:extLst xmlns:a="http://schemas.openxmlformats.org/drawingml/2006/main">
              <a:ext uri="{FF2B5EF4-FFF2-40B4-BE49-F238E27FC236}">
                <a16:creationId xmlns:a16="http://schemas.microsoft.com/office/drawing/2014/main" id="{4E355DC2-8B18-4DD5-BC53-A501A8E2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381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Viewer, User, Operator und Admin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steuern den Zugriff auf die Plattform.</a:t>
            </a:r>
          </a:p>
        </p:txBody>
      </p:sp>
      <p:sp>
        <p:nvSpPr>
          <p:cNvPr id="8" name="tag-CONNECTED">
            <a:extLst xmlns:a="http://schemas.openxmlformats.org/drawingml/2006/main">
              <a:ext uri="{FF2B5EF4-FFF2-40B4-BE49-F238E27FC236}">
                <a16:creationId xmlns:a16="http://schemas.microsoft.com/office/drawing/2014/main" id="{5774BC3C-4029-4BB9-98B1-76874ADE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12573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KEYCLOAK · ROLLEN</a:t>
            </a:r>
          </a:p>
        </p:txBody>
      </p:sp>
      <p:sp>
        <p:nvSpPr>
          <p:cNvPr id="9" name="dashboard-frame">
            <a:extLst xmlns:a="http://schemas.openxmlformats.org/drawingml/2006/main">
              <a:ext uri="{FF2B5EF4-FFF2-40B4-BE49-F238E27FC236}">
                <a16:creationId xmlns:a16="http://schemas.microsoft.com/office/drawing/2014/main" id="{62FDBA7A-CBAA-486D-9641-98B1D9DD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52600"/>
            <a:ext cx="6362700" cy="4095750"/>
          </a:xfrm>
          <a:prstGeom xmlns:a="http://schemas.openxmlformats.org/drawingml/2006/main" prst="roundRect">
            <a:avLst>
              <a:gd name="adj" fmla="val 6512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4596259c5f48ba"/>
          <a:stretch xmlns:a="http://schemas.openxmlformats.org/drawingml/2006/main"/>
        </p:blipFill>
        <p:spPr>
          <a:xfrm xmlns:a="http://schemas.openxmlformats.org/drawingml/2006/main" flipH="0" flipV="0">
            <a:off x="6007844" y="2174833"/>
            <a:ext cx="4634013" cy="3251283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90599133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B4FED71C-4E91-41CE-AD83-0C38469F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FE50A5-BB2A-4FE4-8C1B-C6AF22B9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15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AD433B31-076F-4870-B642-2B6C1A37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DEKLARATIVER BETRIEB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358F3F3-D277-4C1E-8096-DF486B8B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4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Der Sollzustand bleibt versioniert</a:t>
            </a:r>
          </a:p>
        </p:txBody>
      </p:sp>
      <p:sp>
        <p:nvSpPr>
          <p:cNvPr id="5" name="architecture-lead">
            <a:extLst xmlns:a="http://schemas.openxmlformats.org/drawingml/2006/main">
              <a:ext uri="{FF2B5EF4-FFF2-40B4-BE49-F238E27FC236}">
                <a16:creationId xmlns:a16="http://schemas.microsoft.com/office/drawing/2014/main" id="{2519588D-B8F1-46E0-9F9F-BF4DAFDB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Von der Installation bis zum Modell wird jede Schicht reproduzierbar verwaltet.</a:t>
            </a:r>
          </a:p>
        </p:txBody>
      </p:sp>
      <p:sp>
        <p:nvSpPr>
          <p:cNvPr id="6" name="layer-0">
            <a:extLst xmlns:a="http://schemas.openxmlformats.org/drawingml/2006/main">
              <a:ext uri="{FF2B5EF4-FFF2-40B4-BE49-F238E27FC236}">
                <a16:creationId xmlns:a16="http://schemas.microsoft.com/office/drawing/2014/main" id="{A92C6721-738F-4216-B56D-F3919B0D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7" name="layer-bar-0">
            <a:extLst xmlns:a="http://schemas.openxmlformats.org/drawingml/2006/main">
              <a:ext uri="{FF2B5EF4-FFF2-40B4-BE49-F238E27FC236}">
                <a16:creationId xmlns:a16="http://schemas.microsoft.com/office/drawing/2014/main" id="{94D4CB0E-8928-423E-97FF-25BFAD92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ayer-number-0">
            <a:extLst xmlns:a="http://schemas.openxmlformats.org/drawingml/2006/main">
              <a:ext uri="{FF2B5EF4-FFF2-40B4-BE49-F238E27FC236}">
                <a16:creationId xmlns:a16="http://schemas.microsoft.com/office/drawing/2014/main" id="{5C53C113-C9EF-4BF8-90FB-D8604381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9082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9" name="layer-title-0">
            <a:extLst xmlns:a="http://schemas.openxmlformats.org/drawingml/2006/main">
              <a:ext uri="{FF2B5EF4-FFF2-40B4-BE49-F238E27FC236}">
                <a16:creationId xmlns:a16="http://schemas.microsoft.com/office/drawing/2014/main" id="{AF44BF44-F451-4B00-8380-3D3719C7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622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Automation</a:t>
            </a:r>
          </a:p>
        </p:txBody>
      </p:sp>
      <p:sp>
        <p:nvSpPr>
          <p:cNvPr id="10" name="layer-detail-0">
            <a:extLst xmlns:a="http://schemas.openxmlformats.org/drawingml/2006/main">
              <a:ext uri="{FF2B5EF4-FFF2-40B4-BE49-F238E27FC236}">
                <a16:creationId xmlns:a16="http://schemas.microsoft.com/office/drawing/2014/main" id="{36F48A18-BBF3-4F90-950C-82964E6B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0035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USB · cloud-init · Install-Skripte</a:t>
            </a:r>
          </a:p>
        </p:txBody>
      </p:sp>
      <p:sp>
        <p:nvSpPr>
          <p:cNvPr id="11" name="layer-1">
            <a:extLst xmlns:a="http://schemas.openxmlformats.org/drawingml/2006/main">
              <a:ext uri="{FF2B5EF4-FFF2-40B4-BE49-F238E27FC236}">
                <a16:creationId xmlns:a16="http://schemas.microsoft.com/office/drawing/2014/main" id="{06B286B9-E838-4324-B08B-924738ED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2" name="layer-bar-1">
            <a:extLst xmlns:a="http://schemas.openxmlformats.org/drawingml/2006/main">
              <a:ext uri="{FF2B5EF4-FFF2-40B4-BE49-F238E27FC236}">
                <a16:creationId xmlns:a16="http://schemas.microsoft.com/office/drawing/2014/main" id="{748E7812-DFB8-4542-931B-C35DDB1B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layer-number-1">
            <a:extLst xmlns:a="http://schemas.openxmlformats.org/drawingml/2006/main">
              <a:ext uri="{FF2B5EF4-FFF2-40B4-BE49-F238E27FC236}">
                <a16:creationId xmlns:a16="http://schemas.microsoft.com/office/drawing/2014/main" id="{C23E496D-6119-4289-8CE2-90CA84C4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997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8BDF8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38BDF8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4" name="layer-title-1">
            <a:extLst xmlns:a="http://schemas.openxmlformats.org/drawingml/2006/main">
              <a:ext uri="{FF2B5EF4-FFF2-40B4-BE49-F238E27FC236}">
                <a16:creationId xmlns:a16="http://schemas.microsoft.com/office/drawing/2014/main" id="{D4D7148D-3C9E-47F9-94BA-13FD4A4E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5814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GitOps</a:t>
            </a:r>
          </a:p>
        </p:txBody>
      </p:sp>
      <p:sp>
        <p:nvSpPr>
          <p:cNvPr id="15" name="layer-detail-1">
            <a:extLst xmlns:a="http://schemas.openxmlformats.org/drawingml/2006/main">
              <a:ext uri="{FF2B5EF4-FFF2-40B4-BE49-F238E27FC236}">
                <a16:creationId xmlns:a16="http://schemas.microsoft.com/office/drawing/2014/main" id="{30175DBE-1CA8-4E80-9C11-0E8AFF77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Kubernetes/K3s · Flux</a:t>
            </a:r>
          </a:p>
        </p:txBody>
      </p:sp>
      <p:sp>
        <p:nvSpPr>
          <p:cNvPr id="16" name="layer-2">
            <a:extLst xmlns:a="http://schemas.openxmlformats.org/drawingml/2006/main">
              <a:ext uri="{FF2B5EF4-FFF2-40B4-BE49-F238E27FC236}">
                <a16:creationId xmlns:a16="http://schemas.microsoft.com/office/drawing/2014/main" id="{0EF058A1-8E87-4C3A-A024-6E079266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7" name="layer-bar-2">
            <a:extLst xmlns:a="http://schemas.openxmlformats.org/drawingml/2006/main">
              <a:ext uri="{FF2B5EF4-FFF2-40B4-BE49-F238E27FC236}">
                <a16:creationId xmlns:a16="http://schemas.microsoft.com/office/drawing/2014/main" id="{D95EE72F-B5B0-4BE4-8319-4D79F44A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layer-number-2">
            <a:extLst xmlns:a="http://schemas.openxmlformats.org/drawingml/2006/main">
              <a:ext uri="{FF2B5EF4-FFF2-40B4-BE49-F238E27FC236}">
                <a16:creationId xmlns:a16="http://schemas.microsoft.com/office/drawing/2014/main" id="{6212AA2E-E445-4386-BD54-F1F5F599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2912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9" name="layer-title-2">
            <a:extLst xmlns:a="http://schemas.openxmlformats.org/drawingml/2006/main">
              <a:ext uri="{FF2B5EF4-FFF2-40B4-BE49-F238E27FC236}">
                <a16:creationId xmlns:a16="http://schemas.microsoft.com/office/drawing/2014/main" id="{B6B7CB4C-1C80-416E-BD9B-1737F804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005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Identität</a:t>
            </a:r>
          </a:p>
        </p:txBody>
      </p:sp>
      <p:sp>
        <p:nvSpPr>
          <p:cNvPr id="20" name="layer-detail-2">
            <a:extLst xmlns:a="http://schemas.openxmlformats.org/drawingml/2006/main">
              <a:ext uri="{FF2B5EF4-FFF2-40B4-BE49-F238E27FC236}">
                <a16:creationId xmlns:a16="http://schemas.microsoft.com/office/drawing/2014/main" id="{E6EBCD84-C954-4E0F-BB10-1F210B23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3865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Envoy · Keycloak · First Run</a:t>
            </a:r>
          </a:p>
        </p:txBody>
      </p:sp>
      <p:sp>
        <p:nvSpPr>
          <p:cNvPr id="21" name="layer-3">
            <a:extLst xmlns:a="http://schemas.openxmlformats.org/drawingml/2006/main">
              <a:ext uri="{FF2B5EF4-FFF2-40B4-BE49-F238E27FC236}">
                <a16:creationId xmlns:a16="http://schemas.microsoft.com/office/drawing/2014/main" id="{238D0C50-90C0-4D7B-BBB9-FED95F61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2" name="layer-bar-3">
            <a:extLst xmlns:a="http://schemas.openxmlformats.org/drawingml/2006/main">
              <a:ext uri="{FF2B5EF4-FFF2-40B4-BE49-F238E27FC236}">
                <a16:creationId xmlns:a16="http://schemas.microsoft.com/office/drawing/2014/main" id="{E202C055-A07A-4859-A004-E1E874CA1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layer-number-3">
            <a:extLst xmlns:a="http://schemas.openxmlformats.org/drawingml/2006/main">
              <a:ext uri="{FF2B5EF4-FFF2-40B4-BE49-F238E27FC236}">
                <a16:creationId xmlns:a16="http://schemas.microsoft.com/office/drawing/2014/main" id="{6960E9B5-A652-49BF-AC8F-22E9B18F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4827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4" name="layer-title-3">
            <a:extLst xmlns:a="http://schemas.openxmlformats.org/drawingml/2006/main">
              <a:ext uri="{FF2B5EF4-FFF2-40B4-BE49-F238E27FC236}">
                <a16:creationId xmlns:a16="http://schemas.microsoft.com/office/drawing/2014/main" id="{E7EE075F-5E28-4CB2-BD3B-B26F772C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2197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AI Workloads</a:t>
            </a:r>
          </a:p>
        </p:txBody>
      </p:sp>
      <p:sp>
        <p:nvSpPr>
          <p:cNvPr id="25" name="layer-detail-3">
            <a:extLst xmlns:a="http://schemas.openxmlformats.org/drawingml/2006/main">
              <a:ext uri="{FF2B5EF4-FFF2-40B4-BE49-F238E27FC236}">
                <a16:creationId xmlns:a16="http://schemas.microsoft.com/office/drawing/2014/main" id="{56337E75-D9E4-4A5C-95F3-FA5CC51C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5780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Operator · KubeAI · LiteLLM · Apps</a:t>
            </a:r>
          </a:p>
        </p:txBody>
      </p:sp>
    </p:spTree>
    <p:extLst>
      <p:ext uri="{BB962C8B-B14F-4D97-AF65-F5344CB8AC3E}">
        <p14:creationId xmlns:p14="http://schemas.microsoft.com/office/powerpoint/2010/main" val="194423618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BEDD8DD2-66B0-4EE8-88A1-10015763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066EE3-4723-49C1-9860-FC08DE34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16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BF8A3B08-CC98-416B-9614-0DB08CAE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HARDWARE-AWARE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5950E5F-C5DE-4D04-81FE-797011CB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Operatoren folgen der erkannten Hardware</a:t>
            </a:r>
          </a:p>
        </p:txBody>
      </p:sp>
      <p:sp>
        <p:nvSpPr>
          <p:cNvPr id="5" name="dashboard-copy">
            <a:extLst xmlns:a="http://schemas.openxmlformats.org/drawingml/2006/main">
              <a:ext uri="{FF2B5EF4-FFF2-40B4-BE49-F238E27FC236}">
                <a16:creationId xmlns:a16="http://schemas.microsoft.com/office/drawing/2014/main" id="{D3917849-9DB3-4DD9-B911-284DE7F3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NFD erkennt NVIDIA, AMD und Intel.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Der Status trennt installiert von nutzbar.</a:t>
            </a:r>
          </a:p>
        </p:txBody>
      </p:sp>
      <p:sp>
        <p:nvSpPr>
          <p:cNvPr id="6" name="dashboard-divider">
            <a:extLst xmlns:a="http://schemas.openxmlformats.org/drawingml/2006/main">
              <a:ext uri="{FF2B5EF4-FFF2-40B4-BE49-F238E27FC236}">
                <a16:creationId xmlns:a16="http://schemas.microsoft.com/office/drawing/2014/main" id="{2E53289E-E005-4B6E-A19E-11E34690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15F"/>
            </a:solidFill>
            <a:prstDash val="solid"/>
          </a:ln>
        </p:spPr>
      </p:sp>
      <p:sp>
        <p:nvSpPr>
          <p:cNvPr id="7" name="dashboard-proof">
            <a:extLst xmlns:a="http://schemas.openxmlformats.org/drawingml/2006/main">
              <a:ext uri="{FF2B5EF4-FFF2-40B4-BE49-F238E27FC236}">
                <a16:creationId xmlns:a16="http://schemas.microsoft.com/office/drawing/2014/main" id="{4E355DC2-8B18-4DD5-BC53-A501A8E2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381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CPU bleibt unabhängig verfügbar.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GPU-Ziele erscheinen erst bei echter Bereitschaft.</a:t>
            </a:r>
          </a:p>
        </p:txBody>
      </p:sp>
      <p:sp>
        <p:nvSpPr>
          <p:cNvPr id="8" name="tag-CONNECTED">
            <a:extLst xmlns:a="http://schemas.openxmlformats.org/drawingml/2006/main">
              <a:ext uri="{FF2B5EF4-FFF2-40B4-BE49-F238E27FC236}">
                <a16:creationId xmlns:a16="http://schemas.microsoft.com/office/drawing/2014/main" id="{5774BC3C-4029-4BB9-98B1-76874ADE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12573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HARDWARE · BEREIT</a:t>
            </a:r>
          </a:p>
        </p:txBody>
      </p:sp>
      <p:sp>
        <p:nvSpPr>
          <p:cNvPr id="9" name="dashboard-frame">
            <a:extLst xmlns:a="http://schemas.openxmlformats.org/drawingml/2006/main">
              <a:ext uri="{FF2B5EF4-FFF2-40B4-BE49-F238E27FC236}">
                <a16:creationId xmlns:a16="http://schemas.microsoft.com/office/drawing/2014/main" id="{62FDBA7A-CBAA-486D-9641-98B1D9DD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52600"/>
            <a:ext cx="6362700" cy="4095750"/>
          </a:xfrm>
          <a:prstGeom xmlns:a="http://schemas.openxmlformats.org/drawingml/2006/main" prst="roundRect">
            <a:avLst>
              <a:gd name="adj" fmla="val 6512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2214b566749bf"/>
          <a:stretch xmlns:a="http://schemas.openxmlformats.org/drawingml/2006/main"/>
        </p:blipFill>
        <p:spPr>
          <a:xfrm xmlns:a="http://schemas.openxmlformats.org/drawingml/2006/main" flipH="0" flipV="0">
            <a:off x="5466366" y="2174833"/>
            <a:ext cx="5716969" cy="3251283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90599133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2228BEDA-4712-4198-AAB7-D5BFCF66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A7D2355-D960-4D1F-B196-D90C4DF2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17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303BC3A2-8A9F-48BA-90A1-C20B9A95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OPEN CORE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FB94D5C-E842-4785-ACF9-F198DEFF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4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Open Source liefert die Plattform. Enterprise die Governance.</a:t>
            </a:r>
          </a:p>
        </p:txBody>
      </p:sp>
      <p:sp>
        <p:nvSpPr>
          <p:cNvPr id="5" name="community-surface">
            <a:extLst xmlns:a="http://schemas.openxmlformats.org/drawingml/2006/main">
              <a:ext uri="{FF2B5EF4-FFF2-40B4-BE49-F238E27FC236}">
                <a16:creationId xmlns:a16="http://schemas.microsoft.com/office/drawing/2014/main" id="{D2F1BD44-FABB-4DFE-A5E3-490B3052A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5162550" cy="3409950"/>
          </a:xfrm>
          <a:prstGeom xmlns:a="http://schemas.openxmlformats.org/drawingml/2006/main" prst="roundRect">
            <a:avLst>
              <a:gd name="adj" fmla="val 7821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6" name="enterprise-surface">
            <a:extLst xmlns:a="http://schemas.openxmlformats.org/drawingml/2006/main">
              <a:ext uri="{FF2B5EF4-FFF2-40B4-BE49-F238E27FC236}">
                <a16:creationId xmlns:a16="http://schemas.microsoft.com/office/drawing/2014/main" id="{A8E3BFB4-436B-4167-BC65-D8B0BD62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71700"/>
            <a:ext cx="5162550" cy="3409950"/>
          </a:xfrm>
          <a:prstGeom xmlns:a="http://schemas.openxmlformats.org/drawingml/2006/main" prst="roundRect">
            <a:avLst>
              <a:gd name="adj" fmla="val 7821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7" name="community-title">
            <a:extLst xmlns:a="http://schemas.openxmlformats.org/drawingml/2006/main">
              <a:ext uri="{FF2B5EF4-FFF2-40B4-BE49-F238E27FC236}">
                <a16:creationId xmlns:a16="http://schemas.microsoft.com/office/drawing/2014/main" id="{933EB90C-FD72-4516-90E0-99822252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COMMUNITY</a:t>
            </a:r>
          </a:p>
        </p:txBody>
      </p:sp>
      <p:sp>
        <p:nvSpPr>
          <p:cNvPr id="8" name="community-claim">
            <a:extLst xmlns:a="http://schemas.openxmlformats.org/drawingml/2006/main">
              <a:ext uri="{FF2B5EF4-FFF2-40B4-BE49-F238E27FC236}">
                <a16:creationId xmlns:a16="http://schemas.microsoft.com/office/drawing/2014/main" id="{BF7D2CD6-F202-42B4-8077-C1DF6779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0375"/>
            <a:ext cx="3619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4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Vollständige</a:t>
            </a:r>
          </a:p>
          <a:p xmlns:a="http://schemas.openxmlformats.org/drawingml/2006/main">
            <a:pPr>
              <a:lnSpc>
                <a:spcPct val="94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AI-Appliance</a:t>
            </a:r>
          </a:p>
        </p:txBody>
      </p:sp>
      <p:sp>
        <p:nvSpPr>
          <p:cNvPr id="9" name="community-list">
            <a:extLst xmlns:a="http://schemas.openxmlformats.org/drawingml/2006/main">
              <a:ext uri="{FF2B5EF4-FFF2-40B4-BE49-F238E27FC236}">
                <a16:creationId xmlns:a16="http://schemas.microsoft.com/office/drawing/2014/main" id="{3890427B-23CB-4CA3-9150-95FD4A9B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57675"/>
            <a:ext cx="4095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Magic-Stick-Code unter MIT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Services, Modelle und Benutzer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Globale Rollen + Mindestrolle je Instanz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Vollständig selbst betreibbar</a:t>
            </a:r>
          </a:p>
        </p:txBody>
      </p:sp>
      <p:sp>
        <p:nvSpPr>
          <p:cNvPr id="10" name="enterprise-title">
            <a:extLst xmlns:a="http://schemas.openxmlformats.org/drawingml/2006/main">
              <a:ext uri="{FF2B5EF4-FFF2-40B4-BE49-F238E27FC236}">
                <a16:creationId xmlns:a16="http://schemas.microsoft.com/office/drawing/2014/main" id="{EA9D0837-5A55-474C-8369-7D99FFD5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5146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ENTERPRISE · IN KONZEPTION</a:t>
            </a:r>
          </a:p>
        </p:txBody>
      </p:sp>
      <p:sp>
        <p:nvSpPr>
          <p:cNvPr id="11" name="enterprise-claim">
            <a:extLst xmlns:a="http://schemas.openxmlformats.org/drawingml/2006/main">
              <a:ext uri="{FF2B5EF4-FFF2-40B4-BE49-F238E27FC236}">
                <a16:creationId xmlns:a16="http://schemas.microsoft.com/office/drawing/2014/main" id="{20D6790F-6E23-4C04-8F15-EE1DF192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00375"/>
            <a:ext cx="400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4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Governance</a:t>
            </a:r>
          </a:p>
          <a:p xmlns:a="http://schemas.openxmlformats.org/drawingml/2006/main">
            <a:pPr>
              <a:lnSpc>
                <a:spcPct val="94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für Organisationen</a:t>
            </a:r>
          </a:p>
        </p:txBody>
      </p:sp>
      <p:sp>
        <p:nvSpPr>
          <p:cNvPr id="12" name="enterprise-list">
            <a:extLst xmlns:a="http://schemas.openxmlformats.org/drawingml/2006/main">
              <a:ext uri="{FF2B5EF4-FFF2-40B4-BE49-F238E27FC236}">
                <a16:creationId xmlns:a16="http://schemas.microsoft.com/office/drawing/2014/main" id="{16CC02CF-1F9A-43B7-83F3-C5897533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257675"/>
            <a:ext cx="4095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Nutzer/Gruppen je Ressource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Organisatorische Scopes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Delegierte Admins · Richtlinien · Audit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Preise auf Anfrage</a:t>
            </a:r>
          </a:p>
        </p:txBody>
      </p:sp>
    </p:spTree>
    <p:extLst>
      <p:ext uri="{BB962C8B-B14F-4D97-AF65-F5344CB8AC3E}">
        <p14:creationId xmlns:p14="http://schemas.microsoft.com/office/powerpoint/2010/main" val="190861034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53c33b5904e66"/>
          <a:srcRect xmlns:a="http://schemas.openxmlformats.org/drawingml/2006/main" l="15607" t="0" r="1560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10000" y="0"/>
            <a:ext cx="838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bac-copy-panel">
            <a:extLst xmlns:a="http://schemas.openxmlformats.org/drawingml/2006/main">
              <a:ext uri="{FF2B5EF4-FFF2-40B4-BE49-F238E27FC236}">
                <a16:creationId xmlns:a16="http://schemas.microsoft.com/office/drawing/2014/main" id="{57DD2954-38C6-4CA6-B893-C2708485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857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E7CE1C97-CA68-403B-B5D4-5CFE5274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ENTERPRISE-ZIELBILD · IN KONZEPTION</a:t>
            </a:r>
          </a:p>
        </p:txBody>
      </p:sp>
      <p:sp>
        <p:nvSpPr>
          <p:cNvPr id="4" name="rbac-title">
            <a:extLst xmlns:a="http://schemas.openxmlformats.org/drawingml/2006/main">
              <a:ext uri="{FF2B5EF4-FFF2-40B4-BE49-F238E27FC236}">
                <a16:creationId xmlns:a16="http://schemas.microsoft.com/office/drawing/2014/main" id="{7C72C459-A055-42F8-8DA1-03F499C5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714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2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Zugriff folgt Teams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und Ressourcen.</a:t>
            </a:r>
          </a:p>
        </p:txBody>
      </p:sp>
      <p:sp>
        <p:nvSpPr>
          <p:cNvPr id="5" name="rbac-copy">
            <a:extLst xmlns:a="http://schemas.openxmlformats.org/drawingml/2006/main">
              <a:ext uri="{FF2B5EF4-FFF2-40B4-BE49-F238E27FC236}">
                <a16:creationId xmlns:a16="http://schemas.microsoft.com/office/drawing/2014/main" id="{C55C4EC3-827E-46E3-B622-AF4B9E17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3667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Nutzer und IdP-Gruppen werden konkreten Services, Instanzen und Modellen zugeordnet.</a:t>
            </a:r>
          </a:p>
        </p:txBody>
      </p:sp>
      <p:sp>
        <p:nvSpPr>
          <p:cNvPr id="6" name="tag-IDP-GRUPPEN">
            <a:extLst xmlns:a="http://schemas.openxmlformats.org/drawingml/2006/main">
              <a:ext uri="{FF2B5EF4-FFF2-40B4-BE49-F238E27FC236}">
                <a16:creationId xmlns:a16="http://schemas.microsoft.com/office/drawing/2014/main" id="{A8DCEDA5-8781-4F8F-B701-CD1AE8DE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5811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GRUPPEN-RBAC</a:t>
            </a:r>
          </a:p>
        </p:txBody>
      </p:sp>
      <p:sp>
        <p:nvSpPr>
          <p:cNvPr id="7" name="tag-DELEGIERTE ADMINS">
            <a:extLst xmlns:a="http://schemas.openxmlformats.org/drawingml/2006/main">
              <a:ext uri="{FF2B5EF4-FFF2-40B4-BE49-F238E27FC236}">
                <a16:creationId xmlns:a16="http://schemas.microsoft.com/office/drawing/2014/main" id="{26198A03-8C28-478D-97D1-132FC3BD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0764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DELEGIERTE ADMINS</a:t>
            </a:r>
          </a:p>
        </p:txBody>
      </p:sp>
      <p:sp>
        <p:nvSpPr>
          <p:cNvPr id="8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7A3B09E4-FA48-4D03-90BC-7DBC02F5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A94E9A-AC4E-4A78-B2E6-3BB8FAD9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38595010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6A44BC62-FCC4-46CB-929E-CF794C20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7BC55A6-48C2-4476-B7E8-E6B02B73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19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16FC6A1C-E8D0-405D-9E65-FE257BCB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DER PILOT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9D0F21A-1B28-404E-93DF-2893D2BB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In drei Schritten zum belegbaren Nutzen</a:t>
            </a:r>
          </a:p>
        </p:txBody>
      </p:sp>
      <p:sp>
        <p:nvSpPr>
          <p:cNvPr id="5" name="pilot-number-0">
            <a:extLst xmlns:a="http://schemas.openxmlformats.org/drawingml/2006/main">
              <a:ext uri="{FF2B5EF4-FFF2-40B4-BE49-F238E27FC236}">
                <a16:creationId xmlns:a16="http://schemas.microsoft.com/office/drawing/2014/main" id="{0ECDC39A-9F5E-42FE-A205-0D831BD3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6" name="pilot-step-title-0">
            <a:extLst xmlns:a="http://schemas.openxmlformats.org/drawingml/2006/main">
              <a:ext uri="{FF2B5EF4-FFF2-40B4-BE49-F238E27FC236}">
                <a16:creationId xmlns:a16="http://schemas.microsoft.com/office/drawing/2014/main" id="{4C4E1973-43EF-4A15-A742-D7F2AD7E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574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Use Case festlegen</a:t>
            </a:r>
          </a:p>
        </p:txBody>
      </p:sp>
      <p:sp>
        <p:nvSpPr>
          <p:cNvPr id="7" name="pilot-step-body-0">
            <a:extLst xmlns:a="http://schemas.openxmlformats.org/drawingml/2006/main">
              <a:ext uri="{FF2B5EF4-FFF2-40B4-BE49-F238E27FC236}">
                <a16:creationId xmlns:a16="http://schemas.microsoft.com/office/drawing/2014/main" id="{69910931-1C34-4A00-9936-826514C24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4384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Ziel, Nutzergruppe und Erfolgskriterien</a:t>
            </a:r>
          </a:p>
        </p:txBody>
      </p:sp>
      <p:sp>
        <p:nvSpPr>
          <p:cNvPr id="8" name="pilot-number-1">
            <a:extLst xmlns:a="http://schemas.openxmlformats.org/drawingml/2006/main">
              <a:ext uri="{FF2B5EF4-FFF2-40B4-BE49-F238E27FC236}">
                <a16:creationId xmlns:a16="http://schemas.microsoft.com/office/drawing/2014/main" id="{B0738AF5-F95F-4066-8A21-183D1B73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9" name="pilot-step-title-1">
            <a:extLst xmlns:a="http://schemas.openxmlformats.org/drawingml/2006/main">
              <a:ext uri="{FF2B5EF4-FFF2-40B4-BE49-F238E27FC236}">
                <a16:creationId xmlns:a16="http://schemas.microsoft.com/office/drawing/2014/main" id="{1C684C6E-3E2B-41CA-86D4-513031C9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623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Magic Stick bereitstellen</a:t>
            </a:r>
          </a:p>
        </p:txBody>
      </p:sp>
      <p:sp>
        <p:nvSpPr>
          <p:cNvPr id="10" name="pilot-step-body-1">
            <a:extLst xmlns:a="http://schemas.openxmlformats.org/drawingml/2006/main">
              <a:ext uri="{FF2B5EF4-FFF2-40B4-BE49-F238E27FC236}">
                <a16:creationId xmlns:a16="http://schemas.microsoft.com/office/drawing/2014/main" id="{57BA7D62-3235-4778-A7AB-23D54D94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433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First Run, SSO, Modelle und Services</a:t>
            </a:r>
          </a:p>
        </p:txBody>
      </p:sp>
      <p:sp>
        <p:nvSpPr>
          <p:cNvPr id="11" name="pilot-number-2">
            <a:extLst xmlns:a="http://schemas.openxmlformats.org/drawingml/2006/main">
              <a:ext uri="{FF2B5EF4-FFF2-40B4-BE49-F238E27FC236}">
                <a16:creationId xmlns:a16="http://schemas.microsoft.com/office/drawing/2014/main" id="{46E3DC78-9D6D-4167-8ECE-EBB0F24A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2" name="pilot-step-title-2">
            <a:extLst xmlns:a="http://schemas.openxmlformats.org/drawingml/2006/main">
              <a:ext uri="{FF2B5EF4-FFF2-40B4-BE49-F238E27FC236}">
                <a16:creationId xmlns:a16="http://schemas.microsoft.com/office/drawing/2014/main" id="{FC996B72-E84E-472F-A975-A94C355A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2672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Wirkung nachweisen</a:t>
            </a:r>
          </a:p>
        </p:txBody>
      </p:sp>
      <p:sp>
        <p:nvSpPr>
          <p:cNvPr id="13" name="pilot-step-body-2">
            <a:extLst xmlns:a="http://schemas.openxmlformats.org/drawingml/2006/main">
              <a:ext uri="{FF2B5EF4-FFF2-40B4-BE49-F238E27FC236}">
                <a16:creationId xmlns:a16="http://schemas.microsoft.com/office/drawing/2014/main" id="{F0B8B2CA-ACFF-4558-B194-BCEB6A66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482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Qualität, Geschwindigkeit, Kosten, Akzeptanz</a:t>
            </a:r>
          </a:p>
        </p:txBody>
      </p:sp>
      <p:sp>
        <p:nvSpPr>
          <p:cNvPr id="14" name="tag-PILOT AUF IHRER INFRASTRUKTUR">
            <a:extLst xmlns:a="http://schemas.openxmlformats.org/drawingml/2006/main">
              <a:ext uri="{FF2B5EF4-FFF2-40B4-BE49-F238E27FC236}">
                <a16:creationId xmlns:a16="http://schemas.microsoft.com/office/drawing/2014/main" id="{F8802782-52F2-4997-B903-E525DAC9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32575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PILOT AUF IHRER INFRASTRUKTUR</a:t>
            </a:r>
          </a:p>
        </p:txBody>
      </p:sp>
      <p:sp>
        <p:nvSpPr>
          <p:cNvPr id="15" name="pilot-proof-label">
            <a:extLst xmlns:a="http://schemas.openxmlformats.org/drawingml/2006/main">
              <a:ext uri="{FF2B5EF4-FFF2-40B4-BE49-F238E27FC236}">
                <a16:creationId xmlns:a16="http://schemas.microsoft.com/office/drawing/2014/main" id="{B39E610B-C54F-4509-B518-39DC26E8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9240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AKTUELLE PRODUKTOBERFLÄCHE</a:t>
            </a:r>
          </a:p>
        </p:txBody>
      </p:sp>
      <p:sp>
        <p:nvSpPr>
          <p:cNvPr id="16" name="pilot-proof-frame">
            <a:extLst xmlns:a="http://schemas.openxmlformats.org/drawingml/2006/main">
              <a:ext uri="{FF2B5EF4-FFF2-40B4-BE49-F238E27FC236}">
                <a16:creationId xmlns:a16="http://schemas.microsoft.com/office/drawing/2014/main" id="{88BDA1B1-82A5-4233-B96E-498DAEA8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209800"/>
            <a:ext cx="565785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2e91355922412b"/>
          <a:stretch xmlns:a="http://schemas.openxmlformats.org/drawingml/2006/main"/>
        </p:blipFill>
        <p:spPr>
          <a:xfrm xmlns:a="http://schemas.openxmlformats.org/drawingml/2006/main" flipH="0" flipV="0">
            <a:off x="6000750" y="3191094"/>
            <a:ext cx="5353050" cy="1599762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63515317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ta-violet-band">
            <a:extLst xmlns:a="http://schemas.openxmlformats.org/drawingml/2006/main">
              <a:ext uri="{FF2B5EF4-FFF2-40B4-BE49-F238E27FC236}">
                <a16:creationId xmlns:a16="http://schemas.microsoft.com/office/drawing/2014/main" id="{3E2C89B9-7B1D-4A47-A138-8EE21516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0"/>
            <a:ext cx="2571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ta-cyan-band">
            <a:extLst xmlns:a="http://schemas.openxmlformats.org/drawingml/2006/main">
              <a:ext uri="{FF2B5EF4-FFF2-40B4-BE49-F238E27FC236}">
                <a16:creationId xmlns:a16="http://schemas.microsoft.com/office/drawing/2014/main" id="{0F40CEB1-B024-4EBB-B3C4-313BCAF5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ta-glow">
            <a:extLst xmlns:a="http://schemas.openxmlformats.org/drawingml/2006/main">
              <a:ext uri="{FF2B5EF4-FFF2-40B4-BE49-F238E27FC236}">
                <a16:creationId xmlns:a16="http://schemas.microsoft.com/office/drawing/2014/main" id="{B0F2DF70-4601-4CF2-A5A2-68358DC9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971550"/>
            <a:ext cx="1181100" cy="1181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023A9147-B9C5-4C4B-88C8-9B17FFEF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NÄCHSTER SCHRITT · PILOT</a:t>
            </a:r>
          </a:p>
        </p:txBody>
      </p:sp>
      <p:sp>
        <p:nvSpPr>
          <p:cNvPr id="5" name="cta-title">
            <a:extLst xmlns:a="http://schemas.openxmlformats.org/drawingml/2006/main">
              <a:ext uri="{FF2B5EF4-FFF2-40B4-BE49-F238E27FC236}">
                <a16:creationId xmlns:a16="http://schemas.microsoft.com/office/drawing/2014/main" id="{333B9048-2D52-4BD3-93B5-59B5D6D4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75247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2000"/>
              </a:lnSpc>
              <a:buNone/>
              <a:defRPr sz="45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5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Bringen wir Ihre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45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5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KI-Plattform unter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45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5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Kontrolle.</a:t>
            </a:r>
          </a:p>
        </p:txBody>
      </p:sp>
      <p:sp>
        <p:nvSpPr>
          <p:cNvPr id="6" name="cta-subtitle">
            <a:extLst xmlns:a="http://schemas.openxmlformats.org/drawingml/2006/main">
              <a:ext uri="{FF2B5EF4-FFF2-40B4-BE49-F238E27FC236}">
                <a16:creationId xmlns:a16="http://schemas.microsoft.com/office/drawing/2014/main" id="{F146BB9B-C9A7-43D9-9974-0A68DD1F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Open Source ausprobieren · Pilot und Enterprise auf Anfrage</a:t>
            </a:r>
          </a:p>
        </p:txBody>
      </p:sp>
      <p:sp>
        <p:nvSpPr>
          <p:cNvPr id="7" name="cta-contact">
            <a:extLst xmlns:a="http://schemas.openxmlformats.org/drawingml/2006/main">
              <a:ext uri="{FF2B5EF4-FFF2-40B4-BE49-F238E27FC236}">
                <a16:creationId xmlns:a16="http://schemas.microsoft.com/office/drawing/2014/main" id="{197599F1-7374-4579-83BB-322B60B9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hello@qualityminds.de</a:t>
            </a:r>
          </a:p>
        </p:txBody>
      </p:sp>
      <p:sp>
        <p:nvSpPr>
          <p:cNvPr id="8" name="cta-company">
            <a:extLst xmlns:a="http://schemas.openxmlformats.org/drawingml/2006/main">
              <a:ext uri="{FF2B5EF4-FFF2-40B4-BE49-F238E27FC236}">
                <a16:creationId xmlns:a16="http://schemas.microsoft.com/office/drawing/2014/main" id="{0A06EDC9-A6FF-4858-A1AF-502344E13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CA3B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CA3BE"/>
                </a:solidFill>
                <a:latin typeface="Avenir Next"/>
                <a:ea typeface="Avenir Next"/>
                <a:cs typeface="Avenir Next"/>
              </a:rPr>
              <a:t>QUALITYMINDS</a:t>
            </a:r>
          </a:p>
        </p:txBody>
      </p:sp>
    </p:spTree>
    <p:extLst>
      <p:ext uri="{BB962C8B-B14F-4D97-AF65-F5344CB8AC3E}">
        <p14:creationId xmlns:p14="http://schemas.microsoft.com/office/powerpoint/2010/main" val="7503754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2026-09-01T22:09:45.7850000Z</dcterms:created>
  <dcterms:modified xsi:type="dcterms:W3CDTF">2026-09-01T22:09:45.7860000Z</dcterms:modified>
</coreProperties>
</file>