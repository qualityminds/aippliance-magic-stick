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4b9e5a75e049e1" /><Relationship Type="http://schemas.openxmlformats.org/officeDocument/2006/relationships/extended-properties" Target="/docProps/app.xml" Id="R07de9e8eea9d4775" /><Relationship Type="http://schemas.openxmlformats.org/officeDocument/2006/relationships/officeDocument" Target="/ppt/presentation.xml" Id="Re03c54c0fe8d4844" /></Relationships>
</file>

<file path=ppt/presentation.xml><?xml version="1.0" encoding="utf-8"?>
<p:presentation xmlns:p="http://schemas.openxmlformats.org/presentationml/2006/main">
  <p:sldMasterIdLst>
    <p:sldMasterId xmlns:r="http://schemas.openxmlformats.org/officeDocument/2006/relationships" id="2147483648" r:id="R1b8a6149c80149d4"/>
  </p:sldMasterIdLst>
  <p:notesMasterIdLst>
    <p:notesMasterId xmlns:r="http://schemas.openxmlformats.org/officeDocument/2006/relationships" r:id="Rfd63abe1d747451e"/>
  </p:notesMasterIdLst>
  <p:sldIdLst>
    <p:sldId xmlns:r="http://schemas.openxmlformats.org/officeDocument/2006/relationships" id="256" r:id="Rf3027437e9064eb1"/>
    <p:sldId xmlns:r="http://schemas.openxmlformats.org/officeDocument/2006/relationships" id="257" r:id="R4483411aa12e4d45"/>
    <p:sldId xmlns:r="http://schemas.openxmlformats.org/officeDocument/2006/relationships" id="258" r:id="Rd1416517b3de4b74"/>
    <p:sldId xmlns:r="http://schemas.openxmlformats.org/officeDocument/2006/relationships" id="259" r:id="R4960ab59424b4935"/>
    <p:sldId xmlns:r="http://schemas.openxmlformats.org/officeDocument/2006/relationships" id="260" r:id="Rb53b483276f44d92"/>
    <p:sldId xmlns:r="http://schemas.openxmlformats.org/officeDocument/2006/relationships" id="261" r:id="R8152edb4b2c443e1"/>
    <p:sldId xmlns:r="http://schemas.openxmlformats.org/officeDocument/2006/relationships" id="262" r:id="R0695a294f79742cf"/>
    <p:sldId xmlns:r="http://schemas.openxmlformats.org/officeDocument/2006/relationships" id="263" r:id="R61e66f4ede0d4faf"/>
    <p:sldId xmlns:r="http://schemas.openxmlformats.org/officeDocument/2006/relationships" id="264" r:id="Ra6ad021de16e4366"/>
    <p:sldId xmlns:r="http://schemas.openxmlformats.org/officeDocument/2006/relationships" id="265" r:id="R96bb63412fb540d6"/>
    <p:sldId xmlns:r="http://schemas.openxmlformats.org/officeDocument/2006/relationships" id="266" r:id="Rea5d5cc3bf004c0a"/>
    <p:sldId xmlns:r="http://schemas.openxmlformats.org/officeDocument/2006/relationships" id="267" r:id="Re9e047f9f5284940"/>
    <p:sldId xmlns:r="http://schemas.openxmlformats.org/officeDocument/2006/relationships" id="268" r:id="R8bb484cc74c849a2"/>
    <p:sldId xmlns:r="http://schemas.openxmlformats.org/officeDocument/2006/relationships" id="269" r:id="R9791b61bdbae4d26"/>
    <p:sldId xmlns:r="http://schemas.openxmlformats.org/officeDocument/2006/relationships" id="270" r:id="R82585c5d3de94c5e"/>
    <p:sldId xmlns:r="http://schemas.openxmlformats.org/officeDocument/2006/relationships" id="271" r:id="R68c96302dfbe49bd"/>
    <p:sldId xmlns:r="http://schemas.openxmlformats.org/officeDocument/2006/relationships" id="272" r:id="R3d65f143251f4124"/>
    <p:sldId xmlns:r="http://schemas.openxmlformats.org/officeDocument/2006/relationships" id="273" r:id="R4f9ed0d10e674b97"/>
    <p:sldId xmlns:r="http://schemas.openxmlformats.org/officeDocument/2006/relationships" id="274" r:id="R8a169ebfa0fd4513"/>
    <p:sldId xmlns:r="http://schemas.openxmlformats.org/officeDocument/2006/relationships" id="275" r:id="R9969a212560e46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f77f1af0c64043" /><Relationship Type="http://schemas.openxmlformats.org/officeDocument/2006/relationships/slideMaster" Target="/ppt/slideMasters/slideMaster1.xml" Id="R1b8a6149c80149d4" /><Relationship Type="http://schemas.openxmlformats.org/officeDocument/2006/relationships/notesMaster" Target="/ppt/notesMasters/notesMaster1.xml" Id="Rfd63abe1d747451e" /><Relationship Type="http://schemas.openxmlformats.org/officeDocument/2006/relationships/presProps" Target="/ppt/presProps.xml" Id="Rab1f105863924f3c" /><Relationship Type="http://schemas.openxmlformats.org/officeDocument/2006/relationships/tableStyles" Target="/ppt/tableStyles.xml" Id="R10e80379ad654ea5" /><Relationship Type="http://schemas.openxmlformats.org/officeDocument/2006/relationships/slide" Target="/ppt/slides/slide1.xml" Id="Rf3027437e9064eb1" /><Relationship Type="http://schemas.openxmlformats.org/officeDocument/2006/relationships/slide" Target="/ppt/slides/slide2.xml" Id="R4483411aa12e4d45" /><Relationship Type="http://schemas.openxmlformats.org/officeDocument/2006/relationships/slide" Target="/ppt/slides/slide3.xml" Id="Rd1416517b3de4b74" /><Relationship Type="http://schemas.openxmlformats.org/officeDocument/2006/relationships/slide" Target="/ppt/slides/slide4.xml" Id="R4960ab59424b4935" /><Relationship Type="http://schemas.openxmlformats.org/officeDocument/2006/relationships/slide" Target="/ppt/slides/slide5.xml" Id="Rb53b483276f44d92" /><Relationship Type="http://schemas.openxmlformats.org/officeDocument/2006/relationships/slide" Target="/ppt/slides/slide6.xml" Id="R8152edb4b2c443e1" /><Relationship Type="http://schemas.openxmlformats.org/officeDocument/2006/relationships/slide" Target="/ppt/slides/slide7.xml" Id="R0695a294f79742cf" /><Relationship Type="http://schemas.openxmlformats.org/officeDocument/2006/relationships/slide" Target="/ppt/slides/slide8.xml" Id="R61e66f4ede0d4faf" /><Relationship Type="http://schemas.openxmlformats.org/officeDocument/2006/relationships/slide" Target="/ppt/slides/slide9.xml" Id="Ra6ad021de16e4366" /><Relationship Type="http://schemas.openxmlformats.org/officeDocument/2006/relationships/slide" Target="/ppt/slides/slide10.xml" Id="R96bb63412fb540d6" /><Relationship Type="http://schemas.openxmlformats.org/officeDocument/2006/relationships/slide" Target="/ppt/slides/slide11.xml" Id="Rea5d5cc3bf004c0a" /><Relationship Type="http://schemas.openxmlformats.org/officeDocument/2006/relationships/slide" Target="/ppt/slides/slide12.xml" Id="Re9e047f9f5284940" /><Relationship Type="http://schemas.openxmlformats.org/officeDocument/2006/relationships/slide" Target="/ppt/slides/slide13.xml" Id="R8bb484cc74c849a2" /><Relationship Type="http://schemas.openxmlformats.org/officeDocument/2006/relationships/slide" Target="/ppt/slides/slide14.xml" Id="R9791b61bdbae4d26" /><Relationship Type="http://schemas.openxmlformats.org/officeDocument/2006/relationships/slide" Target="/ppt/slides/slide15.xml" Id="R82585c5d3de94c5e" /><Relationship Type="http://schemas.openxmlformats.org/officeDocument/2006/relationships/slide" Target="/ppt/slides/slide16.xml" Id="R68c96302dfbe49bd" /><Relationship Type="http://schemas.openxmlformats.org/officeDocument/2006/relationships/slide" Target="/ppt/slides/slide17.xml" Id="R3d65f143251f4124" /><Relationship Type="http://schemas.openxmlformats.org/officeDocument/2006/relationships/slide" Target="/ppt/slides/slide18.xml" Id="R4f9ed0d10e674b97" /><Relationship Type="http://schemas.openxmlformats.org/officeDocument/2006/relationships/slide" Target="/ppt/slides/slide19.xml" Id="R8a169ebfa0fd4513" /><Relationship Type="http://schemas.openxmlformats.org/officeDocument/2006/relationships/slide" Target="/ppt/slides/slide20.xml" Id="R9969a212560e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394d1354d844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7ed2733d94bdd" /><Relationship Type="http://schemas.openxmlformats.org/officeDocument/2006/relationships/notesMaster" Target="/ppt/notesMasters/notesMaster1.xml" Id="Rf003a37f7c19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e598db5c946e7" /><Relationship Type="http://schemas.openxmlformats.org/officeDocument/2006/relationships/notesMaster" Target="/ppt/notesMasters/notesMaster1.xml" Id="R8a111a219d9e44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113dba39cd45d3" /><Relationship Type="http://schemas.openxmlformats.org/officeDocument/2006/relationships/notesMaster" Target="/ppt/notesMasters/notesMaster1.xml" Id="R12c1f95a87494d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89d704a9e04848" /><Relationship Type="http://schemas.openxmlformats.org/officeDocument/2006/relationships/notesMaster" Target="/ppt/notesMasters/notesMaster1.xml" Id="Rc39883c0d8a24a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fccfe63c0747c0" /><Relationship Type="http://schemas.openxmlformats.org/officeDocument/2006/relationships/notesMaster" Target="/ppt/notesMasters/notesMaster1.xml" Id="Re686255f2ba442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7dab0928434a19" /><Relationship Type="http://schemas.openxmlformats.org/officeDocument/2006/relationships/notesMaster" Target="/ppt/notesMasters/notesMaster1.xml" Id="R818c41d700384b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5e425bf5954ad1" /><Relationship Type="http://schemas.openxmlformats.org/officeDocument/2006/relationships/notesMaster" Target="/ppt/notesMasters/notesMaster1.xml" Id="R0faee3167a7c49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9f00b4d2be4348" /><Relationship Type="http://schemas.openxmlformats.org/officeDocument/2006/relationships/notesMaster" Target="/ppt/notesMasters/notesMaster1.xml" Id="R9b46fe6cbf454e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b21f6bcf37481f" /><Relationship Type="http://schemas.openxmlformats.org/officeDocument/2006/relationships/notesMaster" Target="/ppt/notesMasters/notesMaster1.xml" Id="R5af6303bd9154b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6f486f1ca345e0" /><Relationship Type="http://schemas.openxmlformats.org/officeDocument/2006/relationships/notesMaster" Target="/ppt/notesMasters/notesMaster1.xml" Id="R9952ec727c7947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16318bc3d94f96" /><Relationship Type="http://schemas.openxmlformats.org/officeDocument/2006/relationships/notesMaster" Target="/ppt/notesMasters/notesMaster1.xml" Id="R9b40a9b2392949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3df3b8ba9d42e3" /><Relationship Type="http://schemas.openxmlformats.org/officeDocument/2006/relationships/notesMaster" Target="/ppt/notesMasters/notesMaster1.xml" Id="R70a83748acc14f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f047ea62b54cbc" /><Relationship Type="http://schemas.openxmlformats.org/officeDocument/2006/relationships/notesMaster" Target="/ppt/notesMasters/notesMaster1.xml" Id="R888cdd14f38e44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77214796384286" /><Relationship Type="http://schemas.openxmlformats.org/officeDocument/2006/relationships/notesMaster" Target="/ppt/notesMasters/notesMaster1.xml" Id="R66dd505958f44e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7c1161b99a4251" /><Relationship Type="http://schemas.openxmlformats.org/officeDocument/2006/relationships/notesMaster" Target="/ppt/notesMasters/notesMaster1.xml" Id="R22e8eea7586248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c0ce652b33479b" /><Relationship Type="http://schemas.openxmlformats.org/officeDocument/2006/relationships/notesMaster" Target="/ppt/notesMasters/notesMaster1.xml" Id="Rc636467c35ae4b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bea12af94e4a8e" /><Relationship Type="http://schemas.openxmlformats.org/officeDocument/2006/relationships/notesMaster" Target="/ppt/notesMasters/notesMaster1.xml" Id="R6bfc43ff72d341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498c1e29414282" /><Relationship Type="http://schemas.openxmlformats.org/officeDocument/2006/relationships/notesMaster" Target="/ppt/notesMasters/notesMaster1.xml" Id="R1e786e707425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bf50865d9a45ed" /><Relationship Type="http://schemas.openxmlformats.org/officeDocument/2006/relationships/notesMaster" Target="/ppt/notesMasters/notesMaster1.xml" Id="Rcac5d6091e2447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38f2cd4dc94aab" /><Relationship Type="http://schemas.openxmlformats.org/officeDocument/2006/relationships/notesMaster" Target="/ppt/notesMasters/notesMaster1.xml" Id="R15866e54c8e34f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macht aus Kubernetes, Identität, Modellen und Anwendungen eine bedienbare AI-Appliance. Die Plattform kann lokal, hybrid oder mit externen Modellen betrieben werden.</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docs/dashboard.md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eigentliche Hürde ist nicht nur Inferenz. Ein produktiver KI-Dienst braucht reproduzierbare Installation, Netzwerk, Identität, Modellbetrieb und Anwendungen als zusammenhängendes System.</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docs/installation/README.md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Dashboard ist die Produktoberfläche: Es bündelt den Zustand der Appliance, verfügbare Anwendungen, Modelle und Zugriffsverwaltung, ohne den Kubernetes-Unterbau zu verstecken oder vorauszusetzen.</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Screenshot: docs/sales-deck/assets/Magic-Stick-Dashboard-Overview-Current.png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bietet vier klar dokumentierte Einstiegspunkte. Alle führen zu einem deklarativ verwalteten Cluster und derselben geschützten Ersteinrichtung.</a:t>
            </a:r>
          </a:p>
          <a:p xmlns:a="http://schemas.openxmlformats.org/drawingml/2006/main">
            <a:r>
              <a:t/>
            </a:r>
          </a:p>
          <a:p xmlns:a="http://schemas.openxmlformats.org/drawingml/2006/main">
            <a:r>
              <a:t>[Sources]</a:t>
            </a:r>
          </a:p>
          <a:p xmlns:a="http://schemas.openxmlformats.org/drawingml/2006/main">
            <a:r>
              <a:t>- docs/installation/bare-metal.md</a:t>
            </a:r>
          </a:p>
          <a:p xmlns:a="http://schemas.openxmlformats.org/drawingml/2006/main">
            <a:r>
              <a:t>- docs/installation/cloud-init-vm.md</a:t>
            </a:r>
          </a:p>
          <a:p xmlns:a="http://schemas.openxmlformats.org/drawingml/2006/main">
            <a:r>
              <a:t>- docs/installation/existing-vm.md</a:t>
            </a:r>
          </a:p>
          <a:p xmlns:a="http://schemas.openxmlformats.org/drawingml/2006/main">
            <a:r>
              <a:t>- docs/installation/existing-kubernetes.md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ersten Start zeigt die lokale Konsole einen einmaligen Einrichtungscode. Erst danach werden Appliance-Daten und der erste Keycloak-Administrator gesetzt; die normale Oberfläche bleibt bis zum Abschluss gesperrt.</a:t>
            </a:r>
          </a:p>
          <a:p xmlns:a="http://schemas.openxmlformats.org/drawingml/2006/main">
            <a:r>
              <a:t/>
            </a:r>
          </a:p>
          <a:p xmlns:a="http://schemas.openxmlformats.org/drawingml/2006/main">
            <a:r>
              <a:t>[Sources]</a:t>
            </a:r>
          </a:p>
          <a:p xmlns:a="http://schemas.openxmlformats.org/drawingml/2006/main">
            <a:r>
              <a:t>- docs/first-run-setup.md</a:t>
            </a:r>
          </a:p>
          <a:p xmlns:a="http://schemas.openxmlformats.org/drawingml/2006/main">
            <a:r>
              <a:t>- magic-cluster/platform/first-run-setup/setup-crd.yaml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Services-Seite verbindet Plattformmodule mit den daraus erzeugten Instanzen. Anwender sehen Bereitschaft, Endpunkte und Abhängigkeiten in einer gemeinsamen Oberfläche.</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Screenshot: docs/sales-deck/assets/Magic-Stick-Dashboard-Services-Current.png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Oberfläche übersetzt deklarative Ressourcen in geführte Auswahlfelder. Nur verfügbare Engines und Compute-Ziele erscheinen; instanzbezogene Optionen werden erst nach der Typwahl gezeigt.</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Screenshots: docs/sales-deck/assets/Magic-Stick-Create-Instance-Current.png; Magic-Stick-Create-Model-Current.png; Magic-Stick-Dashboard-Overview-Strip-Current.png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Externe Modelle sind ein gleichwertiger Betriebsmodus. Sie werden zentral katalogisiert und stehen den Anwendungen über LiteLLM zur Verfügung, ohne dass lokale Inferenz vorausgesetzt wird.</a:t>
            </a:r>
          </a:p>
          <a:p xmlns:a="http://schemas.openxmlformats.org/drawingml/2006/main">
            <a:r>
              <a:t/>
            </a:r>
          </a:p>
          <a:p xmlns:a="http://schemas.openxmlformats.org/drawingml/2006/main">
            <a:r>
              <a:t>[Sources]</a:t>
            </a:r>
          </a:p>
          <a:p xmlns:a="http://schemas.openxmlformats.org/drawingml/2006/main">
            <a:r>
              <a:t>- docs/model-catalog.md</a:t>
            </a:r>
          </a:p>
          <a:p xmlns:a="http://schemas.openxmlformats.org/drawingml/2006/main">
            <a:r>
              <a:t>- Screenshot: docs/sales-deck/assets/Magic-Stick-Create-External-Model-Current.png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Basisinstallation benötigt keine GPU. Lokale Inferenz wird bedarfsgesteuert aktiviert: vLLM für CPU und mehrere GPU-Familien, Ollama als zweite Laufzeit für CPU, NVIDIA und AMD.</a:t>
            </a:r>
          </a:p>
          <a:p xmlns:a="http://schemas.openxmlformats.org/drawingml/2006/main">
            <a:r>
              <a:t/>
            </a:r>
          </a:p>
          <a:p xmlns:a="http://schemas.openxmlformats.org/drawingml/2006/main">
            <a:r>
              <a:t>[Sources]</a:t>
            </a:r>
          </a:p>
          <a:p xmlns:a="http://schemas.openxmlformats.org/drawingml/2006/main">
            <a:r>
              <a:t>- docs/model-catalog.md</a:t>
            </a:r>
          </a:p>
          <a:p xmlns:a="http://schemas.openxmlformats.org/drawingml/2006/main">
            <a:r>
              <a:t>- magic-cluster/platform/magicstick-operator/model-presets.yaml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Compute-Ziele sind ein Vertrag zwischen Katalog, Operator und Dashboard. Nicht verfügbare Hardware wird nicht angeboten; CPU bleibt als unabhängiger Basispfad nutzbar.</a:t>
            </a:r>
          </a:p>
          <a:p xmlns:a="http://schemas.openxmlformats.org/drawingml/2006/main">
            <a:r>
              <a:t/>
            </a:r>
          </a:p>
          <a:p xmlns:a="http://schemas.openxmlformats.org/drawingml/2006/main">
            <a:r>
              <a:t>[Sources]</a:t>
            </a:r>
          </a:p>
          <a:p xmlns:a="http://schemas.openxmlformats.org/drawingml/2006/main">
            <a:r>
              <a:t>- docs/model-catalog.md</a:t>
            </a:r>
          </a:p>
          <a:p xmlns:a="http://schemas.openxmlformats.org/drawingml/2006/main">
            <a:r>
              <a:t>- magic-cluster/platform/gpu/kustomization.yaml</a:t>
            </a:r>
          </a:p>
          <a:p xmlns:a="http://schemas.openxmlformats.org/drawingml/2006/main">
            <a:r>
              <a:t>- magic-cluster/apps/dashboard/configmap.yaml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Modelle-Seite trennt unreservierten von tatsächlich freiem Speicher. Minimum und empfohlene Belegung helfen bereits vor dem Start, Preset und Hardware realistisch einzuordnen.</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docs/model-catalog.md</a:t>
            </a:r>
          </a:p>
          <a:p xmlns:a="http://schemas.openxmlformats.org/drawingml/2006/main">
            <a:r>
              <a:t>- Screenshot: docs/sales-deck/assets/Magic-Stick-Dashboard-Models-Current.png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ist kein einzelnes Chat-Frontend. Der gemeinsame Modellzugang versorgt Wissensarbeit, Chat, Agenten-Workflows und Coding-Werkzeuge; Anwendungen werden als Module oder getrennte Instanzen betrieben.</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magic-cluster/apps/instances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Keycloak bleibt die lokale Identitätsgrenze und funktioniert ohne Lizenzdatei. Externe OIDC- und SAML-Provider benötigen Federated SSO mit Free Registered oder Commercial.</a:t>
            </a:r>
          </a:p>
          <a:p xmlns:a="http://schemas.openxmlformats.org/drawingml/2006/main">
            <a:r>
              <a:t/>
            </a:r>
          </a:p>
          <a:p xmlns:a="http://schemas.openxmlformats.org/drawingml/2006/main">
            <a:r>
              <a:t>[Sources]</a:t>
            </a:r>
          </a:p>
          <a:p xmlns:a="http://schemas.openxmlformats.org/drawingml/2006/main">
            <a:r>
              <a:t>- docs/authentication.md</a:t>
            </a:r>
          </a:p>
          <a:p xmlns:a="http://schemas.openxmlformats.org/drawingml/2006/main">
            <a:r>
              <a:t>- docs/licensing.md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Lokale Benutzer, Gruppen und Rollen sind ohne Lizenzdatei nutzbar. Zugriffsprüfungen gelten in jeder Lizenzstufe.</a:t>
            </a:r>
          </a:p>
          <a:p xmlns:a="http://schemas.openxmlformats.org/drawingml/2006/main">
            <a:r>
              <a:t/>
            </a:r>
          </a:p>
          <a:p xmlns:a="http://schemas.openxmlformats.org/drawingml/2006/main">
            <a:r>
              <a:t>[Sources]</a:t>
            </a:r>
          </a:p>
          <a:p xmlns:a="http://schemas.openxmlformats.org/drawingml/2006/main">
            <a:r>
              <a:t>- docs/dashboard.md</a:t>
            </a:r>
          </a:p>
          <a:p xmlns:a="http://schemas.openxmlformats.org/drawingml/2006/main">
            <a:r>
              <a:t>- docs/instance-sharing.md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verbindet Installationsautomation mit GitOps. Änderungen bleiben nachvollziehbar, wiederholbar und über denselben deklarativen Weg auf neue Systeme übertragbar.</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magic-cluster/README.md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 Feature Discovery erkennt Hardwaremerkmale kontinuierlich. Magic Stick fordert die passenden Provider an und meldet einen Compute-Pfad erst dann als nutzbar, wenn Ressourcen wirklich im Cluster verfügbar sind.</a:t>
            </a:r>
          </a:p>
          <a:p xmlns:a="http://schemas.openxmlformats.org/drawingml/2006/main">
            <a:r>
              <a:t/>
            </a:r>
          </a:p>
          <a:p xmlns:a="http://schemas.openxmlformats.org/drawingml/2006/main">
            <a:r>
              <a:t>[Sources]</a:t>
            </a:r>
          </a:p>
          <a:p xmlns:a="http://schemas.openxmlformats.org/drawingml/2006/main">
            <a:r>
              <a:t>- magic-cluster/platform/gpu/kustomization.yaml</a:t>
            </a:r>
          </a:p>
          <a:p xmlns:a="http://schemas.openxmlformats.org/drawingml/2006/main">
            <a:r>
              <a:t>- docs/dashboard.md</a:t>
            </a:r>
          </a:p>
          <a:p xmlns:a="http://schemas.openxmlformats.org/drawingml/2006/main">
            <a:r>
              <a:t>- Screenshot: docs/sales-deck/assets/Magic-Stick-System-Status-Current.png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steht unter Business Source License 1.1 (SPDX: BUSL-1.1). Jede Version wechselt drei Jahre nach ihrer ersten öffentlichen Veröffentlichung zur MIT License. Free erlaubt produktive Eigennutzung für Privatpersonen, Non-Profit, Bildung/Forschung sowie Unternehmensgruppen bis einschließlich 2 Mio. EUR konsolidiertem Jahresumsatz. Für neue Gruppen gilt eine vernünftige Good-Faith-Prognose. Produktive kommerzielle OEM-, Appliance-, SaaS-, Hosting- und Managed-Service-Angebote für Dritte sind vom Free Use Grant ausgenommen. Reine Weitergabe und Weiterverkauf sowie nichtproduktive Nutzung bleiben nach BSL erlaubt. Free Registered schaltet Federated SSO mit kostenloser signierter Datei frei. Commercial umfasst commercial-production und federated-sso. Resource Sharing und Private Mesh benötigen keine Lizenzdatei. Maßgeblich sind LICENSE und LICENSING.md, keine Marketing-Kurzfassung. Drittanbieter behalten eigene Lizenzen.</a:t>
            </a:r>
          </a:p>
          <a:p xmlns:a="http://schemas.openxmlformats.org/drawingml/2006/main">
            <a:r>
              <a:t/>
            </a:r>
          </a:p>
          <a:p xmlns:a="http://schemas.openxmlformats.org/drawingml/2006/main">
            <a:r>
              <a:t>[Sources]</a:t>
            </a:r>
          </a:p>
          <a:p xmlns:a="http://schemas.openxmlformats.org/drawingml/2006/main">
            <a:r>
              <a:t>- LICENSE</a:t>
            </a:r>
          </a:p>
          <a:p xmlns:a="http://schemas.openxmlformats.org/drawingml/2006/main">
            <a:r>
              <a:t>- LICENSING.md</a:t>
            </a:r>
          </a:p>
          <a:p xmlns:a="http://schemas.openxmlformats.org/drawingml/2006/main">
            <a:r>
              <a:t>- docs/licensing.md</a:t>
            </a:r>
          </a:p>
          <a:p xmlns:a="http://schemas.openxmlformats.org/drawingml/2006/main">
            <a:r>
              <a:t>- docs/instance-sharing.md</a:t>
            </a:r>
          </a:p>
          <a:p xmlns:a="http://schemas.openxmlformats.org/drawingml/2006/main">
            <a:r>
              <a:t>- docs/private-mesh.md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 Sharing ordnet lokale Benutzer und Gruppen einzelnen Instanzen zu. Rollenprüfung, ACL, Anmeldung und Guard-Bereitschaft bleiben Voraussetzung. Die Funktion benötigt keine Lizenzdatei. Externe Identitätsanbieter benötigen das Entitlement federated-sso aus Free Registered oder Commercial.</a:t>
            </a:r>
          </a:p>
          <a:p xmlns:a="http://schemas.openxmlformats.org/drawingml/2006/main">
            <a:r>
              <a:t/>
            </a:r>
          </a:p>
          <a:p xmlns:a="http://schemas.openxmlformats.org/drawingml/2006/main">
            <a:r>
              <a:t>[Sources]</a:t>
            </a:r>
          </a:p>
          <a:p xmlns:a="http://schemas.openxmlformats.org/drawingml/2006/main">
            <a:r>
              <a:t>- docs/instance-sharing.md</a:t>
            </a:r>
          </a:p>
          <a:p xmlns:a="http://schemas.openxmlformats.org/drawingml/2006/main">
            <a:r>
              <a:t>- docs/authentication.md</a:t>
            </a:r>
          </a:p>
          <a:p xmlns:a="http://schemas.openxmlformats.org/drawingml/2006/main">
            <a:r>
              <a:t>- LICENSING.md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Pilot beginnt nicht mit einer langen Plattformmigration. Wir wählen einen Use Case, stellen Magic Stick auf der vorhandenen Zielumgebung bereit und messen technische sowie fachliche Wirkung.</a:t>
            </a:r>
          </a:p>
          <a:p xmlns:a="http://schemas.openxmlformats.org/drawingml/2006/main">
            <a:r>
              <a:t/>
            </a:r>
          </a:p>
          <a:p xmlns:a="http://schemas.openxmlformats.org/drawingml/2006/main">
            <a:r>
              <a:t>[Sources]</a:t>
            </a:r>
          </a:p>
          <a:p xmlns:a="http://schemas.openxmlformats.org/drawingml/2006/main">
            <a:r>
              <a:t>- docs/installation/README.md</a:t>
            </a:r>
          </a:p>
          <a:p xmlns:a="http://schemas.openxmlformats.org/drawingml/2006/main">
            <a:r>
              <a:t>- Screenshot: docs/sales-deck/assets/Magic-Stick-Dashboard-Overview-Strip-Current.png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steht unter Business Source License 1.1 (SPDX: BUSL-1.1). Jede Version wechselt drei Jahre nach ihrer ersten öffentlichen Veröffentlichung zur MIT License. Free erlaubt produktive Eigennutzung für Privatpersonen, Non-Profit, Bildung/Forschung sowie Unternehmensgruppen bis einschließlich 2 Mio. EUR konsolidiertem Jahresumsatz. Für neue Gruppen gilt eine vernünftige Good-Faith-Prognose. Produktive kommerzielle OEM-, Appliance-, SaaS-, Hosting- und Managed-Service-Angebote für Dritte sind vom Free Use Grant ausgenommen. Reine Weitergabe und Weiterverkauf sowie nichtproduktive Nutzung bleiben nach BSL erlaubt. Free Registered schaltet Federated SSO mit kostenloser signierter Datei frei. Commercial umfasst commercial-production und federated-sso. Resource Sharing und Private Mesh benötigen keine Lizenzdatei. Maßgeblich sind LICENSE und LICENSING.md, keine Marketing-Kurzfassung. Drittanbieter behalten eigene Lizenzen.</a:t>
            </a:r>
          </a:p>
          <a:p xmlns:a="http://schemas.openxmlformats.org/drawingml/2006/main">
            <a:r>
              <a:t/>
            </a:r>
          </a:p>
          <a:p xmlns:a="http://schemas.openxmlformats.org/drawingml/2006/main">
            <a:r>
              <a:t>[Sources]</a:t>
            </a:r>
          </a:p>
          <a:p xmlns:a="http://schemas.openxmlformats.org/drawingml/2006/main">
            <a:r>
              <a:t>- LICENSE</a:t>
            </a:r>
          </a:p>
          <a:p xmlns:a="http://schemas.openxmlformats.org/drawingml/2006/main">
            <a:r>
              <a:t>- LICENSING.md</a:t>
            </a:r>
          </a:p>
          <a:p xmlns:a="http://schemas.openxmlformats.org/drawingml/2006/main">
            <a:r>
              <a:t>- docs/licensing.md</a:t>
            </a:r>
          </a:p>
          <a:p xmlns:a="http://schemas.openxmlformats.org/drawingml/2006/main">
            <a:r>
              <a:t>- docs/instance-sharing.md</a:t>
            </a:r>
          </a:p>
          <a:p xmlns:a="http://schemas.openxmlformats.org/drawingml/2006/main">
            <a:r>
              <a:t>- docs/private-mesh.md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934a128f2a46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161129ec54cdc" /><Relationship Type="http://schemas.openxmlformats.org/officeDocument/2006/relationships/slideLayout" Target="/ppt/slideLayouts/slideLayout1.xml" Id="R75ef2d26db8c4d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ef2d26db8c4d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4ace37aa1b4bc1" /><Relationship Type="http://schemas.openxmlformats.org/officeDocument/2006/relationships/image" Target="/ppt/media/image.png" Id="R05bb149e007c48cb" /><Relationship Type="http://schemas.openxmlformats.org/officeDocument/2006/relationships/notesSlide" Target="/ppt/notesSlides/notesSlide1.xml" Id="R71192ea2bffc4e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c9d1b19bf74097" /><Relationship Type="http://schemas.openxmlformats.org/officeDocument/2006/relationships/image" Target="/ppt/media/image.jpeg" Id="R6c8e1d745124433f" /><Relationship Type="http://schemas.openxmlformats.org/officeDocument/2006/relationships/notesSlide" Target="/ppt/notesSlides/notesSlide2.xml" Id="R1d730ae694b246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0a4efe74c2422b" /><Relationship Type="http://schemas.openxmlformats.org/officeDocument/2006/relationships/image" Target="/ppt/media/image2.jpeg" Id="Rd6284c37c87a4884" /><Relationship Type="http://schemas.openxmlformats.org/officeDocument/2006/relationships/notesSlide" Target="/ppt/notesSlides/notesSlide3.xml" Id="Rf5e94cccbb1148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5034dd0104449f" /><Relationship Type="http://schemas.openxmlformats.org/officeDocument/2006/relationships/notesSlide" Target="/ppt/notesSlides/notesSlide4.xml" Id="R5ed43c3848214f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5b8ba941454b48" /><Relationship Type="http://schemas.openxmlformats.org/officeDocument/2006/relationships/image" Target="/ppt/media/image.jpeg" Id="R6addb4ae5e6b49ff" /><Relationship Type="http://schemas.openxmlformats.org/officeDocument/2006/relationships/notesSlide" Target="/ppt/notesSlides/notesSlide5.xml" Id="Ra05e1322470c4b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0eb753485a445d" /><Relationship Type="http://schemas.openxmlformats.org/officeDocument/2006/relationships/image" Target="/ppt/media/image3.jpeg" Id="Rc5dd43d9a1da4a6e" /><Relationship Type="http://schemas.openxmlformats.org/officeDocument/2006/relationships/notesSlide" Target="/ppt/notesSlides/notesSlide6.xml" Id="Re0ba91e496f54b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4cb3c66d564497" /><Relationship Type="http://schemas.openxmlformats.org/officeDocument/2006/relationships/image" Target="/ppt/media/image4.jpeg" Id="R6f8b704e7e314221" /><Relationship Type="http://schemas.openxmlformats.org/officeDocument/2006/relationships/image" Target="/ppt/media/image5.jpeg" Id="Rf41927d994484cae" /><Relationship Type="http://schemas.openxmlformats.org/officeDocument/2006/relationships/image" Target="/ppt/media/image6.jpeg" Id="Rafac413be64542fa" /><Relationship Type="http://schemas.openxmlformats.org/officeDocument/2006/relationships/notesSlide" Target="/ppt/notesSlides/notesSlide7.xml" Id="R73b64588c55042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60a9e341de48fd" /><Relationship Type="http://schemas.openxmlformats.org/officeDocument/2006/relationships/image" Target="/ppt/media/image7.jpeg" Id="Rea87969756bb40e1" /><Relationship Type="http://schemas.openxmlformats.org/officeDocument/2006/relationships/notesSlide" Target="/ppt/notesSlides/notesSlide8.xml" Id="R7db59d8be20c4b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bb61d4ed474358" /><Relationship Type="http://schemas.openxmlformats.org/officeDocument/2006/relationships/image" Target="/ppt/media/image2.png" Id="R0ca33763c5154048" /><Relationship Type="http://schemas.openxmlformats.org/officeDocument/2006/relationships/notesSlide" Target="/ppt/notesSlides/notesSlide9.xml" Id="R1a36ee40cce843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86618a4b0b4599" /><Relationship Type="http://schemas.openxmlformats.org/officeDocument/2006/relationships/notesSlide" Target="/ppt/notesSlides/notesSlide10.xml" Id="R36502538284c42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45d811b8eb48c2" /><Relationship Type="http://schemas.openxmlformats.org/officeDocument/2006/relationships/image" Target="/ppt/media/image8.jpeg" Id="R086435743ffd4d4f" /><Relationship Type="http://schemas.openxmlformats.org/officeDocument/2006/relationships/notesSlide" Target="/ppt/notesSlides/notesSlide11.xml" Id="R75dd7b6ff12042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4ddbe06f7c4a32" /><Relationship Type="http://schemas.openxmlformats.org/officeDocument/2006/relationships/image" Target="/ppt/media/image3.png" Id="R36a353c1e1c0474c" /><Relationship Type="http://schemas.openxmlformats.org/officeDocument/2006/relationships/notesSlide" Target="/ppt/notesSlides/notesSlide12.xml" Id="R757f4bfbacd94a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4c3ca6120f4981" /><Relationship Type="http://schemas.openxmlformats.org/officeDocument/2006/relationships/notesSlide" Target="/ppt/notesSlides/notesSlide13.xml" Id="Rff1fa083661c4d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86144e1cc94de0" /><Relationship Type="http://schemas.openxmlformats.org/officeDocument/2006/relationships/image" Target="/ppt/media/image9.jpeg" Id="R343791fa1e274e77" /><Relationship Type="http://schemas.openxmlformats.org/officeDocument/2006/relationships/notesSlide" Target="/ppt/notesSlides/notesSlide14.xml" Id="Rc07b16a3f88743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b22ea0644d403f" /><Relationship Type="http://schemas.openxmlformats.org/officeDocument/2006/relationships/notesSlide" Target="/ppt/notesSlides/notesSlide15.xml" Id="Red8990f9e71b4d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f9012d33d4409b" /><Relationship Type="http://schemas.openxmlformats.org/officeDocument/2006/relationships/image" Target="/ppt/media/image10.jpeg" Id="Rf116bff7cd544e10" /><Relationship Type="http://schemas.openxmlformats.org/officeDocument/2006/relationships/notesSlide" Target="/ppt/notesSlides/notesSlide16.xml" Id="Rdf2a846ad82d49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9b5765b11b64e00" /><Relationship Type="http://schemas.openxmlformats.org/officeDocument/2006/relationships/notesSlide" Target="/ppt/notesSlides/notesSlide17.xml" Id="Rbbcae78728c14b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80863fa31c47a9" /><Relationship Type="http://schemas.openxmlformats.org/officeDocument/2006/relationships/image" Target="/ppt/media/image4.png" Id="R3e62603bb8e34f12" /><Relationship Type="http://schemas.openxmlformats.org/officeDocument/2006/relationships/notesSlide" Target="/ppt/notesSlides/notesSlide18.xml" Id="R39766608b0484b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7d2da93effe4f76" /><Relationship Type="http://schemas.openxmlformats.org/officeDocument/2006/relationships/image" Target="/ppt/media/image11.jpeg" Id="R61631481a2ef4b20" /><Relationship Type="http://schemas.openxmlformats.org/officeDocument/2006/relationships/notesSlide" Target="/ppt/notesSlides/notesSlide19.xml" Id="Rebc26a56dbde43b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d7e2ff4bb0f461d" /><Relationship Type="http://schemas.openxmlformats.org/officeDocument/2006/relationships/notesSlide" Target="/ppt/notesSlides/notesSlide20.xml" Id="Rebbf37c473bc4693" /></Relationships>
</file>

<file path=ppt/slides/slide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5bb149e007c48c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ro-copy-panel">
            <a:extLst xmlns:a="http://schemas.openxmlformats.org/drawingml/2006/main">
              <a:ext uri="{FF2B5EF4-FFF2-40B4-BE49-F238E27FC236}">
                <a16:creationId xmlns:a16="http://schemas.microsoft.com/office/drawing/2014/main" id="{E1210A75-AD7B-45FE-9715-8B680302ECE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570800CC-E0E0-4D5B-AF00-B03206070553}"/>
              </a:ext>
            </a:extLst>
          </p:cNvPr>
          <p:cNvSpPr>
            <a:spLocks xmlns:a="http://schemas.openxmlformats.org/drawingml/2006/main" noGrp="1"/>
          </p:cNvSpPr>
          <p:nvPr/>
        </p:nvSpPr>
        <p:spPr>
          <a:xfrm xmlns:a="http://schemas.openxmlformats.org/drawingml/2006/main">
            <a:off x="685800" y="6286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BSL 1.1 AI APPLIANCE</a:t>
            </a:r>
          </a:p>
        </p:txBody>
      </p:sp>
      <p:sp>
        <p:nvSpPr>
          <p:cNvPr id="4" name="hero-title">
            <a:extLst xmlns:a="http://schemas.openxmlformats.org/drawingml/2006/main">
              <a:ext uri="{FF2B5EF4-FFF2-40B4-BE49-F238E27FC236}">
                <a16:creationId xmlns:a16="http://schemas.microsoft.com/office/drawing/2014/main" id="{47911193-4E62-4CC0-8575-3ADD29FDB767}"/>
              </a:ext>
            </a:extLst>
          </p:cNvPr>
          <p:cNvSpPr>
            <a:spLocks xmlns:a="http://schemas.openxmlformats.org/drawingml/2006/main" noGrp="1"/>
          </p:cNvSpPr>
          <p:nvPr/>
        </p:nvSpPr>
        <p:spPr>
          <a:xfrm xmlns:a="http://schemas.openxmlformats.org/drawingml/2006/main">
            <a:off x="685800" y="1809750"/>
            <a:ext cx="5143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0000"/>
              </a:lnSpc>
              <a:buNone/>
              <a:defRPr sz="4800" b="1">
                <a:solidFill>
                  <a:srgbClr val="F7FAFF"/>
                </a:solidFill>
                <a:latin typeface="Avenir Next"/>
                <a:ea typeface="Avenir Next"/>
                <a:cs typeface="Avenir Next"/>
              </a:defRPr>
            </a:pPr>
            <a:r>
              <a:rPr sz="4800" b="1">
                <a:solidFill>
                  <a:srgbClr val="F7FAFF"/>
                </a:solidFill>
                <a:latin typeface="Avenir Next"/>
                <a:ea typeface="Avenir Next"/>
                <a:cs typeface="Avenir Next"/>
              </a:rPr>
              <a:t>Ihre KI-Plattform.</a:t>
            </a:r>
          </a:p>
          <a:p xmlns:a="http://schemas.openxmlformats.org/drawingml/2006/main">
            <a:pPr>
              <a:lnSpc>
                <a:spcPct val="90000"/>
              </a:lnSpc>
              <a:buNone/>
              <a:defRPr sz="4800" b="1">
                <a:solidFill>
                  <a:srgbClr val="F7FAFF"/>
                </a:solidFill>
                <a:latin typeface="Avenir Next"/>
                <a:ea typeface="Avenir Next"/>
                <a:cs typeface="Avenir Next"/>
              </a:defRPr>
            </a:pPr>
            <a:r>
              <a:rPr sz="4800" b="1">
                <a:solidFill>
                  <a:srgbClr val="F7FAFF"/>
                </a:solidFill>
                <a:latin typeface="Avenir Next"/>
                <a:ea typeface="Avenir Next"/>
                <a:cs typeface="Avenir Next"/>
              </a:rPr>
              <a:t>Einfach betreibbar.</a:t>
            </a:r>
          </a:p>
        </p:txBody>
      </p:sp>
      <p:sp>
        <p:nvSpPr>
          <p:cNvPr id="5" name="hero-subtitle">
            <a:extLst xmlns:a="http://schemas.openxmlformats.org/drawingml/2006/main">
              <a:ext uri="{FF2B5EF4-FFF2-40B4-BE49-F238E27FC236}">
                <a16:creationId xmlns:a16="http://schemas.microsoft.com/office/drawing/2014/main" id="{8C61C155-0B0D-4588-9F3B-E2FFA892B9FF}"/>
              </a:ext>
            </a:extLst>
          </p:cNvPr>
          <p:cNvSpPr>
            <a:spLocks xmlns:a="http://schemas.openxmlformats.org/drawingml/2006/main" noGrp="1"/>
          </p:cNvSpPr>
          <p:nvPr/>
        </p:nvSpPr>
        <p:spPr>
          <a:xfrm xmlns:a="http://schemas.openxmlformats.org/drawingml/2006/main">
            <a:off x="685800" y="38290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Modelle, Services, Benutzer und Betrieb</a:t>
            </a:r>
          </a:p>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auf Ihrer Infrastruktur.</a:t>
            </a:r>
          </a:p>
        </p:txBody>
      </p:sp>
      <p:sp>
        <p:nvSpPr>
          <p:cNvPr id="6" name="tag-LOCAL-FIRST">
            <a:extLst xmlns:a="http://schemas.openxmlformats.org/drawingml/2006/main">
              <a:ext uri="{FF2B5EF4-FFF2-40B4-BE49-F238E27FC236}">
                <a16:creationId xmlns:a16="http://schemas.microsoft.com/office/drawing/2014/main" id="{7BB95C7E-FFE6-47C7-9252-00D430963BEE}"/>
              </a:ext>
            </a:extLst>
          </p:cNvPr>
          <p:cNvSpPr>
            <a:spLocks xmlns:a="http://schemas.openxmlformats.org/drawingml/2006/main" noGrp="1"/>
          </p:cNvSpPr>
          <p:nvPr/>
        </p:nvSpPr>
        <p:spPr>
          <a:xfrm xmlns:a="http://schemas.openxmlformats.org/drawingml/2006/main">
            <a:off x="685800" y="5124450"/>
            <a:ext cx="14287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LOCAL-FIRST</a:t>
            </a:r>
          </a:p>
        </p:txBody>
      </p:sp>
      <p:sp>
        <p:nvSpPr>
          <p:cNvPr id="7" name="tag-HYBRID">
            <a:extLst xmlns:a="http://schemas.openxmlformats.org/drawingml/2006/main">
              <a:ext uri="{FF2B5EF4-FFF2-40B4-BE49-F238E27FC236}">
                <a16:creationId xmlns:a16="http://schemas.microsoft.com/office/drawing/2014/main" id="{F3B5F95E-8EB1-4419-8E87-CAB3026319C9}"/>
              </a:ext>
            </a:extLst>
          </p:cNvPr>
          <p:cNvSpPr>
            <a:spLocks xmlns:a="http://schemas.openxmlformats.org/drawingml/2006/main" noGrp="1"/>
          </p:cNvSpPr>
          <p:nvPr/>
        </p:nvSpPr>
        <p:spPr>
          <a:xfrm xmlns:a="http://schemas.openxmlformats.org/drawingml/2006/main">
            <a:off x="2247900" y="5124450"/>
            <a:ext cx="10096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8BDF8"/>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8BDF8"/>
                </a:solidFill>
                <a:latin typeface="Avenir Next"/>
                <a:ea typeface="Avenir Next"/>
                <a:cs typeface="Avenir Next"/>
              </a:defRPr>
            </a:pPr>
            <a:r>
              <a:rPr sz="1200" b="1">
                <a:solidFill>
                  <a:srgbClr val="38BDF8"/>
                </a:solidFill>
                <a:latin typeface="Avenir Next"/>
                <a:ea typeface="Avenir Next"/>
                <a:cs typeface="Avenir Next"/>
              </a:rPr>
              <a:t>HYBRID</a:t>
            </a:r>
          </a:p>
        </p:txBody>
      </p:sp>
      <p:sp>
        <p:nvSpPr>
          <p:cNvPr id="8" name="tag-OPEN">
            <a:extLst xmlns:a="http://schemas.openxmlformats.org/drawingml/2006/main">
              <a:ext uri="{FF2B5EF4-FFF2-40B4-BE49-F238E27FC236}">
                <a16:creationId xmlns:a16="http://schemas.microsoft.com/office/drawing/2014/main" id="{F3D58804-459E-424E-B807-568CF5A663C6}"/>
              </a:ext>
            </a:extLst>
          </p:cNvPr>
          <p:cNvSpPr>
            <a:spLocks xmlns:a="http://schemas.openxmlformats.org/drawingml/2006/main" noGrp="1"/>
          </p:cNvSpPr>
          <p:nvPr/>
        </p:nvSpPr>
        <p:spPr>
          <a:xfrm xmlns:a="http://schemas.openxmlformats.org/drawingml/2006/main">
            <a:off x="3390900" y="5124450"/>
            <a:ext cx="8953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BSL 1.1</a:t>
            </a:r>
          </a:p>
        </p:txBody>
      </p:sp>
      <p:sp>
        <p:nvSpPr>
          <p:cNvPr id="9" name="qualityminds">
            <a:extLst xmlns:a="http://schemas.openxmlformats.org/drawingml/2006/main">
              <a:ext uri="{FF2B5EF4-FFF2-40B4-BE49-F238E27FC236}">
                <a16:creationId xmlns:a16="http://schemas.microsoft.com/office/drawing/2014/main" id="{4BE3276B-E3A0-4775-B5AA-86F4C3688C47}"/>
              </a:ext>
            </a:extLst>
          </p:cNvPr>
          <p:cNvSpPr>
            <a:spLocks xmlns:a="http://schemas.openxmlformats.org/drawingml/2006/main" noGrp="1"/>
          </p:cNvSpPr>
          <p:nvPr/>
        </p:nvSpPr>
        <p:spPr>
          <a:xfrm xmlns:a="http://schemas.openxmlformats.org/drawingml/2006/main">
            <a:off x="9906000" y="5143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125" b="1">
                <a:solidFill>
                  <a:srgbClr val="B8C9DD"/>
                </a:solidFill>
                <a:latin typeface="Avenir Next"/>
                <a:ea typeface="Avenir Next"/>
                <a:cs typeface="Avenir Next"/>
              </a:defRPr>
            </a:pPr>
            <a:r>
              <a:rPr sz="1125" b="1">
                <a:solidFill>
                  <a:srgbClr val="B8C9DD"/>
                </a:solidFill>
                <a:latin typeface="Avenir Next"/>
                <a:ea typeface="Avenir Next"/>
                <a:cs typeface="Avenir Next"/>
              </a:rPr>
              <a:t>QUALITYMINDS</a:t>
            </a:r>
          </a:p>
        </p:txBody>
      </p:sp>
    </p:spTree>
    <p:extLst>
      <p:ext uri="{BB962C8B-B14F-4D97-AF65-F5344CB8AC3E}">
        <p14:creationId xmlns:p14="http://schemas.microsoft.com/office/powerpoint/2010/main" val="645561744"/>
      </p:ext>
    </p:extLst>
  </p:cSld>
</p:sld>
</file>

<file path=ppt/slides/slide2.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1" name="brand-footer">
            <a:extLst xmlns:a="http://schemas.openxmlformats.org/drawingml/2006/main">
              <a:ext uri="{FF2B5EF4-FFF2-40B4-BE49-F238E27FC236}">
                <a16:creationId xmlns:a16="http://schemas.microsoft.com/office/drawing/2014/main" id="{D657BBDD-3C65-4CA3-A644-63FC75C91DD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1CEF70D-CF6F-4F5C-A9F1-7DAF3FBF11C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02</a:t>
            </a:r>
          </a:p>
        </p:txBody>
      </p:sp>
      <p:sp>
        <p:nvSpPr>
          <p:cNvPr id="3" name="eyebrow">
            <a:extLst xmlns:a="http://schemas.openxmlformats.org/drawingml/2006/main">
              <a:ext uri="{FF2B5EF4-FFF2-40B4-BE49-F238E27FC236}">
                <a16:creationId xmlns:a16="http://schemas.microsoft.com/office/drawing/2014/main" id="{966C18B7-7BD1-4DC1-9EDB-6C4BF422268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DIE REALITÄT</a:t>
            </a:r>
          </a:p>
        </p:txBody>
      </p:sp>
      <p:sp>
        <p:nvSpPr>
          <p:cNvPr id="4" name="title">
            <a:extLst xmlns:a="http://schemas.openxmlformats.org/drawingml/2006/main">
              <a:ext uri="{FF2B5EF4-FFF2-40B4-BE49-F238E27FC236}">
                <a16:creationId xmlns:a16="http://schemas.microsoft.com/office/drawing/2014/main" id="{6CAAD781-3995-4060-BDAD-CD4EDD2D28BB}"/>
              </a:ext>
            </a:extLst>
          </p:cNvPr>
          <p:cNvSpPr>
            <a:spLocks xmlns:a="http://schemas.openxmlformats.org/drawingml/2006/main" noGrp="1"/>
          </p:cNvSpPr>
          <p:nvPr/>
        </p:nvSpPr>
        <p:spPr>
          <a:xfrm xmlns:a="http://schemas.openxmlformats.org/drawingml/2006/main">
            <a:off x="685800" y="971550"/>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Produktive KI ist mehr als ein Modell</a:t>
            </a:r>
          </a:p>
        </p:txBody>
      </p:sp>
      <p:sp>
        <p:nvSpPr>
          <p:cNvPr id="5" name="problem-lead">
            <a:extLst xmlns:a="http://schemas.openxmlformats.org/drawingml/2006/main">
              <a:ext uri="{FF2B5EF4-FFF2-40B4-BE49-F238E27FC236}">
                <a16:creationId xmlns:a16="http://schemas.microsoft.com/office/drawing/2014/main" id="{473DB350-A00F-4518-9AB3-95FAFD208040}"/>
              </a:ext>
            </a:extLst>
          </p:cNvPr>
          <p:cNvSpPr>
            <a:spLocks xmlns:a="http://schemas.openxmlformats.org/drawingml/2006/main" noGrp="1"/>
          </p:cNvSpPr>
          <p:nvPr/>
        </p:nvSpPr>
        <p:spPr>
          <a:xfrm xmlns:a="http://schemas.openxmlformats.org/drawingml/2006/main">
            <a:off x="685800" y="209550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Sechs Grenzen entscheiden, ob aus einem Experiment ein nutzbarer Dienst wird.</a:t>
            </a:r>
          </a:p>
        </p:txBody>
      </p:sp>
      <p:sp>
        <p:nvSpPr>
          <p:cNvPr id="6" name="problem-dot-0">
            <a:extLst xmlns:a="http://schemas.openxmlformats.org/drawingml/2006/main">
              <a:ext uri="{FF2B5EF4-FFF2-40B4-BE49-F238E27FC236}">
                <a16:creationId xmlns:a16="http://schemas.microsoft.com/office/drawing/2014/main" id="{629B8594-3D7C-4F3E-9B84-B27D85009902}"/>
              </a:ext>
            </a:extLst>
          </p:cNvPr>
          <p:cNvSpPr>
            <a:spLocks xmlns:a="http://schemas.openxmlformats.org/drawingml/2006/main" noGrp="1"/>
          </p:cNvSpPr>
          <p:nvPr/>
        </p:nvSpPr>
        <p:spPr>
          <a:xfrm xmlns:a="http://schemas.openxmlformats.org/drawingml/2006/main">
            <a:off x="6858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7" name="problem-item-0">
            <a:extLst xmlns:a="http://schemas.openxmlformats.org/drawingml/2006/main">
              <a:ext uri="{FF2B5EF4-FFF2-40B4-BE49-F238E27FC236}">
                <a16:creationId xmlns:a16="http://schemas.microsoft.com/office/drawing/2014/main" id="{FBD4866A-921F-4F60-B1F4-4C439D4F140E}"/>
              </a:ext>
            </a:extLst>
          </p:cNvPr>
          <p:cNvSpPr>
            <a:spLocks xmlns:a="http://schemas.openxmlformats.org/drawingml/2006/main" noGrp="1"/>
          </p:cNvSpPr>
          <p:nvPr/>
        </p:nvSpPr>
        <p:spPr>
          <a:xfrm xmlns:a="http://schemas.openxmlformats.org/drawingml/2006/main">
            <a:off x="9334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Installation</a:t>
            </a:r>
          </a:p>
        </p:txBody>
      </p:sp>
      <p:sp>
        <p:nvSpPr>
          <p:cNvPr id="8" name="problem-dot-1">
            <a:extLst xmlns:a="http://schemas.openxmlformats.org/drawingml/2006/main">
              <a:ext uri="{FF2B5EF4-FFF2-40B4-BE49-F238E27FC236}">
                <a16:creationId xmlns:a16="http://schemas.microsoft.com/office/drawing/2014/main" id="{31B17CBA-8C23-40F3-9F56-EFB3B26F5289}"/>
              </a:ext>
            </a:extLst>
          </p:cNvPr>
          <p:cNvSpPr>
            <a:spLocks xmlns:a="http://schemas.openxmlformats.org/drawingml/2006/main" noGrp="1"/>
          </p:cNvSpPr>
          <p:nvPr/>
        </p:nvSpPr>
        <p:spPr>
          <a:xfrm xmlns:a="http://schemas.openxmlformats.org/drawingml/2006/main">
            <a:off x="31242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9" name="problem-item-1">
            <a:extLst xmlns:a="http://schemas.openxmlformats.org/drawingml/2006/main">
              <a:ext uri="{FF2B5EF4-FFF2-40B4-BE49-F238E27FC236}">
                <a16:creationId xmlns:a16="http://schemas.microsoft.com/office/drawing/2014/main" id="{B7B7D41C-837A-400C-8384-121B3BAB0985}"/>
              </a:ext>
            </a:extLst>
          </p:cNvPr>
          <p:cNvSpPr>
            <a:spLocks xmlns:a="http://schemas.openxmlformats.org/drawingml/2006/main" noGrp="1"/>
          </p:cNvSpPr>
          <p:nvPr/>
        </p:nvSpPr>
        <p:spPr>
          <a:xfrm xmlns:a="http://schemas.openxmlformats.org/drawingml/2006/main">
            <a:off x="33718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GitOps</a:t>
            </a:r>
          </a:p>
        </p:txBody>
      </p:sp>
      <p:sp>
        <p:nvSpPr>
          <p:cNvPr id="10" name="problem-dot-2">
            <a:extLst xmlns:a="http://schemas.openxmlformats.org/drawingml/2006/main">
              <a:ext uri="{FF2B5EF4-FFF2-40B4-BE49-F238E27FC236}">
                <a16:creationId xmlns:a16="http://schemas.microsoft.com/office/drawing/2014/main" id="{46CB54DE-D163-412F-9414-52171F73D296}"/>
              </a:ext>
            </a:extLst>
          </p:cNvPr>
          <p:cNvSpPr>
            <a:spLocks xmlns:a="http://schemas.openxmlformats.org/drawingml/2006/main" noGrp="1"/>
          </p:cNvSpPr>
          <p:nvPr/>
        </p:nvSpPr>
        <p:spPr>
          <a:xfrm xmlns:a="http://schemas.openxmlformats.org/drawingml/2006/main">
            <a:off x="685800" y="37147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11" name="problem-item-2">
            <a:extLst xmlns:a="http://schemas.openxmlformats.org/drawingml/2006/main">
              <a:ext uri="{FF2B5EF4-FFF2-40B4-BE49-F238E27FC236}">
                <a16:creationId xmlns:a16="http://schemas.microsoft.com/office/drawing/2014/main" id="{DE8D0DD3-E4A5-4C17-ADC0-31B91D7F7EC2}"/>
              </a:ext>
            </a:extLst>
          </p:cNvPr>
          <p:cNvSpPr>
            <a:spLocks xmlns:a="http://schemas.openxmlformats.org/drawingml/2006/main" noGrp="1"/>
          </p:cNvSpPr>
          <p:nvPr/>
        </p:nvSpPr>
        <p:spPr>
          <a:xfrm xmlns:a="http://schemas.openxmlformats.org/drawingml/2006/main">
            <a:off x="9334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Netzwerk</a:t>
            </a:r>
          </a:p>
        </p:txBody>
      </p:sp>
      <p:sp>
        <p:nvSpPr>
          <p:cNvPr id="12" name="problem-dot-3">
            <a:extLst xmlns:a="http://schemas.openxmlformats.org/drawingml/2006/main">
              <a:ext uri="{FF2B5EF4-FFF2-40B4-BE49-F238E27FC236}">
                <a16:creationId xmlns:a16="http://schemas.microsoft.com/office/drawing/2014/main" id="{68977283-D06E-4A82-89CD-03091EFAF20A}"/>
              </a:ext>
            </a:extLst>
          </p:cNvPr>
          <p:cNvSpPr>
            <a:spLocks xmlns:a="http://schemas.openxmlformats.org/drawingml/2006/main" noGrp="1"/>
          </p:cNvSpPr>
          <p:nvPr/>
        </p:nvSpPr>
        <p:spPr>
          <a:xfrm xmlns:a="http://schemas.openxmlformats.org/drawingml/2006/main">
            <a:off x="3124200" y="37147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3" name="problem-item-3">
            <a:extLst xmlns:a="http://schemas.openxmlformats.org/drawingml/2006/main">
              <a:ext uri="{FF2B5EF4-FFF2-40B4-BE49-F238E27FC236}">
                <a16:creationId xmlns:a16="http://schemas.microsoft.com/office/drawing/2014/main" id="{C8A012D1-AB11-4E29-908C-69088005CD7B}"/>
              </a:ext>
            </a:extLst>
          </p:cNvPr>
          <p:cNvSpPr>
            <a:spLocks xmlns:a="http://schemas.openxmlformats.org/drawingml/2006/main" noGrp="1"/>
          </p:cNvSpPr>
          <p:nvPr/>
        </p:nvSpPr>
        <p:spPr>
          <a:xfrm xmlns:a="http://schemas.openxmlformats.org/drawingml/2006/main">
            <a:off x="33718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Identität</a:t>
            </a:r>
          </a:p>
        </p:txBody>
      </p:sp>
      <p:sp>
        <p:nvSpPr>
          <p:cNvPr id="14" name="problem-dot-4">
            <a:extLst xmlns:a="http://schemas.openxmlformats.org/drawingml/2006/main">
              <a:ext uri="{FF2B5EF4-FFF2-40B4-BE49-F238E27FC236}">
                <a16:creationId xmlns:a16="http://schemas.microsoft.com/office/drawing/2014/main" id="{B352F90F-F667-4F06-A031-55B3E0FA221C}"/>
              </a:ext>
            </a:extLst>
          </p:cNvPr>
          <p:cNvSpPr>
            <a:spLocks xmlns:a="http://schemas.openxmlformats.org/drawingml/2006/main" noGrp="1"/>
          </p:cNvSpPr>
          <p:nvPr/>
        </p:nvSpPr>
        <p:spPr>
          <a:xfrm xmlns:a="http://schemas.openxmlformats.org/drawingml/2006/main">
            <a:off x="6858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problem-item-4">
            <a:extLst xmlns:a="http://schemas.openxmlformats.org/drawingml/2006/main">
              <a:ext uri="{FF2B5EF4-FFF2-40B4-BE49-F238E27FC236}">
                <a16:creationId xmlns:a16="http://schemas.microsoft.com/office/drawing/2014/main" id="{B0AA1220-A43D-4056-A758-5E1DFA4355B5}"/>
              </a:ext>
            </a:extLst>
          </p:cNvPr>
          <p:cNvSpPr>
            <a:spLocks xmlns:a="http://schemas.openxmlformats.org/drawingml/2006/main" noGrp="1"/>
          </p:cNvSpPr>
          <p:nvPr/>
        </p:nvSpPr>
        <p:spPr>
          <a:xfrm xmlns:a="http://schemas.openxmlformats.org/drawingml/2006/main">
            <a:off x="9334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Modelle</a:t>
            </a:r>
          </a:p>
        </p:txBody>
      </p:sp>
      <p:sp>
        <p:nvSpPr>
          <p:cNvPr id="16" name="problem-dot-5">
            <a:extLst xmlns:a="http://schemas.openxmlformats.org/drawingml/2006/main">
              <a:ext uri="{FF2B5EF4-FFF2-40B4-BE49-F238E27FC236}">
                <a16:creationId xmlns:a16="http://schemas.microsoft.com/office/drawing/2014/main" id="{35910B41-B4FA-46B6-9B8E-8F0D26A31CED}"/>
              </a:ext>
            </a:extLst>
          </p:cNvPr>
          <p:cNvSpPr>
            <a:spLocks xmlns:a="http://schemas.openxmlformats.org/drawingml/2006/main" noGrp="1"/>
          </p:cNvSpPr>
          <p:nvPr/>
        </p:nvSpPr>
        <p:spPr>
          <a:xfrm xmlns:a="http://schemas.openxmlformats.org/drawingml/2006/main">
            <a:off x="31242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7" name="problem-item-5">
            <a:extLst xmlns:a="http://schemas.openxmlformats.org/drawingml/2006/main">
              <a:ext uri="{FF2B5EF4-FFF2-40B4-BE49-F238E27FC236}">
                <a16:creationId xmlns:a16="http://schemas.microsoft.com/office/drawing/2014/main" id="{61FABD15-B568-46E8-85C6-07F8DBE5CC42}"/>
              </a:ext>
            </a:extLst>
          </p:cNvPr>
          <p:cNvSpPr>
            <a:spLocks xmlns:a="http://schemas.openxmlformats.org/drawingml/2006/main" noGrp="1"/>
          </p:cNvSpPr>
          <p:nvPr/>
        </p:nvSpPr>
        <p:spPr>
          <a:xfrm xmlns:a="http://schemas.openxmlformats.org/drawingml/2006/main">
            <a:off x="33718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Anwendungen</a:t>
            </a:r>
          </a:p>
        </p:txBody>
      </p:sp>
      <p:sp>
        <p:nvSpPr>
          <p:cNvPr id="18" name="terminal-frame">
            <a:extLst xmlns:a="http://schemas.openxmlformats.org/drawingml/2006/main">
              <a:ext uri="{FF2B5EF4-FFF2-40B4-BE49-F238E27FC236}">
                <a16:creationId xmlns:a16="http://schemas.microsoft.com/office/drawing/2014/main" id="{1ECB56CF-F27A-4E9C-B3D4-22485647698F}"/>
              </a:ext>
            </a:extLst>
          </p:cNvPr>
          <p:cNvSpPr>
            <a:spLocks xmlns:a="http://schemas.openxmlformats.org/drawingml/2006/main" noGrp="1"/>
          </p:cNvSpPr>
          <p:nvPr/>
        </p:nvSpPr>
        <p:spPr>
          <a:xfrm xmlns:a="http://schemas.openxmlformats.org/drawingml/2006/main">
            <a:off x="6381750" y="1143000"/>
            <a:ext cx="5124450" cy="4476750"/>
          </a:xfrm>
          <a:prstGeom xmlns:a="http://schemas.openxmlformats.org/drawingml/2006/main" prst="roundRect">
            <a:avLst>
              <a:gd name="adj" fmla="val 5957"/>
            </a:avLst>
          </a:prstGeom>
          <a:solidFill xmlns:a="http://schemas.openxmlformats.org/drawingml/2006/main">
            <a:srgbClr val="0B1730"/>
          </a:solidFill>
          <a:ln xmlns:a="http://schemas.openxmlformats.org/drawingml/2006/main" w="9525">
            <a:solidFill>
              <a:srgbClr val="24415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c8e1d745124433f"/>
          <a:srcRect xmlns:a="http://schemas.openxmlformats.org/drawingml/2006/main" l="12070" t="0" r="12070" b="0"/>
          <a:stretch xmlns:a="http://schemas.openxmlformats.org/drawingml/2006/main">
            <a:fillRect l="0" t="0" r="0" b="0"/>
          </a:stretch>
        </p:blipFill>
        <p:spPr>
          <a:xfrm xmlns:a="http://schemas.openxmlformats.org/drawingml/2006/main">
            <a:off x="6553200" y="1314450"/>
            <a:ext cx="4781550" cy="4133850"/>
          </a:xfrm>
          <a:prstGeom xmlns:a="http://schemas.openxmlformats.org/drawingml/2006/main" prst="roundRect">
            <a:avLst>
              <a:gd name="adj" fmla="val 4608"/>
            </a:avLst>
          </a:prstGeom>
        </p:spPr>
      </p:pic>
      <p:sp>
        <p:nvSpPr>
          <p:cNvPr id="20" name="tag-EIN PRODUKT STATT SECHS BAUSTELLEN">
            <a:extLst xmlns:a="http://schemas.openxmlformats.org/drawingml/2006/main">
              <a:ext uri="{FF2B5EF4-FFF2-40B4-BE49-F238E27FC236}">
                <a16:creationId xmlns:a16="http://schemas.microsoft.com/office/drawing/2014/main" id="{E1F3C630-A82E-4B28-883E-E53E61098D7E}"/>
              </a:ext>
            </a:extLst>
          </p:cNvPr>
          <p:cNvSpPr>
            <a:spLocks xmlns:a="http://schemas.openxmlformats.org/drawingml/2006/main" noGrp="1"/>
          </p:cNvSpPr>
          <p:nvPr/>
        </p:nvSpPr>
        <p:spPr>
          <a:xfrm xmlns:a="http://schemas.openxmlformats.org/drawingml/2006/main">
            <a:off x="6686550" y="5086350"/>
            <a:ext cx="43243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EINE APPLIANCE STATT SECHS BAUSTELLEN</a:t>
            </a:r>
          </a:p>
        </p:txBody>
      </p:sp>
    </p:spTree>
    <p:extLst>
      <p:ext uri="{BB962C8B-B14F-4D97-AF65-F5344CB8AC3E}">
        <p14:creationId xmlns:p14="http://schemas.microsoft.com/office/powerpoint/2010/main" val="55613123"/>
      </p:ext>
    </p:extLst>
  </p:cSld>
</p:sld>
</file>

<file path=ppt/slides/slide3.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03</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DIE PRODUKTIDEE</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Ein Control Plane macht KI zur Appliance</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Eine Oberfläche verbindet Services,</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Modelle, Benutzer und Systemstatus.</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Kubernetes liefert das Fundament.</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Magic Stick macht es bedienbar.</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UI · AKTUELL</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6284c37c87a4884"/>
          <a:stretch xmlns:a="http://schemas.openxmlformats.org/drawingml/2006/main"/>
        </p:blipFill>
        <p:spPr>
          <a:xfrm xmlns:a="http://schemas.openxmlformats.org/drawingml/2006/main" flipH="0" flipV="0">
            <a:off x="5314950" y="2618426"/>
            <a:ext cx="6019800" cy="2364098"/>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4.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5" name="brand-footer">
            <a:extLst xmlns:a="http://schemas.openxmlformats.org/drawingml/2006/main">
              <a:ext uri="{FF2B5EF4-FFF2-40B4-BE49-F238E27FC236}">
                <a16:creationId xmlns:a16="http://schemas.microsoft.com/office/drawing/2014/main" id="{28020345-D7E8-42A9-9F38-97D9EE749C6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EF01963B-EA36-4D01-8A73-647E94FAAF37}"/>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04</a:t>
            </a:r>
          </a:p>
        </p:txBody>
      </p:sp>
      <p:sp>
        <p:nvSpPr>
          <p:cNvPr id="3" name="eyebrow">
            <a:extLst xmlns:a="http://schemas.openxmlformats.org/drawingml/2006/main">
              <a:ext uri="{FF2B5EF4-FFF2-40B4-BE49-F238E27FC236}">
                <a16:creationId xmlns:a16="http://schemas.microsoft.com/office/drawing/2014/main" id="{DAF73F52-7F31-4CAD-95DF-F4958BFEFD89}"/>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VIER STARTPUNKTE</a:t>
            </a:r>
          </a:p>
        </p:txBody>
      </p:sp>
      <p:sp>
        <p:nvSpPr>
          <p:cNvPr id="4" name="title">
            <a:extLst xmlns:a="http://schemas.openxmlformats.org/drawingml/2006/main">
              <a:ext uri="{FF2B5EF4-FFF2-40B4-BE49-F238E27FC236}">
                <a16:creationId xmlns:a16="http://schemas.microsoft.com/office/drawing/2014/main" id="{8AF63596-E7ED-423D-9E95-9428484E2D92}"/>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Installieren, wo Sie schon sind.</a:t>
            </a:r>
          </a:p>
        </p:txBody>
      </p:sp>
      <p:sp>
        <p:nvSpPr>
          <p:cNvPr id="5" name="deploy-lead">
            <a:extLst xmlns:a="http://schemas.openxmlformats.org/drawingml/2006/main">
              <a:ext uri="{FF2B5EF4-FFF2-40B4-BE49-F238E27FC236}">
                <a16:creationId xmlns:a16="http://schemas.microsoft.com/office/drawing/2014/main" id="{8C03F186-E9A3-4D51-B50A-FDE6D9847DAD}"/>
              </a:ext>
            </a:extLst>
          </p:cNvPr>
          <p:cNvSpPr>
            <a:spLocks xmlns:a="http://schemas.openxmlformats.org/drawingml/2006/main" noGrp="1"/>
          </p:cNvSpPr>
          <p:nvPr/>
        </p:nvSpPr>
        <p:spPr>
          <a:xfrm xmlns:a="http://schemas.openxmlformats.org/drawingml/2006/main">
            <a:off x="685800" y="17716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Der Einstieg ändert sich. Der sichere Zielzustand bleibt gleich.</a:t>
            </a:r>
          </a:p>
        </p:txBody>
      </p:sp>
      <p:sp>
        <p:nvSpPr>
          <p:cNvPr id="6" name="deploy-line-1">
            <a:extLst xmlns:a="http://schemas.openxmlformats.org/drawingml/2006/main">
              <a:ext uri="{FF2B5EF4-FFF2-40B4-BE49-F238E27FC236}">
                <a16:creationId xmlns:a16="http://schemas.microsoft.com/office/drawing/2014/main" id="{DDCB640C-70A8-4BA1-97AC-1154BAF5C705}"/>
              </a:ext>
            </a:extLst>
          </p:cNvPr>
          <p:cNvSpPr>
            <a:spLocks xmlns:a="http://schemas.openxmlformats.org/drawingml/2006/main" noGrp="1"/>
          </p:cNvSpPr>
          <p:nvPr/>
        </p:nvSpPr>
        <p:spPr>
          <a:xfrm xmlns:a="http://schemas.openxmlformats.org/drawingml/2006/main">
            <a:off x="20669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7" name="deploy-line-2">
            <a:extLst xmlns:a="http://schemas.openxmlformats.org/drawingml/2006/main">
              <a:ext uri="{FF2B5EF4-FFF2-40B4-BE49-F238E27FC236}">
                <a16:creationId xmlns:a16="http://schemas.microsoft.com/office/drawing/2014/main" id="{38E737B3-5DD7-4092-880F-A1B559CD60EA}"/>
              </a:ext>
            </a:extLst>
          </p:cNvPr>
          <p:cNvSpPr>
            <a:spLocks xmlns:a="http://schemas.openxmlformats.org/drawingml/2006/main" noGrp="1"/>
          </p:cNvSpPr>
          <p:nvPr/>
        </p:nvSpPr>
        <p:spPr>
          <a:xfrm xmlns:a="http://schemas.openxmlformats.org/drawingml/2006/main">
            <a:off x="47720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8" name="deploy-line-3">
            <a:extLst xmlns:a="http://schemas.openxmlformats.org/drawingml/2006/main">
              <a:ext uri="{FF2B5EF4-FFF2-40B4-BE49-F238E27FC236}">
                <a16:creationId xmlns:a16="http://schemas.microsoft.com/office/drawing/2014/main" id="{C0A6269F-C244-4617-BCDD-1BA22A43D4EB}"/>
              </a:ext>
            </a:extLst>
          </p:cNvPr>
          <p:cNvSpPr>
            <a:spLocks xmlns:a="http://schemas.openxmlformats.org/drawingml/2006/main" noGrp="1"/>
          </p:cNvSpPr>
          <p:nvPr/>
        </p:nvSpPr>
        <p:spPr>
          <a:xfrm xmlns:a="http://schemas.openxmlformats.org/drawingml/2006/main">
            <a:off x="74771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9" name="deploy-number-0">
            <a:extLst xmlns:a="http://schemas.openxmlformats.org/drawingml/2006/main">
              <a:ext uri="{FF2B5EF4-FFF2-40B4-BE49-F238E27FC236}">
                <a16:creationId xmlns:a16="http://schemas.microsoft.com/office/drawing/2014/main" id="{01C125FF-FD3A-4F8C-8249-8324363B3A9F}"/>
              </a:ext>
            </a:extLst>
          </p:cNvPr>
          <p:cNvSpPr>
            <a:spLocks xmlns:a="http://schemas.openxmlformats.org/drawingml/2006/main" noGrp="1"/>
          </p:cNvSpPr>
          <p:nvPr/>
        </p:nvSpPr>
        <p:spPr>
          <a:xfrm xmlns:a="http://schemas.openxmlformats.org/drawingml/2006/main">
            <a:off x="7048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0" name="deploy-number-text-0">
            <a:extLst xmlns:a="http://schemas.openxmlformats.org/drawingml/2006/main">
              <a:ext uri="{FF2B5EF4-FFF2-40B4-BE49-F238E27FC236}">
                <a16:creationId xmlns:a16="http://schemas.microsoft.com/office/drawing/2014/main" id="{E3FF9D06-27ED-4190-BD15-550EFF6A004E}"/>
              </a:ext>
            </a:extLst>
          </p:cNvPr>
          <p:cNvSpPr>
            <a:spLocks xmlns:a="http://schemas.openxmlformats.org/drawingml/2006/main" noGrp="1"/>
          </p:cNvSpPr>
          <p:nvPr/>
        </p:nvSpPr>
        <p:spPr>
          <a:xfrm xmlns:a="http://schemas.openxmlformats.org/drawingml/2006/main">
            <a:off x="7048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01</a:t>
            </a:r>
          </a:p>
        </p:txBody>
      </p:sp>
      <p:sp>
        <p:nvSpPr>
          <p:cNvPr id="11" name="deploy-title-0">
            <a:extLst xmlns:a="http://schemas.openxmlformats.org/drawingml/2006/main">
              <a:ext uri="{FF2B5EF4-FFF2-40B4-BE49-F238E27FC236}">
                <a16:creationId xmlns:a16="http://schemas.microsoft.com/office/drawing/2014/main" id="{1064272F-C89B-4E23-9D73-8A113F113BD6}"/>
              </a:ext>
            </a:extLst>
          </p:cNvPr>
          <p:cNvSpPr>
            <a:spLocks xmlns:a="http://schemas.openxmlformats.org/drawingml/2006/main" noGrp="1"/>
          </p:cNvSpPr>
          <p:nvPr/>
        </p:nvSpPr>
        <p:spPr>
          <a:xfrm xmlns:a="http://schemas.openxmlformats.org/drawingml/2006/main">
            <a:off x="7048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Hardware</a:t>
            </a:r>
          </a:p>
        </p:txBody>
      </p:sp>
      <p:sp>
        <p:nvSpPr>
          <p:cNvPr id="12" name="deploy-body-0">
            <a:extLst xmlns:a="http://schemas.openxmlformats.org/drawingml/2006/main">
              <a:ext uri="{FF2B5EF4-FFF2-40B4-BE49-F238E27FC236}">
                <a16:creationId xmlns:a16="http://schemas.microsoft.com/office/drawing/2014/main" id="{D002A069-630D-432A-BF80-03749807B438}"/>
              </a:ext>
            </a:extLst>
          </p:cNvPr>
          <p:cNvSpPr>
            <a:spLocks xmlns:a="http://schemas.openxmlformats.org/drawingml/2006/main" noGrp="1"/>
          </p:cNvSpPr>
          <p:nvPr/>
        </p:nvSpPr>
        <p:spPr>
          <a:xfrm xmlns:a="http://schemas.openxmlformats.org/drawingml/2006/main">
            <a:off x="7048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USB-Installer + geschützter First Run</a:t>
            </a:r>
          </a:p>
        </p:txBody>
      </p:sp>
      <p:sp>
        <p:nvSpPr>
          <p:cNvPr id="13" name="deploy-number-1">
            <a:extLst xmlns:a="http://schemas.openxmlformats.org/drawingml/2006/main">
              <a:ext uri="{FF2B5EF4-FFF2-40B4-BE49-F238E27FC236}">
                <a16:creationId xmlns:a16="http://schemas.microsoft.com/office/drawing/2014/main" id="{3DBE7336-8F20-4901-85F8-2FC7A94DA3D5}"/>
              </a:ext>
            </a:extLst>
          </p:cNvPr>
          <p:cNvSpPr>
            <a:spLocks xmlns:a="http://schemas.openxmlformats.org/drawingml/2006/main" noGrp="1"/>
          </p:cNvSpPr>
          <p:nvPr/>
        </p:nvSpPr>
        <p:spPr>
          <a:xfrm xmlns:a="http://schemas.openxmlformats.org/drawingml/2006/main">
            <a:off x="34099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4" name="deploy-number-text-1">
            <a:extLst xmlns:a="http://schemas.openxmlformats.org/drawingml/2006/main">
              <a:ext uri="{FF2B5EF4-FFF2-40B4-BE49-F238E27FC236}">
                <a16:creationId xmlns:a16="http://schemas.microsoft.com/office/drawing/2014/main" id="{A6406289-EFC2-4AAE-BD4F-07664EB1AB84}"/>
              </a:ext>
            </a:extLst>
          </p:cNvPr>
          <p:cNvSpPr>
            <a:spLocks xmlns:a="http://schemas.openxmlformats.org/drawingml/2006/main" noGrp="1"/>
          </p:cNvSpPr>
          <p:nvPr/>
        </p:nvSpPr>
        <p:spPr>
          <a:xfrm xmlns:a="http://schemas.openxmlformats.org/drawingml/2006/main">
            <a:off x="34099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02</a:t>
            </a:r>
          </a:p>
        </p:txBody>
      </p:sp>
      <p:sp>
        <p:nvSpPr>
          <p:cNvPr id="15" name="deploy-title-1">
            <a:extLst xmlns:a="http://schemas.openxmlformats.org/drawingml/2006/main">
              <a:ext uri="{FF2B5EF4-FFF2-40B4-BE49-F238E27FC236}">
                <a16:creationId xmlns:a16="http://schemas.microsoft.com/office/drawing/2014/main" id="{7789CDC9-FD0C-4CD3-BBAF-82D8B68D9C88}"/>
              </a:ext>
            </a:extLst>
          </p:cNvPr>
          <p:cNvSpPr>
            <a:spLocks xmlns:a="http://schemas.openxmlformats.org/drawingml/2006/main" noGrp="1"/>
          </p:cNvSpPr>
          <p:nvPr/>
        </p:nvSpPr>
        <p:spPr>
          <a:xfrm xmlns:a="http://schemas.openxmlformats.org/drawingml/2006/main">
            <a:off x="34099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Neue Cloud-VM</a:t>
            </a:r>
          </a:p>
        </p:txBody>
      </p:sp>
      <p:sp>
        <p:nvSpPr>
          <p:cNvPr id="16" name="deploy-body-1">
            <a:extLst xmlns:a="http://schemas.openxmlformats.org/drawingml/2006/main">
              <a:ext uri="{FF2B5EF4-FFF2-40B4-BE49-F238E27FC236}">
                <a16:creationId xmlns:a16="http://schemas.microsoft.com/office/drawing/2014/main" id="{64B14715-F9B4-4A27-A9AA-B59EBF8EB9D1}"/>
              </a:ext>
            </a:extLst>
          </p:cNvPr>
          <p:cNvSpPr>
            <a:spLocks xmlns:a="http://schemas.openxmlformats.org/drawingml/2006/main" noGrp="1"/>
          </p:cNvSpPr>
          <p:nvPr/>
        </p:nvSpPr>
        <p:spPr>
          <a:xfrm xmlns:a="http://schemas.openxmlformats.org/drawingml/2006/main">
            <a:off x="34099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Cloud-init + geschützter First Run</a:t>
            </a:r>
          </a:p>
        </p:txBody>
      </p:sp>
      <p:sp>
        <p:nvSpPr>
          <p:cNvPr id="17" name="deploy-number-2">
            <a:extLst xmlns:a="http://schemas.openxmlformats.org/drawingml/2006/main">
              <a:ext uri="{FF2B5EF4-FFF2-40B4-BE49-F238E27FC236}">
                <a16:creationId xmlns:a16="http://schemas.microsoft.com/office/drawing/2014/main" id="{4C9DC61C-61CD-4D6F-B5F2-0550BB642357}"/>
              </a:ext>
            </a:extLst>
          </p:cNvPr>
          <p:cNvSpPr>
            <a:spLocks xmlns:a="http://schemas.openxmlformats.org/drawingml/2006/main" noGrp="1"/>
          </p:cNvSpPr>
          <p:nvPr/>
        </p:nvSpPr>
        <p:spPr>
          <a:xfrm xmlns:a="http://schemas.openxmlformats.org/drawingml/2006/main">
            <a:off x="61150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8" name="deploy-number-text-2">
            <a:extLst xmlns:a="http://schemas.openxmlformats.org/drawingml/2006/main">
              <a:ext uri="{FF2B5EF4-FFF2-40B4-BE49-F238E27FC236}">
                <a16:creationId xmlns:a16="http://schemas.microsoft.com/office/drawing/2014/main" id="{E3467D21-F2C8-4756-972D-F815FCDB2124}"/>
              </a:ext>
            </a:extLst>
          </p:cNvPr>
          <p:cNvSpPr>
            <a:spLocks xmlns:a="http://schemas.openxmlformats.org/drawingml/2006/main" noGrp="1"/>
          </p:cNvSpPr>
          <p:nvPr/>
        </p:nvSpPr>
        <p:spPr>
          <a:xfrm xmlns:a="http://schemas.openxmlformats.org/drawingml/2006/main">
            <a:off x="61150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03</a:t>
            </a:r>
          </a:p>
        </p:txBody>
      </p:sp>
      <p:sp>
        <p:nvSpPr>
          <p:cNvPr id="19" name="deploy-title-2">
            <a:extLst xmlns:a="http://schemas.openxmlformats.org/drawingml/2006/main">
              <a:ext uri="{FF2B5EF4-FFF2-40B4-BE49-F238E27FC236}">
                <a16:creationId xmlns:a16="http://schemas.microsoft.com/office/drawing/2014/main" id="{C777A778-5F1E-4858-843F-10EAF28FF8E4}"/>
              </a:ext>
            </a:extLst>
          </p:cNvPr>
          <p:cNvSpPr>
            <a:spLocks xmlns:a="http://schemas.openxmlformats.org/drawingml/2006/main" noGrp="1"/>
          </p:cNvSpPr>
          <p:nvPr/>
        </p:nvSpPr>
        <p:spPr>
          <a:xfrm xmlns:a="http://schemas.openxmlformats.org/drawingml/2006/main">
            <a:off x="61150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Bestehende VM</a:t>
            </a:r>
          </a:p>
        </p:txBody>
      </p:sp>
      <p:sp>
        <p:nvSpPr>
          <p:cNvPr id="20" name="deploy-body-2">
            <a:extLst xmlns:a="http://schemas.openxmlformats.org/drawingml/2006/main">
              <a:ext uri="{FF2B5EF4-FFF2-40B4-BE49-F238E27FC236}">
                <a16:creationId xmlns:a16="http://schemas.microsoft.com/office/drawing/2014/main" id="{E4D9D0DB-A283-470E-8071-C6B5B29EBD6B}"/>
              </a:ext>
            </a:extLst>
          </p:cNvPr>
          <p:cNvSpPr>
            <a:spLocks xmlns:a="http://schemas.openxmlformats.org/drawingml/2006/main" noGrp="1"/>
          </p:cNvSpPr>
          <p:nvPr/>
        </p:nvSpPr>
        <p:spPr>
          <a:xfrm xmlns:a="http://schemas.openxmlformats.org/drawingml/2006/main">
            <a:off x="61150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Ein Installationsskript auf Ubuntu 24.04</a:t>
            </a:r>
          </a:p>
        </p:txBody>
      </p:sp>
      <p:sp>
        <p:nvSpPr>
          <p:cNvPr id="21" name="deploy-number-3">
            <a:extLst xmlns:a="http://schemas.openxmlformats.org/drawingml/2006/main">
              <a:ext uri="{FF2B5EF4-FFF2-40B4-BE49-F238E27FC236}">
                <a16:creationId xmlns:a16="http://schemas.microsoft.com/office/drawing/2014/main" id="{751282DC-E7F6-4640-B134-54F4162CD2DD}"/>
              </a:ext>
            </a:extLst>
          </p:cNvPr>
          <p:cNvSpPr>
            <a:spLocks xmlns:a="http://schemas.openxmlformats.org/drawingml/2006/main" noGrp="1"/>
          </p:cNvSpPr>
          <p:nvPr/>
        </p:nvSpPr>
        <p:spPr>
          <a:xfrm xmlns:a="http://schemas.openxmlformats.org/drawingml/2006/main">
            <a:off x="8820150" y="2933700"/>
            <a:ext cx="838200" cy="8382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solidFill>
            <a:prstDash val="solid"/>
          </a:ln>
        </p:spPr>
      </p:sp>
      <p:sp>
        <p:nvSpPr>
          <p:cNvPr id="22" name="deploy-number-text-3">
            <a:extLst xmlns:a="http://schemas.openxmlformats.org/drawingml/2006/main">
              <a:ext uri="{FF2B5EF4-FFF2-40B4-BE49-F238E27FC236}">
                <a16:creationId xmlns:a16="http://schemas.microsoft.com/office/drawing/2014/main" id="{B815FABC-4D50-4AB7-AAC7-091470902710}"/>
              </a:ext>
            </a:extLst>
          </p:cNvPr>
          <p:cNvSpPr>
            <a:spLocks xmlns:a="http://schemas.openxmlformats.org/drawingml/2006/main" noGrp="1"/>
          </p:cNvSpPr>
          <p:nvPr/>
        </p:nvSpPr>
        <p:spPr>
          <a:xfrm xmlns:a="http://schemas.openxmlformats.org/drawingml/2006/main">
            <a:off x="88201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04</a:t>
            </a:r>
          </a:p>
        </p:txBody>
      </p:sp>
      <p:sp>
        <p:nvSpPr>
          <p:cNvPr id="23" name="deploy-title-3">
            <a:extLst xmlns:a="http://schemas.openxmlformats.org/drawingml/2006/main">
              <a:ext uri="{FF2B5EF4-FFF2-40B4-BE49-F238E27FC236}">
                <a16:creationId xmlns:a16="http://schemas.microsoft.com/office/drawing/2014/main" id="{D5E42D26-9522-4221-9E11-5D23C00A568D}"/>
              </a:ext>
            </a:extLst>
          </p:cNvPr>
          <p:cNvSpPr>
            <a:spLocks xmlns:a="http://schemas.openxmlformats.org/drawingml/2006/main" noGrp="1"/>
          </p:cNvSpPr>
          <p:nvPr/>
        </p:nvSpPr>
        <p:spPr>
          <a:xfrm xmlns:a="http://schemas.openxmlformats.org/drawingml/2006/main">
            <a:off x="88201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Kubernetes</a:t>
            </a:r>
          </a:p>
        </p:txBody>
      </p:sp>
      <p:sp>
        <p:nvSpPr>
          <p:cNvPr id="24" name="deploy-body-3">
            <a:extLst xmlns:a="http://schemas.openxmlformats.org/drawingml/2006/main">
              <a:ext uri="{FF2B5EF4-FFF2-40B4-BE49-F238E27FC236}">
                <a16:creationId xmlns:a16="http://schemas.microsoft.com/office/drawing/2014/main" id="{8B04396E-65BE-4240-BCB1-C567CE617A7A}"/>
              </a:ext>
            </a:extLst>
          </p:cNvPr>
          <p:cNvSpPr>
            <a:spLocks xmlns:a="http://schemas.openxmlformats.org/drawingml/2006/main" noGrp="1"/>
          </p:cNvSpPr>
          <p:nvPr/>
        </p:nvSpPr>
        <p:spPr>
          <a:xfrm xmlns:a="http://schemas.openxmlformats.org/drawingml/2006/main">
            <a:off x="88201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Bash oder PowerShell + Flux</a:t>
            </a:r>
          </a:p>
        </p:txBody>
      </p:sp>
    </p:spTree>
    <p:extLst>
      <p:ext uri="{BB962C8B-B14F-4D97-AF65-F5344CB8AC3E}">
        <p14:creationId xmlns:p14="http://schemas.microsoft.com/office/powerpoint/2010/main" val="650463399"/>
      </p:ext>
    </p:extLst>
  </p:cSld>
</p:sld>
</file>

<file path=ppt/slides/slide5.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1" name="brand-footer">
            <a:extLst xmlns:a="http://schemas.openxmlformats.org/drawingml/2006/main">
              <a:ext uri="{FF2B5EF4-FFF2-40B4-BE49-F238E27FC236}">
                <a16:creationId xmlns:a16="http://schemas.microsoft.com/office/drawing/2014/main" id="{D657BBDD-3C65-4CA3-A644-63FC75C91DD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1CEF70D-CF6F-4F5C-A9F1-7DAF3FBF11C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05</a:t>
            </a:r>
          </a:p>
        </p:txBody>
      </p:sp>
      <p:sp>
        <p:nvSpPr>
          <p:cNvPr id="3" name="eyebrow">
            <a:extLst xmlns:a="http://schemas.openxmlformats.org/drawingml/2006/main">
              <a:ext uri="{FF2B5EF4-FFF2-40B4-BE49-F238E27FC236}">
                <a16:creationId xmlns:a16="http://schemas.microsoft.com/office/drawing/2014/main" id="{966C18B7-7BD1-4DC1-9EDB-6C4BF422268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SICHERER ERSTER START</a:t>
            </a:r>
          </a:p>
        </p:txBody>
      </p:sp>
      <p:sp>
        <p:nvSpPr>
          <p:cNvPr id="4" name="title">
            <a:extLst xmlns:a="http://schemas.openxmlformats.org/drawingml/2006/main">
              <a:ext uri="{FF2B5EF4-FFF2-40B4-BE49-F238E27FC236}">
                <a16:creationId xmlns:a16="http://schemas.microsoft.com/office/drawing/2014/main" id="{6CAAD781-3995-4060-BDAD-CD4EDD2D28BB}"/>
              </a:ext>
            </a:extLst>
          </p:cNvPr>
          <p:cNvSpPr>
            <a:spLocks xmlns:a="http://schemas.openxmlformats.org/drawingml/2006/main" noGrp="1"/>
          </p:cNvSpPr>
          <p:nvPr/>
        </p:nvSpPr>
        <p:spPr>
          <a:xfrm xmlns:a="http://schemas.openxmlformats.org/drawingml/2006/main">
            <a:off x="685800" y="971550"/>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Der erste Admin entsteht bei Ihnen</a:t>
            </a:r>
          </a:p>
        </p:txBody>
      </p:sp>
      <p:sp>
        <p:nvSpPr>
          <p:cNvPr id="5" name="problem-lead">
            <a:extLst xmlns:a="http://schemas.openxmlformats.org/drawingml/2006/main">
              <a:ext uri="{FF2B5EF4-FFF2-40B4-BE49-F238E27FC236}">
                <a16:creationId xmlns:a16="http://schemas.microsoft.com/office/drawing/2014/main" id="{473DB350-A00F-4518-9AB3-95FAFD208040}"/>
              </a:ext>
            </a:extLst>
          </p:cNvPr>
          <p:cNvSpPr>
            <a:spLocks xmlns:a="http://schemas.openxmlformats.org/drawingml/2006/main" noGrp="1"/>
          </p:cNvSpPr>
          <p:nvPr/>
        </p:nvSpPr>
        <p:spPr>
          <a:xfrm xmlns:a="http://schemas.openxmlformats.org/drawingml/2006/main">
            <a:off x="685800" y="209550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Kein festes Standardkonto. Kein bekanntes Benutzerpasswort im Repository.</a:t>
            </a:r>
          </a:p>
        </p:txBody>
      </p:sp>
      <p:sp>
        <p:nvSpPr>
          <p:cNvPr id="6" name="problem-dot-0">
            <a:extLst xmlns:a="http://schemas.openxmlformats.org/drawingml/2006/main">
              <a:ext uri="{FF2B5EF4-FFF2-40B4-BE49-F238E27FC236}">
                <a16:creationId xmlns:a16="http://schemas.microsoft.com/office/drawing/2014/main" id="{629B8594-3D7C-4F3E-9B84-B27D85009902}"/>
              </a:ext>
            </a:extLst>
          </p:cNvPr>
          <p:cNvSpPr>
            <a:spLocks xmlns:a="http://schemas.openxmlformats.org/drawingml/2006/main" noGrp="1"/>
          </p:cNvSpPr>
          <p:nvPr/>
        </p:nvSpPr>
        <p:spPr>
          <a:xfrm xmlns:a="http://schemas.openxmlformats.org/drawingml/2006/main">
            <a:off x="6858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7" name="problem-item-0">
            <a:extLst xmlns:a="http://schemas.openxmlformats.org/drawingml/2006/main">
              <a:ext uri="{FF2B5EF4-FFF2-40B4-BE49-F238E27FC236}">
                <a16:creationId xmlns:a16="http://schemas.microsoft.com/office/drawing/2014/main" id="{FBD4866A-921F-4F60-B1F4-4C439D4F140E}"/>
              </a:ext>
            </a:extLst>
          </p:cNvPr>
          <p:cNvSpPr>
            <a:spLocks xmlns:a="http://schemas.openxmlformats.org/drawingml/2006/main" noGrp="1"/>
          </p:cNvSpPr>
          <p:nvPr/>
        </p:nvSpPr>
        <p:spPr>
          <a:xfrm xmlns:a="http://schemas.openxmlformats.org/drawingml/2006/main">
            <a:off x="9334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Konsolencode</a:t>
            </a:r>
          </a:p>
        </p:txBody>
      </p:sp>
      <p:sp>
        <p:nvSpPr>
          <p:cNvPr id="8" name="problem-dot-1">
            <a:extLst xmlns:a="http://schemas.openxmlformats.org/drawingml/2006/main">
              <a:ext uri="{FF2B5EF4-FFF2-40B4-BE49-F238E27FC236}">
                <a16:creationId xmlns:a16="http://schemas.microsoft.com/office/drawing/2014/main" id="{31B17CBA-8C23-40F3-9F56-EFB3B26F5289}"/>
              </a:ext>
            </a:extLst>
          </p:cNvPr>
          <p:cNvSpPr>
            <a:spLocks xmlns:a="http://schemas.openxmlformats.org/drawingml/2006/main" noGrp="1"/>
          </p:cNvSpPr>
          <p:nvPr/>
        </p:nvSpPr>
        <p:spPr>
          <a:xfrm xmlns:a="http://schemas.openxmlformats.org/drawingml/2006/main">
            <a:off x="31242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9" name="problem-item-1">
            <a:extLst xmlns:a="http://schemas.openxmlformats.org/drawingml/2006/main">
              <a:ext uri="{FF2B5EF4-FFF2-40B4-BE49-F238E27FC236}">
                <a16:creationId xmlns:a16="http://schemas.microsoft.com/office/drawing/2014/main" id="{B7B7D41C-837A-400C-8384-121B3BAB0985}"/>
              </a:ext>
            </a:extLst>
          </p:cNvPr>
          <p:cNvSpPr>
            <a:spLocks xmlns:a="http://schemas.openxmlformats.org/drawingml/2006/main" noGrp="1"/>
          </p:cNvSpPr>
          <p:nvPr/>
        </p:nvSpPr>
        <p:spPr>
          <a:xfrm xmlns:a="http://schemas.openxmlformats.org/drawingml/2006/main">
            <a:off x="33718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Lokaler Zugriff</a:t>
            </a:r>
          </a:p>
        </p:txBody>
      </p:sp>
      <p:sp>
        <p:nvSpPr>
          <p:cNvPr id="10" name="problem-dot-2">
            <a:extLst xmlns:a="http://schemas.openxmlformats.org/drawingml/2006/main">
              <a:ext uri="{FF2B5EF4-FFF2-40B4-BE49-F238E27FC236}">
                <a16:creationId xmlns:a16="http://schemas.microsoft.com/office/drawing/2014/main" id="{46CB54DE-D163-412F-9414-52171F73D296}"/>
              </a:ext>
            </a:extLst>
          </p:cNvPr>
          <p:cNvSpPr>
            <a:spLocks xmlns:a="http://schemas.openxmlformats.org/drawingml/2006/main" noGrp="1"/>
          </p:cNvSpPr>
          <p:nvPr/>
        </p:nvSpPr>
        <p:spPr>
          <a:xfrm xmlns:a="http://schemas.openxmlformats.org/drawingml/2006/main">
            <a:off x="685800" y="37147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11" name="problem-item-2">
            <a:extLst xmlns:a="http://schemas.openxmlformats.org/drawingml/2006/main">
              <a:ext uri="{FF2B5EF4-FFF2-40B4-BE49-F238E27FC236}">
                <a16:creationId xmlns:a16="http://schemas.microsoft.com/office/drawing/2014/main" id="{DE8D0DD3-E4A5-4C17-ADC0-31B91D7F7EC2}"/>
              </a:ext>
            </a:extLst>
          </p:cNvPr>
          <p:cNvSpPr>
            <a:spLocks xmlns:a="http://schemas.openxmlformats.org/drawingml/2006/main" noGrp="1"/>
          </p:cNvSpPr>
          <p:nvPr/>
        </p:nvSpPr>
        <p:spPr>
          <a:xfrm xmlns:a="http://schemas.openxmlformats.org/drawingml/2006/main">
            <a:off x="9334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First Run</a:t>
            </a:r>
          </a:p>
        </p:txBody>
      </p:sp>
      <p:sp>
        <p:nvSpPr>
          <p:cNvPr id="12" name="problem-dot-3">
            <a:extLst xmlns:a="http://schemas.openxmlformats.org/drawingml/2006/main">
              <a:ext uri="{FF2B5EF4-FFF2-40B4-BE49-F238E27FC236}">
                <a16:creationId xmlns:a16="http://schemas.microsoft.com/office/drawing/2014/main" id="{68977283-D06E-4A82-89CD-03091EFAF20A}"/>
              </a:ext>
            </a:extLst>
          </p:cNvPr>
          <p:cNvSpPr>
            <a:spLocks xmlns:a="http://schemas.openxmlformats.org/drawingml/2006/main" noGrp="1"/>
          </p:cNvSpPr>
          <p:nvPr/>
        </p:nvSpPr>
        <p:spPr>
          <a:xfrm xmlns:a="http://schemas.openxmlformats.org/drawingml/2006/main">
            <a:off x="3124200" y="37147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3" name="problem-item-3">
            <a:extLst xmlns:a="http://schemas.openxmlformats.org/drawingml/2006/main">
              <a:ext uri="{FF2B5EF4-FFF2-40B4-BE49-F238E27FC236}">
                <a16:creationId xmlns:a16="http://schemas.microsoft.com/office/drawing/2014/main" id="{C8A012D1-AB11-4E29-908C-69088005CD7B}"/>
              </a:ext>
            </a:extLst>
          </p:cNvPr>
          <p:cNvSpPr>
            <a:spLocks xmlns:a="http://schemas.openxmlformats.org/drawingml/2006/main" noGrp="1"/>
          </p:cNvSpPr>
          <p:nvPr/>
        </p:nvSpPr>
        <p:spPr>
          <a:xfrm xmlns:a="http://schemas.openxmlformats.org/drawingml/2006/main">
            <a:off x="33718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Keycloak</a:t>
            </a:r>
          </a:p>
        </p:txBody>
      </p:sp>
      <p:sp>
        <p:nvSpPr>
          <p:cNvPr id="14" name="problem-dot-4">
            <a:extLst xmlns:a="http://schemas.openxmlformats.org/drawingml/2006/main">
              <a:ext uri="{FF2B5EF4-FFF2-40B4-BE49-F238E27FC236}">
                <a16:creationId xmlns:a16="http://schemas.microsoft.com/office/drawing/2014/main" id="{B352F90F-F667-4F06-A031-55B3E0FA221C}"/>
              </a:ext>
            </a:extLst>
          </p:cNvPr>
          <p:cNvSpPr>
            <a:spLocks xmlns:a="http://schemas.openxmlformats.org/drawingml/2006/main" noGrp="1"/>
          </p:cNvSpPr>
          <p:nvPr/>
        </p:nvSpPr>
        <p:spPr>
          <a:xfrm xmlns:a="http://schemas.openxmlformats.org/drawingml/2006/main">
            <a:off x="6858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problem-item-4">
            <a:extLst xmlns:a="http://schemas.openxmlformats.org/drawingml/2006/main">
              <a:ext uri="{FF2B5EF4-FFF2-40B4-BE49-F238E27FC236}">
                <a16:creationId xmlns:a16="http://schemas.microsoft.com/office/drawing/2014/main" id="{B0AA1220-A43D-4056-A758-5E1DFA4355B5}"/>
              </a:ext>
            </a:extLst>
          </p:cNvPr>
          <p:cNvSpPr>
            <a:spLocks xmlns:a="http://schemas.openxmlformats.org/drawingml/2006/main" noGrp="1"/>
          </p:cNvSpPr>
          <p:nvPr/>
        </p:nvSpPr>
        <p:spPr>
          <a:xfrm xmlns:a="http://schemas.openxmlformats.org/drawingml/2006/main">
            <a:off x="9334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Admin</a:t>
            </a:r>
          </a:p>
        </p:txBody>
      </p:sp>
      <p:sp>
        <p:nvSpPr>
          <p:cNvPr id="16" name="problem-dot-5">
            <a:extLst xmlns:a="http://schemas.openxmlformats.org/drawingml/2006/main">
              <a:ext uri="{FF2B5EF4-FFF2-40B4-BE49-F238E27FC236}">
                <a16:creationId xmlns:a16="http://schemas.microsoft.com/office/drawing/2014/main" id="{35910B41-B4FA-46B6-9B8E-8F0D26A31CED}"/>
              </a:ext>
            </a:extLst>
          </p:cNvPr>
          <p:cNvSpPr>
            <a:spLocks xmlns:a="http://schemas.openxmlformats.org/drawingml/2006/main" noGrp="1"/>
          </p:cNvSpPr>
          <p:nvPr/>
        </p:nvSpPr>
        <p:spPr>
          <a:xfrm xmlns:a="http://schemas.openxmlformats.org/drawingml/2006/main">
            <a:off x="31242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7" name="problem-item-5">
            <a:extLst xmlns:a="http://schemas.openxmlformats.org/drawingml/2006/main">
              <a:ext uri="{FF2B5EF4-FFF2-40B4-BE49-F238E27FC236}">
                <a16:creationId xmlns:a16="http://schemas.microsoft.com/office/drawing/2014/main" id="{61FABD15-B568-46E8-85C6-07F8DBE5CC42}"/>
              </a:ext>
            </a:extLst>
          </p:cNvPr>
          <p:cNvSpPr>
            <a:spLocks xmlns:a="http://schemas.openxmlformats.org/drawingml/2006/main" noGrp="1"/>
          </p:cNvSpPr>
          <p:nvPr/>
        </p:nvSpPr>
        <p:spPr>
          <a:xfrm xmlns:a="http://schemas.openxmlformats.org/drawingml/2006/main">
            <a:off x="33718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SSO aktiv</a:t>
            </a:r>
          </a:p>
        </p:txBody>
      </p:sp>
      <p:sp>
        <p:nvSpPr>
          <p:cNvPr id="18" name="terminal-frame">
            <a:extLst xmlns:a="http://schemas.openxmlformats.org/drawingml/2006/main">
              <a:ext uri="{FF2B5EF4-FFF2-40B4-BE49-F238E27FC236}">
                <a16:creationId xmlns:a16="http://schemas.microsoft.com/office/drawing/2014/main" id="{1ECB56CF-F27A-4E9C-B3D4-22485647698F}"/>
              </a:ext>
            </a:extLst>
          </p:cNvPr>
          <p:cNvSpPr>
            <a:spLocks xmlns:a="http://schemas.openxmlformats.org/drawingml/2006/main" noGrp="1"/>
          </p:cNvSpPr>
          <p:nvPr/>
        </p:nvSpPr>
        <p:spPr>
          <a:xfrm xmlns:a="http://schemas.openxmlformats.org/drawingml/2006/main">
            <a:off x="6381750" y="1143000"/>
            <a:ext cx="5124450" cy="4476750"/>
          </a:xfrm>
          <a:prstGeom xmlns:a="http://schemas.openxmlformats.org/drawingml/2006/main" prst="roundRect">
            <a:avLst>
              <a:gd name="adj" fmla="val 5957"/>
            </a:avLst>
          </a:prstGeom>
          <a:solidFill xmlns:a="http://schemas.openxmlformats.org/drawingml/2006/main">
            <a:srgbClr val="0B1730"/>
          </a:solidFill>
          <a:ln xmlns:a="http://schemas.openxmlformats.org/drawingml/2006/main" w="9525">
            <a:solidFill>
              <a:srgbClr val="24415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addb4ae5e6b49ff"/>
          <a:srcRect xmlns:a="http://schemas.openxmlformats.org/drawingml/2006/main" l="12070" t="0" r="12070" b="0"/>
          <a:stretch xmlns:a="http://schemas.openxmlformats.org/drawingml/2006/main">
            <a:fillRect l="0" t="0" r="0" b="0"/>
          </a:stretch>
        </p:blipFill>
        <p:spPr>
          <a:xfrm xmlns:a="http://schemas.openxmlformats.org/drawingml/2006/main">
            <a:off x="6553200" y="1314450"/>
            <a:ext cx="4781550" cy="4133850"/>
          </a:xfrm>
          <a:prstGeom xmlns:a="http://schemas.openxmlformats.org/drawingml/2006/main" prst="roundRect">
            <a:avLst>
              <a:gd name="adj" fmla="val 4608"/>
            </a:avLst>
          </a:prstGeom>
        </p:spPr>
      </p:pic>
      <p:sp>
        <p:nvSpPr>
          <p:cNvPr id="20" name="tag-EIN PRODUKT STATT SECHS BAUSTELLEN">
            <a:extLst xmlns:a="http://schemas.openxmlformats.org/drawingml/2006/main">
              <a:ext uri="{FF2B5EF4-FFF2-40B4-BE49-F238E27FC236}">
                <a16:creationId xmlns:a16="http://schemas.microsoft.com/office/drawing/2014/main" id="{E1F3C630-A82E-4B28-883E-E53E61098D7E}"/>
              </a:ext>
            </a:extLst>
          </p:cNvPr>
          <p:cNvSpPr>
            <a:spLocks xmlns:a="http://schemas.openxmlformats.org/drawingml/2006/main" noGrp="1"/>
          </p:cNvSpPr>
          <p:nvPr/>
        </p:nvSpPr>
        <p:spPr>
          <a:xfrm xmlns:a="http://schemas.openxmlformats.org/drawingml/2006/main">
            <a:off x="6686550" y="5086350"/>
            <a:ext cx="43243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EINMAL EINRICHTEN · DANACH SSO</a:t>
            </a:r>
          </a:p>
        </p:txBody>
      </p:sp>
    </p:spTree>
    <p:extLst>
      <p:ext uri="{BB962C8B-B14F-4D97-AF65-F5344CB8AC3E}">
        <p14:creationId xmlns:p14="http://schemas.microsoft.com/office/powerpoint/2010/main" val="55613123"/>
      </p:ext>
    </p:extLst>
  </p:cSld>
</p:sld>
</file>

<file path=ppt/slides/slide6.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06</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SERVICES + INSTANZEN</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Ein Katalog macht Anwendungen beherrschbar</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Module aktivieren. Instanzen erzeugen.</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Status und URLs an einer Stelle sehen.</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Abhängigkeiten werden automatisch geprüft.</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Jede Instanz bleibt separat konfigurierbar.</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SERVICES · AKTUELL</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5dd43d9a1da4a6e"/>
          <a:stretch xmlns:a="http://schemas.openxmlformats.org/drawingml/2006/main"/>
        </p:blipFill>
        <p:spPr>
          <a:xfrm xmlns:a="http://schemas.openxmlformats.org/drawingml/2006/main" flipH="0" flipV="0">
            <a:off x="5314950" y="2185969"/>
            <a:ext cx="6019800" cy="3229011"/>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7.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7" name="brand-footer">
            <a:extLst xmlns:a="http://schemas.openxmlformats.org/drawingml/2006/main">
              <a:ext uri="{FF2B5EF4-FFF2-40B4-BE49-F238E27FC236}">
                <a16:creationId xmlns:a16="http://schemas.microsoft.com/office/drawing/2014/main" id="{AFE751DB-495F-4C94-9DFB-F41F33F32212}"/>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D1F3F848-59D7-4EA4-9FE9-A7E892140A6D}"/>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07</a:t>
            </a:r>
          </a:p>
        </p:txBody>
      </p:sp>
      <p:sp>
        <p:nvSpPr>
          <p:cNvPr id="3" name="eyebrow">
            <a:extLst xmlns:a="http://schemas.openxmlformats.org/drawingml/2006/main">
              <a:ext uri="{FF2B5EF4-FFF2-40B4-BE49-F238E27FC236}">
                <a16:creationId xmlns:a16="http://schemas.microsoft.com/office/drawing/2014/main" id="{368DAD5E-60F0-44CB-BCB7-9CE85A0844B8}"/>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GEFÜHRTE KONFIGURATION</a:t>
            </a:r>
          </a:p>
        </p:txBody>
      </p:sp>
      <p:sp>
        <p:nvSpPr>
          <p:cNvPr id="4" name="title">
            <a:extLst xmlns:a="http://schemas.openxmlformats.org/drawingml/2006/main">
              <a:ext uri="{FF2B5EF4-FFF2-40B4-BE49-F238E27FC236}">
                <a16:creationId xmlns:a16="http://schemas.microsoft.com/office/drawing/2014/main" id="{37AB7D28-8AF8-465B-86A0-01062683F60C}"/>
              </a:ext>
            </a:extLst>
          </p:cNvPr>
          <p:cNvSpPr>
            <a:spLocks xmlns:a="http://schemas.openxmlformats.org/drawingml/2006/main" noGrp="1"/>
          </p:cNvSpPr>
          <p:nvPr/>
        </p:nvSpPr>
        <p:spPr>
          <a:xfrm xmlns:a="http://schemas.openxmlformats.org/drawingml/2006/main">
            <a:off x="685800" y="9144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Konfigurieren, ohne Kubernetes lesen zu müssen</a:t>
            </a:r>
          </a:p>
        </p:txBody>
      </p:sp>
      <p:sp>
        <p:nvSpPr>
          <p:cNvPr id="5" name="guided-lead">
            <a:extLst xmlns:a="http://schemas.openxmlformats.org/drawingml/2006/main">
              <a:ext uri="{FF2B5EF4-FFF2-40B4-BE49-F238E27FC236}">
                <a16:creationId xmlns:a16="http://schemas.microsoft.com/office/drawing/2014/main" id="{3EA32290-D9BC-4544-B73D-6BBE63A3CDCC}"/>
              </a:ext>
            </a:extLst>
          </p:cNvPr>
          <p:cNvSpPr>
            <a:spLocks xmlns:a="http://schemas.openxmlformats.org/drawingml/2006/main" noGrp="1"/>
          </p:cNvSpPr>
          <p:nvPr/>
        </p:nvSpPr>
        <p:spPr>
          <a:xfrm xmlns:a="http://schemas.openxmlformats.org/drawingml/2006/main">
            <a:off x="685800" y="1581150"/>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650">
                <a:solidFill>
                  <a:srgbClr val="C5D4E6"/>
                </a:solidFill>
                <a:latin typeface="Avenir Next"/>
                <a:ea typeface="Avenir Next"/>
                <a:cs typeface="Avenir Next"/>
              </a:defRPr>
            </a:pPr>
            <a:r>
              <a:rPr sz="1650">
                <a:solidFill>
                  <a:srgbClr val="C5D4E6"/>
                </a:solidFill>
                <a:latin typeface="Avenir Next"/>
                <a:ea typeface="Avenir Next"/>
                <a:cs typeface="Avenir Next"/>
              </a:rPr>
              <a:t>Auswählen, prüfen und freigeben – direkt im Dashboard.</a:t>
            </a:r>
          </a:p>
        </p:txBody>
      </p:sp>
      <p:sp>
        <p:nvSpPr>
          <p:cNvPr id="6" name="guided-card-0">
            <a:extLst xmlns:a="http://schemas.openxmlformats.org/drawingml/2006/main">
              <a:ext uri="{FF2B5EF4-FFF2-40B4-BE49-F238E27FC236}">
                <a16:creationId xmlns:a16="http://schemas.microsoft.com/office/drawing/2014/main" id="{11A3A281-2BAF-4BB8-8396-922AE2F6A003}"/>
              </a:ext>
            </a:extLst>
          </p:cNvPr>
          <p:cNvSpPr>
            <a:spLocks xmlns:a="http://schemas.openxmlformats.org/drawingml/2006/main" noGrp="1"/>
          </p:cNvSpPr>
          <p:nvPr/>
        </p:nvSpPr>
        <p:spPr>
          <a:xfrm xmlns:a="http://schemas.openxmlformats.org/drawingml/2006/main">
            <a:off x="51435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7" name="guided-accent-0">
            <a:extLst xmlns:a="http://schemas.openxmlformats.org/drawingml/2006/main">
              <a:ext uri="{FF2B5EF4-FFF2-40B4-BE49-F238E27FC236}">
                <a16:creationId xmlns:a16="http://schemas.microsoft.com/office/drawing/2014/main" id="{F12ECBFC-43BB-4E9E-80C2-0DFEE8631947}"/>
              </a:ext>
            </a:extLst>
          </p:cNvPr>
          <p:cNvSpPr>
            <a:spLocks xmlns:a="http://schemas.openxmlformats.org/drawingml/2006/main" noGrp="1"/>
          </p:cNvSpPr>
          <p:nvPr/>
        </p:nvSpPr>
        <p:spPr>
          <a:xfrm xmlns:a="http://schemas.openxmlformats.org/drawingml/2006/main">
            <a:off x="514350" y="2114550"/>
            <a:ext cx="3543300" cy="571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8" name="guided-number-0">
            <a:extLst xmlns:a="http://schemas.openxmlformats.org/drawingml/2006/main">
              <a:ext uri="{FF2B5EF4-FFF2-40B4-BE49-F238E27FC236}">
                <a16:creationId xmlns:a16="http://schemas.microsoft.com/office/drawing/2014/main" id="{85362D62-4CFB-4588-AA41-6879C586DDDE}"/>
              </a:ext>
            </a:extLst>
          </p:cNvPr>
          <p:cNvSpPr>
            <a:spLocks xmlns:a="http://schemas.openxmlformats.org/drawingml/2006/main" noGrp="1"/>
          </p:cNvSpPr>
          <p:nvPr/>
        </p:nvSpPr>
        <p:spPr>
          <a:xfrm xmlns:a="http://schemas.openxmlformats.org/drawingml/2006/main">
            <a:off x="74295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01</a:t>
            </a:r>
          </a:p>
        </p:txBody>
      </p:sp>
      <p:sp>
        <p:nvSpPr>
          <p:cNvPr id="9" name="guided-title-0">
            <a:extLst xmlns:a="http://schemas.openxmlformats.org/drawingml/2006/main">
              <a:ext uri="{FF2B5EF4-FFF2-40B4-BE49-F238E27FC236}">
                <a16:creationId xmlns:a16="http://schemas.microsoft.com/office/drawing/2014/main" id="{85800A9E-DC88-4C1A-881E-BBFAABCD4396}"/>
              </a:ext>
            </a:extLst>
          </p:cNvPr>
          <p:cNvSpPr>
            <a:spLocks xmlns:a="http://schemas.openxmlformats.org/drawingml/2006/main" noGrp="1"/>
          </p:cNvSpPr>
          <p:nvPr/>
        </p:nvSpPr>
        <p:spPr>
          <a:xfrm xmlns:a="http://schemas.openxmlformats.org/drawingml/2006/main">
            <a:off x="118110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Service instanziieren</a:t>
            </a:r>
          </a:p>
        </p:txBody>
      </p:sp>
      <p:sp>
        <p:nvSpPr>
          <p:cNvPr id="10" name="guided-frame-0">
            <a:extLst xmlns:a="http://schemas.openxmlformats.org/drawingml/2006/main">
              <a:ext uri="{FF2B5EF4-FFF2-40B4-BE49-F238E27FC236}">
                <a16:creationId xmlns:a16="http://schemas.microsoft.com/office/drawing/2014/main" id="{FD37F8F1-962C-48F2-BE00-73A6381E78B2}"/>
              </a:ext>
            </a:extLst>
          </p:cNvPr>
          <p:cNvSpPr>
            <a:spLocks xmlns:a="http://schemas.openxmlformats.org/drawingml/2006/main" noGrp="1"/>
          </p:cNvSpPr>
          <p:nvPr/>
        </p:nvSpPr>
        <p:spPr>
          <a:xfrm xmlns:a="http://schemas.openxmlformats.org/drawingml/2006/main">
            <a:off x="68580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sp>
        <p:nvSpPr>
          <p:cNvPr id="12" name="guided-body-0">
            <a:extLst xmlns:a="http://schemas.openxmlformats.org/drawingml/2006/main">
              <a:ext uri="{FF2B5EF4-FFF2-40B4-BE49-F238E27FC236}">
                <a16:creationId xmlns:a16="http://schemas.microsoft.com/office/drawing/2014/main" id="{F1E799C7-37C9-4ABF-88F7-52F2F574D68D}"/>
              </a:ext>
            </a:extLst>
          </p:cNvPr>
          <p:cNvSpPr>
            <a:spLocks xmlns:a="http://schemas.openxmlformats.org/drawingml/2006/main" noGrp="1"/>
          </p:cNvSpPr>
          <p:nvPr/>
        </p:nvSpPr>
        <p:spPr>
          <a:xfrm xmlns:a="http://schemas.openxmlformats.org/drawingml/2006/main">
            <a:off x="74295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Typ, Modell, Zugriff und URL wählen.</a:t>
            </a:r>
          </a:p>
        </p:txBody>
      </p:sp>
      <p:sp>
        <p:nvSpPr>
          <p:cNvPr id="13" name="guided-card-1">
            <a:extLst xmlns:a="http://schemas.openxmlformats.org/drawingml/2006/main">
              <a:ext uri="{FF2B5EF4-FFF2-40B4-BE49-F238E27FC236}">
                <a16:creationId xmlns:a16="http://schemas.microsoft.com/office/drawing/2014/main" id="{DE2962E5-DC7B-4455-AD90-8DB8FC851CD7}"/>
              </a:ext>
            </a:extLst>
          </p:cNvPr>
          <p:cNvSpPr>
            <a:spLocks xmlns:a="http://schemas.openxmlformats.org/drawingml/2006/main" noGrp="1"/>
          </p:cNvSpPr>
          <p:nvPr/>
        </p:nvSpPr>
        <p:spPr>
          <a:xfrm xmlns:a="http://schemas.openxmlformats.org/drawingml/2006/main">
            <a:off x="438150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14" name="guided-accent-1">
            <a:extLst xmlns:a="http://schemas.openxmlformats.org/drawingml/2006/main">
              <a:ext uri="{FF2B5EF4-FFF2-40B4-BE49-F238E27FC236}">
                <a16:creationId xmlns:a16="http://schemas.microsoft.com/office/drawing/2014/main" id="{26FA189A-8DC5-4BD9-B020-90D451EC7261}"/>
              </a:ext>
            </a:extLst>
          </p:cNvPr>
          <p:cNvSpPr>
            <a:spLocks xmlns:a="http://schemas.openxmlformats.org/drawingml/2006/main" noGrp="1"/>
          </p:cNvSpPr>
          <p:nvPr/>
        </p:nvSpPr>
        <p:spPr>
          <a:xfrm xmlns:a="http://schemas.openxmlformats.org/drawingml/2006/main">
            <a:off x="4381500" y="2114550"/>
            <a:ext cx="3543300" cy="571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guided-number-1">
            <a:extLst xmlns:a="http://schemas.openxmlformats.org/drawingml/2006/main">
              <a:ext uri="{FF2B5EF4-FFF2-40B4-BE49-F238E27FC236}">
                <a16:creationId xmlns:a16="http://schemas.microsoft.com/office/drawing/2014/main" id="{D2C3BE7B-4C9D-4A8E-B9E0-0A4BAACCF4E8}"/>
              </a:ext>
            </a:extLst>
          </p:cNvPr>
          <p:cNvSpPr>
            <a:spLocks xmlns:a="http://schemas.openxmlformats.org/drawingml/2006/main" noGrp="1"/>
          </p:cNvSpPr>
          <p:nvPr/>
        </p:nvSpPr>
        <p:spPr>
          <a:xfrm xmlns:a="http://schemas.openxmlformats.org/drawingml/2006/main">
            <a:off x="46101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02</a:t>
            </a:r>
          </a:p>
        </p:txBody>
      </p:sp>
      <p:sp>
        <p:nvSpPr>
          <p:cNvPr id="16" name="guided-title-1">
            <a:extLst xmlns:a="http://schemas.openxmlformats.org/drawingml/2006/main">
              <a:ext uri="{FF2B5EF4-FFF2-40B4-BE49-F238E27FC236}">
                <a16:creationId xmlns:a16="http://schemas.microsoft.com/office/drawing/2014/main" id="{22591BE1-AA6A-4469-8DB3-099BA54CD6C8}"/>
              </a:ext>
            </a:extLst>
          </p:cNvPr>
          <p:cNvSpPr>
            <a:spLocks xmlns:a="http://schemas.openxmlformats.org/drawingml/2006/main" noGrp="1"/>
          </p:cNvSpPr>
          <p:nvPr/>
        </p:nvSpPr>
        <p:spPr>
          <a:xfrm xmlns:a="http://schemas.openxmlformats.org/drawingml/2006/main">
            <a:off x="504825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Lokales Modell</a:t>
            </a:r>
          </a:p>
        </p:txBody>
      </p:sp>
      <p:sp>
        <p:nvSpPr>
          <p:cNvPr id="17" name="guided-frame-1">
            <a:extLst xmlns:a="http://schemas.openxmlformats.org/drawingml/2006/main">
              <a:ext uri="{FF2B5EF4-FFF2-40B4-BE49-F238E27FC236}">
                <a16:creationId xmlns:a16="http://schemas.microsoft.com/office/drawing/2014/main" id="{29583777-3568-460B-95F5-C37EC4C636FC}"/>
              </a:ext>
            </a:extLst>
          </p:cNvPr>
          <p:cNvSpPr>
            <a:spLocks xmlns:a="http://schemas.openxmlformats.org/drawingml/2006/main" noGrp="1"/>
          </p:cNvSpPr>
          <p:nvPr/>
        </p:nvSpPr>
        <p:spPr>
          <a:xfrm xmlns:a="http://schemas.openxmlformats.org/drawingml/2006/main">
            <a:off x="455295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sp>
        <p:nvSpPr>
          <p:cNvPr id="19" name="guided-body-1">
            <a:extLst xmlns:a="http://schemas.openxmlformats.org/drawingml/2006/main">
              <a:ext uri="{FF2B5EF4-FFF2-40B4-BE49-F238E27FC236}">
                <a16:creationId xmlns:a16="http://schemas.microsoft.com/office/drawing/2014/main" id="{2FB9B5D8-507E-4856-A14C-4DE655595143}"/>
              </a:ext>
            </a:extLst>
          </p:cNvPr>
          <p:cNvSpPr>
            <a:spLocks xmlns:a="http://schemas.openxmlformats.org/drawingml/2006/main" noGrp="1"/>
          </p:cNvSpPr>
          <p:nvPr/>
        </p:nvSpPr>
        <p:spPr>
          <a:xfrm xmlns:a="http://schemas.openxmlformats.org/drawingml/2006/main">
            <a:off x="461010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Engine, Compute-Ziel und Speicher festlegen.</a:t>
            </a:r>
          </a:p>
        </p:txBody>
      </p:sp>
      <p:sp>
        <p:nvSpPr>
          <p:cNvPr id="20" name="guided-card-2">
            <a:extLst xmlns:a="http://schemas.openxmlformats.org/drawingml/2006/main">
              <a:ext uri="{FF2B5EF4-FFF2-40B4-BE49-F238E27FC236}">
                <a16:creationId xmlns:a16="http://schemas.microsoft.com/office/drawing/2014/main" id="{0FC7F1BA-A366-4688-AA58-0FB122288AE0}"/>
              </a:ext>
            </a:extLst>
          </p:cNvPr>
          <p:cNvSpPr>
            <a:spLocks xmlns:a="http://schemas.openxmlformats.org/drawingml/2006/main" noGrp="1"/>
          </p:cNvSpPr>
          <p:nvPr/>
        </p:nvSpPr>
        <p:spPr>
          <a:xfrm xmlns:a="http://schemas.openxmlformats.org/drawingml/2006/main">
            <a:off x="824865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21" name="guided-accent-2">
            <a:extLst xmlns:a="http://schemas.openxmlformats.org/drawingml/2006/main">
              <a:ext uri="{FF2B5EF4-FFF2-40B4-BE49-F238E27FC236}">
                <a16:creationId xmlns:a16="http://schemas.microsoft.com/office/drawing/2014/main" id="{58E8AA11-824A-4A76-901B-C633A8E0D84D}"/>
              </a:ext>
            </a:extLst>
          </p:cNvPr>
          <p:cNvSpPr>
            <a:spLocks xmlns:a="http://schemas.openxmlformats.org/drawingml/2006/main" noGrp="1"/>
          </p:cNvSpPr>
          <p:nvPr/>
        </p:nvSpPr>
        <p:spPr>
          <a:xfrm xmlns:a="http://schemas.openxmlformats.org/drawingml/2006/main">
            <a:off x="8248650" y="2114550"/>
            <a:ext cx="3543300" cy="57150"/>
          </a:xfrm>
          <a:prstGeom xmlns:a="http://schemas.openxmlformats.org/drawingml/2006/main" prst="roundRect">
            <a:avLst>
              <a:gd name="adj" fmla="val 50000"/>
            </a:avLst>
          </a:prstGeom>
          <a:solidFill xmlns:a="http://schemas.openxmlformats.org/drawingml/2006/main">
            <a:srgbClr val="34D399"/>
          </a:solidFill>
          <a:ln xmlns:a="http://schemas.openxmlformats.org/drawingml/2006/main" w="0">
            <a:noFill/>
            <a:prstDash val="solid"/>
          </a:ln>
        </p:spPr>
      </p:sp>
      <p:sp>
        <p:nvSpPr>
          <p:cNvPr id="22" name="guided-number-2">
            <a:extLst xmlns:a="http://schemas.openxmlformats.org/drawingml/2006/main">
              <a:ext uri="{FF2B5EF4-FFF2-40B4-BE49-F238E27FC236}">
                <a16:creationId xmlns:a16="http://schemas.microsoft.com/office/drawing/2014/main" id="{3C0AD646-6712-4886-A1E2-DC878B3FF9D9}"/>
              </a:ext>
            </a:extLst>
          </p:cNvPr>
          <p:cNvSpPr>
            <a:spLocks xmlns:a="http://schemas.openxmlformats.org/drawingml/2006/main" noGrp="1"/>
          </p:cNvSpPr>
          <p:nvPr/>
        </p:nvSpPr>
        <p:spPr>
          <a:xfrm xmlns:a="http://schemas.openxmlformats.org/drawingml/2006/main">
            <a:off x="847725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03</a:t>
            </a:r>
          </a:p>
        </p:txBody>
      </p:sp>
      <p:sp>
        <p:nvSpPr>
          <p:cNvPr id="23" name="guided-title-2">
            <a:extLst xmlns:a="http://schemas.openxmlformats.org/drawingml/2006/main">
              <a:ext uri="{FF2B5EF4-FFF2-40B4-BE49-F238E27FC236}">
                <a16:creationId xmlns:a16="http://schemas.microsoft.com/office/drawing/2014/main" id="{21AB2FE8-AFA6-441C-81B2-9301BAF8587F}"/>
              </a:ext>
            </a:extLst>
          </p:cNvPr>
          <p:cNvSpPr>
            <a:spLocks xmlns:a="http://schemas.openxmlformats.org/drawingml/2006/main" noGrp="1"/>
          </p:cNvSpPr>
          <p:nvPr/>
        </p:nvSpPr>
        <p:spPr>
          <a:xfrm xmlns:a="http://schemas.openxmlformats.org/drawingml/2006/main">
            <a:off x="891540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Appliance prüfen</a:t>
            </a:r>
          </a:p>
        </p:txBody>
      </p:sp>
      <p:sp>
        <p:nvSpPr>
          <p:cNvPr id="24" name="guided-frame-2">
            <a:extLst xmlns:a="http://schemas.openxmlformats.org/drawingml/2006/main">
              <a:ext uri="{FF2B5EF4-FFF2-40B4-BE49-F238E27FC236}">
                <a16:creationId xmlns:a16="http://schemas.microsoft.com/office/drawing/2014/main" id="{E70B5415-9A40-4A2A-80E1-3606D7311893}"/>
              </a:ext>
            </a:extLst>
          </p:cNvPr>
          <p:cNvSpPr>
            <a:spLocks xmlns:a="http://schemas.openxmlformats.org/drawingml/2006/main" noGrp="1"/>
          </p:cNvSpPr>
          <p:nvPr/>
        </p:nvSpPr>
        <p:spPr>
          <a:xfrm xmlns:a="http://schemas.openxmlformats.org/drawingml/2006/main">
            <a:off x="842010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sp>
        <p:nvSpPr>
          <p:cNvPr id="26" name="guided-body-2">
            <a:extLst xmlns:a="http://schemas.openxmlformats.org/drawingml/2006/main">
              <a:ext uri="{FF2B5EF4-FFF2-40B4-BE49-F238E27FC236}">
                <a16:creationId xmlns:a16="http://schemas.microsoft.com/office/drawing/2014/main" id="{F5D5A84F-FB93-4D7F-BA26-899BD6D8A36B}"/>
              </a:ext>
            </a:extLst>
          </p:cNvPr>
          <p:cNvSpPr>
            <a:spLocks xmlns:a="http://schemas.openxmlformats.org/drawingml/2006/main" noGrp="1"/>
          </p:cNvSpPr>
          <p:nvPr/>
        </p:nvSpPr>
        <p:spPr>
          <a:xfrm xmlns:a="http://schemas.openxmlformats.org/drawingml/2006/main">
            <a:off x="847725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Zustand, URLs und Module auf einen Blick.</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f8b704e7e314221"/>
          <a:stretch xmlns:a="http://schemas.openxmlformats.org/drawingml/2006/main"/>
        </p:blipFill>
        <p:spPr>
          <a:xfrm xmlns:a="http://schemas.openxmlformats.org/drawingml/2006/main" flipH="0" flipV="0">
            <a:off x="762000" y="3256547"/>
            <a:ext cx="3048000" cy="1411705"/>
          </a:xfrm>
          <a:prstGeom xmlns:a="http://schemas.openxmlformats.org/drawingml/2006/main" prst="round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41927d994484cae"/>
          <a:stretch xmlns:a="http://schemas.openxmlformats.org/drawingml/2006/main"/>
        </p:blipFill>
        <p:spPr>
          <a:xfrm xmlns:a="http://schemas.openxmlformats.org/drawingml/2006/main" flipH="0" flipV="0">
            <a:off x="4764001" y="3143794"/>
            <a:ext cx="2778297" cy="1637211"/>
          </a:xfrm>
          <a:prstGeom xmlns:a="http://schemas.openxmlformats.org/drawingml/2006/main" prst="roundRect">
            <a:avLst/>
          </a:prstGeom>
        </p:spPr>
      </p:pic>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fac413be64542fa"/>
          <a:stretch xmlns:a="http://schemas.openxmlformats.org/drawingml/2006/main"/>
        </p:blipFill>
        <p:spPr>
          <a:xfrm xmlns:a="http://schemas.openxmlformats.org/drawingml/2006/main" flipH="0" flipV="0">
            <a:off x="8496300" y="3506952"/>
            <a:ext cx="3048000" cy="910897"/>
          </a:xfrm>
          <a:prstGeom xmlns:a="http://schemas.openxmlformats.org/drawingml/2006/main" prst="roundRect">
            <a:avLst/>
          </a:prstGeom>
        </p:spPr>
      </p:pic>
    </p:spTree>
    <p:extLst>
      <p:ext uri="{BB962C8B-B14F-4D97-AF65-F5344CB8AC3E}">
        <p14:creationId xmlns:p14="http://schemas.microsoft.com/office/powerpoint/2010/main" val="2089400766"/>
      </p:ext>
    </p:extLst>
  </p:cSld>
</p:sld>
</file>

<file path=ppt/slides/slide8.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08</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EXTERNE MODELLE</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Externe Modelle. Ein gemeinsamer Zugang.</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LiteLLM bündelt OpenAI-kompatible Provider</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hinter einem gemeinsamen Modellzugang.</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Keine lokale GPU erforderlich.</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Anwendungen behalten denselben Endpunkt.</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EXTERN · OPENAI</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a87969756bb40e1"/>
          <a:stretch xmlns:a="http://schemas.openxmlformats.org/drawingml/2006/main"/>
        </p:blipFill>
        <p:spPr>
          <a:xfrm xmlns:a="http://schemas.openxmlformats.org/drawingml/2006/main" flipH="0" flipV="0">
            <a:off x="5314950" y="2915004"/>
            <a:ext cx="6019800" cy="1770941"/>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9.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ca33763c5154048"/>
          <a:srcRect xmlns:a="http://schemas.openxmlformats.org/drawingml/2006/main" l="16388" t="0" r="16388" b="0"/>
          <a:stretch xmlns:a="http://schemas.openxmlformats.org/drawingml/2006/main">
            <a:fillRect l="0" t="0" r="0" b="0"/>
          </a:stretch>
        </p:blipFill>
        <p:spPr>
          <a:xfrm xmlns:a="http://schemas.openxmlformats.org/drawingml/2006/main">
            <a:off x="4000500" y="0"/>
            <a:ext cx="8191500" cy="6858000"/>
          </a:xfrm>
          <a:prstGeom xmlns:a="http://schemas.openxmlformats.org/drawingml/2006/main" prst="rect">
            <a:avLst/>
          </a:prstGeom>
        </p:spPr>
      </p:pic>
      <p:sp>
        <p:nvSpPr>
          <p:cNvPr id="2" name="hybrid-copy-panel">
            <a:extLst xmlns:a="http://schemas.openxmlformats.org/drawingml/2006/main">
              <a:ext uri="{FF2B5EF4-FFF2-40B4-BE49-F238E27FC236}">
                <a16:creationId xmlns:a16="http://schemas.microsoft.com/office/drawing/2014/main" id="{E07A2568-BA7A-492F-8AE6-9953DABD2126}"/>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AB950608-0F1B-4509-AE5C-699ED960FF8B}"/>
              </a:ext>
            </a:extLst>
          </p:cNvPr>
          <p:cNvSpPr>
            <a:spLocks xmlns:a="http://schemas.openxmlformats.org/drawingml/2006/main" noGrp="1"/>
          </p:cNvSpPr>
          <p:nvPr/>
        </p:nvSpPr>
        <p:spPr>
          <a:xfrm xmlns:a="http://schemas.openxmlformats.org/drawingml/2006/main">
            <a:off x="685800" y="590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LOKALE INFERENZ</a:t>
            </a:r>
          </a:p>
        </p:txBody>
      </p:sp>
      <p:sp>
        <p:nvSpPr>
          <p:cNvPr id="4" name="hybrid-title">
            <a:extLst xmlns:a="http://schemas.openxmlformats.org/drawingml/2006/main">
              <a:ext uri="{FF2B5EF4-FFF2-40B4-BE49-F238E27FC236}">
                <a16:creationId xmlns:a16="http://schemas.microsoft.com/office/drawing/2014/main" id="{AB16E886-118D-40F7-B396-EAC464F748B1}"/>
              </a:ext>
            </a:extLst>
          </p:cNvPr>
          <p:cNvSpPr>
            <a:spLocks xmlns:a="http://schemas.openxmlformats.org/drawingml/2006/main" noGrp="1"/>
          </p:cNvSpPr>
          <p:nvPr/>
        </p:nvSpPr>
        <p:spPr>
          <a:xfrm xmlns:a="http://schemas.openxmlformats.org/drawingml/2006/main">
            <a:off x="685800" y="1657350"/>
            <a:ext cx="3905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Ein Modellzugang.</a:t>
            </a:r>
          </a:p>
          <a:p xmlns:a="http://schemas.openxmlformats.org/drawingml/2006/main">
            <a:pPr>
              <a:lnSpc>
                <a:spcPct val="92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Mehrere Laufzeiten.</a:t>
            </a:r>
          </a:p>
        </p:txBody>
      </p:sp>
      <p:sp>
        <p:nvSpPr>
          <p:cNvPr id="5" name="hybrid-copy">
            <a:extLst xmlns:a="http://schemas.openxmlformats.org/drawingml/2006/main">
              <a:ext uri="{FF2B5EF4-FFF2-40B4-BE49-F238E27FC236}">
                <a16:creationId xmlns:a16="http://schemas.microsoft.com/office/drawing/2014/main" id="{74BCA774-2557-47D2-9B21-149A88A11D69}"/>
              </a:ext>
            </a:extLst>
          </p:cNvPr>
          <p:cNvSpPr>
            <a:spLocks xmlns:a="http://schemas.openxmlformats.org/drawingml/2006/main" noGrp="1"/>
          </p:cNvSpPr>
          <p:nvPr/>
        </p:nvSpPr>
        <p:spPr>
          <a:xfrm xmlns:a="http://schemas.openxmlformats.org/drawingml/2006/main">
            <a:off x="685800" y="3105150"/>
            <a:ext cx="3714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vLLM und Ollama werden nur aktiviert,</a:t>
            </a:r>
          </a:p>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wenn lokale Modelle sie wirklich brauchen.</a:t>
            </a:r>
          </a:p>
        </p:txBody>
      </p:sp>
      <p:sp>
        <p:nvSpPr>
          <p:cNvPr id="6" name="tag-GPU-NEUTRALE BASIS">
            <a:extLst xmlns:a="http://schemas.openxmlformats.org/drawingml/2006/main">
              <a:ext uri="{FF2B5EF4-FFF2-40B4-BE49-F238E27FC236}">
                <a16:creationId xmlns:a16="http://schemas.microsoft.com/office/drawing/2014/main" id="{724F006E-BAA1-4E1F-8A43-8CCCCE257D48}"/>
              </a:ext>
            </a:extLst>
          </p:cNvPr>
          <p:cNvSpPr>
            <a:spLocks xmlns:a="http://schemas.openxmlformats.org/drawingml/2006/main" noGrp="1"/>
          </p:cNvSpPr>
          <p:nvPr/>
        </p:nvSpPr>
        <p:spPr>
          <a:xfrm xmlns:a="http://schemas.openxmlformats.org/drawingml/2006/main">
            <a:off x="685800" y="4810125"/>
            <a:ext cx="20574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VLLM · CPU + NVIDIA/AMD/INTEL</a:t>
            </a:r>
          </a:p>
        </p:txBody>
      </p:sp>
      <p:sp>
        <p:nvSpPr>
          <p:cNvPr id="7" name="tag-OPENAI-KOMPATIBEL">
            <a:extLst xmlns:a="http://schemas.openxmlformats.org/drawingml/2006/main">
              <a:ext uri="{FF2B5EF4-FFF2-40B4-BE49-F238E27FC236}">
                <a16:creationId xmlns:a16="http://schemas.microsoft.com/office/drawing/2014/main" id="{F2910298-D6FA-4A7B-9412-44827CD1B5FF}"/>
              </a:ext>
            </a:extLst>
          </p:cNvPr>
          <p:cNvSpPr>
            <a:spLocks xmlns:a="http://schemas.openxmlformats.org/drawingml/2006/main" noGrp="1"/>
          </p:cNvSpPr>
          <p:nvPr/>
        </p:nvSpPr>
        <p:spPr>
          <a:xfrm xmlns:a="http://schemas.openxmlformats.org/drawingml/2006/main">
            <a:off x="685800" y="5305425"/>
            <a:ext cx="21526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OLLAMA · CPU + NVIDIA/AMD</a:t>
            </a:r>
          </a:p>
        </p:txBody>
      </p:sp>
      <p:sp>
        <p:nvSpPr>
          <p:cNvPr id="8" name="brand-footer">
            <a:extLst xmlns:a="http://schemas.openxmlformats.org/drawingml/2006/main">
              <a:ext uri="{FF2B5EF4-FFF2-40B4-BE49-F238E27FC236}">
                <a16:creationId xmlns:a16="http://schemas.microsoft.com/office/drawing/2014/main" id="{785DF2F5-10A4-4B24-8F3A-3EA5CDBF4944}"/>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9" name="page-number">
            <a:extLst xmlns:a="http://schemas.openxmlformats.org/drawingml/2006/main">
              <a:ext uri="{FF2B5EF4-FFF2-40B4-BE49-F238E27FC236}">
                <a16:creationId xmlns:a16="http://schemas.microsoft.com/office/drawing/2014/main" id="{29789FDE-AE83-4989-8FB3-6C705F9B1AEA}"/>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09</a:t>
            </a:r>
          </a:p>
        </p:txBody>
      </p:sp>
    </p:spTree>
    <p:extLst>
      <p:ext uri="{BB962C8B-B14F-4D97-AF65-F5344CB8AC3E}">
        <p14:creationId xmlns:p14="http://schemas.microsoft.com/office/powerpoint/2010/main" val="444384154"/>
      </p:ext>
    </p:extLst>
  </p:cSld>
</p:sld>
</file>

<file path=ppt/slides/slide10.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6" name="brand-footer">
            <a:extLst xmlns:a="http://schemas.openxmlformats.org/drawingml/2006/main">
              <a:ext uri="{FF2B5EF4-FFF2-40B4-BE49-F238E27FC236}">
                <a16:creationId xmlns:a16="http://schemas.microsoft.com/office/drawing/2014/main" id="{B4FED71C-4E91-41CE-AD83-0C38469F2CA3}"/>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12FE50A5-BB2A-4FE4-8C1B-C6AF22B92D4B}"/>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10</a:t>
            </a:r>
          </a:p>
        </p:txBody>
      </p:sp>
      <p:sp>
        <p:nvSpPr>
          <p:cNvPr id="3" name="eyebrow">
            <a:extLst xmlns:a="http://schemas.openxmlformats.org/drawingml/2006/main">
              <a:ext uri="{FF2B5EF4-FFF2-40B4-BE49-F238E27FC236}">
                <a16:creationId xmlns:a16="http://schemas.microsoft.com/office/drawing/2014/main" id="{AD433B31-076F-4870-B642-2B6C1A3719F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COMPUTE-ZIELE</a:t>
            </a:r>
          </a:p>
        </p:txBody>
      </p:sp>
      <p:sp>
        <p:nvSpPr>
          <p:cNvPr id="4" name="title">
            <a:extLst xmlns:a="http://schemas.openxmlformats.org/drawingml/2006/main">
              <a:ext uri="{FF2B5EF4-FFF2-40B4-BE49-F238E27FC236}">
                <a16:creationId xmlns:a16="http://schemas.microsoft.com/office/drawing/2014/main" id="{8358F3F3-D277-4C1E-8096-DF486B8B8366}"/>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450" b="1">
                <a:solidFill>
                  <a:srgbClr val="F7FAFF"/>
                </a:solidFill>
                <a:latin typeface="Avenir Next"/>
                <a:ea typeface="Avenir Next"/>
                <a:cs typeface="Avenir Next"/>
              </a:defRPr>
            </a:pPr>
            <a:r>
              <a:rPr sz="3450" b="1">
                <a:solidFill>
                  <a:srgbClr val="F7FAFF"/>
                </a:solidFill>
                <a:latin typeface="Avenir Next"/>
                <a:ea typeface="Avenir Next"/>
                <a:cs typeface="Avenir Next"/>
              </a:rPr>
              <a:t>Compute wechselt. Die Plattform bleibt.</a:t>
            </a:r>
          </a:p>
        </p:txBody>
      </p:sp>
      <p:sp>
        <p:nvSpPr>
          <p:cNvPr id="5" name="architecture-lead">
            <a:extLst xmlns:a="http://schemas.openxmlformats.org/drawingml/2006/main">
              <a:ext uri="{FF2B5EF4-FFF2-40B4-BE49-F238E27FC236}">
                <a16:creationId xmlns:a16="http://schemas.microsoft.com/office/drawing/2014/main" id="{2519588D-B8F1-46E0-9F9F-BF4DAFDB80AC}"/>
              </a:ext>
            </a:extLst>
          </p:cNvPr>
          <p:cNvSpPr>
            <a:spLocks xmlns:a="http://schemas.openxmlformats.org/drawingml/2006/main" noGrp="1"/>
          </p:cNvSpPr>
          <p:nvPr/>
        </p:nvSpPr>
        <p:spPr>
          <a:xfrm xmlns:a="http://schemas.openxmlformats.org/drawingml/2006/main">
            <a:off x="685800" y="175260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Das Dashboard zeigt nur Kombinationen, die der Cluster wirklich bereitstellt.</a:t>
            </a:r>
          </a:p>
        </p:txBody>
      </p:sp>
      <p:sp>
        <p:nvSpPr>
          <p:cNvPr id="6" name="layer-0">
            <a:extLst xmlns:a="http://schemas.openxmlformats.org/drawingml/2006/main">
              <a:ext uri="{FF2B5EF4-FFF2-40B4-BE49-F238E27FC236}">
                <a16:creationId xmlns:a16="http://schemas.microsoft.com/office/drawing/2014/main" id="{A92C6721-738F-4216-B56D-F3919B0D397C}"/>
              </a:ext>
            </a:extLst>
          </p:cNvPr>
          <p:cNvSpPr>
            <a:spLocks xmlns:a="http://schemas.openxmlformats.org/drawingml/2006/main" noGrp="1"/>
          </p:cNvSpPr>
          <p:nvPr/>
        </p:nvSpPr>
        <p:spPr>
          <a:xfrm xmlns:a="http://schemas.openxmlformats.org/drawingml/2006/main">
            <a:off x="685800" y="26289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7" name="layer-bar-0">
            <a:extLst xmlns:a="http://schemas.openxmlformats.org/drawingml/2006/main">
              <a:ext uri="{FF2B5EF4-FFF2-40B4-BE49-F238E27FC236}">
                <a16:creationId xmlns:a16="http://schemas.microsoft.com/office/drawing/2014/main" id="{94D4CB0E-8928-423E-97FF-25BFAD92C0D2}"/>
              </a:ext>
            </a:extLst>
          </p:cNvPr>
          <p:cNvSpPr>
            <a:spLocks xmlns:a="http://schemas.openxmlformats.org/drawingml/2006/main" noGrp="1"/>
          </p:cNvSpPr>
          <p:nvPr/>
        </p:nvSpPr>
        <p:spPr>
          <a:xfrm xmlns:a="http://schemas.openxmlformats.org/drawingml/2006/main">
            <a:off x="685800" y="2628900"/>
            <a:ext cx="85725" cy="628650"/>
          </a:xfrm>
          <a:prstGeom xmlns:a="http://schemas.openxmlformats.org/drawingml/2006/main" prst="roundRect">
            <a:avLst>
              <a:gd name="adj" fmla="val 44444"/>
            </a:avLst>
          </a:prstGeom>
          <a:solidFill xmlns:a="http://schemas.openxmlformats.org/drawingml/2006/main">
            <a:srgbClr val="22D3EE"/>
          </a:solidFill>
          <a:ln xmlns:a="http://schemas.openxmlformats.org/drawingml/2006/main" w="0">
            <a:noFill/>
            <a:prstDash val="solid"/>
          </a:ln>
        </p:spPr>
      </p:sp>
      <p:sp>
        <p:nvSpPr>
          <p:cNvPr id="8" name="layer-number-0">
            <a:extLst xmlns:a="http://schemas.openxmlformats.org/drawingml/2006/main">
              <a:ext uri="{FF2B5EF4-FFF2-40B4-BE49-F238E27FC236}">
                <a16:creationId xmlns:a16="http://schemas.microsoft.com/office/drawing/2014/main" id="{5C53C113-C9EF-4BF8-90FB-D8604381EEFB}"/>
              </a:ext>
            </a:extLst>
          </p:cNvPr>
          <p:cNvSpPr>
            <a:spLocks xmlns:a="http://schemas.openxmlformats.org/drawingml/2006/main" noGrp="1"/>
          </p:cNvSpPr>
          <p:nvPr/>
        </p:nvSpPr>
        <p:spPr>
          <a:xfrm xmlns:a="http://schemas.openxmlformats.org/drawingml/2006/main">
            <a:off x="990600" y="27908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01</a:t>
            </a:r>
          </a:p>
        </p:txBody>
      </p:sp>
      <p:sp>
        <p:nvSpPr>
          <p:cNvPr id="9" name="layer-title-0">
            <a:extLst xmlns:a="http://schemas.openxmlformats.org/drawingml/2006/main">
              <a:ext uri="{FF2B5EF4-FFF2-40B4-BE49-F238E27FC236}">
                <a16:creationId xmlns:a16="http://schemas.microsoft.com/office/drawing/2014/main" id="{AF44BF44-F451-4B00-8380-3D3719C7696A}"/>
              </a:ext>
            </a:extLst>
          </p:cNvPr>
          <p:cNvSpPr>
            <a:spLocks xmlns:a="http://schemas.openxmlformats.org/drawingml/2006/main" noGrp="1"/>
          </p:cNvSpPr>
          <p:nvPr/>
        </p:nvSpPr>
        <p:spPr>
          <a:xfrm xmlns:a="http://schemas.openxmlformats.org/drawingml/2006/main">
            <a:off x="1657350" y="27622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CPU</a:t>
            </a:r>
          </a:p>
        </p:txBody>
      </p:sp>
      <p:sp>
        <p:nvSpPr>
          <p:cNvPr id="10" name="layer-detail-0">
            <a:extLst xmlns:a="http://schemas.openxmlformats.org/drawingml/2006/main">
              <a:ext uri="{FF2B5EF4-FFF2-40B4-BE49-F238E27FC236}">
                <a16:creationId xmlns:a16="http://schemas.microsoft.com/office/drawing/2014/main" id="{36F48A18-BBF3-4F90-950C-82964E6B6C45}"/>
              </a:ext>
            </a:extLst>
          </p:cNvPr>
          <p:cNvSpPr>
            <a:spLocks xmlns:a="http://schemas.openxmlformats.org/drawingml/2006/main" noGrp="1"/>
          </p:cNvSpPr>
          <p:nvPr/>
        </p:nvSpPr>
        <p:spPr>
          <a:xfrm xmlns:a="http://schemas.openxmlformats.org/drawingml/2006/main">
            <a:off x="6705600" y="28003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vLLM · Ollama · ohne GPU-Treiber</a:t>
            </a:r>
          </a:p>
        </p:txBody>
      </p:sp>
      <p:sp>
        <p:nvSpPr>
          <p:cNvPr id="11" name="layer-1">
            <a:extLst xmlns:a="http://schemas.openxmlformats.org/drawingml/2006/main">
              <a:ext uri="{FF2B5EF4-FFF2-40B4-BE49-F238E27FC236}">
                <a16:creationId xmlns:a16="http://schemas.microsoft.com/office/drawing/2014/main" id="{06B286B9-E838-4324-B08B-924738ED2AE0}"/>
              </a:ext>
            </a:extLst>
          </p:cNvPr>
          <p:cNvSpPr>
            <a:spLocks xmlns:a="http://schemas.openxmlformats.org/drawingml/2006/main" noGrp="1"/>
          </p:cNvSpPr>
          <p:nvPr/>
        </p:nvSpPr>
        <p:spPr>
          <a:xfrm xmlns:a="http://schemas.openxmlformats.org/drawingml/2006/main">
            <a:off x="685800" y="34480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2" name="layer-bar-1">
            <a:extLst xmlns:a="http://schemas.openxmlformats.org/drawingml/2006/main">
              <a:ext uri="{FF2B5EF4-FFF2-40B4-BE49-F238E27FC236}">
                <a16:creationId xmlns:a16="http://schemas.microsoft.com/office/drawing/2014/main" id="{748E7812-DFB8-4542-931B-C35DDB1B56D3}"/>
              </a:ext>
            </a:extLst>
          </p:cNvPr>
          <p:cNvSpPr>
            <a:spLocks xmlns:a="http://schemas.openxmlformats.org/drawingml/2006/main" noGrp="1"/>
          </p:cNvSpPr>
          <p:nvPr/>
        </p:nvSpPr>
        <p:spPr>
          <a:xfrm xmlns:a="http://schemas.openxmlformats.org/drawingml/2006/main">
            <a:off x="685800" y="3448050"/>
            <a:ext cx="85725" cy="628650"/>
          </a:xfrm>
          <a:prstGeom xmlns:a="http://schemas.openxmlformats.org/drawingml/2006/main" prst="roundRect">
            <a:avLst>
              <a:gd name="adj" fmla="val 44444"/>
            </a:avLst>
          </a:prstGeom>
          <a:solidFill xmlns:a="http://schemas.openxmlformats.org/drawingml/2006/main">
            <a:srgbClr val="38BDF8"/>
          </a:solidFill>
          <a:ln xmlns:a="http://schemas.openxmlformats.org/drawingml/2006/main" w="0">
            <a:noFill/>
            <a:prstDash val="solid"/>
          </a:ln>
        </p:spPr>
      </p:sp>
      <p:sp>
        <p:nvSpPr>
          <p:cNvPr id="13" name="layer-number-1">
            <a:extLst xmlns:a="http://schemas.openxmlformats.org/drawingml/2006/main">
              <a:ext uri="{FF2B5EF4-FFF2-40B4-BE49-F238E27FC236}">
                <a16:creationId xmlns:a16="http://schemas.microsoft.com/office/drawing/2014/main" id="{C23E496D-6119-4289-8CE2-90CA84C45367}"/>
              </a:ext>
            </a:extLst>
          </p:cNvPr>
          <p:cNvSpPr>
            <a:spLocks xmlns:a="http://schemas.openxmlformats.org/drawingml/2006/main" noGrp="1"/>
          </p:cNvSpPr>
          <p:nvPr/>
        </p:nvSpPr>
        <p:spPr>
          <a:xfrm xmlns:a="http://schemas.openxmlformats.org/drawingml/2006/main">
            <a:off x="990600" y="36099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8BDF8"/>
                </a:solidFill>
                <a:latin typeface="Avenir Next"/>
                <a:ea typeface="Avenir Next"/>
                <a:cs typeface="Avenir Next"/>
              </a:defRPr>
            </a:pPr>
            <a:r>
              <a:rPr sz="1500" b="1">
                <a:solidFill>
                  <a:srgbClr val="38BDF8"/>
                </a:solidFill>
                <a:latin typeface="Avenir Next"/>
                <a:ea typeface="Avenir Next"/>
                <a:cs typeface="Avenir Next"/>
              </a:rPr>
              <a:t>02</a:t>
            </a:r>
          </a:p>
        </p:txBody>
      </p:sp>
      <p:sp>
        <p:nvSpPr>
          <p:cNvPr id="14" name="layer-title-1">
            <a:extLst xmlns:a="http://schemas.openxmlformats.org/drawingml/2006/main">
              <a:ext uri="{FF2B5EF4-FFF2-40B4-BE49-F238E27FC236}">
                <a16:creationId xmlns:a16="http://schemas.microsoft.com/office/drawing/2014/main" id="{D4D7148D-3C9E-47F9-94BA-13FD4A4E5666}"/>
              </a:ext>
            </a:extLst>
          </p:cNvPr>
          <p:cNvSpPr>
            <a:spLocks xmlns:a="http://schemas.openxmlformats.org/drawingml/2006/main" noGrp="1"/>
          </p:cNvSpPr>
          <p:nvPr/>
        </p:nvSpPr>
        <p:spPr>
          <a:xfrm xmlns:a="http://schemas.openxmlformats.org/drawingml/2006/main">
            <a:off x="1657350" y="35814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NVIDIA</a:t>
            </a:r>
          </a:p>
        </p:txBody>
      </p:sp>
      <p:sp>
        <p:nvSpPr>
          <p:cNvPr id="15" name="layer-detail-1">
            <a:extLst xmlns:a="http://schemas.openxmlformats.org/drawingml/2006/main">
              <a:ext uri="{FF2B5EF4-FFF2-40B4-BE49-F238E27FC236}">
                <a16:creationId xmlns:a16="http://schemas.microsoft.com/office/drawing/2014/main" id="{30175DBE-1CA8-4E80-9C11-0E8AFF770206}"/>
              </a:ext>
            </a:extLst>
          </p:cNvPr>
          <p:cNvSpPr>
            <a:spLocks xmlns:a="http://schemas.openxmlformats.org/drawingml/2006/main" noGrp="1"/>
          </p:cNvSpPr>
          <p:nvPr/>
        </p:nvSpPr>
        <p:spPr>
          <a:xfrm xmlns:a="http://schemas.openxmlformats.org/drawingml/2006/main">
            <a:off x="6705600" y="36195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vLLM · Ollama · CUDA Operator</a:t>
            </a:r>
          </a:p>
        </p:txBody>
      </p:sp>
      <p:sp>
        <p:nvSpPr>
          <p:cNvPr id="16" name="layer-2">
            <a:extLst xmlns:a="http://schemas.openxmlformats.org/drawingml/2006/main">
              <a:ext uri="{FF2B5EF4-FFF2-40B4-BE49-F238E27FC236}">
                <a16:creationId xmlns:a16="http://schemas.microsoft.com/office/drawing/2014/main" id="{0EF058A1-8E87-4C3A-A024-6E079266F54F}"/>
              </a:ext>
            </a:extLst>
          </p:cNvPr>
          <p:cNvSpPr>
            <a:spLocks xmlns:a="http://schemas.openxmlformats.org/drawingml/2006/main" noGrp="1"/>
          </p:cNvSpPr>
          <p:nvPr/>
        </p:nvSpPr>
        <p:spPr>
          <a:xfrm xmlns:a="http://schemas.openxmlformats.org/drawingml/2006/main">
            <a:off x="685800" y="42672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7" name="layer-bar-2">
            <a:extLst xmlns:a="http://schemas.openxmlformats.org/drawingml/2006/main">
              <a:ext uri="{FF2B5EF4-FFF2-40B4-BE49-F238E27FC236}">
                <a16:creationId xmlns:a16="http://schemas.microsoft.com/office/drawing/2014/main" id="{D95EE72F-B5B0-4BE4-8319-4D79F44A3E47}"/>
              </a:ext>
            </a:extLst>
          </p:cNvPr>
          <p:cNvSpPr>
            <a:spLocks xmlns:a="http://schemas.openxmlformats.org/drawingml/2006/main" noGrp="1"/>
          </p:cNvSpPr>
          <p:nvPr/>
        </p:nvSpPr>
        <p:spPr>
          <a:xfrm xmlns:a="http://schemas.openxmlformats.org/drawingml/2006/main">
            <a:off x="685800" y="4267200"/>
            <a:ext cx="85725" cy="628650"/>
          </a:xfrm>
          <a:prstGeom xmlns:a="http://schemas.openxmlformats.org/drawingml/2006/main" prst="roundRect">
            <a:avLst>
              <a:gd name="adj" fmla="val 44444"/>
            </a:avLst>
          </a:prstGeom>
          <a:solidFill xmlns:a="http://schemas.openxmlformats.org/drawingml/2006/main">
            <a:srgbClr val="8B5CF6"/>
          </a:solidFill>
          <a:ln xmlns:a="http://schemas.openxmlformats.org/drawingml/2006/main" w="0">
            <a:noFill/>
            <a:prstDash val="solid"/>
          </a:ln>
        </p:spPr>
      </p:sp>
      <p:sp>
        <p:nvSpPr>
          <p:cNvPr id="18" name="layer-number-2">
            <a:extLst xmlns:a="http://schemas.openxmlformats.org/drawingml/2006/main">
              <a:ext uri="{FF2B5EF4-FFF2-40B4-BE49-F238E27FC236}">
                <a16:creationId xmlns:a16="http://schemas.microsoft.com/office/drawing/2014/main" id="{6212AA2E-E445-4386-BD54-F1F5F5995806}"/>
              </a:ext>
            </a:extLst>
          </p:cNvPr>
          <p:cNvSpPr>
            <a:spLocks xmlns:a="http://schemas.openxmlformats.org/drawingml/2006/main" noGrp="1"/>
          </p:cNvSpPr>
          <p:nvPr/>
        </p:nvSpPr>
        <p:spPr>
          <a:xfrm xmlns:a="http://schemas.openxmlformats.org/drawingml/2006/main">
            <a:off x="990600" y="44291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8B5CF6"/>
                </a:solidFill>
                <a:latin typeface="Avenir Next"/>
                <a:ea typeface="Avenir Next"/>
                <a:cs typeface="Avenir Next"/>
              </a:defRPr>
            </a:pPr>
            <a:r>
              <a:rPr sz="1500" b="1">
                <a:solidFill>
                  <a:srgbClr val="8B5CF6"/>
                </a:solidFill>
                <a:latin typeface="Avenir Next"/>
                <a:ea typeface="Avenir Next"/>
                <a:cs typeface="Avenir Next"/>
              </a:rPr>
              <a:t>03</a:t>
            </a:r>
          </a:p>
        </p:txBody>
      </p:sp>
      <p:sp>
        <p:nvSpPr>
          <p:cNvPr id="19" name="layer-title-2">
            <a:extLst xmlns:a="http://schemas.openxmlformats.org/drawingml/2006/main">
              <a:ext uri="{FF2B5EF4-FFF2-40B4-BE49-F238E27FC236}">
                <a16:creationId xmlns:a16="http://schemas.microsoft.com/office/drawing/2014/main" id="{B6B7CB4C-1C80-416E-BD9B-1737F804D234}"/>
              </a:ext>
            </a:extLst>
          </p:cNvPr>
          <p:cNvSpPr>
            <a:spLocks xmlns:a="http://schemas.openxmlformats.org/drawingml/2006/main" noGrp="1"/>
          </p:cNvSpPr>
          <p:nvPr/>
        </p:nvSpPr>
        <p:spPr>
          <a:xfrm xmlns:a="http://schemas.openxmlformats.org/drawingml/2006/main">
            <a:off x="1657350" y="44005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AMD</a:t>
            </a:r>
          </a:p>
        </p:txBody>
      </p:sp>
      <p:sp>
        <p:nvSpPr>
          <p:cNvPr id="20" name="layer-detail-2">
            <a:extLst xmlns:a="http://schemas.openxmlformats.org/drawingml/2006/main">
              <a:ext uri="{FF2B5EF4-FFF2-40B4-BE49-F238E27FC236}">
                <a16:creationId xmlns:a16="http://schemas.microsoft.com/office/drawing/2014/main" id="{E6EBCD84-C954-4E0F-BB10-1F210B2363A7}"/>
              </a:ext>
            </a:extLst>
          </p:cNvPr>
          <p:cNvSpPr>
            <a:spLocks xmlns:a="http://schemas.openxmlformats.org/drawingml/2006/main" noGrp="1"/>
          </p:cNvSpPr>
          <p:nvPr/>
        </p:nvSpPr>
        <p:spPr>
          <a:xfrm xmlns:a="http://schemas.openxmlformats.org/drawingml/2006/main">
            <a:off x="6705600" y="44386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vLLM · Ollama · ROCm Operator</a:t>
            </a:r>
          </a:p>
        </p:txBody>
      </p:sp>
      <p:sp>
        <p:nvSpPr>
          <p:cNvPr id="21" name="layer-3">
            <a:extLst xmlns:a="http://schemas.openxmlformats.org/drawingml/2006/main">
              <a:ext uri="{FF2B5EF4-FFF2-40B4-BE49-F238E27FC236}">
                <a16:creationId xmlns:a16="http://schemas.microsoft.com/office/drawing/2014/main" id="{238D0C50-90C0-4D7B-BBB9-FED95F61C1A0}"/>
              </a:ext>
            </a:extLst>
          </p:cNvPr>
          <p:cNvSpPr>
            <a:spLocks xmlns:a="http://schemas.openxmlformats.org/drawingml/2006/main" noGrp="1"/>
          </p:cNvSpPr>
          <p:nvPr/>
        </p:nvSpPr>
        <p:spPr>
          <a:xfrm xmlns:a="http://schemas.openxmlformats.org/drawingml/2006/main">
            <a:off x="685800" y="50863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22" name="layer-bar-3">
            <a:extLst xmlns:a="http://schemas.openxmlformats.org/drawingml/2006/main">
              <a:ext uri="{FF2B5EF4-FFF2-40B4-BE49-F238E27FC236}">
                <a16:creationId xmlns:a16="http://schemas.microsoft.com/office/drawing/2014/main" id="{E202C055-A07A-4859-A004-E1E874CA1674}"/>
              </a:ext>
            </a:extLst>
          </p:cNvPr>
          <p:cNvSpPr>
            <a:spLocks xmlns:a="http://schemas.openxmlformats.org/drawingml/2006/main" noGrp="1"/>
          </p:cNvSpPr>
          <p:nvPr/>
        </p:nvSpPr>
        <p:spPr>
          <a:xfrm xmlns:a="http://schemas.openxmlformats.org/drawingml/2006/main">
            <a:off x="685800" y="5086350"/>
            <a:ext cx="85725" cy="6286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23" name="layer-number-3">
            <a:extLst xmlns:a="http://schemas.openxmlformats.org/drawingml/2006/main">
              <a:ext uri="{FF2B5EF4-FFF2-40B4-BE49-F238E27FC236}">
                <a16:creationId xmlns:a16="http://schemas.microsoft.com/office/drawing/2014/main" id="{6960E9B5-A652-49BF-AC8F-22E9B18F8918}"/>
              </a:ext>
            </a:extLst>
          </p:cNvPr>
          <p:cNvSpPr>
            <a:spLocks xmlns:a="http://schemas.openxmlformats.org/drawingml/2006/main" noGrp="1"/>
          </p:cNvSpPr>
          <p:nvPr/>
        </p:nvSpPr>
        <p:spPr>
          <a:xfrm xmlns:a="http://schemas.openxmlformats.org/drawingml/2006/main">
            <a:off x="990600" y="52482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4D399"/>
                </a:solidFill>
                <a:latin typeface="Avenir Next"/>
                <a:ea typeface="Avenir Next"/>
                <a:cs typeface="Avenir Next"/>
              </a:defRPr>
            </a:pPr>
            <a:r>
              <a:rPr sz="1500" b="1">
                <a:solidFill>
                  <a:srgbClr val="34D399"/>
                </a:solidFill>
                <a:latin typeface="Avenir Next"/>
                <a:ea typeface="Avenir Next"/>
                <a:cs typeface="Avenir Next"/>
              </a:rPr>
              <a:t>04</a:t>
            </a:r>
          </a:p>
        </p:txBody>
      </p:sp>
      <p:sp>
        <p:nvSpPr>
          <p:cNvPr id="24" name="layer-title-3">
            <a:extLst xmlns:a="http://schemas.openxmlformats.org/drawingml/2006/main">
              <a:ext uri="{FF2B5EF4-FFF2-40B4-BE49-F238E27FC236}">
                <a16:creationId xmlns:a16="http://schemas.microsoft.com/office/drawing/2014/main" id="{E7EE075F-5E28-4CB2-BD3B-B26F772CE2F6}"/>
              </a:ext>
            </a:extLst>
          </p:cNvPr>
          <p:cNvSpPr>
            <a:spLocks xmlns:a="http://schemas.openxmlformats.org/drawingml/2006/main" noGrp="1"/>
          </p:cNvSpPr>
          <p:nvPr/>
        </p:nvSpPr>
        <p:spPr>
          <a:xfrm xmlns:a="http://schemas.openxmlformats.org/drawingml/2006/main">
            <a:off x="1657350" y="5219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Intel</a:t>
            </a:r>
          </a:p>
        </p:txBody>
      </p:sp>
      <p:sp>
        <p:nvSpPr>
          <p:cNvPr id="25" name="layer-detail-3">
            <a:extLst xmlns:a="http://schemas.openxmlformats.org/drawingml/2006/main">
              <a:ext uri="{FF2B5EF4-FFF2-40B4-BE49-F238E27FC236}">
                <a16:creationId xmlns:a16="http://schemas.microsoft.com/office/drawing/2014/main" id="{56337E75-D9E4-4A5C-95F3-FA5CC51CA2A3}"/>
              </a:ext>
            </a:extLst>
          </p:cNvPr>
          <p:cNvSpPr>
            <a:spLocks xmlns:a="http://schemas.openxmlformats.org/drawingml/2006/main" noGrp="1"/>
          </p:cNvSpPr>
          <p:nvPr/>
        </p:nvSpPr>
        <p:spPr>
          <a:xfrm xmlns:a="http://schemas.openxmlformats.org/drawingml/2006/main">
            <a:off x="6705600" y="52578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vLLM · Intel GPU Plugin</a:t>
            </a:r>
          </a:p>
        </p:txBody>
      </p:sp>
    </p:spTree>
    <p:extLst>
      <p:ext uri="{BB962C8B-B14F-4D97-AF65-F5344CB8AC3E}">
        <p14:creationId xmlns:p14="http://schemas.microsoft.com/office/powerpoint/2010/main" val="1944236189"/>
      </p:ext>
    </p:extLst>
  </p:cSld>
</p:sld>
</file>

<file path=ppt/slides/slide1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8" name="brand-footer">
            <a:extLst xmlns:a="http://schemas.openxmlformats.org/drawingml/2006/main">
              <a:ext uri="{FF2B5EF4-FFF2-40B4-BE49-F238E27FC236}">
                <a16:creationId xmlns:a16="http://schemas.microsoft.com/office/drawing/2014/main" id="{6A44BC62-FCC4-46CB-929E-CF794C2069F9}"/>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7BC55A6-48C2-4476-B7E8-E6B02B73809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11</a:t>
            </a:r>
          </a:p>
        </p:txBody>
      </p:sp>
      <p:sp>
        <p:nvSpPr>
          <p:cNvPr id="3" name="eyebrow">
            <a:extLst xmlns:a="http://schemas.openxmlformats.org/drawingml/2006/main">
              <a:ext uri="{FF2B5EF4-FFF2-40B4-BE49-F238E27FC236}">
                <a16:creationId xmlns:a16="http://schemas.microsoft.com/office/drawing/2014/main" id="{16FC6A1C-E8D0-405D-9E65-FE257BCB84D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SPEICHER MIT KONTEXT</a:t>
            </a:r>
          </a:p>
        </p:txBody>
      </p:sp>
      <p:sp>
        <p:nvSpPr>
          <p:cNvPr id="4" name="title">
            <a:extLst xmlns:a="http://schemas.openxmlformats.org/drawingml/2006/main">
              <a:ext uri="{FF2B5EF4-FFF2-40B4-BE49-F238E27FC236}">
                <a16:creationId xmlns:a16="http://schemas.microsoft.com/office/drawing/2014/main" id="{29D0F21A-1B28-404E-93DF-2893D2BB170C}"/>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Modelle werden gegen echte Kapazität geplant</a:t>
            </a:r>
          </a:p>
        </p:txBody>
      </p:sp>
      <p:sp>
        <p:nvSpPr>
          <p:cNvPr id="5" name="pilot-number-0">
            <a:extLst xmlns:a="http://schemas.openxmlformats.org/drawingml/2006/main">
              <a:ext uri="{FF2B5EF4-FFF2-40B4-BE49-F238E27FC236}">
                <a16:creationId xmlns:a16="http://schemas.microsoft.com/office/drawing/2014/main" id="{0ECDC39A-9F5E-42FE-A205-0D831BD36E14}"/>
              </a:ext>
            </a:extLst>
          </p:cNvPr>
          <p:cNvSpPr>
            <a:spLocks xmlns:a="http://schemas.openxmlformats.org/drawingml/2006/main" noGrp="1"/>
          </p:cNvSpPr>
          <p:nvPr/>
        </p:nvSpPr>
        <p:spPr>
          <a:xfrm xmlns:a="http://schemas.openxmlformats.org/drawingml/2006/main">
            <a:off x="685800" y="20764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01</a:t>
            </a:r>
          </a:p>
        </p:txBody>
      </p:sp>
      <p:sp>
        <p:nvSpPr>
          <p:cNvPr id="6" name="pilot-step-title-0">
            <a:extLst xmlns:a="http://schemas.openxmlformats.org/drawingml/2006/main">
              <a:ext uri="{FF2B5EF4-FFF2-40B4-BE49-F238E27FC236}">
                <a16:creationId xmlns:a16="http://schemas.microsoft.com/office/drawing/2014/main" id="{4C4E1973-43EF-4A15-A742-D7F2AD7ECDBF}"/>
              </a:ext>
            </a:extLst>
          </p:cNvPr>
          <p:cNvSpPr>
            <a:spLocks xmlns:a="http://schemas.openxmlformats.org/drawingml/2006/main" noGrp="1"/>
          </p:cNvSpPr>
          <p:nvPr/>
        </p:nvSpPr>
        <p:spPr>
          <a:xfrm xmlns:a="http://schemas.openxmlformats.org/drawingml/2006/main">
            <a:off x="1409700" y="20574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Unreserviert</a:t>
            </a:r>
          </a:p>
        </p:txBody>
      </p:sp>
      <p:sp>
        <p:nvSpPr>
          <p:cNvPr id="7" name="pilot-step-body-0">
            <a:extLst xmlns:a="http://schemas.openxmlformats.org/drawingml/2006/main">
              <a:ext uri="{FF2B5EF4-FFF2-40B4-BE49-F238E27FC236}">
                <a16:creationId xmlns:a16="http://schemas.microsoft.com/office/drawing/2014/main" id="{69910931-1C34-4A00-9936-826514C24169}"/>
              </a:ext>
            </a:extLst>
          </p:cNvPr>
          <p:cNvSpPr>
            <a:spLocks xmlns:a="http://schemas.openxmlformats.org/drawingml/2006/main" noGrp="1"/>
          </p:cNvSpPr>
          <p:nvPr/>
        </p:nvSpPr>
        <p:spPr>
          <a:xfrm xmlns:a="http://schemas.openxmlformats.org/drawingml/2006/main">
            <a:off x="1409700" y="2438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Gesamtspeicher minus Modellreservierungen</a:t>
            </a:r>
          </a:p>
        </p:txBody>
      </p:sp>
      <p:sp>
        <p:nvSpPr>
          <p:cNvPr id="8" name="pilot-number-1">
            <a:extLst xmlns:a="http://schemas.openxmlformats.org/drawingml/2006/main">
              <a:ext uri="{FF2B5EF4-FFF2-40B4-BE49-F238E27FC236}">
                <a16:creationId xmlns:a16="http://schemas.microsoft.com/office/drawing/2014/main" id="{B0738AF5-F95F-4066-8A21-183D1B732ED7}"/>
              </a:ext>
            </a:extLst>
          </p:cNvPr>
          <p:cNvSpPr>
            <a:spLocks xmlns:a="http://schemas.openxmlformats.org/drawingml/2006/main" noGrp="1"/>
          </p:cNvSpPr>
          <p:nvPr/>
        </p:nvSpPr>
        <p:spPr>
          <a:xfrm xmlns:a="http://schemas.openxmlformats.org/drawingml/2006/main">
            <a:off x="685800" y="31813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8B5CF6"/>
                </a:solidFill>
                <a:latin typeface="Avenir Next"/>
                <a:ea typeface="Avenir Next"/>
                <a:cs typeface="Avenir Next"/>
              </a:defRPr>
            </a:pPr>
            <a:r>
              <a:rPr sz="1425" b="1">
                <a:solidFill>
                  <a:srgbClr val="8B5CF6"/>
                </a:solidFill>
                <a:latin typeface="Avenir Next"/>
                <a:ea typeface="Avenir Next"/>
                <a:cs typeface="Avenir Next"/>
              </a:rPr>
              <a:t>02</a:t>
            </a:r>
          </a:p>
        </p:txBody>
      </p:sp>
      <p:sp>
        <p:nvSpPr>
          <p:cNvPr id="9" name="pilot-step-title-1">
            <a:extLst xmlns:a="http://schemas.openxmlformats.org/drawingml/2006/main">
              <a:ext uri="{FF2B5EF4-FFF2-40B4-BE49-F238E27FC236}">
                <a16:creationId xmlns:a16="http://schemas.microsoft.com/office/drawing/2014/main" id="{1C684C6E-3E2B-41CA-86D4-513031C92D64}"/>
              </a:ext>
            </a:extLst>
          </p:cNvPr>
          <p:cNvSpPr>
            <a:spLocks xmlns:a="http://schemas.openxmlformats.org/drawingml/2006/main" noGrp="1"/>
          </p:cNvSpPr>
          <p:nvPr/>
        </p:nvSpPr>
        <p:spPr>
          <a:xfrm xmlns:a="http://schemas.openxmlformats.org/drawingml/2006/main">
            <a:off x="1409700" y="31623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Tatsächlich frei</a:t>
            </a:r>
          </a:p>
        </p:txBody>
      </p:sp>
      <p:sp>
        <p:nvSpPr>
          <p:cNvPr id="10" name="pilot-step-body-1">
            <a:extLst xmlns:a="http://schemas.openxmlformats.org/drawingml/2006/main">
              <a:ext uri="{FF2B5EF4-FFF2-40B4-BE49-F238E27FC236}">
                <a16:creationId xmlns:a16="http://schemas.microsoft.com/office/drawing/2014/main" id="{57BA7D62-3235-4778-A7AB-23D54D94F533}"/>
              </a:ext>
            </a:extLst>
          </p:cNvPr>
          <p:cNvSpPr>
            <a:spLocks xmlns:a="http://schemas.openxmlformats.org/drawingml/2006/main" noGrp="1"/>
          </p:cNvSpPr>
          <p:nvPr/>
        </p:nvSpPr>
        <p:spPr>
          <a:xfrm xmlns:a="http://schemas.openxmlformats.org/drawingml/2006/main">
            <a:off x="1409700" y="3543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Live-Metriken von CPU oder GPU</a:t>
            </a:r>
          </a:p>
        </p:txBody>
      </p:sp>
      <p:sp>
        <p:nvSpPr>
          <p:cNvPr id="11" name="pilot-number-2">
            <a:extLst xmlns:a="http://schemas.openxmlformats.org/drawingml/2006/main">
              <a:ext uri="{FF2B5EF4-FFF2-40B4-BE49-F238E27FC236}">
                <a16:creationId xmlns:a16="http://schemas.microsoft.com/office/drawing/2014/main" id="{46E3DC78-9D6D-4167-8ECE-EBB0F24A7ED9}"/>
              </a:ext>
            </a:extLst>
          </p:cNvPr>
          <p:cNvSpPr>
            <a:spLocks xmlns:a="http://schemas.openxmlformats.org/drawingml/2006/main" noGrp="1"/>
          </p:cNvSpPr>
          <p:nvPr/>
        </p:nvSpPr>
        <p:spPr>
          <a:xfrm xmlns:a="http://schemas.openxmlformats.org/drawingml/2006/main">
            <a:off x="685800" y="42862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03</a:t>
            </a:r>
          </a:p>
        </p:txBody>
      </p:sp>
      <p:sp>
        <p:nvSpPr>
          <p:cNvPr id="12" name="pilot-step-title-2">
            <a:extLst xmlns:a="http://schemas.openxmlformats.org/drawingml/2006/main">
              <a:ext uri="{FF2B5EF4-FFF2-40B4-BE49-F238E27FC236}">
                <a16:creationId xmlns:a16="http://schemas.microsoft.com/office/drawing/2014/main" id="{FC996B72-E84E-472F-A975-A94C355A8181}"/>
              </a:ext>
            </a:extLst>
          </p:cNvPr>
          <p:cNvSpPr>
            <a:spLocks xmlns:a="http://schemas.openxmlformats.org/drawingml/2006/main" noGrp="1"/>
          </p:cNvSpPr>
          <p:nvPr/>
        </p:nvSpPr>
        <p:spPr>
          <a:xfrm xmlns:a="http://schemas.openxmlformats.org/drawingml/2006/main">
            <a:off x="1409700" y="42672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Minimum + Empfehlung</a:t>
            </a:r>
          </a:p>
        </p:txBody>
      </p:sp>
      <p:sp>
        <p:nvSpPr>
          <p:cNvPr id="13" name="pilot-step-body-2">
            <a:extLst xmlns:a="http://schemas.openxmlformats.org/drawingml/2006/main">
              <a:ext uri="{FF2B5EF4-FFF2-40B4-BE49-F238E27FC236}">
                <a16:creationId xmlns:a16="http://schemas.microsoft.com/office/drawing/2014/main" id="{F0B8B2CA-ACFF-4558-B194-BCEB6A661576}"/>
              </a:ext>
            </a:extLst>
          </p:cNvPr>
          <p:cNvSpPr>
            <a:spLocks xmlns:a="http://schemas.openxmlformats.org/drawingml/2006/main" noGrp="1"/>
          </p:cNvSpPr>
          <p:nvPr/>
        </p:nvSpPr>
        <p:spPr>
          <a:xfrm xmlns:a="http://schemas.openxmlformats.org/drawingml/2006/main">
            <a:off x="1409700" y="46482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Regler zeigt Passform vor dem Start</a:t>
            </a:r>
          </a:p>
        </p:txBody>
      </p:sp>
      <p:sp>
        <p:nvSpPr>
          <p:cNvPr id="14" name="tag-PILOT AUF IHRER INFRASTRUKTUR">
            <a:extLst xmlns:a="http://schemas.openxmlformats.org/drawingml/2006/main">
              <a:ext uri="{FF2B5EF4-FFF2-40B4-BE49-F238E27FC236}">
                <a16:creationId xmlns:a16="http://schemas.microsoft.com/office/drawing/2014/main" id="{F8802782-52F2-4997-B903-E525DAC92C55}"/>
              </a:ext>
            </a:extLst>
          </p:cNvPr>
          <p:cNvSpPr>
            <a:spLocks xmlns:a="http://schemas.openxmlformats.org/drawingml/2006/main" noGrp="1"/>
          </p:cNvSpPr>
          <p:nvPr/>
        </p:nvSpPr>
        <p:spPr>
          <a:xfrm xmlns:a="http://schemas.openxmlformats.org/drawingml/2006/main">
            <a:off x="685800" y="5572125"/>
            <a:ext cx="32575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RAM UND VRAM TRANSPARENT</a:t>
            </a:r>
          </a:p>
        </p:txBody>
      </p:sp>
      <p:sp>
        <p:nvSpPr>
          <p:cNvPr id="15" name="pilot-proof-label">
            <a:extLst xmlns:a="http://schemas.openxmlformats.org/drawingml/2006/main">
              <a:ext uri="{FF2B5EF4-FFF2-40B4-BE49-F238E27FC236}">
                <a16:creationId xmlns:a16="http://schemas.microsoft.com/office/drawing/2014/main" id="{B39E610B-C54F-4509-B518-39DC26E8B225}"/>
              </a:ext>
            </a:extLst>
          </p:cNvPr>
          <p:cNvSpPr>
            <a:spLocks xmlns:a="http://schemas.openxmlformats.org/drawingml/2006/main" noGrp="1"/>
          </p:cNvSpPr>
          <p:nvPr/>
        </p:nvSpPr>
        <p:spPr>
          <a:xfrm xmlns:a="http://schemas.openxmlformats.org/drawingml/2006/main">
            <a:off x="6000750" y="1924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AKTUELLE COMPUTE-MEMORY-ANSICHT</a:t>
            </a:r>
          </a:p>
        </p:txBody>
      </p:sp>
      <p:sp>
        <p:nvSpPr>
          <p:cNvPr id="16" name="pilot-proof-frame">
            <a:extLst xmlns:a="http://schemas.openxmlformats.org/drawingml/2006/main">
              <a:ext uri="{FF2B5EF4-FFF2-40B4-BE49-F238E27FC236}">
                <a16:creationId xmlns:a16="http://schemas.microsoft.com/office/drawing/2014/main" id="{88BDA1B1-82A5-4233-B96E-498DAEA8F05B}"/>
              </a:ext>
            </a:extLst>
          </p:cNvPr>
          <p:cNvSpPr>
            <a:spLocks xmlns:a="http://schemas.openxmlformats.org/drawingml/2006/main" noGrp="1"/>
          </p:cNvSpPr>
          <p:nvPr/>
        </p:nvSpPr>
        <p:spPr>
          <a:xfrm xmlns:a="http://schemas.openxmlformats.org/drawingml/2006/main">
            <a:off x="5848350" y="2209800"/>
            <a:ext cx="5657850" cy="3562350"/>
          </a:xfrm>
          <a:prstGeom xmlns:a="http://schemas.openxmlformats.org/drawingml/2006/main" prst="roundRect">
            <a:avLst>
              <a:gd name="adj" fmla="val 6417"/>
            </a:avLst>
          </a:prstGeom>
          <a:solidFill xmlns:a="http://schemas.openxmlformats.org/drawingml/2006/main">
            <a:srgbClr val="0B1730"/>
          </a:solidFill>
          <a:ln xmlns:a="http://schemas.openxmlformats.org/drawingml/2006/main" w="9525">
            <a:solidFill>
              <a:srgbClr val="24415F"/>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86435743ffd4d4f"/>
          <a:stretch xmlns:a="http://schemas.openxmlformats.org/drawingml/2006/main"/>
        </p:blipFill>
        <p:spPr>
          <a:xfrm xmlns:a="http://schemas.openxmlformats.org/drawingml/2006/main" flipH="0" flipV="0">
            <a:off x="6181611" y="2571672"/>
            <a:ext cx="4991329" cy="2838606"/>
          </a:xfrm>
          <a:prstGeom xmlns:a="http://schemas.openxmlformats.org/drawingml/2006/main" prst="roundRect">
            <a:avLst/>
          </a:prstGeom>
        </p:spPr>
      </p:pic>
    </p:spTree>
    <p:extLst>
      <p:ext uri="{BB962C8B-B14F-4D97-AF65-F5344CB8AC3E}">
        <p14:creationId xmlns:p14="http://schemas.microsoft.com/office/powerpoint/2010/main" val="635153175"/>
      </p:ext>
    </p:extLst>
  </p:cSld>
</p:sld>
</file>

<file path=ppt/slides/slide12.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a353c1e1c0474c"/>
          <a:srcRect xmlns:a="http://schemas.openxmlformats.org/drawingml/2006/main" l="9422" t="0" r="9422" b="0"/>
          <a:stretch xmlns:a="http://schemas.openxmlformats.org/drawingml/2006/main">
            <a:fillRect l="0" t="0" r="0" b="0"/>
          </a:stretch>
        </p:blipFill>
        <p:spPr>
          <a:xfrm xmlns:a="http://schemas.openxmlformats.org/drawingml/2006/main">
            <a:off x="3429000" y="781050"/>
            <a:ext cx="8763000" cy="6076950"/>
          </a:xfrm>
          <a:prstGeom xmlns:a="http://schemas.openxmlformats.org/drawingml/2006/main" prst="rect">
            <a:avLst/>
          </a:prstGeom>
        </p:spPr>
      </p:pic>
      <p:sp>
        <p:nvSpPr>
          <p:cNvPr id="2" name="apps-copy-panel">
            <a:extLst xmlns:a="http://schemas.openxmlformats.org/drawingml/2006/main">
              <a:ext uri="{FF2B5EF4-FFF2-40B4-BE49-F238E27FC236}">
                <a16:creationId xmlns:a16="http://schemas.microsoft.com/office/drawing/2014/main" id="{DD6273E0-772C-45D9-B3F2-A96D671E86E7}"/>
              </a:ext>
            </a:extLst>
          </p:cNvPr>
          <p:cNvSpPr>
            <a:spLocks xmlns:a="http://schemas.openxmlformats.org/drawingml/2006/main" noGrp="1"/>
          </p:cNvSpPr>
          <p:nvPr/>
        </p:nvSpPr>
        <p:spPr>
          <a:xfrm xmlns:a="http://schemas.openxmlformats.org/drawingml/2006/main">
            <a:off x="0" y="0"/>
            <a:ext cx="428625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766C1D39-D726-43A9-9652-F30F80DADC3B}"/>
              </a:ext>
            </a:extLst>
          </p:cNvPr>
          <p:cNvSpPr>
            <a:spLocks xmlns:a="http://schemas.openxmlformats.org/drawingml/2006/main" noGrp="1"/>
          </p:cNvSpPr>
          <p:nvPr/>
        </p:nvSpPr>
        <p:spPr>
          <a:xfrm xmlns:a="http://schemas.openxmlformats.org/drawingml/2006/main">
            <a:off x="685800" y="571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ANWENDUNGEN</a:t>
            </a:r>
          </a:p>
        </p:txBody>
      </p:sp>
      <p:sp>
        <p:nvSpPr>
          <p:cNvPr id="4" name="apps-title">
            <a:extLst xmlns:a="http://schemas.openxmlformats.org/drawingml/2006/main">
              <a:ext uri="{FF2B5EF4-FFF2-40B4-BE49-F238E27FC236}">
                <a16:creationId xmlns:a16="http://schemas.microsoft.com/office/drawing/2014/main" id="{BB0DBB31-D5D2-44AC-991B-6AE941EF36CD}"/>
              </a:ext>
            </a:extLst>
          </p:cNvPr>
          <p:cNvSpPr>
            <a:spLocks xmlns:a="http://schemas.openxmlformats.org/drawingml/2006/main" noGrp="1"/>
          </p:cNvSpPr>
          <p:nvPr/>
        </p:nvSpPr>
        <p:spPr>
          <a:xfrm xmlns:a="http://schemas.openxmlformats.org/drawingml/2006/main">
            <a:off x="685800" y="1524000"/>
            <a:ext cx="3429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Wissen, Chat</a:t>
            </a:r>
          </a:p>
          <a:p xmlns:a="http://schemas.openxmlformats.org/drawingml/2006/main">
            <a:pPr>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und Agenten</a:t>
            </a:r>
          </a:p>
        </p:txBody>
      </p:sp>
      <p:sp>
        <p:nvSpPr>
          <p:cNvPr id="5" name="apps-copy">
            <a:extLst xmlns:a="http://schemas.openxmlformats.org/drawingml/2006/main">
              <a:ext uri="{FF2B5EF4-FFF2-40B4-BE49-F238E27FC236}">
                <a16:creationId xmlns:a16="http://schemas.microsoft.com/office/drawing/2014/main" id="{108837D4-846F-44DD-BA3B-1126E2172D16}"/>
              </a:ext>
            </a:extLst>
          </p:cNvPr>
          <p:cNvSpPr>
            <a:spLocks xmlns:a="http://schemas.openxmlformats.org/drawingml/2006/main" noGrp="1"/>
          </p:cNvSpPr>
          <p:nvPr/>
        </p:nvSpPr>
        <p:spPr>
          <a:xfrm xmlns:a="http://schemas.openxmlformats.org/drawingml/2006/main">
            <a:off x="685800" y="32956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AnythingLLM, OpenClaw, Hermes,</a:t>
            </a:r>
          </a:p>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Paperclip, KubeOpenCode und Odysseus.</a:t>
            </a:r>
          </a:p>
        </p:txBody>
      </p:sp>
      <p:sp>
        <p:nvSpPr>
          <p:cNvPr id="6" name="tag-ANYTHINGLLM">
            <a:extLst xmlns:a="http://schemas.openxmlformats.org/drawingml/2006/main">
              <a:ext uri="{FF2B5EF4-FFF2-40B4-BE49-F238E27FC236}">
                <a16:creationId xmlns:a16="http://schemas.microsoft.com/office/drawing/2014/main" id="{79459B4D-0454-4B99-81E1-B17E1E079B24}"/>
              </a:ext>
            </a:extLst>
          </p:cNvPr>
          <p:cNvSpPr>
            <a:spLocks xmlns:a="http://schemas.openxmlformats.org/drawingml/2006/main" noGrp="1"/>
          </p:cNvSpPr>
          <p:nvPr/>
        </p:nvSpPr>
        <p:spPr>
          <a:xfrm xmlns:a="http://schemas.openxmlformats.org/drawingml/2006/main">
            <a:off x="685800" y="4724400"/>
            <a:ext cx="15621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WISSEN + CHAT</a:t>
            </a:r>
          </a:p>
        </p:txBody>
      </p:sp>
      <p:sp>
        <p:nvSpPr>
          <p:cNvPr id="7" name="tag-OPENCLAW · HERMES">
            <a:extLst xmlns:a="http://schemas.openxmlformats.org/drawingml/2006/main">
              <a:ext uri="{FF2B5EF4-FFF2-40B4-BE49-F238E27FC236}">
                <a16:creationId xmlns:a16="http://schemas.microsoft.com/office/drawing/2014/main" id="{9FA4CBE4-CA80-41C2-AD6F-27CD530EA75E}"/>
              </a:ext>
            </a:extLst>
          </p:cNvPr>
          <p:cNvSpPr>
            <a:spLocks xmlns:a="http://schemas.openxmlformats.org/drawingml/2006/main" noGrp="1"/>
          </p:cNvSpPr>
          <p:nvPr/>
        </p:nvSpPr>
        <p:spPr>
          <a:xfrm xmlns:a="http://schemas.openxmlformats.org/drawingml/2006/main">
            <a:off x="685800" y="5219700"/>
            <a:ext cx="21336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8BDF8"/>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8BDF8"/>
                </a:solidFill>
                <a:latin typeface="Avenir Next"/>
                <a:ea typeface="Avenir Next"/>
                <a:cs typeface="Avenir Next"/>
              </a:defRPr>
            </a:pPr>
            <a:r>
              <a:rPr sz="1200" b="1">
                <a:solidFill>
                  <a:srgbClr val="38BDF8"/>
                </a:solidFill>
                <a:latin typeface="Avenir Next"/>
                <a:ea typeface="Avenir Next"/>
                <a:cs typeface="Avenir Next"/>
              </a:rPr>
              <a:t>AGENTEN + CODING</a:t>
            </a:r>
          </a:p>
        </p:txBody>
      </p:sp>
      <p:sp>
        <p:nvSpPr>
          <p:cNvPr id="8" name="tag-PAPERCLIP · KUBEOPENCODE">
            <a:extLst xmlns:a="http://schemas.openxmlformats.org/drawingml/2006/main">
              <a:ext uri="{FF2B5EF4-FFF2-40B4-BE49-F238E27FC236}">
                <a16:creationId xmlns:a16="http://schemas.microsoft.com/office/drawing/2014/main" id="{B790825B-C0DD-4273-B7E1-31A4DCD0CC57}"/>
              </a:ext>
            </a:extLst>
          </p:cNvPr>
          <p:cNvSpPr>
            <a:spLocks xmlns:a="http://schemas.openxmlformats.org/drawingml/2006/main" noGrp="1"/>
          </p:cNvSpPr>
          <p:nvPr/>
        </p:nvSpPr>
        <p:spPr>
          <a:xfrm xmlns:a="http://schemas.openxmlformats.org/drawingml/2006/main">
            <a:off x="685800" y="5715000"/>
            <a:ext cx="2781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INSTANZEN NACH BEDARF</a:t>
            </a:r>
          </a:p>
        </p:txBody>
      </p:sp>
      <p:sp>
        <p:nvSpPr>
          <p:cNvPr id="9" name="brand-footer">
            <a:extLst xmlns:a="http://schemas.openxmlformats.org/drawingml/2006/main">
              <a:ext uri="{FF2B5EF4-FFF2-40B4-BE49-F238E27FC236}">
                <a16:creationId xmlns:a16="http://schemas.microsoft.com/office/drawing/2014/main" id="{C853599F-3F4E-410E-B3A4-6FCA07B91D9E}"/>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10" name="page-number">
            <a:extLst xmlns:a="http://schemas.openxmlformats.org/drawingml/2006/main">
              <a:ext uri="{FF2B5EF4-FFF2-40B4-BE49-F238E27FC236}">
                <a16:creationId xmlns:a16="http://schemas.microsoft.com/office/drawing/2014/main" id="{BE2C55BF-1AC2-4B2E-8FCE-E5F1340C331E}"/>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12</a:t>
            </a:r>
          </a:p>
        </p:txBody>
      </p:sp>
    </p:spTree>
    <p:extLst>
      <p:ext uri="{BB962C8B-B14F-4D97-AF65-F5344CB8AC3E}">
        <p14:creationId xmlns:p14="http://schemas.microsoft.com/office/powerpoint/2010/main" val="191422405"/>
      </p:ext>
    </p:extLst>
  </p:cSld>
</p:sld>
</file>

<file path=ppt/slides/slide13.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3" name="brand-footer">
            <a:extLst xmlns:a="http://schemas.openxmlformats.org/drawingml/2006/main">
              <a:ext uri="{FF2B5EF4-FFF2-40B4-BE49-F238E27FC236}">
                <a16:creationId xmlns:a16="http://schemas.microsoft.com/office/drawing/2014/main" id="{A5AB3AF5-8866-4389-9BCE-253E42E1F1B6}"/>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43B55DB9-A12A-4CEE-9EEB-45D86B49C643}"/>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13</a:t>
            </a:r>
          </a:p>
        </p:txBody>
      </p:sp>
      <p:sp>
        <p:nvSpPr>
          <p:cNvPr id="3" name="eyebrow">
            <a:extLst xmlns:a="http://schemas.openxmlformats.org/drawingml/2006/main">
              <a:ext uri="{FF2B5EF4-FFF2-40B4-BE49-F238E27FC236}">
                <a16:creationId xmlns:a16="http://schemas.microsoft.com/office/drawing/2014/main" id="{E68882CD-87A3-4C53-B376-B406E1EF2BF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EINE IDENTITÄTSGRENZE</a:t>
            </a:r>
          </a:p>
        </p:txBody>
      </p:sp>
      <p:sp>
        <p:nvSpPr>
          <p:cNvPr id="4" name="title">
            <a:extLst xmlns:a="http://schemas.openxmlformats.org/drawingml/2006/main">
              <a:ext uri="{FF2B5EF4-FFF2-40B4-BE49-F238E27FC236}">
                <a16:creationId xmlns:a16="http://schemas.microsoft.com/office/drawing/2014/main" id="{E7C384BC-A24D-46CC-A371-243E0D2F8EAE}"/>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Lokales SSO schützt Dashboard und Services</a:t>
            </a:r>
          </a:p>
        </p:txBody>
      </p:sp>
      <p:sp>
        <p:nvSpPr>
          <p:cNvPr id="5" name="identity-line-local">
            <a:extLst xmlns:a="http://schemas.openxmlformats.org/drawingml/2006/main">
              <a:ext uri="{FF2B5EF4-FFF2-40B4-BE49-F238E27FC236}">
                <a16:creationId xmlns:a16="http://schemas.microsoft.com/office/drawing/2014/main" id="{24B43AFC-0BCE-4DA3-8E3D-43FF45A9AA95}"/>
              </a:ext>
            </a:extLst>
          </p:cNvPr>
          <p:cNvSpPr>
            <a:spLocks xmlns:a="http://schemas.openxmlformats.org/drawingml/2006/main" noGrp="1"/>
          </p:cNvSpPr>
          <p:nvPr/>
        </p:nvSpPr>
        <p:spPr>
          <a:xfrm xmlns:a="http://schemas.openxmlformats.org/drawingml/2006/main">
            <a:off x="3162300" y="3467100"/>
            <a:ext cx="1657350" cy="0"/>
          </a:xfrm>
          <a:prstGeom xmlns:a="http://schemas.openxmlformats.org/drawingml/2006/main" prst="line">
            <a:avLst/>
          </a:prstGeom>
          <a:noFill xmlns:a="http://schemas.openxmlformats.org/drawingml/2006/main"/>
          <a:ln xmlns:a="http://schemas.openxmlformats.org/drawingml/2006/main" w="28575">
            <a:solidFill>
              <a:srgbClr val="22D3EE"/>
            </a:solidFill>
            <a:prstDash val="solid"/>
          </a:ln>
        </p:spPr>
      </p:sp>
      <p:sp>
        <p:nvSpPr>
          <p:cNvPr id="6" name="identity-line-upstream">
            <a:extLst xmlns:a="http://schemas.openxmlformats.org/drawingml/2006/main">
              <a:ext uri="{FF2B5EF4-FFF2-40B4-BE49-F238E27FC236}">
                <a16:creationId xmlns:a16="http://schemas.microsoft.com/office/drawing/2014/main" id="{2E0B31BA-310D-4B1A-874C-A4118B4339F5}"/>
              </a:ext>
            </a:extLst>
          </p:cNvPr>
          <p:cNvSpPr>
            <a:spLocks xmlns:a="http://schemas.openxmlformats.org/drawingml/2006/main" noGrp="1"/>
          </p:cNvSpPr>
          <p:nvPr/>
        </p:nvSpPr>
        <p:spPr>
          <a:xfrm xmlns:a="http://schemas.openxmlformats.org/drawingml/2006/main" flipV="1">
            <a:off x="6191250" y="2247900"/>
            <a:ext cx="1676400" cy="781050"/>
          </a:xfrm>
          <a:prstGeom xmlns:a="http://schemas.openxmlformats.org/drawingml/2006/main" prst="line">
            <a:avLst/>
          </a:prstGeom>
          <a:noFill xmlns:a="http://schemas.openxmlformats.org/drawingml/2006/main"/>
          <a:ln xmlns:a="http://schemas.openxmlformats.org/drawingml/2006/main" w="28575">
            <a:solidFill>
              <a:srgbClr val="8B5CF6"/>
            </a:solidFill>
            <a:prstDash val="solid"/>
          </a:ln>
        </p:spPr>
      </p:sp>
      <p:sp>
        <p:nvSpPr>
          <p:cNvPr id="7" name="identity-line-apps">
            <a:extLst xmlns:a="http://schemas.openxmlformats.org/drawingml/2006/main">
              <a:ext uri="{FF2B5EF4-FFF2-40B4-BE49-F238E27FC236}">
                <a16:creationId xmlns:a16="http://schemas.microsoft.com/office/drawing/2014/main" id="{D1904FD1-1E02-42BF-BC76-53EFF966BB01}"/>
              </a:ext>
            </a:extLst>
          </p:cNvPr>
          <p:cNvSpPr>
            <a:spLocks xmlns:a="http://schemas.openxmlformats.org/drawingml/2006/main" noGrp="1"/>
          </p:cNvSpPr>
          <p:nvPr/>
        </p:nvSpPr>
        <p:spPr>
          <a:xfrm xmlns:a="http://schemas.openxmlformats.org/drawingml/2006/main">
            <a:off x="6191250" y="3905250"/>
            <a:ext cx="1676400" cy="781050"/>
          </a:xfrm>
          <a:prstGeom xmlns:a="http://schemas.openxmlformats.org/drawingml/2006/main" prst="line">
            <a:avLst/>
          </a:prstGeom>
          <a:noFill xmlns:a="http://schemas.openxmlformats.org/drawingml/2006/main"/>
          <a:ln xmlns:a="http://schemas.openxmlformats.org/drawingml/2006/main" w="28575">
            <a:solidFill>
              <a:srgbClr val="38BDF8"/>
            </a:solidFill>
            <a:prstDash val="solid"/>
          </a:ln>
        </p:spPr>
      </p:sp>
      <p:sp>
        <p:nvSpPr>
          <p:cNvPr id="8" name="identity-local">
            <a:extLst xmlns:a="http://schemas.openxmlformats.org/drawingml/2006/main">
              <a:ext uri="{FF2B5EF4-FFF2-40B4-BE49-F238E27FC236}">
                <a16:creationId xmlns:a16="http://schemas.microsoft.com/office/drawing/2014/main" id="{0E343C9B-A3A4-4F89-8992-382CE3E9F286}"/>
              </a:ext>
            </a:extLst>
          </p:cNvPr>
          <p:cNvSpPr>
            <a:spLocks xmlns:a="http://schemas.openxmlformats.org/drawingml/2006/main" noGrp="1"/>
          </p:cNvSpPr>
          <p:nvPr/>
        </p:nvSpPr>
        <p:spPr>
          <a:xfrm xmlns:a="http://schemas.openxmlformats.org/drawingml/2006/main">
            <a:off x="685800" y="2876550"/>
            <a:ext cx="247650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9" name="identity-local-accent">
            <a:extLst xmlns:a="http://schemas.openxmlformats.org/drawingml/2006/main">
              <a:ext uri="{FF2B5EF4-FFF2-40B4-BE49-F238E27FC236}">
                <a16:creationId xmlns:a16="http://schemas.microsoft.com/office/drawing/2014/main" id="{050DDD4D-A005-4B4E-B2AC-33F914947BFB}"/>
              </a:ext>
            </a:extLst>
          </p:cNvPr>
          <p:cNvSpPr>
            <a:spLocks xmlns:a="http://schemas.openxmlformats.org/drawingml/2006/main" noGrp="1"/>
          </p:cNvSpPr>
          <p:nvPr/>
        </p:nvSpPr>
        <p:spPr>
          <a:xfrm xmlns:a="http://schemas.openxmlformats.org/drawingml/2006/main">
            <a:off x="685800" y="2876550"/>
            <a:ext cx="57150" cy="12001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10" name="identity-local-label">
            <a:extLst xmlns:a="http://schemas.openxmlformats.org/drawingml/2006/main">
              <a:ext uri="{FF2B5EF4-FFF2-40B4-BE49-F238E27FC236}">
                <a16:creationId xmlns:a16="http://schemas.microsoft.com/office/drawing/2014/main" id="{6CAD1522-9096-4ADD-A080-695830C9C3C2}"/>
              </a:ext>
            </a:extLst>
          </p:cNvPr>
          <p:cNvSpPr>
            <a:spLocks xmlns:a="http://schemas.openxmlformats.org/drawingml/2006/main" noGrp="1"/>
          </p:cNvSpPr>
          <p:nvPr/>
        </p:nvSpPr>
        <p:spPr>
          <a:xfrm xmlns:a="http://schemas.openxmlformats.org/drawingml/2006/main">
            <a:off x="952500" y="31146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Keycloak</a:t>
            </a:r>
          </a:p>
        </p:txBody>
      </p:sp>
      <p:sp>
        <p:nvSpPr>
          <p:cNvPr id="11" name="identity-local-sublabel">
            <a:extLst xmlns:a="http://schemas.openxmlformats.org/drawingml/2006/main">
              <a:ext uri="{FF2B5EF4-FFF2-40B4-BE49-F238E27FC236}">
                <a16:creationId xmlns:a16="http://schemas.microsoft.com/office/drawing/2014/main" id="{F78F2C59-D079-4C55-88E7-96DEA15EAE0D}"/>
              </a:ext>
            </a:extLst>
          </p:cNvPr>
          <p:cNvSpPr>
            <a:spLocks xmlns:a="http://schemas.openxmlformats.org/drawingml/2006/main" noGrp="1"/>
          </p:cNvSpPr>
          <p:nvPr/>
        </p:nvSpPr>
        <p:spPr>
          <a:xfrm xmlns:a="http://schemas.openxmlformats.org/drawingml/2006/main">
            <a:off x="952500" y="35337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First Run · offline · lokale Benutzer</a:t>
            </a:r>
          </a:p>
        </p:txBody>
      </p:sp>
      <p:sp>
        <p:nvSpPr>
          <p:cNvPr id="12" name="identity-hub">
            <a:extLst xmlns:a="http://schemas.openxmlformats.org/drawingml/2006/main">
              <a:ext uri="{FF2B5EF4-FFF2-40B4-BE49-F238E27FC236}">
                <a16:creationId xmlns:a16="http://schemas.microsoft.com/office/drawing/2014/main" id="{C1EC5804-0EC8-4CC7-B9C7-EBBE28C86961}"/>
              </a:ext>
            </a:extLst>
          </p:cNvPr>
          <p:cNvSpPr>
            <a:spLocks xmlns:a="http://schemas.openxmlformats.org/drawingml/2006/main" noGrp="1"/>
          </p:cNvSpPr>
          <p:nvPr/>
        </p:nvSpPr>
        <p:spPr>
          <a:xfrm xmlns:a="http://schemas.openxmlformats.org/drawingml/2006/main">
            <a:off x="4819650" y="2762250"/>
            <a:ext cx="1371600" cy="13716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1">
                <a:solidFill>
                  <a:srgbClr val="F7FAFF"/>
                </a:solidFill>
                <a:latin typeface="Avenir Next"/>
                <a:ea typeface="Avenir Next"/>
                <a:cs typeface="Avenir Next"/>
              </a:defRPr>
            </a:pPr>
            <a:r>
              <a:rPr sz="2550" b="1">
                <a:solidFill>
                  <a:srgbClr val="F7FAFF"/>
                </a:solidFill>
                <a:latin typeface="Avenir Next"/>
                <a:ea typeface="Avenir Next"/>
                <a:cs typeface="Avenir Next"/>
              </a:rPr>
              <a:t>SSO</a:t>
            </a:r>
          </a:p>
        </p:txBody>
      </p:sp>
      <p:sp>
        <p:nvSpPr>
          <p:cNvPr id="13" name="identity-upstream">
            <a:extLst xmlns:a="http://schemas.openxmlformats.org/drawingml/2006/main">
              <a:ext uri="{FF2B5EF4-FFF2-40B4-BE49-F238E27FC236}">
                <a16:creationId xmlns:a16="http://schemas.microsoft.com/office/drawing/2014/main" id="{2B19D53D-C91C-4899-AC75-03AFC2E79A91}"/>
              </a:ext>
            </a:extLst>
          </p:cNvPr>
          <p:cNvSpPr>
            <a:spLocks xmlns:a="http://schemas.openxmlformats.org/drawingml/2006/main" noGrp="1"/>
          </p:cNvSpPr>
          <p:nvPr/>
        </p:nvSpPr>
        <p:spPr>
          <a:xfrm xmlns:a="http://schemas.openxmlformats.org/drawingml/2006/main">
            <a:off x="7867650" y="1790700"/>
            <a:ext cx="363855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14" name="identity-upstream-accent">
            <a:extLst xmlns:a="http://schemas.openxmlformats.org/drawingml/2006/main">
              <a:ext uri="{FF2B5EF4-FFF2-40B4-BE49-F238E27FC236}">
                <a16:creationId xmlns:a16="http://schemas.microsoft.com/office/drawing/2014/main" id="{8FABE613-28E9-46F3-BFA6-FE0E19CD26EF}"/>
              </a:ext>
            </a:extLst>
          </p:cNvPr>
          <p:cNvSpPr>
            <a:spLocks xmlns:a="http://schemas.openxmlformats.org/drawingml/2006/main" noGrp="1"/>
          </p:cNvSpPr>
          <p:nvPr/>
        </p:nvSpPr>
        <p:spPr>
          <a:xfrm xmlns:a="http://schemas.openxmlformats.org/drawingml/2006/main">
            <a:off x="7867650" y="1790700"/>
            <a:ext cx="57150" cy="12001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identity-upstream-label">
            <a:extLst xmlns:a="http://schemas.openxmlformats.org/drawingml/2006/main">
              <a:ext uri="{FF2B5EF4-FFF2-40B4-BE49-F238E27FC236}">
                <a16:creationId xmlns:a16="http://schemas.microsoft.com/office/drawing/2014/main" id="{121D01A2-ED6F-4D7F-B774-177716E5CE77}"/>
              </a:ext>
            </a:extLst>
          </p:cNvPr>
          <p:cNvSpPr>
            <a:spLocks xmlns:a="http://schemas.openxmlformats.org/drawingml/2006/main" noGrp="1"/>
          </p:cNvSpPr>
          <p:nvPr/>
        </p:nvSpPr>
        <p:spPr>
          <a:xfrm xmlns:a="http://schemas.openxmlformats.org/drawingml/2006/main">
            <a:off x="8134350" y="202882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Upstream IdP</a:t>
            </a:r>
          </a:p>
        </p:txBody>
      </p:sp>
      <p:sp>
        <p:nvSpPr>
          <p:cNvPr id="16" name="identity-upstream-sublabel">
            <a:extLst xmlns:a="http://schemas.openxmlformats.org/drawingml/2006/main">
              <a:ext uri="{FF2B5EF4-FFF2-40B4-BE49-F238E27FC236}">
                <a16:creationId xmlns:a16="http://schemas.microsoft.com/office/drawing/2014/main" id="{E568520E-37AD-494D-9144-01A0B271B773}"/>
              </a:ext>
            </a:extLst>
          </p:cNvPr>
          <p:cNvSpPr>
            <a:spLocks xmlns:a="http://schemas.openxmlformats.org/drawingml/2006/main" noGrp="1"/>
          </p:cNvSpPr>
          <p:nvPr/>
        </p:nvSpPr>
        <p:spPr>
          <a:xfrm xmlns:a="http://schemas.openxmlformats.org/drawingml/2006/main">
            <a:off x="8134350" y="2447925"/>
            <a:ext cx="3162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Entra · Google · weitere OIDC/SAML</a:t>
            </a:r>
          </a:p>
        </p:txBody>
      </p:sp>
      <p:sp>
        <p:nvSpPr>
          <p:cNvPr id="17" name="identity-apps">
            <a:extLst xmlns:a="http://schemas.openxmlformats.org/drawingml/2006/main">
              <a:ext uri="{FF2B5EF4-FFF2-40B4-BE49-F238E27FC236}">
                <a16:creationId xmlns:a16="http://schemas.microsoft.com/office/drawing/2014/main" id="{45E29E97-923C-4617-8B75-B943FC63BEB7}"/>
              </a:ext>
            </a:extLst>
          </p:cNvPr>
          <p:cNvSpPr>
            <a:spLocks xmlns:a="http://schemas.openxmlformats.org/drawingml/2006/main" noGrp="1"/>
          </p:cNvSpPr>
          <p:nvPr/>
        </p:nvSpPr>
        <p:spPr>
          <a:xfrm xmlns:a="http://schemas.openxmlformats.org/drawingml/2006/main">
            <a:off x="7867650" y="4324350"/>
            <a:ext cx="363855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18" name="identity-apps-accent">
            <a:extLst xmlns:a="http://schemas.openxmlformats.org/drawingml/2006/main">
              <a:ext uri="{FF2B5EF4-FFF2-40B4-BE49-F238E27FC236}">
                <a16:creationId xmlns:a16="http://schemas.microsoft.com/office/drawing/2014/main" id="{7E891912-77F3-4E5D-A62A-5B5EC35BA24F}"/>
              </a:ext>
            </a:extLst>
          </p:cNvPr>
          <p:cNvSpPr>
            <a:spLocks xmlns:a="http://schemas.openxmlformats.org/drawingml/2006/main" noGrp="1"/>
          </p:cNvSpPr>
          <p:nvPr/>
        </p:nvSpPr>
        <p:spPr>
          <a:xfrm xmlns:a="http://schemas.openxmlformats.org/drawingml/2006/main">
            <a:off x="7867650" y="4324350"/>
            <a:ext cx="57150" cy="12001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9" name="identity-apps-label">
            <a:extLst xmlns:a="http://schemas.openxmlformats.org/drawingml/2006/main">
              <a:ext uri="{FF2B5EF4-FFF2-40B4-BE49-F238E27FC236}">
                <a16:creationId xmlns:a16="http://schemas.microsoft.com/office/drawing/2014/main" id="{CC4EC42A-8F79-416F-BA15-A408BBE57A91}"/>
              </a:ext>
            </a:extLst>
          </p:cNvPr>
          <p:cNvSpPr>
            <a:spLocks xmlns:a="http://schemas.openxmlformats.org/drawingml/2006/main" noGrp="1"/>
          </p:cNvSpPr>
          <p:nvPr/>
        </p:nvSpPr>
        <p:spPr>
          <a:xfrm xmlns:a="http://schemas.openxmlformats.org/drawingml/2006/main">
            <a:off x="8134350" y="4562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Dashboard + Services</a:t>
            </a:r>
          </a:p>
        </p:txBody>
      </p:sp>
      <p:sp>
        <p:nvSpPr>
          <p:cNvPr id="20" name="identity-apps-sublabel">
            <a:extLst xmlns:a="http://schemas.openxmlformats.org/drawingml/2006/main">
              <a:ext uri="{FF2B5EF4-FFF2-40B4-BE49-F238E27FC236}">
                <a16:creationId xmlns:a16="http://schemas.microsoft.com/office/drawing/2014/main" id="{50463A35-565F-44F3-8ECB-753311A31D95}"/>
              </a:ext>
            </a:extLst>
          </p:cNvPr>
          <p:cNvSpPr>
            <a:spLocks xmlns:a="http://schemas.openxmlformats.org/drawingml/2006/main" noGrp="1"/>
          </p:cNvSpPr>
          <p:nvPr/>
        </p:nvSpPr>
        <p:spPr>
          <a:xfrm xmlns:a="http://schemas.openxmlformats.org/drawingml/2006/main">
            <a:off x="8134350" y="4981575"/>
            <a:ext cx="3162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Ein Login für geschützte Routen</a:t>
            </a:r>
          </a:p>
        </p:txBody>
      </p:sp>
      <p:sp>
        <p:nvSpPr>
          <p:cNvPr id="21" name="tag-LOCAL-FIRST">
            <a:extLst xmlns:a="http://schemas.openxmlformats.org/drawingml/2006/main">
              <a:ext uri="{FF2B5EF4-FFF2-40B4-BE49-F238E27FC236}">
                <a16:creationId xmlns:a16="http://schemas.microsoft.com/office/drawing/2014/main" id="{DDD34568-FC34-452D-8DD9-A0A83E648043}"/>
              </a:ext>
            </a:extLst>
          </p:cNvPr>
          <p:cNvSpPr>
            <a:spLocks xmlns:a="http://schemas.openxmlformats.org/drawingml/2006/main" noGrp="1"/>
          </p:cNvSpPr>
          <p:nvPr/>
        </p:nvSpPr>
        <p:spPr>
          <a:xfrm xmlns:a="http://schemas.openxmlformats.org/drawingml/2006/main">
            <a:off x="685800" y="4762500"/>
            <a:ext cx="14287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LOCAL-FIRST</a:t>
            </a:r>
          </a:p>
        </p:txBody>
      </p:sp>
      <p:sp>
        <p:nvSpPr>
          <p:cNvPr id="22" name="tag-FEDERATION READY">
            <a:extLst xmlns:a="http://schemas.openxmlformats.org/drawingml/2006/main">
              <a:ext uri="{FF2B5EF4-FFF2-40B4-BE49-F238E27FC236}">
                <a16:creationId xmlns:a16="http://schemas.microsoft.com/office/drawing/2014/main" id="{813CC8BE-043A-4E00-89D1-B5ED1A40FBAA}"/>
              </a:ext>
            </a:extLst>
          </p:cNvPr>
          <p:cNvSpPr>
            <a:spLocks xmlns:a="http://schemas.openxmlformats.org/drawingml/2006/main" noGrp="1"/>
          </p:cNvSpPr>
          <p:nvPr/>
        </p:nvSpPr>
        <p:spPr>
          <a:xfrm xmlns:a="http://schemas.openxmlformats.org/drawingml/2006/main">
            <a:off x="2247900" y="4762500"/>
            <a:ext cx="18669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IDP-BROKER READY</a:t>
            </a:r>
          </a:p>
        </p:txBody>
      </p:sp>
    </p:spTree>
    <p:extLst>
      <p:ext uri="{BB962C8B-B14F-4D97-AF65-F5344CB8AC3E}">
        <p14:creationId xmlns:p14="http://schemas.microsoft.com/office/powerpoint/2010/main" val="1839706665"/>
      </p:ext>
    </p:extLst>
  </p:cSld>
</p:sld>
</file>

<file path=ppt/slides/slide14.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14</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BENUTZERVERWALTUNG</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Benutzer und Rollen bleiben im Control Plane</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Anlegen, bearbeiten, deaktivieren,</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Passwörter zurücksetzen und löschen.</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Viewer, User, Operator und Admin</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steuern den Zugriff auf die Plattform.</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KEYCLOAK · ROLLEN</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43791fa1e274e77"/>
          <a:stretch xmlns:a="http://schemas.openxmlformats.org/drawingml/2006/main"/>
        </p:blipFill>
        <p:spPr>
          <a:xfrm xmlns:a="http://schemas.openxmlformats.org/drawingml/2006/main" flipH="0" flipV="0">
            <a:off x="6007844" y="2174833"/>
            <a:ext cx="4634013" cy="3251283"/>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15.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6" name="brand-footer">
            <a:extLst xmlns:a="http://schemas.openxmlformats.org/drawingml/2006/main">
              <a:ext uri="{FF2B5EF4-FFF2-40B4-BE49-F238E27FC236}">
                <a16:creationId xmlns:a16="http://schemas.microsoft.com/office/drawing/2014/main" id="{B4FED71C-4E91-41CE-AD83-0C38469F2CA3}"/>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12FE50A5-BB2A-4FE4-8C1B-C6AF22B92D4B}"/>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15</a:t>
            </a:r>
          </a:p>
        </p:txBody>
      </p:sp>
      <p:sp>
        <p:nvSpPr>
          <p:cNvPr id="3" name="eyebrow">
            <a:extLst xmlns:a="http://schemas.openxmlformats.org/drawingml/2006/main">
              <a:ext uri="{FF2B5EF4-FFF2-40B4-BE49-F238E27FC236}">
                <a16:creationId xmlns:a16="http://schemas.microsoft.com/office/drawing/2014/main" id="{AD433B31-076F-4870-B642-2B6C1A3719F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DEKLARATIVER BETRIEB</a:t>
            </a:r>
          </a:p>
        </p:txBody>
      </p:sp>
      <p:sp>
        <p:nvSpPr>
          <p:cNvPr id="4" name="title">
            <a:extLst xmlns:a="http://schemas.openxmlformats.org/drawingml/2006/main">
              <a:ext uri="{FF2B5EF4-FFF2-40B4-BE49-F238E27FC236}">
                <a16:creationId xmlns:a16="http://schemas.microsoft.com/office/drawing/2014/main" id="{8358F3F3-D277-4C1E-8096-DF486B8B8366}"/>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450" b="1">
                <a:solidFill>
                  <a:srgbClr val="F7FAFF"/>
                </a:solidFill>
                <a:latin typeface="Avenir Next"/>
                <a:ea typeface="Avenir Next"/>
                <a:cs typeface="Avenir Next"/>
              </a:defRPr>
            </a:pPr>
            <a:r>
              <a:rPr sz="3450" b="1">
                <a:solidFill>
                  <a:srgbClr val="F7FAFF"/>
                </a:solidFill>
                <a:latin typeface="Avenir Next"/>
                <a:ea typeface="Avenir Next"/>
                <a:cs typeface="Avenir Next"/>
              </a:rPr>
              <a:t>Der Sollzustand bleibt versioniert</a:t>
            </a:r>
          </a:p>
        </p:txBody>
      </p:sp>
      <p:sp>
        <p:nvSpPr>
          <p:cNvPr id="5" name="architecture-lead">
            <a:extLst xmlns:a="http://schemas.openxmlformats.org/drawingml/2006/main">
              <a:ext uri="{FF2B5EF4-FFF2-40B4-BE49-F238E27FC236}">
                <a16:creationId xmlns:a16="http://schemas.microsoft.com/office/drawing/2014/main" id="{2519588D-B8F1-46E0-9F9F-BF4DAFDB80AC}"/>
              </a:ext>
            </a:extLst>
          </p:cNvPr>
          <p:cNvSpPr>
            <a:spLocks xmlns:a="http://schemas.openxmlformats.org/drawingml/2006/main" noGrp="1"/>
          </p:cNvSpPr>
          <p:nvPr/>
        </p:nvSpPr>
        <p:spPr>
          <a:xfrm xmlns:a="http://schemas.openxmlformats.org/drawingml/2006/main">
            <a:off x="685800" y="175260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Von der Installation bis zum Modell wird jede Schicht reproduzierbar verwaltet.</a:t>
            </a:r>
          </a:p>
        </p:txBody>
      </p:sp>
      <p:sp>
        <p:nvSpPr>
          <p:cNvPr id="6" name="layer-0">
            <a:extLst xmlns:a="http://schemas.openxmlformats.org/drawingml/2006/main">
              <a:ext uri="{FF2B5EF4-FFF2-40B4-BE49-F238E27FC236}">
                <a16:creationId xmlns:a16="http://schemas.microsoft.com/office/drawing/2014/main" id="{A92C6721-738F-4216-B56D-F3919B0D397C}"/>
              </a:ext>
            </a:extLst>
          </p:cNvPr>
          <p:cNvSpPr>
            <a:spLocks xmlns:a="http://schemas.openxmlformats.org/drawingml/2006/main" noGrp="1"/>
          </p:cNvSpPr>
          <p:nvPr/>
        </p:nvSpPr>
        <p:spPr>
          <a:xfrm xmlns:a="http://schemas.openxmlformats.org/drawingml/2006/main">
            <a:off x="685800" y="26289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7" name="layer-bar-0">
            <a:extLst xmlns:a="http://schemas.openxmlformats.org/drawingml/2006/main">
              <a:ext uri="{FF2B5EF4-FFF2-40B4-BE49-F238E27FC236}">
                <a16:creationId xmlns:a16="http://schemas.microsoft.com/office/drawing/2014/main" id="{94D4CB0E-8928-423E-97FF-25BFAD92C0D2}"/>
              </a:ext>
            </a:extLst>
          </p:cNvPr>
          <p:cNvSpPr>
            <a:spLocks xmlns:a="http://schemas.openxmlformats.org/drawingml/2006/main" noGrp="1"/>
          </p:cNvSpPr>
          <p:nvPr/>
        </p:nvSpPr>
        <p:spPr>
          <a:xfrm xmlns:a="http://schemas.openxmlformats.org/drawingml/2006/main">
            <a:off x="685800" y="2628900"/>
            <a:ext cx="85725" cy="628650"/>
          </a:xfrm>
          <a:prstGeom xmlns:a="http://schemas.openxmlformats.org/drawingml/2006/main" prst="roundRect">
            <a:avLst>
              <a:gd name="adj" fmla="val 44444"/>
            </a:avLst>
          </a:prstGeom>
          <a:solidFill xmlns:a="http://schemas.openxmlformats.org/drawingml/2006/main">
            <a:srgbClr val="22D3EE"/>
          </a:solidFill>
          <a:ln xmlns:a="http://schemas.openxmlformats.org/drawingml/2006/main" w="0">
            <a:noFill/>
            <a:prstDash val="solid"/>
          </a:ln>
        </p:spPr>
      </p:sp>
      <p:sp>
        <p:nvSpPr>
          <p:cNvPr id="8" name="layer-number-0">
            <a:extLst xmlns:a="http://schemas.openxmlformats.org/drawingml/2006/main">
              <a:ext uri="{FF2B5EF4-FFF2-40B4-BE49-F238E27FC236}">
                <a16:creationId xmlns:a16="http://schemas.microsoft.com/office/drawing/2014/main" id="{5C53C113-C9EF-4BF8-90FB-D8604381EEFB}"/>
              </a:ext>
            </a:extLst>
          </p:cNvPr>
          <p:cNvSpPr>
            <a:spLocks xmlns:a="http://schemas.openxmlformats.org/drawingml/2006/main" noGrp="1"/>
          </p:cNvSpPr>
          <p:nvPr/>
        </p:nvSpPr>
        <p:spPr>
          <a:xfrm xmlns:a="http://schemas.openxmlformats.org/drawingml/2006/main">
            <a:off x="990600" y="27908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01</a:t>
            </a:r>
          </a:p>
        </p:txBody>
      </p:sp>
      <p:sp>
        <p:nvSpPr>
          <p:cNvPr id="9" name="layer-title-0">
            <a:extLst xmlns:a="http://schemas.openxmlformats.org/drawingml/2006/main">
              <a:ext uri="{FF2B5EF4-FFF2-40B4-BE49-F238E27FC236}">
                <a16:creationId xmlns:a16="http://schemas.microsoft.com/office/drawing/2014/main" id="{AF44BF44-F451-4B00-8380-3D3719C7696A}"/>
              </a:ext>
            </a:extLst>
          </p:cNvPr>
          <p:cNvSpPr>
            <a:spLocks xmlns:a="http://schemas.openxmlformats.org/drawingml/2006/main" noGrp="1"/>
          </p:cNvSpPr>
          <p:nvPr/>
        </p:nvSpPr>
        <p:spPr>
          <a:xfrm xmlns:a="http://schemas.openxmlformats.org/drawingml/2006/main">
            <a:off x="1657350" y="27622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Automation</a:t>
            </a:r>
          </a:p>
        </p:txBody>
      </p:sp>
      <p:sp>
        <p:nvSpPr>
          <p:cNvPr id="10" name="layer-detail-0">
            <a:extLst xmlns:a="http://schemas.openxmlformats.org/drawingml/2006/main">
              <a:ext uri="{FF2B5EF4-FFF2-40B4-BE49-F238E27FC236}">
                <a16:creationId xmlns:a16="http://schemas.microsoft.com/office/drawing/2014/main" id="{36F48A18-BBF3-4F90-950C-82964E6B6C45}"/>
              </a:ext>
            </a:extLst>
          </p:cNvPr>
          <p:cNvSpPr>
            <a:spLocks xmlns:a="http://schemas.openxmlformats.org/drawingml/2006/main" noGrp="1"/>
          </p:cNvSpPr>
          <p:nvPr/>
        </p:nvSpPr>
        <p:spPr>
          <a:xfrm xmlns:a="http://schemas.openxmlformats.org/drawingml/2006/main">
            <a:off x="6705600" y="28003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USB · cloud-init · Install-Skripte</a:t>
            </a:r>
          </a:p>
        </p:txBody>
      </p:sp>
      <p:sp>
        <p:nvSpPr>
          <p:cNvPr id="11" name="layer-1">
            <a:extLst xmlns:a="http://schemas.openxmlformats.org/drawingml/2006/main">
              <a:ext uri="{FF2B5EF4-FFF2-40B4-BE49-F238E27FC236}">
                <a16:creationId xmlns:a16="http://schemas.microsoft.com/office/drawing/2014/main" id="{06B286B9-E838-4324-B08B-924738ED2AE0}"/>
              </a:ext>
            </a:extLst>
          </p:cNvPr>
          <p:cNvSpPr>
            <a:spLocks xmlns:a="http://schemas.openxmlformats.org/drawingml/2006/main" noGrp="1"/>
          </p:cNvSpPr>
          <p:nvPr/>
        </p:nvSpPr>
        <p:spPr>
          <a:xfrm xmlns:a="http://schemas.openxmlformats.org/drawingml/2006/main">
            <a:off x="685800" y="34480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2" name="layer-bar-1">
            <a:extLst xmlns:a="http://schemas.openxmlformats.org/drawingml/2006/main">
              <a:ext uri="{FF2B5EF4-FFF2-40B4-BE49-F238E27FC236}">
                <a16:creationId xmlns:a16="http://schemas.microsoft.com/office/drawing/2014/main" id="{748E7812-DFB8-4542-931B-C35DDB1B56D3}"/>
              </a:ext>
            </a:extLst>
          </p:cNvPr>
          <p:cNvSpPr>
            <a:spLocks xmlns:a="http://schemas.openxmlformats.org/drawingml/2006/main" noGrp="1"/>
          </p:cNvSpPr>
          <p:nvPr/>
        </p:nvSpPr>
        <p:spPr>
          <a:xfrm xmlns:a="http://schemas.openxmlformats.org/drawingml/2006/main">
            <a:off x="685800" y="3448050"/>
            <a:ext cx="85725" cy="628650"/>
          </a:xfrm>
          <a:prstGeom xmlns:a="http://schemas.openxmlformats.org/drawingml/2006/main" prst="roundRect">
            <a:avLst>
              <a:gd name="adj" fmla="val 44444"/>
            </a:avLst>
          </a:prstGeom>
          <a:solidFill xmlns:a="http://schemas.openxmlformats.org/drawingml/2006/main">
            <a:srgbClr val="38BDF8"/>
          </a:solidFill>
          <a:ln xmlns:a="http://schemas.openxmlformats.org/drawingml/2006/main" w="0">
            <a:noFill/>
            <a:prstDash val="solid"/>
          </a:ln>
        </p:spPr>
      </p:sp>
      <p:sp>
        <p:nvSpPr>
          <p:cNvPr id="13" name="layer-number-1">
            <a:extLst xmlns:a="http://schemas.openxmlformats.org/drawingml/2006/main">
              <a:ext uri="{FF2B5EF4-FFF2-40B4-BE49-F238E27FC236}">
                <a16:creationId xmlns:a16="http://schemas.microsoft.com/office/drawing/2014/main" id="{C23E496D-6119-4289-8CE2-90CA84C45367}"/>
              </a:ext>
            </a:extLst>
          </p:cNvPr>
          <p:cNvSpPr>
            <a:spLocks xmlns:a="http://schemas.openxmlformats.org/drawingml/2006/main" noGrp="1"/>
          </p:cNvSpPr>
          <p:nvPr/>
        </p:nvSpPr>
        <p:spPr>
          <a:xfrm xmlns:a="http://schemas.openxmlformats.org/drawingml/2006/main">
            <a:off x="990600" y="36099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8BDF8"/>
                </a:solidFill>
                <a:latin typeface="Avenir Next"/>
                <a:ea typeface="Avenir Next"/>
                <a:cs typeface="Avenir Next"/>
              </a:defRPr>
            </a:pPr>
            <a:r>
              <a:rPr sz="1500" b="1">
                <a:solidFill>
                  <a:srgbClr val="38BDF8"/>
                </a:solidFill>
                <a:latin typeface="Avenir Next"/>
                <a:ea typeface="Avenir Next"/>
                <a:cs typeface="Avenir Next"/>
              </a:rPr>
              <a:t>02</a:t>
            </a:r>
          </a:p>
        </p:txBody>
      </p:sp>
      <p:sp>
        <p:nvSpPr>
          <p:cNvPr id="14" name="layer-title-1">
            <a:extLst xmlns:a="http://schemas.openxmlformats.org/drawingml/2006/main">
              <a:ext uri="{FF2B5EF4-FFF2-40B4-BE49-F238E27FC236}">
                <a16:creationId xmlns:a16="http://schemas.microsoft.com/office/drawing/2014/main" id="{D4D7148D-3C9E-47F9-94BA-13FD4A4E5666}"/>
              </a:ext>
            </a:extLst>
          </p:cNvPr>
          <p:cNvSpPr>
            <a:spLocks xmlns:a="http://schemas.openxmlformats.org/drawingml/2006/main" noGrp="1"/>
          </p:cNvSpPr>
          <p:nvPr/>
        </p:nvSpPr>
        <p:spPr>
          <a:xfrm xmlns:a="http://schemas.openxmlformats.org/drawingml/2006/main">
            <a:off x="1657350" y="35814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GitOps</a:t>
            </a:r>
          </a:p>
        </p:txBody>
      </p:sp>
      <p:sp>
        <p:nvSpPr>
          <p:cNvPr id="15" name="layer-detail-1">
            <a:extLst xmlns:a="http://schemas.openxmlformats.org/drawingml/2006/main">
              <a:ext uri="{FF2B5EF4-FFF2-40B4-BE49-F238E27FC236}">
                <a16:creationId xmlns:a16="http://schemas.microsoft.com/office/drawing/2014/main" id="{30175DBE-1CA8-4E80-9C11-0E8AFF770206}"/>
              </a:ext>
            </a:extLst>
          </p:cNvPr>
          <p:cNvSpPr>
            <a:spLocks xmlns:a="http://schemas.openxmlformats.org/drawingml/2006/main" noGrp="1"/>
          </p:cNvSpPr>
          <p:nvPr/>
        </p:nvSpPr>
        <p:spPr>
          <a:xfrm xmlns:a="http://schemas.openxmlformats.org/drawingml/2006/main">
            <a:off x="6705600" y="36195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Kubernetes/K3s · Flux</a:t>
            </a:r>
          </a:p>
        </p:txBody>
      </p:sp>
      <p:sp>
        <p:nvSpPr>
          <p:cNvPr id="16" name="layer-2">
            <a:extLst xmlns:a="http://schemas.openxmlformats.org/drawingml/2006/main">
              <a:ext uri="{FF2B5EF4-FFF2-40B4-BE49-F238E27FC236}">
                <a16:creationId xmlns:a16="http://schemas.microsoft.com/office/drawing/2014/main" id="{0EF058A1-8E87-4C3A-A024-6E079266F54F}"/>
              </a:ext>
            </a:extLst>
          </p:cNvPr>
          <p:cNvSpPr>
            <a:spLocks xmlns:a="http://schemas.openxmlformats.org/drawingml/2006/main" noGrp="1"/>
          </p:cNvSpPr>
          <p:nvPr/>
        </p:nvSpPr>
        <p:spPr>
          <a:xfrm xmlns:a="http://schemas.openxmlformats.org/drawingml/2006/main">
            <a:off x="685800" y="42672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7" name="layer-bar-2">
            <a:extLst xmlns:a="http://schemas.openxmlformats.org/drawingml/2006/main">
              <a:ext uri="{FF2B5EF4-FFF2-40B4-BE49-F238E27FC236}">
                <a16:creationId xmlns:a16="http://schemas.microsoft.com/office/drawing/2014/main" id="{D95EE72F-B5B0-4BE4-8319-4D79F44A3E47}"/>
              </a:ext>
            </a:extLst>
          </p:cNvPr>
          <p:cNvSpPr>
            <a:spLocks xmlns:a="http://schemas.openxmlformats.org/drawingml/2006/main" noGrp="1"/>
          </p:cNvSpPr>
          <p:nvPr/>
        </p:nvSpPr>
        <p:spPr>
          <a:xfrm xmlns:a="http://schemas.openxmlformats.org/drawingml/2006/main">
            <a:off x="685800" y="4267200"/>
            <a:ext cx="85725" cy="628650"/>
          </a:xfrm>
          <a:prstGeom xmlns:a="http://schemas.openxmlformats.org/drawingml/2006/main" prst="roundRect">
            <a:avLst>
              <a:gd name="adj" fmla="val 44444"/>
            </a:avLst>
          </a:prstGeom>
          <a:solidFill xmlns:a="http://schemas.openxmlformats.org/drawingml/2006/main">
            <a:srgbClr val="8B5CF6"/>
          </a:solidFill>
          <a:ln xmlns:a="http://schemas.openxmlformats.org/drawingml/2006/main" w="0">
            <a:noFill/>
            <a:prstDash val="solid"/>
          </a:ln>
        </p:spPr>
      </p:sp>
      <p:sp>
        <p:nvSpPr>
          <p:cNvPr id="18" name="layer-number-2">
            <a:extLst xmlns:a="http://schemas.openxmlformats.org/drawingml/2006/main">
              <a:ext uri="{FF2B5EF4-FFF2-40B4-BE49-F238E27FC236}">
                <a16:creationId xmlns:a16="http://schemas.microsoft.com/office/drawing/2014/main" id="{6212AA2E-E445-4386-BD54-F1F5F5995806}"/>
              </a:ext>
            </a:extLst>
          </p:cNvPr>
          <p:cNvSpPr>
            <a:spLocks xmlns:a="http://schemas.openxmlformats.org/drawingml/2006/main" noGrp="1"/>
          </p:cNvSpPr>
          <p:nvPr/>
        </p:nvSpPr>
        <p:spPr>
          <a:xfrm xmlns:a="http://schemas.openxmlformats.org/drawingml/2006/main">
            <a:off x="990600" y="44291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8B5CF6"/>
                </a:solidFill>
                <a:latin typeface="Avenir Next"/>
                <a:ea typeface="Avenir Next"/>
                <a:cs typeface="Avenir Next"/>
              </a:defRPr>
            </a:pPr>
            <a:r>
              <a:rPr sz="1500" b="1">
                <a:solidFill>
                  <a:srgbClr val="8B5CF6"/>
                </a:solidFill>
                <a:latin typeface="Avenir Next"/>
                <a:ea typeface="Avenir Next"/>
                <a:cs typeface="Avenir Next"/>
              </a:rPr>
              <a:t>03</a:t>
            </a:r>
          </a:p>
        </p:txBody>
      </p:sp>
      <p:sp>
        <p:nvSpPr>
          <p:cNvPr id="19" name="layer-title-2">
            <a:extLst xmlns:a="http://schemas.openxmlformats.org/drawingml/2006/main">
              <a:ext uri="{FF2B5EF4-FFF2-40B4-BE49-F238E27FC236}">
                <a16:creationId xmlns:a16="http://schemas.microsoft.com/office/drawing/2014/main" id="{B6B7CB4C-1C80-416E-BD9B-1737F804D234}"/>
              </a:ext>
            </a:extLst>
          </p:cNvPr>
          <p:cNvSpPr>
            <a:spLocks xmlns:a="http://schemas.openxmlformats.org/drawingml/2006/main" noGrp="1"/>
          </p:cNvSpPr>
          <p:nvPr/>
        </p:nvSpPr>
        <p:spPr>
          <a:xfrm xmlns:a="http://schemas.openxmlformats.org/drawingml/2006/main">
            <a:off x="1657350" y="44005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Identität</a:t>
            </a:r>
          </a:p>
        </p:txBody>
      </p:sp>
      <p:sp>
        <p:nvSpPr>
          <p:cNvPr id="20" name="layer-detail-2">
            <a:extLst xmlns:a="http://schemas.openxmlformats.org/drawingml/2006/main">
              <a:ext uri="{FF2B5EF4-FFF2-40B4-BE49-F238E27FC236}">
                <a16:creationId xmlns:a16="http://schemas.microsoft.com/office/drawing/2014/main" id="{E6EBCD84-C954-4E0F-BB10-1F210B2363A7}"/>
              </a:ext>
            </a:extLst>
          </p:cNvPr>
          <p:cNvSpPr>
            <a:spLocks xmlns:a="http://schemas.openxmlformats.org/drawingml/2006/main" noGrp="1"/>
          </p:cNvSpPr>
          <p:nvPr/>
        </p:nvSpPr>
        <p:spPr>
          <a:xfrm xmlns:a="http://schemas.openxmlformats.org/drawingml/2006/main">
            <a:off x="6705600" y="44386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Envoy · Keycloak · First Run</a:t>
            </a:r>
          </a:p>
        </p:txBody>
      </p:sp>
      <p:sp>
        <p:nvSpPr>
          <p:cNvPr id="21" name="layer-3">
            <a:extLst xmlns:a="http://schemas.openxmlformats.org/drawingml/2006/main">
              <a:ext uri="{FF2B5EF4-FFF2-40B4-BE49-F238E27FC236}">
                <a16:creationId xmlns:a16="http://schemas.microsoft.com/office/drawing/2014/main" id="{238D0C50-90C0-4D7B-BBB9-FED95F61C1A0}"/>
              </a:ext>
            </a:extLst>
          </p:cNvPr>
          <p:cNvSpPr>
            <a:spLocks xmlns:a="http://schemas.openxmlformats.org/drawingml/2006/main" noGrp="1"/>
          </p:cNvSpPr>
          <p:nvPr/>
        </p:nvSpPr>
        <p:spPr>
          <a:xfrm xmlns:a="http://schemas.openxmlformats.org/drawingml/2006/main">
            <a:off x="685800" y="50863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22" name="layer-bar-3">
            <a:extLst xmlns:a="http://schemas.openxmlformats.org/drawingml/2006/main">
              <a:ext uri="{FF2B5EF4-FFF2-40B4-BE49-F238E27FC236}">
                <a16:creationId xmlns:a16="http://schemas.microsoft.com/office/drawing/2014/main" id="{E202C055-A07A-4859-A004-E1E874CA1674}"/>
              </a:ext>
            </a:extLst>
          </p:cNvPr>
          <p:cNvSpPr>
            <a:spLocks xmlns:a="http://schemas.openxmlformats.org/drawingml/2006/main" noGrp="1"/>
          </p:cNvSpPr>
          <p:nvPr/>
        </p:nvSpPr>
        <p:spPr>
          <a:xfrm xmlns:a="http://schemas.openxmlformats.org/drawingml/2006/main">
            <a:off x="685800" y="5086350"/>
            <a:ext cx="85725" cy="6286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23" name="layer-number-3">
            <a:extLst xmlns:a="http://schemas.openxmlformats.org/drawingml/2006/main">
              <a:ext uri="{FF2B5EF4-FFF2-40B4-BE49-F238E27FC236}">
                <a16:creationId xmlns:a16="http://schemas.microsoft.com/office/drawing/2014/main" id="{6960E9B5-A652-49BF-AC8F-22E9B18F8918}"/>
              </a:ext>
            </a:extLst>
          </p:cNvPr>
          <p:cNvSpPr>
            <a:spLocks xmlns:a="http://schemas.openxmlformats.org/drawingml/2006/main" noGrp="1"/>
          </p:cNvSpPr>
          <p:nvPr/>
        </p:nvSpPr>
        <p:spPr>
          <a:xfrm xmlns:a="http://schemas.openxmlformats.org/drawingml/2006/main">
            <a:off x="990600" y="52482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4D399"/>
                </a:solidFill>
                <a:latin typeface="Avenir Next"/>
                <a:ea typeface="Avenir Next"/>
                <a:cs typeface="Avenir Next"/>
              </a:defRPr>
            </a:pPr>
            <a:r>
              <a:rPr sz="1500" b="1">
                <a:solidFill>
                  <a:srgbClr val="34D399"/>
                </a:solidFill>
                <a:latin typeface="Avenir Next"/>
                <a:ea typeface="Avenir Next"/>
                <a:cs typeface="Avenir Next"/>
              </a:rPr>
              <a:t>04</a:t>
            </a:r>
          </a:p>
        </p:txBody>
      </p:sp>
      <p:sp>
        <p:nvSpPr>
          <p:cNvPr id="24" name="layer-title-3">
            <a:extLst xmlns:a="http://schemas.openxmlformats.org/drawingml/2006/main">
              <a:ext uri="{FF2B5EF4-FFF2-40B4-BE49-F238E27FC236}">
                <a16:creationId xmlns:a16="http://schemas.microsoft.com/office/drawing/2014/main" id="{E7EE075F-5E28-4CB2-BD3B-B26F772CE2F6}"/>
              </a:ext>
            </a:extLst>
          </p:cNvPr>
          <p:cNvSpPr>
            <a:spLocks xmlns:a="http://schemas.openxmlformats.org/drawingml/2006/main" noGrp="1"/>
          </p:cNvSpPr>
          <p:nvPr/>
        </p:nvSpPr>
        <p:spPr>
          <a:xfrm xmlns:a="http://schemas.openxmlformats.org/drawingml/2006/main">
            <a:off x="1657350" y="5219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AI Workloads</a:t>
            </a:r>
          </a:p>
        </p:txBody>
      </p:sp>
      <p:sp>
        <p:nvSpPr>
          <p:cNvPr id="25" name="layer-detail-3">
            <a:extLst xmlns:a="http://schemas.openxmlformats.org/drawingml/2006/main">
              <a:ext uri="{FF2B5EF4-FFF2-40B4-BE49-F238E27FC236}">
                <a16:creationId xmlns:a16="http://schemas.microsoft.com/office/drawing/2014/main" id="{56337E75-D9E4-4A5C-95F3-FA5CC51CA2A3}"/>
              </a:ext>
            </a:extLst>
          </p:cNvPr>
          <p:cNvSpPr>
            <a:spLocks xmlns:a="http://schemas.openxmlformats.org/drawingml/2006/main" noGrp="1"/>
          </p:cNvSpPr>
          <p:nvPr/>
        </p:nvSpPr>
        <p:spPr>
          <a:xfrm xmlns:a="http://schemas.openxmlformats.org/drawingml/2006/main">
            <a:off x="6705600" y="52578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Operator · KubeAI · LiteLLM · Apps</a:t>
            </a:r>
          </a:p>
        </p:txBody>
      </p:sp>
    </p:spTree>
    <p:extLst>
      <p:ext uri="{BB962C8B-B14F-4D97-AF65-F5344CB8AC3E}">
        <p14:creationId xmlns:p14="http://schemas.microsoft.com/office/powerpoint/2010/main" val="1944236189"/>
      </p:ext>
    </p:extLst>
  </p:cSld>
</p:sld>
</file>

<file path=ppt/slides/slide16.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16</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HARDWARE-AWARE</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Operatoren folgen der erkannten Hardware</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NFD erkennt NVIDIA, AMD und Intel.</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Der Status trennt installiert von nutzbar.</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CPU bleibt unabhängig verfügbar.</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GPU-Ziele erscheinen erst bei echter Bereitschaft.</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HARDWARE · BEREIT</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116bff7cd544e10"/>
          <a:stretch xmlns:a="http://schemas.openxmlformats.org/drawingml/2006/main"/>
        </p:blipFill>
        <p:spPr>
          <a:xfrm xmlns:a="http://schemas.openxmlformats.org/drawingml/2006/main" flipH="0" flipV="0">
            <a:off x="5466366" y="2174833"/>
            <a:ext cx="5716969" cy="3251283"/>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17.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3" name="brand-footer">
            <a:extLst xmlns:a="http://schemas.openxmlformats.org/drawingml/2006/main">
              <a:ext uri="{FF2B5EF4-FFF2-40B4-BE49-F238E27FC236}">
                <a16:creationId xmlns:a16="http://schemas.microsoft.com/office/drawing/2014/main" id="{2228BEDA-4712-4198-AAB7-D5BFCF66EDD3}"/>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DA7D2355-D960-4D1F-B196-D90C4DF2D0D7}"/>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17</a:t>
            </a:r>
          </a:p>
        </p:txBody>
      </p:sp>
      <p:sp>
        <p:nvSpPr>
          <p:cNvPr id="3" name="eyebrow">
            <a:extLst xmlns:a="http://schemas.openxmlformats.org/drawingml/2006/main">
              <a:ext uri="{FF2B5EF4-FFF2-40B4-BE49-F238E27FC236}">
                <a16:creationId xmlns:a16="http://schemas.microsoft.com/office/drawing/2014/main" id="{303BC3A2-8A9F-48BA-90A1-C20B9A9588EA}"/>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SOURCE-AVAILABLE</a:t>
            </a:r>
          </a:p>
        </p:txBody>
      </p:sp>
      <p:sp>
        <p:nvSpPr>
          <p:cNvPr id="4" name="title">
            <a:extLst xmlns:a="http://schemas.openxmlformats.org/drawingml/2006/main">
              <a:ext uri="{FF2B5EF4-FFF2-40B4-BE49-F238E27FC236}">
                <a16:creationId xmlns:a16="http://schemas.microsoft.com/office/drawing/2014/main" id="{FFB94D5C-E842-4785-ACF9-F198DEFF175B}"/>
              </a:ext>
            </a:extLst>
          </p:cNvPr>
          <p:cNvSpPr>
            <a:spLocks xmlns:a="http://schemas.openxmlformats.org/drawingml/2006/main" noGrp="1"/>
          </p:cNvSpPr>
          <p:nvPr/>
        </p:nvSpPr>
        <p:spPr>
          <a:xfrm xmlns:a="http://schemas.openxmlformats.org/drawingml/2006/main">
            <a:off x="685800" y="97155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450" b="1">
                <a:solidFill>
                  <a:srgbClr val="F7FAFF"/>
                </a:solidFill>
                <a:latin typeface="Avenir Next"/>
                <a:ea typeface="Avenir Next"/>
                <a:cs typeface="Avenir Next"/>
              </a:defRPr>
            </a:pPr>
            <a:r>
              <a:rPr sz="3450" b="1">
                <a:solidFill>
                  <a:srgbClr val="F7FAFF"/>
                </a:solidFill>
                <a:latin typeface="Avenir Next"/>
                <a:ea typeface="Avenir Next"/>
                <a:cs typeface="Avenir Next"/>
              </a:rPr>
              <a:t>Eine Plattform. Drei Lizenzstufen.</a:t>
            </a:r>
          </a:p>
        </p:txBody>
      </p:sp>
      <p:sp>
        <p:nvSpPr>
          <p:cNvPr id="5" name="community-surface">
            <a:extLst xmlns:a="http://schemas.openxmlformats.org/drawingml/2006/main">
              <a:ext uri="{FF2B5EF4-FFF2-40B4-BE49-F238E27FC236}">
                <a16:creationId xmlns:a16="http://schemas.microsoft.com/office/drawing/2014/main" id="{D2F1BD44-FABB-4DFE-A5E3-490B3052A7F2}"/>
              </a:ext>
            </a:extLst>
          </p:cNvPr>
          <p:cNvSpPr>
            <a:spLocks xmlns:a="http://schemas.openxmlformats.org/drawingml/2006/main" noGrp="1"/>
          </p:cNvSpPr>
          <p:nvPr/>
        </p:nvSpPr>
        <p:spPr>
          <a:xfrm xmlns:a="http://schemas.openxmlformats.org/drawingml/2006/main">
            <a:off x="685800" y="2171700"/>
            <a:ext cx="5162550" cy="3409950"/>
          </a:xfrm>
          <a:prstGeom xmlns:a="http://schemas.openxmlformats.org/drawingml/2006/main" prst="roundRect">
            <a:avLst>
              <a:gd name="adj" fmla="val 7821"/>
            </a:avLst>
          </a:prstGeom>
          <a:solidFill xmlns:a="http://schemas.openxmlformats.org/drawingml/2006/main">
            <a:srgbClr val="0B1730"/>
          </a:solidFill>
          <a:ln xmlns:a="http://schemas.openxmlformats.org/drawingml/2006/main" w="9525">
            <a:solidFill>
              <a:srgbClr val="22D3EE"/>
            </a:solidFill>
            <a:prstDash val="solid"/>
          </a:ln>
        </p:spPr>
      </p:sp>
      <p:sp>
        <p:nvSpPr>
          <p:cNvPr id="6" name="enterprise-surface">
            <a:extLst xmlns:a="http://schemas.openxmlformats.org/drawingml/2006/main">
              <a:ext uri="{FF2B5EF4-FFF2-40B4-BE49-F238E27FC236}">
                <a16:creationId xmlns:a16="http://schemas.microsoft.com/office/drawing/2014/main" id="{A8E3BFB4-436B-4167-BC65-D8B0BD624079}"/>
              </a:ext>
            </a:extLst>
          </p:cNvPr>
          <p:cNvSpPr>
            <a:spLocks xmlns:a="http://schemas.openxmlformats.org/drawingml/2006/main" noGrp="1"/>
          </p:cNvSpPr>
          <p:nvPr/>
        </p:nvSpPr>
        <p:spPr>
          <a:xfrm xmlns:a="http://schemas.openxmlformats.org/drawingml/2006/main">
            <a:off x="6343650" y="2171700"/>
            <a:ext cx="5162550" cy="3409950"/>
          </a:xfrm>
          <a:prstGeom xmlns:a="http://schemas.openxmlformats.org/drawingml/2006/main" prst="roundRect">
            <a:avLst>
              <a:gd name="adj" fmla="val 7821"/>
            </a:avLst>
          </a:prstGeom>
          <a:solidFill xmlns:a="http://schemas.openxmlformats.org/drawingml/2006/main">
            <a:srgbClr val="0B1730"/>
          </a:solidFill>
          <a:ln xmlns:a="http://schemas.openxmlformats.org/drawingml/2006/main" w="9525">
            <a:solidFill>
              <a:srgbClr val="8B5CF6"/>
            </a:solidFill>
            <a:prstDash val="solid"/>
          </a:ln>
        </p:spPr>
      </p:sp>
      <p:sp>
        <p:nvSpPr>
          <p:cNvPr id="7" name="community-title">
            <a:extLst xmlns:a="http://schemas.openxmlformats.org/drawingml/2006/main">
              <a:ext uri="{FF2B5EF4-FFF2-40B4-BE49-F238E27FC236}">
                <a16:creationId xmlns:a16="http://schemas.microsoft.com/office/drawing/2014/main" id="{933EB90C-FD72-4516-90E0-99822252E5CE}"/>
              </a:ext>
            </a:extLst>
          </p:cNvPr>
          <p:cNvSpPr>
            <a:spLocks xmlns:a="http://schemas.openxmlformats.org/drawingml/2006/main" noGrp="1"/>
          </p:cNvSpPr>
          <p:nvPr/>
        </p:nvSpPr>
        <p:spPr>
          <a:xfrm xmlns:a="http://schemas.openxmlformats.org/drawingml/2006/main">
            <a:off x="1028700" y="25146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FREE</a:t>
            </a:r>
          </a:p>
        </p:txBody>
      </p:sp>
      <p:sp>
        <p:nvSpPr>
          <p:cNvPr id="8" name="community-claim">
            <a:extLst xmlns:a="http://schemas.openxmlformats.org/drawingml/2006/main">
              <a:ext uri="{FF2B5EF4-FFF2-40B4-BE49-F238E27FC236}">
                <a16:creationId xmlns:a16="http://schemas.microsoft.com/office/drawing/2014/main" id="{BF7D2CD6-F202-42B4-8077-C1DF6779BCC6}"/>
              </a:ext>
            </a:extLst>
          </p:cNvPr>
          <p:cNvSpPr>
            <a:spLocks xmlns:a="http://schemas.openxmlformats.org/drawingml/2006/main" noGrp="1"/>
          </p:cNvSpPr>
          <p:nvPr/>
        </p:nvSpPr>
        <p:spPr>
          <a:xfrm xmlns:a="http://schemas.openxmlformats.org/drawingml/2006/main">
            <a:off x="1028700" y="3000375"/>
            <a:ext cx="361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Vollständige</a:t>
            </a:r>
          </a:p>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AI-Appliance</a:t>
            </a:r>
          </a:p>
        </p:txBody>
      </p:sp>
      <p:sp>
        <p:nvSpPr>
          <p:cNvPr id="9" name="community-list">
            <a:extLst xmlns:a="http://schemas.openxmlformats.org/drawingml/2006/main">
              <a:ext uri="{FF2B5EF4-FFF2-40B4-BE49-F238E27FC236}">
                <a16:creationId xmlns:a16="http://schemas.microsoft.com/office/drawing/2014/main" id="{3890427B-23CB-4CA3-9150-95FD4A9BFF96}"/>
              </a:ext>
            </a:extLst>
          </p:cNvPr>
          <p:cNvSpPr>
            <a:spLocks xmlns:a="http://schemas.openxmlformats.org/drawingml/2006/main" noGrp="1"/>
          </p:cNvSpPr>
          <p:nvPr/>
        </p:nvSpPr>
        <p:spPr>
          <a:xfrm xmlns:a="http://schemas.openxmlformats.org/drawingml/2006/main">
            <a:off x="1028700" y="4257675"/>
            <a:ext cx="409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BSL 1.1 mit Free Use Grant</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Modelle, Nutzer, Sharing und Mesh</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Bis 2 Mio. EUR Gruppenumsatz*</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MIT nach 3 Jahren je Version</a:t>
            </a:r>
          </a:p>
        </p:txBody>
      </p:sp>
      <p:sp>
        <p:nvSpPr>
          <p:cNvPr id="10" name="enterprise-title">
            <a:extLst xmlns:a="http://schemas.openxmlformats.org/drawingml/2006/main">
              <a:ext uri="{FF2B5EF4-FFF2-40B4-BE49-F238E27FC236}">
                <a16:creationId xmlns:a16="http://schemas.microsoft.com/office/drawing/2014/main" id="{EA9D0837-5A55-474C-8369-7D99FFD55C2C}"/>
              </a:ext>
            </a:extLst>
          </p:cNvPr>
          <p:cNvSpPr>
            <a:spLocks xmlns:a="http://schemas.openxmlformats.org/drawingml/2006/main" noGrp="1"/>
          </p:cNvSpPr>
          <p:nvPr/>
        </p:nvSpPr>
        <p:spPr>
          <a:xfrm xmlns:a="http://schemas.openxmlformats.org/drawingml/2006/main">
            <a:off x="6686550" y="25146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8B5CF6"/>
                </a:solidFill>
                <a:latin typeface="Avenir Next"/>
                <a:ea typeface="Avenir Next"/>
                <a:cs typeface="Avenir Next"/>
              </a:defRPr>
            </a:pPr>
            <a:r>
              <a:rPr sz="1350" b="1">
                <a:solidFill>
                  <a:srgbClr val="8B5CF6"/>
                </a:solidFill>
                <a:latin typeface="Avenir Next"/>
                <a:ea typeface="Avenir Next"/>
                <a:cs typeface="Avenir Next"/>
              </a:rPr>
              <a:t>REGISTERED &amp; COMMERCIAL</a:t>
            </a:r>
          </a:p>
        </p:txBody>
      </p:sp>
      <p:sp>
        <p:nvSpPr>
          <p:cNvPr id="11" name="enterprise-claim">
            <a:extLst xmlns:a="http://schemas.openxmlformats.org/drawingml/2006/main">
              <a:ext uri="{FF2B5EF4-FFF2-40B4-BE49-F238E27FC236}">
                <a16:creationId xmlns:a16="http://schemas.microsoft.com/office/drawing/2014/main" id="{20D6790F-6E23-4C04-8F15-EE1DF192BC56}"/>
              </a:ext>
            </a:extLst>
          </p:cNvPr>
          <p:cNvSpPr>
            <a:spLocks xmlns:a="http://schemas.openxmlformats.org/drawingml/2006/main" noGrp="1"/>
          </p:cNvSpPr>
          <p:nvPr/>
        </p:nvSpPr>
        <p:spPr>
          <a:xfrm xmlns:a="http://schemas.openxmlformats.org/drawingml/2006/main">
            <a:off x="6686550" y="3000375"/>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Federated SSO</a:t>
            </a:r>
          </a:p>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mit Lizenzdatei</a:t>
            </a:r>
          </a:p>
        </p:txBody>
      </p:sp>
      <p:sp>
        <p:nvSpPr>
          <p:cNvPr id="12" name="enterprise-list">
            <a:extLst xmlns:a="http://schemas.openxmlformats.org/drawingml/2006/main">
              <a:ext uri="{FF2B5EF4-FFF2-40B4-BE49-F238E27FC236}">
                <a16:creationId xmlns:a16="http://schemas.microsoft.com/office/drawing/2014/main" id="{16CC02CF-1F9A-43B7-83F3-C58975334FC4}"/>
              </a:ext>
            </a:extLst>
          </p:cNvPr>
          <p:cNvSpPr>
            <a:spLocks xmlns:a="http://schemas.openxmlformats.org/drawingml/2006/main" noGrp="1"/>
          </p:cNvSpPr>
          <p:nvPr/>
        </p:nvSpPr>
        <p:spPr>
          <a:xfrm xmlns:a="http://schemas.openxmlformats.org/drawingml/2006/main">
            <a:off x="6686550" y="4257675"/>
            <a:ext cx="4095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Free Registered: kostenlose Datei</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Commercial: außerhalb des Grants</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Produktive Angebote für Dritte*</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 Details: LICENSING.md</a:t>
            </a:r>
          </a:p>
        </p:txBody>
      </p:sp>
    </p:spTree>
    <p:extLst>
      <p:ext uri="{BB962C8B-B14F-4D97-AF65-F5344CB8AC3E}">
        <p14:creationId xmlns:p14="http://schemas.microsoft.com/office/powerpoint/2010/main" val="1908610349"/>
      </p:ext>
    </p:extLst>
  </p:cSld>
</p:sld>
</file>

<file path=ppt/slides/slide18.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62603bb8e34f12"/>
          <a:srcRect xmlns:a="http://schemas.openxmlformats.org/drawingml/2006/main" l="15607" t="0" r="15607" b="0"/>
          <a:stretch xmlns:a="http://schemas.openxmlformats.org/drawingml/2006/main">
            <a:fillRect l="0" t="0" r="0" b="0"/>
          </a:stretch>
        </p:blipFill>
        <p:spPr>
          <a:xfrm xmlns:a="http://schemas.openxmlformats.org/drawingml/2006/main">
            <a:off x="3810000" y="0"/>
            <a:ext cx="8382000" cy="6858000"/>
          </a:xfrm>
          <a:prstGeom xmlns:a="http://schemas.openxmlformats.org/drawingml/2006/main" prst="rect">
            <a:avLst/>
          </a:prstGeom>
        </p:spPr>
      </p:pic>
      <p:sp>
        <p:nvSpPr>
          <p:cNvPr id="2" name="rbac-copy-panel">
            <a:extLst xmlns:a="http://schemas.openxmlformats.org/drawingml/2006/main">
              <a:ext uri="{FF2B5EF4-FFF2-40B4-BE49-F238E27FC236}">
                <a16:creationId xmlns:a16="http://schemas.microsoft.com/office/drawing/2014/main" id="{57DD2954-38C6-4CA6-B893-C2708485B68B}"/>
              </a:ext>
            </a:extLst>
          </p:cNvPr>
          <p:cNvSpPr>
            <a:spLocks xmlns:a="http://schemas.openxmlformats.org/drawingml/2006/main" noGrp="1"/>
          </p:cNvSpPr>
          <p:nvPr/>
        </p:nvSpPr>
        <p:spPr>
          <a:xfrm xmlns:a="http://schemas.openxmlformats.org/drawingml/2006/main">
            <a:off x="0" y="0"/>
            <a:ext cx="485775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E7CE1C97-CA68-403B-B5D4-5CFE5274BA20}"/>
              </a:ext>
            </a:extLst>
          </p:cNvPr>
          <p:cNvSpPr>
            <a:spLocks xmlns:a="http://schemas.openxmlformats.org/drawingml/2006/main" noGrp="1"/>
          </p:cNvSpPr>
          <p:nvPr/>
        </p:nvSpPr>
        <p:spPr>
          <a:xfrm xmlns:a="http://schemas.openxmlformats.org/drawingml/2006/main">
            <a:off x="685800" y="5715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RESOURCE SHARING</a:t>
            </a:r>
          </a:p>
        </p:txBody>
      </p:sp>
      <p:sp>
        <p:nvSpPr>
          <p:cNvPr id="4" name="rbac-title">
            <a:extLst xmlns:a="http://schemas.openxmlformats.org/drawingml/2006/main">
              <a:ext uri="{FF2B5EF4-FFF2-40B4-BE49-F238E27FC236}">
                <a16:creationId xmlns:a16="http://schemas.microsoft.com/office/drawing/2014/main" id="{7C72C459-A055-42F8-8DA1-03F499C5B043}"/>
              </a:ext>
            </a:extLst>
          </p:cNvPr>
          <p:cNvSpPr>
            <a:spLocks xmlns:a="http://schemas.openxmlformats.org/drawingml/2006/main" noGrp="1"/>
          </p:cNvSpPr>
          <p:nvPr/>
        </p:nvSpPr>
        <p:spPr>
          <a:xfrm xmlns:a="http://schemas.openxmlformats.org/drawingml/2006/main">
            <a:off x="685800" y="1714500"/>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Zugriff folgt Teams</a:t>
            </a:r>
          </a:p>
          <a:p xmlns:a="http://schemas.openxmlformats.org/drawingml/2006/main">
            <a:pPr>
              <a:lnSpc>
                <a:spcPct val="92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und Ressourcen.</a:t>
            </a:r>
          </a:p>
        </p:txBody>
      </p:sp>
      <p:sp>
        <p:nvSpPr>
          <p:cNvPr id="5" name="rbac-copy">
            <a:extLst xmlns:a="http://schemas.openxmlformats.org/drawingml/2006/main">
              <a:ext uri="{FF2B5EF4-FFF2-40B4-BE49-F238E27FC236}">
                <a16:creationId xmlns:a16="http://schemas.microsoft.com/office/drawing/2014/main" id="{C55C4EC3-827E-46E3-B622-AF4B9E1773CB}"/>
              </a:ext>
            </a:extLst>
          </p:cNvPr>
          <p:cNvSpPr>
            <a:spLocks xmlns:a="http://schemas.openxmlformats.org/drawingml/2006/main" noGrp="1"/>
          </p:cNvSpPr>
          <p:nvPr/>
        </p:nvSpPr>
        <p:spPr>
          <a:xfrm xmlns:a="http://schemas.openxmlformats.org/drawingml/2006/main">
            <a:off x="685800" y="3143250"/>
            <a:ext cx="3667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C5D4E6"/>
                </a:solidFill>
                <a:latin typeface="Avenir Next"/>
                <a:ea typeface="Avenir Next"/>
                <a:cs typeface="Avenir Next"/>
              </a:defRPr>
            </a:pPr>
            <a:r>
              <a:rPr sz="1575">
                <a:solidFill>
                  <a:srgbClr val="C5D4E6"/>
                </a:solidFill>
                <a:latin typeface="Avenir Next"/>
                <a:ea typeface="Avenir Next"/>
                <a:cs typeface="Avenir Next"/>
              </a:rPr>
              <a:t>Lokale Nutzer und Gruppen erhalten Zugriff auf ausgewählte Instanzen.</a:t>
            </a:r>
          </a:p>
        </p:txBody>
      </p:sp>
      <p:sp>
        <p:nvSpPr>
          <p:cNvPr id="6" name="tag-IDP-GRUPPEN">
            <a:extLst xmlns:a="http://schemas.openxmlformats.org/drawingml/2006/main">
              <a:ext uri="{FF2B5EF4-FFF2-40B4-BE49-F238E27FC236}">
                <a16:creationId xmlns:a16="http://schemas.microsoft.com/office/drawing/2014/main" id="{A8DCEDA5-8781-4F8F-B701-CD1AE8DE9D83}"/>
              </a:ext>
            </a:extLst>
          </p:cNvPr>
          <p:cNvSpPr>
            <a:spLocks xmlns:a="http://schemas.openxmlformats.org/drawingml/2006/main" noGrp="1"/>
          </p:cNvSpPr>
          <p:nvPr/>
        </p:nvSpPr>
        <p:spPr>
          <a:xfrm xmlns:a="http://schemas.openxmlformats.org/drawingml/2006/main">
            <a:off x="685800" y="4762500"/>
            <a:ext cx="15811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GRUPPEN-RBAC</a:t>
            </a:r>
          </a:p>
        </p:txBody>
      </p:sp>
      <p:sp>
        <p:nvSpPr>
          <p:cNvPr id="7" name="tag-DELEGIERTE ADMINS">
            <a:extLst xmlns:a="http://schemas.openxmlformats.org/drawingml/2006/main">
              <a:ext uri="{FF2B5EF4-FFF2-40B4-BE49-F238E27FC236}">
                <a16:creationId xmlns:a16="http://schemas.microsoft.com/office/drawing/2014/main" id="{26198A03-8C28-478D-97D1-132FC3BD1B53}"/>
              </a:ext>
            </a:extLst>
          </p:cNvPr>
          <p:cNvSpPr>
            <a:spLocks xmlns:a="http://schemas.openxmlformats.org/drawingml/2006/main" noGrp="1"/>
          </p:cNvSpPr>
          <p:nvPr/>
        </p:nvSpPr>
        <p:spPr>
          <a:xfrm xmlns:a="http://schemas.openxmlformats.org/drawingml/2006/main">
            <a:off x="685800" y="5257800"/>
            <a:ext cx="20764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OHNE LIZENZDATEI</a:t>
            </a:r>
          </a:p>
        </p:txBody>
      </p:sp>
      <p:sp>
        <p:nvSpPr>
          <p:cNvPr id="8" name="brand-footer">
            <a:extLst xmlns:a="http://schemas.openxmlformats.org/drawingml/2006/main">
              <a:ext uri="{FF2B5EF4-FFF2-40B4-BE49-F238E27FC236}">
                <a16:creationId xmlns:a16="http://schemas.microsoft.com/office/drawing/2014/main" id="{7A3B09E4-FA48-4D03-90BC-7DBC02F5BB71}"/>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9" name="page-number">
            <a:extLst xmlns:a="http://schemas.openxmlformats.org/drawingml/2006/main">
              <a:ext uri="{FF2B5EF4-FFF2-40B4-BE49-F238E27FC236}">
                <a16:creationId xmlns:a16="http://schemas.microsoft.com/office/drawing/2014/main" id="{8EA94E9A-AC4E-4A78-B2E6-3BB8FAD9140D}"/>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18</a:t>
            </a:r>
          </a:p>
        </p:txBody>
      </p:sp>
    </p:spTree>
    <p:extLst>
      <p:ext uri="{BB962C8B-B14F-4D97-AF65-F5344CB8AC3E}">
        <p14:creationId xmlns:p14="http://schemas.microsoft.com/office/powerpoint/2010/main" val="1385950109"/>
      </p:ext>
    </p:extLst>
  </p:cSld>
</p:sld>
</file>

<file path=ppt/slides/slide19.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8" name="brand-footer">
            <a:extLst xmlns:a="http://schemas.openxmlformats.org/drawingml/2006/main">
              <a:ext uri="{FF2B5EF4-FFF2-40B4-BE49-F238E27FC236}">
                <a16:creationId xmlns:a16="http://schemas.microsoft.com/office/drawing/2014/main" id="{6A44BC62-FCC4-46CB-929E-CF794C2069F9}"/>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7BC55A6-48C2-4476-B7E8-E6B02B73809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19</a:t>
            </a:r>
          </a:p>
        </p:txBody>
      </p:sp>
      <p:sp>
        <p:nvSpPr>
          <p:cNvPr id="3" name="eyebrow">
            <a:extLst xmlns:a="http://schemas.openxmlformats.org/drawingml/2006/main">
              <a:ext uri="{FF2B5EF4-FFF2-40B4-BE49-F238E27FC236}">
                <a16:creationId xmlns:a16="http://schemas.microsoft.com/office/drawing/2014/main" id="{16FC6A1C-E8D0-405D-9E65-FE257BCB84D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DER PILOT</a:t>
            </a:r>
          </a:p>
        </p:txBody>
      </p:sp>
      <p:sp>
        <p:nvSpPr>
          <p:cNvPr id="4" name="title">
            <a:extLst xmlns:a="http://schemas.openxmlformats.org/drawingml/2006/main">
              <a:ext uri="{FF2B5EF4-FFF2-40B4-BE49-F238E27FC236}">
                <a16:creationId xmlns:a16="http://schemas.microsoft.com/office/drawing/2014/main" id="{29D0F21A-1B28-404E-93DF-2893D2BB170C}"/>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In drei Schritten zum belegbaren Nutzen</a:t>
            </a:r>
          </a:p>
        </p:txBody>
      </p:sp>
      <p:sp>
        <p:nvSpPr>
          <p:cNvPr id="5" name="pilot-number-0">
            <a:extLst xmlns:a="http://schemas.openxmlformats.org/drawingml/2006/main">
              <a:ext uri="{FF2B5EF4-FFF2-40B4-BE49-F238E27FC236}">
                <a16:creationId xmlns:a16="http://schemas.microsoft.com/office/drawing/2014/main" id="{0ECDC39A-9F5E-42FE-A205-0D831BD36E14}"/>
              </a:ext>
            </a:extLst>
          </p:cNvPr>
          <p:cNvSpPr>
            <a:spLocks xmlns:a="http://schemas.openxmlformats.org/drawingml/2006/main" noGrp="1"/>
          </p:cNvSpPr>
          <p:nvPr/>
        </p:nvSpPr>
        <p:spPr>
          <a:xfrm xmlns:a="http://schemas.openxmlformats.org/drawingml/2006/main">
            <a:off x="685800" y="20764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01</a:t>
            </a:r>
          </a:p>
        </p:txBody>
      </p:sp>
      <p:sp>
        <p:nvSpPr>
          <p:cNvPr id="6" name="pilot-step-title-0">
            <a:extLst xmlns:a="http://schemas.openxmlformats.org/drawingml/2006/main">
              <a:ext uri="{FF2B5EF4-FFF2-40B4-BE49-F238E27FC236}">
                <a16:creationId xmlns:a16="http://schemas.microsoft.com/office/drawing/2014/main" id="{4C4E1973-43EF-4A15-A742-D7F2AD7ECDBF}"/>
              </a:ext>
            </a:extLst>
          </p:cNvPr>
          <p:cNvSpPr>
            <a:spLocks xmlns:a="http://schemas.openxmlformats.org/drawingml/2006/main" noGrp="1"/>
          </p:cNvSpPr>
          <p:nvPr/>
        </p:nvSpPr>
        <p:spPr>
          <a:xfrm xmlns:a="http://schemas.openxmlformats.org/drawingml/2006/main">
            <a:off x="1409700" y="20574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Use Case festlegen</a:t>
            </a:r>
          </a:p>
        </p:txBody>
      </p:sp>
      <p:sp>
        <p:nvSpPr>
          <p:cNvPr id="7" name="pilot-step-body-0">
            <a:extLst xmlns:a="http://schemas.openxmlformats.org/drawingml/2006/main">
              <a:ext uri="{FF2B5EF4-FFF2-40B4-BE49-F238E27FC236}">
                <a16:creationId xmlns:a16="http://schemas.microsoft.com/office/drawing/2014/main" id="{69910931-1C34-4A00-9936-826514C24169}"/>
              </a:ext>
            </a:extLst>
          </p:cNvPr>
          <p:cNvSpPr>
            <a:spLocks xmlns:a="http://schemas.openxmlformats.org/drawingml/2006/main" noGrp="1"/>
          </p:cNvSpPr>
          <p:nvPr/>
        </p:nvSpPr>
        <p:spPr>
          <a:xfrm xmlns:a="http://schemas.openxmlformats.org/drawingml/2006/main">
            <a:off x="1409700" y="2438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Ziel, Nutzergruppe und Erfolgskriterien</a:t>
            </a:r>
          </a:p>
        </p:txBody>
      </p:sp>
      <p:sp>
        <p:nvSpPr>
          <p:cNvPr id="8" name="pilot-number-1">
            <a:extLst xmlns:a="http://schemas.openxmlformats.org/drawingml/2006/main">
              <a:ext uri="{FF2B5EF4-FFF2-40B4-BE49-F238E27FC236}">
                <a16:creationId xmlns:a16="http://schemas.microsoft.com/office/drawing/2014/main" id="{B0738AF5-F95F-4066-8A21-183D1B732ED7}"/>
              </a:ext>
            </a:extLst>
          </p:cNvPr>
          <p:cNvSpPr>
            <a:spLocks xmlns:a="http://schemas.openxmlformats.org/drawingml/2006/main" noGrp="1"/>
          </p:cNvSpPr>
          <p:nvPr/>
        </p:nvSpPr>
        <p:spPr>
          <a:xfrm xmlns:a="http://schemas.openxmlformats.org/drawingml/2006/main">
            <a:off x="685800" y="31813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8B5CF6"/>
                </a:solidFill>
                <a:latin typeface="Avenir Next"/>
                <a:ea typeface="Avenir Next"/>
                <a:cs typeface="Avenir Next"/>
              </a:defRPr>
            </a:pPr>
            <a:r>
              <a:rPr sz="1425" b="1">
                <a:solidFill>
                  <a:srgbClr val="8B5CF6"/>
                </a:solidFill>
                <a:latin typeface="Avenir Next"/>
                <a:ea typeface="Avenir Next"/>
                <a:cs typeface="Avenir Next"/>
              </a:rPr>
              <a:t>02</a:t>
            </a:r>
          </a:p>
        </p:txBody>
      </p:sp>
      <p:sp>
        <p:nvSpPr>
          <p:cNvPr id="9" name="pilot-step-title-1">
            <a:extLst xmlns:a="http://schemas.openxmlformats.org/drawingml/2006/main">
              <a:ext uri="{FF2B5EF4-FFF2-40B4-BE49-F238E27FC236}">
                <a16:creationId xmlns:a16="http://schemas.microsoft.com/office/drawing/2014/main" id="{1C684C6E-3E2B-41CA-86D4-513031C92D64}"/>
              </a:ext>
            </a:extLst>
          </p:cNvPr>
          <p:cNvSpPr>
            <a:spLocks xmlns:a="http://schemas.openxmlformats.org/drawingml/2006/main" noGrp="1"/>
          </p:cNvSpPr>
          <p:nvPr/>
        </p:nvSpPr>
        <p:spPr>
          <a:xfrm xmlns:a="http://schemas.openxmlformats.org/drawingml/2006/main">
            <a:off x="1409700" y="31623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Magic Stick bereitstellen</a:t>
            </a:r>
          </a:p>
        </p:txBody>
      </p:sp>
      <p:sp>
        <p:nvSpPr>
          <p:cNvPr id="10" name="pilot-step-body-1">
            <a:extLst xmlns:a="http://schemas.openxmlformats.org/drawingml/2006/main">
              <a:ext uri="{FF2B5EF4-FFF2-40B4-BE49-F238E27FC236}">
                <a16:creationId xmlns:a16="http://schemas.microsoft.com/office/drawing/2014/main" id="{57BA7D62-3235-4778-A7AB-23D54D94F533}"/>
              </a:ext>
            </a:extLst>
          </p:cNvPr>
          <p:cNvSpPr>
            <a:spLocks xmlns:a="http://schemas.openxmlformats.org/drawingml/2006/main" noGrp="1"/>
          </p:cNvSpPr>
          <p:nvPr/>
        </p:nvSpPr>
        <p:spPr>
          <a:xfrm xmlns:a="http://schemas.openxmlformats.org/drawingml/2006/main">
            <a:off x="1409700" y="3543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First Run, SSO, Modelle und Services</a:t>
            </a:r>
          </a:p>
        </p:txBody>
      </p:sp>
      <p:sp>
        <p:nvSpPr>
          <p:cNvPr id="11" name="pilot-number-2">
            <a:extLst xmlns:a="http://schemas.openxmlformats.org/drawingml/2006/main">
              <a:ext uri="{FF2B5EF4-FFF2-40B4-BE49-F238E27FC236}">
                <a16:creationId xmlns:a16="http://schemas.microsoft.com/office/drawing/2014/main" id="{46E3DC78-9D6D-4167-8ECE-EBB0F24A7ED9}"/>
              </a:ext>
            </a:extLst>
          </p:cNvPr>
          <p:cNvSpPr>
            <a:spLocks xmlns:a="http://schemas.openxmlformats.org/drawingml/2006/main" noGrp="1"/>
          </p:cNvSpPr>
          <p:nvPr/>
        </p:nvSpPr>
        <p:spPr>
          <a:xfrm xmlns:a="http://schemas.openxmlformats.org/drawingml/2006/main">
            <a:off x="685800" y="42862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03</a:t>
            </a:r>
          </a:p>
        </p:txBody>
      </p:sp>
      <p:sp>
        <p:nvSpPr>
          <p:cNvPr id="12" name="pilot-step-title-2">
            <a:extLst xmlns:a="http://schemas.openxmlformats.org/drawingml/2006/main">
              <a:ext uri="{FF2B5EF4-FFF2-40B4-BE49-F238E27FC236}">
                <a16:creationId xmlns:a16="http://schemas.microsoft.com/office/drawing/2014/main" id="{FC996B72-E84E-472F-A975-A94C355A8181}"/>
              </a:ext>
            </a:extLst>
          </p:cNvPr>
          <p:cNvSpPr>
            <a:spLocks xmlns:a="http://schemas.openxmlformats.org/drawingml/2006/main" noGrp="1"/>
          </p:cNvSpPr>
          <p:nvPr/>
        </p:nvSpPr>
        <p:spPr>
          <a:xfrm xmlns:a="http://schemas.openxmlformats.org/drawingml/2006/main">
            <a:off x="1409700" y="42672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Wirkung nachweisen</a:t>
            </a:r>
          </a:p>
        </p:txBody>
      </p:sp>
      <p:sp>
        <p:nvSpPr>
          <p:cNvPr id="13" name="pilot-step-body-2">
            <a:extLst xmlns:a="http://schemas.openxmlformats.org/drawingml/2006/main">
              <a:ext uri="{FF2B5EF4-FFF2-40B4-BE49-F238E27FC236}">
                <a16:creationId xmlns:a16="http://schemas.microsoft.com/office/drawing/2014/main" id="{F0B8B2CA-ACFF-4558-B194-BCEB6A661576}"/>
              </a:ext>
            </a:extLst>
          </p:cNvPr>
          <p:cNvSpPr>
            <a:spLocks xmlns:a="http://schemas.openxmlformats.org/drawingml/2006/main" noGrp="1"/>
          </p:cNvSpPr>
          <p:nvPr/>
        </p:nvSpPr>
        <p:spPr>
          <a:xfrm xmlns:a="http://schemas.openxmlformats.org/drawingml/2006/main">
            <a:off x="1409700" y="46482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Qualität, Geschwindigkeit, Kosten, Akzeptanz</a:t>
            </a:r>
          </a:p>
        </p:txBody>
      </p:sp>
      <p:sp>
        <p:nvSpPr>
          <p:cNvPr id="14" name="tag-PILOT AUF IHRER INFRASTRUKTUR">
            <a:extLst xmlns:a="http://schemas.openxmlformats.org/drawingml/2006/main">
              <a:ext uri="{FF2B5EF4-FFF2-40B4-BE49-F238E27FC236}">
                <a16:creationId xmlns:a16="http://schemas.microsoft.com/office/drawing/2014/main" id="{F8802782-52F2-4997-B903-E525DAC92C55}"/>
              </a:ext>
            </a:extLst>
          </p:cNvPr>
          <p:cNvSpPr>
            <a:spLocks xmlns:a="http://schemas.openxmlformats.org/drawingml/2006/main" noGrp="1"/>
          </p:cNvSpPr>
          <p:nvPr/>
        </p:nvSpPr>
        <p:spPr>
          <a:xfrm xmlns:a="http://schemas.openxmlformats.org/drawingml/2006/main">
            <a:off x="685800" y="5572125"/>
            <a:ext cx="32575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PILOT AUF IHRER INFRASTRUKTUR</a:t>
            </a:r>
          </a:p>
        </p:txBody>
      </p:sp>
      <p:sp>
        <p:nvSpPr>
          <p:cNvPr id="15" name="pilot-proof-label">
            <a:extLst xmlns:a="http://schemas.openxmlformats.org/drawingml/2006/main">
              <a:ext uri="{FF2B5EF4-FFF2-40B4-BE49-F238E27FC236}">
                <a16:creationId xmlns:a16="http://schemas.microsoft.com/office/drawing/2014/main" id="{B39E610B-C54F-4509-B518-39DC26E8B225}"/>
              </a:ext>
            </a:extLst>
          </p:cNvPr>
          <p:cNvSpPr>
            <a:spLocks xmlns:a="http://schemas.openxmlformats.org/drawingml/2006/main" noGrp="1"/>
          </p:cNvSpPr>
          <p:nvPr/>
        </p:nvSpPr>
        <p:spPr>
          <a:xfrm xmlns:a="http://schemas.openxmlformats.org/drawingml/2006/main">
            <a:off x="6000750" y="1924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AKTUELLE PRODUKTOBERFLÄCHE</a:t>
            </a:r>
          </a:p>
        </p:txBody>
      </p:sp>
      <p:sp>
        <p:nvSpPr>
          <p:cNvPr id="16" name="pilot-proof-frame">
            <a:extLst xmlns:a="http://schemas.openxmlformats.org/drawingml/2006/main">
              <a:ext uri="{FF2B5EF4-FFF2-40B4-BE49-F238E27FC236}">
                <a16:creationId xmlns:a16="http://schemas.microsoft.com/office/drawing/2014/main" id="{88BDA1B1-82A5-4233-B96E-498DAEA8F05B}"/>
              </a:ext>
            </a:extLst>
          </p:cNvPr>
          <p:cNvSpPr>
            <a:spLocks xmlns:a="http://schemas.openxmlformats.org/drawingml/2006/main" noGrp="1"/>
          </p:cNvSpPr>
          <p:nvPr/>
        </p:nvSpPr>
        <p:spPr>
          <a:xfrm xmlns:a="http://schemas.openxmlformats.org/drawingml/2006/main">
            <a:off x="5848350" y="2209800"/>
            <a:ext cx="5657850" cy="3562350"/>
          </a:xfrm>
          <a:prstGeom xmlns:a="http://schemas.openxmlformats.org/drawingml/2006/main" prst="roundRect">
            <a:avLst>
              <a:gd name="adj" fmla="val 6417"/>
            </a:avLst>
          </a:prstGeom>
          <a:solidFill xmlns:a="http://schemas.openxmlformats.org/drawingml/2006/main">
            <a:srgbClr val="0B1730"/>
          </a:solidFill>
          <a:ln xmlns:a="http://schemas.openxmlformats.org/drawingml/2006/main" w="9525">
            <a:solidFill>
              <a:srgbClr val="24415F"/>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1631481a2ef4b20"/>
          <a:stretch xmlns:a="http://schemas.openxmlformats.org/drawingml/2006/main"/>
        </p:blipFill>
        <p:spPr>
          <a:xfrm xmlns:a="http://schemas.openxmlformats.org/drawingml/2006/main" flipH="0" flipV="0">
            <a:off x="6000750" y="3191094"/>
            <a:ext cx="5353050" cy="1599762"/>
          </a:xfrm>
          <a:prstGeom xmlns:a="http://schemas.openxmlformats.org/drawingml/2006/main" prst="roundRect">
            <a:avLst/>
          </a:prstGeom>
        </p:spPr>
      </p:pic>
    </p:spTree>
    <p:extLst>
      <p:ext uri="{BB962C8B-B14F-4D97-AF65-F5344CB8AC3E}">
        <p14:creationId xmlns:p14="http://schemas.microsoft.com/office/powerpoint/2010/main" val="635153175"/>
      </p:ext>
    </p:extLst>
  </p:cSld>
</p:sld>
</file>

<file path=ppt/slides/slide20.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9" name="cta-violet-band">
            <a:extLst xmlns:a="http://schemas.openxmlformats.org/drawingml/2006/main">
              <a:ext uri="{FF2B5EF4-FFF2-40B4-BE49-F238E27FC236}">
                <a16:creationId xmlns:a16="http://schemas.microsoft.com/office/drawing/2014/main" id="{3E2C89B9-7B1D-4A47-A138-8EE2151648E9}"/>
              </a:ext>
            </a:extLst>
          </p:cNvPr>
          <p:cNvSpPr>
            <a:spLocks xmlns:a="http://schemas.openxmlformats.org/drawingml/2006/main" noGrp="1"/>
          </p:cNvSpPr>
          <p:nvPr/>
        </p:nvSpPr>
        <p:spPr>
          <a:xfrm xmlns:a="http://schemas.openxmlformats.org/drawingml/2006/main">
            <a:off x="9620250" y="0"/>
            <a:ext cx="2571750" cy="6858000"/>
          </a:xfrm>
          <a:prstGeom xmlns:a="http://schemas.openxmlformats.org/drawingml/2006/main" prst="rect">
            <a:avLst/>
          </a:prstGeom>
          <a:solidFill xmlns:a="http://schemas.openxmlformats.org/drawingml/2006/main">
            <a:srgbClr val="8B5CF6"/>
          </a:solidFill>
          <a:ln xmlns:a="http://schemas.openxmlformats.org/drawingml/2006/main" w="0">
            <a:noFill/>
            <a:prstDash val="solid"/>
          </a:ln>
        </p:spPr>
      </p:sp>
      <p:sp>
        <p:nvSpPr>
          <p:cNvPr id="2" name="cta-cyan-band">
            <a:extLst xmlns:a="http://schemas.openxmlformats.org/drawingml/2006/main">
              <a:ext uri="{FF2B5EF4-FFF2-40B4-BE49-F238E27FC236}">
                <a16:creationId xmlns:a16="http://schemas.microsoft.com/office/drawing/2014/main" id="{0F40CEB1-B024-4EBB-B3C4-313BCAF5F409}"/>
              </a:ext>
            </a:extLst>
          </p:cNvPr>
          <p:cNvSpPr>
            <a:spLocks xmlns:a="http://schemas.openxmlformats.org/drawingml/2006/main" noGrp="1"/>
          </p:cNvSpPr>
          <p:nvPr/>
        </p:nvSpPr>
        <p:spPr>
          <a:xfrm xmlns:a="http://schemas.openxmlformats.org/drawingml/2006/main">
            <a:off x="9620250" y="0"/>
            <a:ext cx="171450" cy="685800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3" name="cta-glow">
            <a:extLst xmlns:a="http://schemas.openxmlformats.org/drawingml/2006/main">
              <a:ext uri="{FF2B5EF4-FFF2-40B4-BE49-F238E27FC236}">
                <a16:creationId xmlns:a16="http://schemas.microsoft.com/office/drawing/2014/main" id="{B0F2DF70-4601-4CF2-A5A2-68358DC96979}"/>
              </a:ext>
            </a:extLst>
          </p:cNvPr>
          <p:cNvSpPr>
            <a:spLocks xmlns:a="http://schemas.openxmlformats.org/drawingml/2006/main" noGrp="1"/>
          </p:cNvSpPr>
          <p:nvPr/>
        </p:nvSpPr>
        <p:spPr>
          <a:xfrm xmlns:a="http://schemas.openxmlformats.org/drawingml/2006/main">
            <a:off x="9048750" y="971550"/>
            <a:ext cx="1181100" cy="118110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023A9147-B9C5-4C4B-88C8-9B17FFEFBB2C}"/>
              </a:ext>
            </a:extLst>
          </p:cNvPr>
          <p:cNvSpPr>
            <a:spLocks xmlns:a="http://schemas.openxmlformats.org/drawingml/2006/main" noGrp="1"/>
          </p:cNvSpPr>
          <p:nvPr/>
        </p:nvSpPr>
        <p:spPr>
          <a:xfrm xmlns:a="http://schemas.openxmlformats.org/drawingml/2006/main">
            <a:off x="68580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NÄCHSTER SCHRITT · PILOT</a:t>
            </a:r>
          </a:p>
        </p:txBody>
      </p:sp>
      <p:sp>
        <p:nvSpPr>
          <p:cNvPr id="5" name="cta-title">
            <a:extLst xmlns:a="http://schemas.openxmlformats.org/drawingml/2006/main">
              <a:ext uri="{FF2B5EF4-FFF2-40B4-BE49-F238E27FC236}">
                <a16:creationId xmlns:a16="http://schemas.microsoft.com/office/drawing/2014/main" id="{333B9048-2D52-4BD3-93B5-59B5D6D49987}"/>
              </a:ext>
            </a:extLst>
          </p:cNvPr>
          <p:cNvSpPr>
            <a:spLocks xmlns:a="http://schemas.openxmlformats.org/drawingml/2006/main" noGrp="1"/>
          </p:cNvSpPr>
          <p:nvPr/>
        </p:nvSpPr>
        <p:spPr>
          <a:xfrm xmlns:a="http://schemas.openxmlformats.org/drawingml/2006/main">
            <a:off x="685800" y="1952625"/>
            <a:ext cx="7524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4500" b="1">
                <a:solidFill>
                  <a:srgbClr val="F7FAFF"/>
                </a:solidFill>
                <a:latin typeface="Avenir Next"/>
                <a:ea typeface="Avenir Next"/>
                <a:cs typeface="Avenir Next"/>
              </a:defRPr>
            </a:pPr>
            <a:r>
              <a:rPr sz="4500" b="1">
                <a:solidFill>
                  <a:srgbClr val="F7FAFF"/>
                </a:solidFill>
                <a:latin typeface="Avenir Next"/>
                <a:ea typeface="Avenir Next"/>
                <a:cs typeface="Avenir Next"/>
              </a:rPr>
              <a:t>Bringen wir Ihre</a:t>
            </a:r>
          </a:p>
          <a:p xmlns:a="http://schemas.openxmlformats.org/drawingml/2006/main">
            <a:pPr>
              <a:lnSpc>
                <a:spcPct val="92000"/>
              </a:lnSpc>
              <a:buNone/>
              <a:defRPr sz="4500" b="1">
                <a:solidFill>
                  <a:srgbClr val="F7FAFF"/>
                </a:solidFill>
                <a:latin typeface="Avenir Next"/>
                <a:ea typeface="Avenir Next"/>
                <a:cs typeface="Avenir Next"/>
              </a:defRPr>
            </a:pPr>
            <a:r>
              <a:rPr sz="4500" b="1">
                <a:solidFill>
                  <a:srgbClr val="F7FAFF"/>
                </a:solidFill>
                <a:latin typeface="Avenir Next"/>
                <a:ea typeface="Avenir Next"/>
                <a:cs typeface="Avenir Next"/>
              </a:rPr>
              <a:t>KI-Plattform unter</a:t>
            </a:r>
          </a:p>
          <a:p xmlns:a="http://schemas.openxmlformats.org/drawingml/2006/main">
            <a:pPr>
              <a:lnSpc>
                <a:spcPct val="92000"/>
              </a:lnSpc>
              <a:buNone/>
              <a:defRPr sz="4500" b="1">
                <a:solidFill>
                  <a:srgbClr val="F7FAFF"/>
                </a:solidFill>
                <a:latin typeface="Avenir Next"/>
                <a:ea typeface="Avenir Next"/>
                <a:cs typeface="Avenir Next"/>
              </a:defRPr>
            </a:pPr>
            <a:r>
              <a:rPr sz="4500" b="1">
                <a:solidFill>
                  <a:srgbClr val="F7FAFF"/>
                </a:solidFill>
                <a:latin typeface="Avenir Next"/>
                <a:ea typeface="Avenir Next"/>
                <a:cs typeface="Avenir Next"/>
              </a:rPr>
              <a:t>Kontrolle.</a:t>
            </a:r>
          </a:p>
        </p:txBody>
      </p:sp>
      <p:sp>
        <p:nvSpPr>
          <p:cNvPr id="6" name="cta-subtitle">
            <a:extLst xmlns:a="http://schemas.openxmlformats.org/drawingml/2006/main">
              <a:ext uri="{FF2B5EF4-FFF2-40B4-BE49-F238E27FC236}">
                <a16:creationId xmlns:a16="http://schemas.microsoft.com/office/drawing/2014/main" id="{F146BB9B-C9A7-43D9-9974-0A68DD1FBE20}"/>
              </a:ext>
            </a:extLst>
          </p:cNvPr>
          <p:cNvSpPr>
            <a:spLocks xmlns:a="http://schemas.openxmlformats.org/drawingml/2006/main" noGrp="1"/>
          </p:cNvSpPr>
          <p:nvPr/>
        </p:nvSpPr>
        <p:spPr>
          <a:xfrm xmlns:a="http://schemas.openxmlformats.org/drawingml/2006/main">
            <a:off x="685800" y="409575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Magic Stick im Pilot erproben. Lizenzbedingungen: LICENSING.md</a:t>
            </a:r>
          </a:p>
        </p:txBody>
      </p:sp>
      <p:sp>
        <p:nvSpPr>
          <p:cNvPr id="7" name="cta-contact">
            <a:extLst xmlns:a="http://schemas.openxmlformats.org/drawingml/2006/main">
              <a:ext uri="{FF2B5EF4-FFF2-40B4-BE49-F238E27FC236}">
                <a16:creationId xmlns:a16="http://schemas.microsoft.com/office/drawing/2014/main" id="{197599F1-7374-4579-83BB-322B60B98F47}"/>
              </a:ext>
            </a:extLst>
          </p:cNvPr>
          <p:cNvSpPr>
            <a:spLocks xmlns:a="http://schemas.openxmlformats.org/drawingml/2006/main" noGrp="1"/>
          </p:cNvSpPr>
          <p:nvPr/>
        </p:nvSpPr>
        <p:spPr>
          <a:xfrm xmlns:a="http://schemas.openxmlformats.org/drawingml/2006/main">
            <a:off x="685800" y="51054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22D3EE"/>
                </a:solidFill>
                <a:latin typeface="Avenir Next"/>
                <a:ea typeface="Avenir Next"/>
                <a:cs typeface="Avenir Next"/>
              </a:defRPr>
            </a:pPr>
            <a:r>
              <a:rPr sz="2250" b="1">
                <a:solidFill>
                  <a:srgbClr val="22D3EE"/>
                </a:solidFill>
                <a:latin typeface="Avenir Next"/>
                <a:ea typeface="Avenir Next"/>
                <a:cs typeface="Avenir Next"/>
              </a:rPr>
              <a:t>hello@qualityminds.de</a:t>
            </a:r>
          </a:p>
        </p:txBody>
      </p:sp>
      <p:sp>
        <p:nvSpPr>
          <p:cNvPr id="8" name="cta-company">
            <a:extLst xmlns:a="http://schemas.openxmlformats.org/drawingml/2006/main">
              <a:ext uri="{FF2B5EF4-FFF2-40B4-BE49-F238E27FC236}">
                <a16:creationId xmlns:a16="http://schemas.microsoft.com/office/drawing/2014/main" id="{0A06EDC9-A6FF-4858-A1AF-502344E13ADB}"/>
              </a:ext>
            </a:extLst>
          </p:cNvPr>
          <p:cNvSpPr>
            <a:spLocks xmlns:a="http://schemas.openxmlformats.org/drawingml/2006/main" noGrp="1"/>
          </p:cNvSpPr>
          <p:nvPr/>
        </p:nvSpPr>
        <p:spPr>
          <a:xfrm xmlns:a="http://schemas.openxmlformats.org/drawingml/2006/main">
            <a:off x="685800" y="590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8CA3BE"/>
                </a:solidFill>
                <a:latin typeface="Avenir Next"/>
                <a:ea typeface="Avenir Next"/>
                <a:cs typeface="Avenir Next"/>
              </a:defRPr>
            </a:pPr>
            <a:r>
              <a:rPr sz="1200" b="1">
                <a:solidFill>
                  <a:srgbClr val="8CA3BE"/>
                </a:solidFill>
                <a:latin typeface="Avenir Next"/>
                <a:ea typeface="Avenir Next"/>
                <a:cs typeface="Avenir Next"/>
              </a:rPr>
              <a:t>QUALITYMINDS</a:t>
            </a:r>
          </a:p>
        </p:txBody>
      </p:sp>
    </p:spTree>
    <p:extLst>
      <p:ext uri="{BB962C8B-B14F-4D97-AF65-F5344CB8AC3E}">
        <p14:creationId xmlns:p14="http://schemas.microsoft.com/office/powerpoint/2010/main" val="75037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2026-09-23T13:37:38.6330000Z</dcterms:created>
  <dcterms:modified xsi:type="dcterms:W3CDTF">2026-09-23T13:37:38.6330000Z</dcterms:modified>
</coreProperties>
</file>