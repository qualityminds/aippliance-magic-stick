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d67caa000d433a" /><Relationship Type="http://schemas.openxmlformats.org/officeDocument/2006/relationships/extended-properties" Target="/docProps/app.xml" Id="R9e8f6cf7cb1f4e79" /><Relationship Type="http://schemas.openxmlformats.org/officeDocument/2006/relationships/officeDocument" Target="/ppt/presentation.xml" Id="R45f114f5073c4a8f" /></Relationships>
</file>

<file path=ppt/presentation.xml><?xml version="1.0" encoding="utf-8"?>
<p:presentation xmlns:p="http://schemas.openxmlformats.org/presentationml/2006/main">
  <p:sldMasterIdLst>
    <p:sldMasterId xmlns:r="http://schemas.openxmlformats.org/officeDocument/2006/relationships" id="2147483648" r:id="R55eda163489d4c56"/>
  </p:sldMasterIdLst>
  <p:notesMasterIdLst>
    <p:notesMasterId xmlns:r="http://schemas.openxmlformats.org/officeDocument/2006/relationships" r:id="Rd4815005826a4965"/>
  </p:notesMasterIdLst>
  <p:sldIdLst>
    <p:sldId xmlns:r="http://schemas.openxmlformats.org/officeDocument/2006/relationships" id="256" r:id="R5085f374a184432b"/>
  </p:sldIdLst>
  <p:sldSz cx="11811000" cy="167068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3a187599fb4225" /><Relationship Type="http://schemas.openxmlformats.org/officeDocument/2006/relationships/slideMaster" Target="/ppt/slideMasters/slideMaster1.xml" Id="R55eda163489d4c56" /><Relationship Type="http://schemas.openxmlformats.org/officeDocument/2006/relationships/notesMaster" Target="/ppt/notesMasters/notesMaster1.xml" Id="Rd4815005826a4965" /><Relationship Type="http://schemas.openxmlformats.org/officeDocument/2006/relationships/presProps" Target="/ppt/presProps.xml" Id="Rc571334c1709456f" /><Relationship Type="http://schemas.openxmlformats.org/officeDocument/2006/relationships/tableStyles" Target="/ppt/tableStyles.xml" Id="R0aff8fddfe704713" /><Relationship Type="http://schemas.openxmlformats.org/officeDocument/2006/relationships/slide" Target="/ppt/slides/slide1.xml" Id="R5085f374a18443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bdb1bfd9c741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44be2d79fd4495" /><Relationship Type="http://schemas.openxmlformats.org/officeDocument/2006/relationships/notesMaster" Target="/ppt/notesMasters/notesMaster1.xml" Id="R2e2089250dd348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Magic Stick steht unter Business Source License 1.1 (SPDX: BUSL-1.1). Jede Version wechselt drei Jahre nach ihrer ersten öffentlichen Veröffentlichung zur MIT License. Free erlaubt produktive Eigennutzung für Privatpersonen, Non-Profit, Bildung/Forschung sowie Unternehmensgruppen bis einschließlich 2 Mio. EUR konsolidiertem Jahresumsatz. Für neue Gruppen gilt eine vernünftige Good-Faith-Prognose. Produktive kommerzielle OEM-, Appliance-, SaaS-, Hosting- und Managed-Service-Angebote für Dritte sind vom Free Use Grant ausgenommen. Reine Weitergabe und Weiterverkauf sowie nichtproduktive Nutzung bleiben nach BSL erlaubt. Free Registered schaltet Federated SSO mit kostenloser signierter Datei frei. Commercial umfasst commercial-production und federated-sso. Resource Sharing und Private Mesh benötigen keine Lizenzdatei. Maßgeblich sind LICENSE und LICENSING.md, keine Marketing-Kurzfassung. Drittanbieter behalten eigene Lizenzen.</a:t>
            </a:r>
          </a:p>
          <a:p xmlns:a="http://schemas.openxmlformats.org/drawingml/2006/main">
            <a:r>
              <a:t/>
            </a:r>
          </a:p>
          <a:p xmlns:a="http://schemas.openxmlformats.org/drawingml/2006/main">
            <a:r>
              <a:t>[Sources]</a:t>
            </a:r>
          </a:p>
          <a:p xmlns:a="http://schemas.openxmlformats.org/drawingml/2006/main">
            <a:r>
              <a:t>- LICENSE</a:t>
            </a:r>
          </a:p>
          <a:p xmlns:a="http://schemas.openxmlformats.org/drawingml/2006/main">
            <a:r>
              <a:t>- LICENSING.md</a:t>
            </a:r>
          </a:p>
          <a:p xmlns:a="http://schemas.openxmlformats.org/drawingml/2006/main">
            <a:r>
              <a:t>- docs/licensing.md</a:t>
            </a:r>
          </a:p>
          <a:p xmlns:a="http://schemas.openxmlformats.org/drawingml/2006/main">
            <a:r>
              <a:t>- docs/instance-sharing.md</a:t>
            </a:r>
          </a:p>
          <a:p xmlns:a="http://schemas.openxmlformats.org/drawingml/2006/main">
            <a:r>
              <a:t>- docs/private-mesh.md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05d939903c45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e4b33c32dd41b4" /><Relationship Type="http://schemas.openxmlformats.org/officeDocument/2006/relationships/slideLayout" Target="/ppt/slideLayouts/slideLayout1.xml" Id="R5b9e1d4065cf47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9e1d4065cf47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33ba7f16604a97" /><Relationship Type="http://schemas.openxmlformats.org/officeDocument/2006/relationships/image" Target="/ppt/media/image.png" Id="R771ed6b6039645b5" /><Relationship Type="http://schemas.openxmlformats.org/officeDocument/2006/relationships/image" Target="/ppt/media/image.jpeg" Id="Re00950a68da44429" /><Relationship Type="http://schemas.openxmlformats.org/officeDocument/2006/relationships/hyperlink" Target="https://github.com/QualityMinds/AIppliance-Magic-Stick" TargetMode="External" Id="R9ae2863052c54486" /><Relationship Type="http://schemas.openxmlformats.org/officeDocument/2006/relationships/hyperlink" Target="mailto:hello@qualityminds.de" TargetMode="External" Id="R5c912d2a20a94397" /><Relationship Type="http://schemas.openxmlformats.org/officeDocument/2006/relationships/notesSlide" Target="/ppt/notesSlides/notesSlide1.xml" Id="Rab340dc799fa4c78" /></Relationships>
</file>

<file path=ppt/slides/slide1.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771ed6b6039645b5"/>
          <a:srcRect xmlns:a="http://schemas.openxmlformats.org/drawingml/2006/main" l="0" t="10685" r="0" b="10685"/>
          <a:stretch xmlns:a="http://schemas.openxmlformats.org/drawingml/2006/main">
            <a:fillRect l="0" t="0" r="0" b="0"/>
          </a:stretch>
        </p:blipFill>
        <p:spPr>
          <a:xfrm xmlns:a="http://schemas.openxmlformats.org/drawingml/2006/main">
            <a:off x="0" y="0"/>
            <a:ext cx="11811000" cy="6191250"/>
          </a:xfrm>
          <a:prstGeom xmlns:a="http://schemas.openxmlformats.org/drawingml/2006/main" prst="rect">
            <a:avLst/>
          </a:prstGeom>
        </p:spPr>
      </p:pic>
      <p:sp>
        <p:nvSpPr>
          <p:cNvPr id="2" name="hero-left-wash">
            <a:extLst xmlns:a="http://schemas.openxmlformats.org/drawingml/2006/main">
              <a:ext uri="{FF2B5EF4-FFF2-40B4-BE49-F238E27FC236}">
                <a16:creationId xmlns:a16="http://schemas.microsoft.com/office/drawing/2014/main" id="{3AEDB3F3-7715-4C58-B7B5-66F9B9BC5040}"/>
              </a:ext>
            </a:extLst>
          </p:cNvPr>
          <p:cNvSpPr>
            <a:spLocks xmlns:a="http://schemas.openxmlformats.org/drawingml/2006/main" noGrp="1"/>
          </p:cNvSpPr>
          <p:nvPr/>
        </p:nvSpPr>
        <p:spPr>
          <a:xfrm xmlns:a="http://schemas.openxmlformats.org/drawingml/2006/main">
            <a:off x="0" y="0"/>
            <a:ext cx="7239000" cy="6191250"/>
          </a:xfrm>
          <a:prstGeom xmlns:a="http://schemas.openxmlformats.org/drawingml/2006/main" prst="rect">
            <a:avLst/>
          </a:prstGeom>
          <a:gradFill xmlns:a="http://schemas.openxmlformats.org/drawingml/2006/main">
            <a:gsLst>
              <a:gs pos="0">
                <a:srgbClr val="050B18">
                  <a:alpha val="98000"/>
                </a:srgbClr>
              </a:gs>
              <a:gs pos="72000">
                <a:srgbClr val="050B18">
                  <a:alpha val="72000"/>
                </a:srgbClr>
              </a:gs>
              <a:gs pos="100000">
                <a:srgbClr val="050B18">
                  <a:alpha val="0"/>
                </a:srgbClr>
              </a:gs>
            </a:gsLst>
            <a:lin ang="0"/>
          </a:gradFill>
          <a:ln xmlns:a="http://schemas.openxmlformats.org/drawingml/2006/main" w="0">
            <a:noFill/>
            <a:prstDash val="solid"/>
          </a:ln>
        </p:spPr>
      </p:sp>
      <p:sp>
        <p:nvSpPr>
          <p:cNvPr id="3" name="hero-bottom-wash">
            <a:extLst xmlns:a="http://schemas.openxmlformats.org/drawingml/2006/main">
              <a:ext uri="{FF2B5EF4-FFF2-40B4-BE49-F238E27FC236}">
                <a16:creationId xmlns:a16="http://schemas.microsoft.com/office/drawing/2014/main" id="{BD7A8749-C7AB-422A-86E7-52140ED6D94B}"/>
              </a:ext>
            </a:extLst>
          </p:cNvPr>
          <p:cNvSpPr>
            <a:spLocks xmlns:a="http://schemas.openxmlformats.org/drawingml/2006/main" noGrp="1"/>
          </p:cNvSpPr>
          <p:nvPr/>
        </p:nvSpPr>
        <p:spPr>
          <a:xfrm xmlns:a="http://schemas.openxmlformats.org/drawingml/2006/main">
            <a:off x="0" y="5429250"/>
            <a:ext cx="11811000" cy="762000"/>
          </a:xfrm>
          <a:prstGeom xmlns:a="http://schemas.openxmlformats.org/drawingml/2006/main" prst="rect">
            <a:avLst/>
          </a:prstGeom>
          <a:gradFill xmlns:a="http://schemas.openxmlformats.org/drawingml/2006/main">
            <a:gsLst>
              <a:gs pos="0">
                <a:srgbClr val="050B18">
                  <a:alpha val="0"/>
                </a:srgbClr>
              </a:gs>
              <a:gs pos="100000">
                <a:srgbClr val="050B18"/>
              </a:gs>
            </a:gsLst>
            <a:lin ang="5400000"/>
          </a:gradFill>
          <a:ln xmlns:a="http://schemas.openxmlformats.org/drawingml/2006/main" w="0">
            <a:noFill/>
            <a:prstDash val="solid"/>
          </a:ln>
        </p:spPr>
      </p:sp>
      <p:sp>
        <p:nvSpPr>
          <p:cNvPr id="4" name="hero-eyebrow">
            <a:extLst xmlns:a="http://schemas.openxmlformats.org/drawingml/2006/main">
              <a:ext uri="{FF2B5EF4-FFF2-40B4-BE49-F238E27FC236}">
                <a16:creationId xmlns:a16="http://schemas.microsoft.com/office/drawing/2014/main" id="{618A4AF6-B738-4324-8B24-1D65C6187370}"/>
              </a:ext>
            </a:extLst>
          </p:cNvPr>
          <p:cNvSpPr>
            <a:spLocks xmlns:a="http://schemas.openxmlformats.org/drawingml/2006/main" noGrp="1"/>
          </p:cNvSpPr>
          <p:nvPr/>
        </p:nvSpPr>
        <p:spPr>
          <a:xfrm xmlns:a="http://schemas.openxmlformats.org/drawingml/2006/main">
            <a:off x="723900" y="60960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MAGIC STICK · SOURCE-AVAILABLE</a:t>
            </a:r>
          </a:p>
        </p:txBody>
      </p:sp>
      <p:sp>
        <p:nvSpPr>
          <p:cNvPr id="5" name="hero-title">
            <a:extLst xmlns:a="http://schemas.openxmlformats.org/drawingml/2006/main">
              <a:ext uri="{FF2B5EF4-FFF2-40B4-BE49-F238E27FC236}">
                <a16:creationId xmlns:a16="http://schemas.microsoft.com/office/drawing/2014/main" id="{E4475F1A-D129-4948-A03F-607483BCF48F}"/>
              </a:ext>
            </a:extLst>
          </p:cNvPr>
          <p:cNvSpPr>
            <a:spLocks xmlns:a="http://schemas.openxmlformats.org/drawingml/2006/main" noGrp="1"/>
          </p:cNvSpPr>
          <p:nvPr/>
        </p:nvSpPr>
        <p:spPr>
          <a:xfrm xmlns:a="http://schemas.openxmlformats.org/drawingml/2006/main">
            <a:off x="723900" y="1200150"/>
            <a:ext cx="5715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88000"/>
              </a:lnSpc>
              <a:buNone/>
              <a:defRPr sz="4950" b="1">
                <a:solidFill>
                  <a:srgbClr val="F7FAFF"/>
                </a:solidFill>
                <a:latin typeface="Avenir Next"/>
                <a:ea typeface="Avenir Next"/>
                <a:cs typeface="Avenir Next"/>
              </a:defRPr>
            </a:pPr>
            <a:r>
              <a:rPr sz="4950" b="1">
                <a:solidFill>
                  <a:srgbClr val="F7FAFF"/>
                </a:solidFill>
                <a:latin typeface="Avenir Next"/>
                <a:ea typeface="Avenir Next"/>
                <a:cs typeface="Avenir Next"/>
              </a:rPr>
              <a:t>Eine eigene</a:t>
            </a:r>
          </a:p>
          <a:p xmlns:a="http://schemas.openxmlformats.org/drawingml/2006/main">
            <a:pPr algn="l">
              <a:lnSpc>
                <a:spcPct val="88000"/>
              </a:lnSpc>
              <a:buNone/>
              <a:defRPr sz="4950" b="1">
                <a:solidFill>
                  <a:srgbClr val="F7FAFF"/>
                </a:solidFill>
                <a:latin typeface="Avenir Next"/>
                <a:ea typeface="Avenir Next"/>
                <a:cs typeface="Avenir Next"/>
              </a:defRPr>
            </a:pPr>
            <a:r>
              <a:rPr sz="4950" b="1">
                <a:solidFill>
                  <a:srgbClr val="F7FAFF"/>
                </a:solidFill>
                <a:latin typeface="Avenir Next"/>
                <a:ea typeface="Avenir Next"/>
                <a:cs typeface="Avenir Next"/>
              </a:rPr>
              <a:t>KI-Plattform.</a:t>
            </a:r>
          </a:p>
          <a:p xmlns:a="http://schemas.openxmlformats.org/drawingml/2006/main">
            <a:pPr algn="l">
              <a:lnSpc>
                <a:spcPct val="88000"/>
              </a:lnSpc>
              <a:buNone/>
              <a:defRPr sz="4950" b="1">
                <a:solidFill>
                  <a:srgbClr val="F7FAFF"/>
                </a:solidFill>
                <a:latin typeface="Avenir Next"/>
                <a:ea typeface="Avenir Next"/>
                <a:cs typeface="Avenir Next"/>
              </a:defRPr>
            </a:pPr>
            <a:r>
              <a:rPr sz="4950" b="1">
                <a:solidFill>
                  <a:srgbClr val="F7FAFF"/>
                </a:solidFill>
                <a:latin typeface="Avenir Next"/>
                <a:ea typeface="Avenir Next"/>
                <a:cs typeface="Avenir Next"/>
              </a:rPr>
              <a:t>Unter Ihrer Kontrolle.</a:t>
            </a:r>
          </a:p>
        </p:txBody>
      </p:sp>
      <p:sp>
        <p:nvSpPr>
          <p:cNvPr id="6" name="hero-copy">
            <a:extLst xmlns:a="http://schemas.openxmlformats.org/drawingml/2006/main">
              <a:ext uri="{FF2B5EF4-FFF2-40B4-BE49-F238E27FC236}">
                <a16:creationId xmlns:a16="http://schemas.microsoft.com/office/drawing/2014/main" id="{DAB1A8A1-AC44-41D8-881B-D625BA742903}"/>
              </a:ext>
            </a:extLst>
          </p:cNvPr>
          <p:cNvSpPr>
            <a:spLocks xmlns:a="http://schemas.openxmlformats.org/drawingml/2006/main" noGrp="1"/>
          </p:cNvSpPr>
          <p:nvPr/>
        </p:nvSpPr>
        <p:spPr>
          <a:xfrm xmlns:a="http://schemas.openxmlformats.org/drawingml/2006/main">
            <a:off x="742950" y="4362450"/>
            <a:ext cx="533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4000"/>
              </a:lnSpc>
              <a:buNone/>
              <a:defRPr sz="1875" b="0">
                <a:solidFill>
                  <a:srgbClr val="C5D4E6"/>
                </a:solidFill>
                <a:latin typeface="Avenir Next"/>
                <a:ea typeface="Avenir Next"/>
                <a:cs typeface="Avenir Next"/>
              </a:defRPr>
            </a:pPr>
            <a:r>
              <a:rPr sz="1875" b="0">
                <a:solidFill>
                  <a:srgbClr val="C5D4E6"/>
                </a:solidFill>
                <a:latin typeface="Avenir Next"/>
                <a:ea typeface="Avenir Next"/>
                <a:cs typeface="Avenir Next"/>
              </a:rPr>
              <a:t>Magic Stick verbindet Modelle, Services, SSO und GitOps-Betrieb auf Ihrer eigenen Infrastruktur.</a:t>
            </a:r>
          </a:p>
        </p:txBody>
      </p:sp>
      <p:sp>
        <p:nvSpPr>
          <p:cNvPr id="7" name="problem-accent">
            <a:extLst xmlns:a="http://schemas.openxmlformats.org/drawingml/2006/main">
              <a:ext uri="{FF2B5EF4-FFF2-40B4-BE49-F238E27FC236}">
                <a16:creationId xmlns:a16="http://schemas.microsoft.com/office/drawing/2014/main" id="{639B6FD2-DDE5-4AF0-8ECE-A6D691B78C06}"/>
              </a:ext>
            </a:extLst>
          </p:cNvPr>
          <p:cNvSpPr>
            <a:spLocks xmlns:a="http://schemas.openxmlformats.org/drawingml/2006/main" noGrp="1"/>
          </p:cNvSpPr>
          <p:nvPr/>
        </p:nvSpPr>
        <p:spPr>
          <a:xfrm xmlns:a="http://schemas.openxmlformats.org/drawingml/2006/main">
            <a:off x="723900" y="6705600"/>
            <a:ext cx="57150" cy="1143000"/>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8" name="problem-eyebrow">
            <a:extLst xmlns:a="http://schemas.openxmlformats.org/drawingml/2006/main">
              <a:ext uri="{FF2B5EF4-FFF2-40B4-BE49-F238E27FC236}">
                <a16:creationId xmlns:a16="http://schemas.microsoft.com/office/drawing/2014/main" id="{41C3E98F-CFD5-4A56-AD36-982A2B6FB9CB}"/>
              </a:ext>
            </a:extLst>
          </p:cNvPr>
          <p:cNvSpPr>
            <a:spLocks xmlns:a="http://schemas.openxmlformats.org/drawingml/2006/main" noGrp="1"/>
          </p:cNvSpPr>
          <p:nvPr/>
        </p:nvSpPr>
        <p:spPr>
          <a:xfrm xmlns:a="http://schemas.openxmlformats.org/drawingml/2006/main">
            <a:off x="1047750" y="66103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WARUM MAGIC STICK</a:t>
            </a:r>
          </a:p>
        </p:txBody>
      </p:sp>
      <p:sp>
        <p:nvSpPr>
          <p:cNvPr id="9" name="problem-title">
            <a:extLst xmlns:a="http://schemas.openxmlformats.org/drawingml/2006/main">
              <a:ext uri="{FF2B5EF4-FFF2-40B4-BE49-F238E27FC236}">
                <a16:creationId xmlns:a16="http://schemas.microsoft.com/office/drawing/2014/main" id="{011EBB99-2CB8-437F-B291-5E49294CC178}"/>
              </a:ext>
            </a:extLst>
          </p:cNvPr>
          <p:cNvSpPr>
            <a:spLocks xmlns:a="http://schemas.openxmlformats.org/drawingml/2006/main" noGrp="1"/>
          </p:cNvSpPr>
          <p:nvPr/>
        </p:nvSpPr>
        <p:spPr>
          <a:xfrm xmlns:a="http://schemas.openxmlformats.org/drawingml/2006/main">
            <a:off x="1047750" y="69723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3300" b="1">
                <a:solidFill>
                  <a:srgbClr val="F7FAFF"/>
                </a:solidFill>
                <a:latin typeface="Avenir Next"/>
                <a:ea typeface="Avenir Next"/>
                <a:cs typeface="Avenir Next"/>
              </a:defRPr>
            </a:pPr>
            <a:r>
              <a:rPr sz="3300" b="1">
                <a:solidFill>
                  <a:srgbClr val="F7FAFF"/>
                </a:solidFill>
                <a:latin typeface="Avenir Next"/>
                <a:ea typeface="Avenir Next"/>
                <a:cs typeface="Avenir Next"/>
              </a:rPr>
              <a:t>KI ist mehr als ein Modell.</a:t>
            </a:r>
          </a:p>
        </p:txBody>
      </p:sp>
      <p:sp>
        <p:nvSpPr>
          <p:cNvPr id="10" name="problem-copy">
            <a:extLst xmlns:a="http://schemas.openxmlformats.org/drawingml/2006/main">
              <a:ext uri="{FF2B5EF4-FFF2-40B4-BE49-F238E27FC236}">
                <a16:creationId xmlns:a16="http://schemas.microsoft.com/office/drawing/2014/main" id="{A686A78A-7B76-4A32-BAFD-8C72E772553D}"/>
              </a:ext>
            </a:extLst>
          </p:cNvPr>
          <p:cNvSpPr>
            <a:spLocks xmlns:a="http://schemas.openxmlformats.org/drawingml/2006/main" noGrp="1"/>
          </p:cNvSpPr>
          <p:nvPr/>
        </p:nvSpPr>
        <p:spPr>
          <a:xfrm xmlns:a="http://schemas.openxmlformats.org/drawingml/2006/main">
            <a:off x="1047750" y="7591425"/>
            <a:ext cx="962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4000"/>
              </a:lnSpc>
              <a:buNone/>
              <a:defRPr sz="1725" b="0">
                <a:solidFill>
                  <a:srgbClr val="C5D4E6"/>
                </a:solidFill>
                <a:latin typeface="Avenir Next"/>
                <a:ea typeface="Avenir Next"/>
                <a:cs typeface="Avenir Next"/>
              </a:defRPr>
            </a:pPr>
            <a:r>
              <a:rPr sz="1725" b="0">
                <a:solidFill>
                  <a:srgbClr val="C5D4E6"/>
                </a:solidFill>
                <a:latin typeface="Avenir Next"/>
                <a:ea typeface="Avenir Next"/>
                <a:cs typeface="Avenir Next"/>
              </a:rPr>
              <a:t>Erst Installation, Modellzugang, Anwendungen und sichere Zugänge machen daraus ein nutzbares System.</a:t>
            </a:r>
          </a:p>
        </p:txBody>
      </p:sp>
      <p:sp>
        <p:nvSpPr>
          <p:cNvPr id="11" name="outcome-eyebrow">
            <a:extLst xmlns:a="http://schemas.openxmlformats.org/drawingml/2006/main">
              <a:ext uri="{FF2B5EF4-FFF2-40B4-BE49-F238E27FC236}">
                <a16:creationId xmlns:a16="http://schemas.microsoft.com/office/drawing/2014/main" id="{5312B735-2DBA-477B-95BC-5CD3A5B2C0C8}"/>
              </a:ext>
            </a:extLst>
          </p:cNvPr>
          <p:cNvSpPr>
            <a:spLocks xmlns:a="http://schemas.openxmlformats.org/drawingml/2006/main" noGrp="1"/>
          </p:cNvSpPr>
          <p:nvPr/>
        </p:nvSpPr>
        <p:spPr>
          <a:xfrm xmlns:a="http://schemas.openxmlformats.org/drawingml/2006/main">
            <a:off x="723900" y="84772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7188A5"/>
                </a:solidFill>
                <a:latin typeface="Avenir Next"/>
                <a:ea typeface="Avenir Next"/>
                <a:cs typeface="Avenir Next"/>
              </a:defRPr>
            </a:pPr>
            <a:r>
              <a:rPr sz="1200" b="1">
                <a:solidFill>
                  <a:srgbClr val="7188A5"/>
                </a:solidFill>
                <a:latin typeface="Avenir Next"/>
                <a:ea typeface="Avenir Next"/>
                <a:cs typeface="Avenir Next"/>
              </a:rPr>
              <a:t>WAS SICH VERÄNDERT</a:t>
            </a:r>
          </a:p>
        </p:txBody>
      </p:sp>
      <p:sp>
        <p:nvSpPr>
          <p:cNvPr id="12" name="outcome-number-1">
            <a:extLst xmlns:a="http://schemas.openxmlformats.org/drawingml/2006/main">
              <a:ext uri="{FF2B5EF4-FFF2-40B4-BE49-F238E27FC236}">
                <a16:creationId xmlns:a16="http://schemas.microsoft.com/office/drawing/2014/main" id="{289CD2CF-2352-4663-92B5-DFE6D7F0202E}"/>
              </a:ext>
            </a:extLst>
          </p:cNvPr>
          <p:cNvSpPr>
            <a:spLocks xmlns:a="http://schemas.openxmlformats.org/drawingml/2006/main" noGrp="1"/>
          </p:cNvSpPr>
          <p:nvPr/>
        </p:nvSpPr>
        <p:spPr>
          <a:xfrm xmlns:a="http://schemas.openxmlformats.org/drawingml/2006/main">
            <a:off x="723900" y="8943975"/>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01</a:t>
            </a:r>
          </a:p>
        </p:txBody>
      </p:sp>
      <p:sp>
        <p:nvSpPr>
          <p:cNvPr id="13" name="outcome-title-1">
            <a:extLst xmlns:a="http://schemas.openxmlformats.org/drawingml/2006/main">
              <a:ext uri="{FF2B5EF4-FFF2-40B4-BE49-F238E27FC236}">
                <a16:creationId xmlns:a16="http://schemas.microsoft.com/office/drawing/2014/main" id="{901063FB-3E70-4607-9F98-9965FF92945E}"/>
              </a:ext>
            </a:extLst>
          </p:cNvPr>
          <p:cNvSpPr>
            <a:spLocks xmlns:a="http://schemas.openxmlformats.org/drawingml/2006/main" noGrp="1"/>
          </p:cNvSpPr>
          <p:nvPr/>
        </p:nvSpPr>
        <p:spPr>
          <a:xfrm xmlns:a="http://schemas.openxmlformats.org/drawingml/2006/main">
            <a:off x="1409700" y="889635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025" b="1">
                <a:solidFill>
                  <a:srgbClr val="F7FAFF"/>
                </a:solidFill>
                <a:latin typeface="Avenir Next"/>
                <a:ea typeface="Avenir Next"/>
                <a:cs typeface="Avenir Next"/>
              </a:defRPr>
            </a:pPr>
            <a:r>
              <a:rPr sz="2025" b="1">
                <a:solidFill>
                  <a:srgbClr val="F7FAFF"/>
                </a:solidFill>
                <a:latin typeface="Avenir Next"/>
                <a:ea typeface="Avenir Next"/>
                <a:cs typeface="Avenir Next"/>
              </a:rPr>
              <a:t>Vier Startpunkte. Ein Zielzustand.</a:t>
            </a:r>
          </a:p>
        </p:txBody>
      </p:sp>
      <p:sp>
        <p:nvSpPr>
          <p:cNvPr id="14" name="outcome-body-1">
            <a:extLst xmlns:a="http://schemas.openxmlformats.org/drawingml/2006/main">
              <a:ext uri="{FF2B5EF4-FFF2-40B4-BE49-F238E27FC236}">
                <a16:creationId xmlns:a16="http://schemas.microsoft.com/office/drawing/2014/main" id="{E275E84E-75B3-496E-8FBA-523F711D8ECE}"/>
              </a:ext>
            </a:extLst>
          </p:cNvPr>
          <p:cNvSpPr>
            <a:spLocks xmlns:a="http://schemas.openxmlformats.org/drawingml/2006/main" noGrp="1"/>
          </p:cNvSpPr>
          <p:nvPr/>
        </p:nvSpPr>
        <p:spPr>
          <a:xfrm xmlns:a="http://schemas.openxmlformats.org/drawingml/2006/main">
            <a:off x="4953000" y="8915400"/>
            <a:ext cx="609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575" b="0">
                <a:solidFill>
                  <a:srgbClr val="C5D4E6"/>
                </a:solidFill>
                <a:latin typeface="Avenir Next"/>
                <a:ea typeface="Avenir Next"/>
                <a:cs typeface="Avenir Next"/>
              </a:defRPr>
            </a:pPr>
            <a:r>
              <a:rPr sz="1575" b="0">
                <a:solidFill>
                  <a:srgbClr val="C5D4E6"/>
                </a:solidFill>
                <a:latin typeface="Avenir Next"/>
                <a:ea typeface="Avenir Next"/>
                <a:cs typeface="Avenir Next"/>
              </a:rPr>
              <a:t>Per USB, Cloud-init, Ubuntu-Skript oder bestehendem Kubernetes – mit demselben sicheren First Run.</a:t>
            </a:r>
          </a:p>
        </p:txBody>
      </p:sp>
      <p:sp>
        <p:nvSpPr>
          <p:cNvPr id="15" name="outcome-rule-1">
            <a:extLst xmlns:a="http://schemas.openxmlformats.org/drawingml/2006/main">
              <a:ext uri="{FF2B5EF4-FFF2-40B4-BE49-F238E27FC236}">
                <a16:creationId xmlns:a16="http://schemas.microsoft.com/office/drawing/2014/main" id="{3A93D4A4-B438-498B-8C66-7C08DCC94257}"/>
              </a:ext>
            </a:extLst>
          </p:cNvPr>
          <p:cNvSpPr>
            <a:spLocks xmlns:a="http://schemas.openxmlformats.org/drawingml/2006/main" noGrp="1"/>
          </p:cNvSpPr>
          <p:nvPr/>
        </p:nvSpPr>
        <p:spPr>
          <a:xfrm xmlns:a="http://schemas.openxmlformats.org/drawingml/2006/main">
            <a:off x="1409700" y="9534525"/>
            <a:ext cx="9639300" cy="19050"/>
          </a:xfrm>
          <a:prstGeom xmlns:a="http://schemas.openxmlformats.org/drawingml/2006/main" prst="rect">
            <a:avLst/>
          </a:prstGeom>
          <a:solidFill xmlns:a="http://schemas.openxmlformats.org/drawingml/2006/main">
            <a:srgbClr val="22D3EE">
              <a:alpha val="40000"/>
            </a:srgbClr>
          </a:solidFill>
          <a:ln xmlns:a="http://schemas.openxmlformats.org/drawingml/2006/main" w="0">
            <a:noFill/>
            <a:prstDash val="solid"/>
          </a:ln>
        </p:spPr>
      </p:sp>
      <p:sp>
        <p:nvSpPr>
          <p:cNvPr id="16" name="outcome-number-2">
            <a:extLst xmlns:a="http://schemas.openxmlformats.org/drawingml/2006/main">
              <a:ext uri="{FF2B5EF4-FFF2-40B4-BE49-F238E27FC236}">
                <a16:creationId xmlns:a16="http://schemas.microsoft.com/office/drawing/2014/main" id="{4DD2F4B2-8A97-47A3-AC8D-9E812D909E43}"/>
              </a:ext>
            </a:extLst>
          </p:cNvPr>
          <p:cNvSpPr>
            <a:spLocks xmlns:a="http://schemas.openxmlformats.org/drawingml/2006/main" noGrp="1"/>
          </p:cNvSpPr>
          <p:nvPr/>
        </p:nvSpPr>
        <p:spPr>
          <a:xfrm xmlns:a="http://schemas.openxmlformats.org/drawingml/2006/main">
            <a:off x="723900" y="9801225"/>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8B5CF6"/>
                </a:solidFill>
                <a:latin typeface="Avenir Next"/>
                <a:ea typeface="Avenir Next"/>
                <a:cs typeface="Avenir Next"/>
              </a:defRPr>
            </a:pPr>
            <a:r>
              <a:rPr sz="1350" b="1">
                <a:solidFill>
                  <a:srgbClr val="8B5CF6"/>
                </a:solidFill>
                <a:latin typeface="Avenir Next"/>
                <a:ea typeface="Avenir Next"/>
                <a:cs typeface="Avenir Next"/>
              </a:rPr>
              <a:t>02</a:t>
            </a:r>
          </a:p>
        </p:txBody>
      </p:sp>
      <p:sp>
        <p:nvSpPr>
          <p:cNvPr id="17" name="outcome-title-2">
            <a:extLst xmlns:a="http://schemas.openxmlformats.org/drawingml/2006/main">
              <a:ext uri="{FF2B5EF4-FFF2-40B4-BE49-F238E27FC236}">
                <a16:creationId xmlns:a16="http://schemas.microsoft.com/office/drawing/2014/main" id="{8B6512DF-184B-4FAD-BC1E-651F4A553A9D}"/>
              </a:ext>
            </a:extLst>
          </p:cNvPr>
          <p:cNvSpPr>
            <a:spLocks xmlns:a="http://schemas.openxmlformats.org/drawingml/2006/main" noGrp="1"/>
          </p:cNvSpPr>
          <p:nvPr/>
        </p:nvSpPr>
        <p:spPr>
          <a:xfrm xmlns:a="http://schemas.openxmlformats.org/drawingml/2006/main">
            <a:off x="1409700" y="975360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025" b="1">
                <a:solidFill>
                  <a:srgbClr val="F7FAFF"/>
                </a:solidFill>
                <a:latin typeface="Avenir Next"/>
                <a:ea typeface="Avenir Next"/>
                <a:cs typeface="Avenir Next"/>
              </a:defRPr>
            </a:pPr>
            <a:r>
              <a:rPr sz="2025" b="1">
                <a:solidFill>
                  <a:srgbClr val="F7FAFF"/>
                </a:solidFill>
                <a:latin typeface="Avenir Next"/>
                <a:ea typeface="Avenir Next"/>
                <a:cs typeface="Avenir Next"/>
              </a:rPr>
              <a:t>Extern oder lokal starten.</a:t>
            </a:r>
          </a:p>
        </p:txBody>
      </p:sp>
      <p:sp>
        <p:nvSpPr>
          <p:cNvPr id="18" name="outcome-body-2">
            <a:extLst xmlns:a="http://schemas.openxmlformats.org/drawingml/2006/main">
              <a:ext uri="{FF2B5EF4-FFF2-40B4-BE49-F238E27FC236}">
                <a16:creationId xmlns:a16="http://schemas.microsoft.com/office/drawing/2014/main" id="{C14743F3-6764-4989-A2E2-B41F3CA87F98}"/>
              </a:ext>
            </a:extLst>
          </p:cNvPr>
          <p:cNvSpPr>
            <a:spLocks xmlns:a="http://schemas.openxmlformats.org/drawingml/2006/main" noGrp="1"/>
          </p:cNvSpPr>
          <p:nvPr/>
        </p:nvSpPr>
        <p:spPr>
          <a:xfrm xmlns:a="http://schemas.openxmlformats.org/drawingml/2006/main">
            <a:off x="4953000" y="9772650"/>
            <a:ext cx="609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575" b="0">
                <a:solidFill>
                  <a:srgbClr val="C5D4E6"/>
                </a:solidFill>
                <a:latin typeface="Avenir Next"/>
                <a:ea typeface="Avenir Next"/>
                <a:cs typeface="Avenir Next"/>
              </a:defRPr>
            </a:pPr>
            <a:r>
              <a:rPr sz="1575" b="0">
                <a:solidFill>
                  <a:srgbClr val="C5D4E6"/>
                </a:solidFill>
                <a:latin typeface="Avenir Next"/>
                <a:ea typeface="Avenir Next"/>
                <a:cs typeface="Avenir Next"/>
              </a:rPr>
              <a:t>Externe Provider via LiteLLM; lokale Modelle mit vLLM oder Ollama auf CPU und passender GPU.</a:t>
            </a:r>
          </a:p>
        </p:txBody>
      </p:sp>
      <p:sp>
        <p:nvSpPr>
          <p:cNvPr id="19" name="outcome-rule-2">
            <a:extLst xmlns:a="http://schemas.openxmlformats.org/drawingml/2006/main">
              <a:ext uri="{FF2B5EF4-FFF2-40B4-BE49-F238E27FC236}">
                <a16:creationId xmlns:a16="http://schemas.microsoft.com/office/drawing/2014/main" id="{29689207-AA12-472C-91BA-077E1B256B6A}"/>
              </a:ext>
            </a:extLst>
          </p:cNvPr>
          <p:cNvSpPr>
            <a:spLocks xmlns:a="http://schemas.openxmlformats.org/drawingml/2006/main" noGrp="1"/>
          </p:cNvSpPr>
          <p:nvPr/>
        </p:nvSpPr>
        <p:spPr>
          <a:xfrm xmlns:a="http://schemas.openxmlformats.org/drawingml/2006/main">
            <a:off x="1409700" y="10391775"/>
            <a:ext cx="9639300" cy="19050"/>
          </a:xfrm>
          <a:prstGeom xmlns:a="http://schemas.openxmlformats.org/drawingml/2006/main" prst="rect">
            <a:avLst/>
          </a:prstGeom>
          <a:solidFill xmlns:a="http://schemas.openxmlformats.org/drawingml/2006/main">
            <a:srgbClr val="8B5CF6">
              <a:alpha val="40000"/>
            </a:srgbClr>
          </a:solidFill>
          <a:ln xmlns:a="http://schemas.openxmlformats.org/drawingml/2006/main" w="0">
            <a:noFill/>
            <a:prstDash val="solid"/>
          </a:ln>
        </p:spPr>
      </p:sp>
      <p:sp>
        <p:nvSpPr>
          <p:cNvPr id="20" name="outcome-number-3">
            <a:extLst xmlns:a="http://schemas.openxmlformats.org/drawingml/2006/main">
              <a:ext uri="{FF2B5EF4-FFF2-40B4-BE49-F238E27FC236}">
                <a16:creationId xmlns:a16="http://schemas.microsoft.com/office/drawing/2014/main" id="{464C34B9-AAD5-425F-84B8-251422968CBA}"/>
              </a:ext>
            </a:extLst>
          </p:cNvPr>
          <p:cNvSpPr>
            <a:spLocks xmlns:a="http://schemas.openxmlformats.org/drawingml/2006/main" noGrp="1"/>
          </p:cNvSpPr>
          <p:nvPr/>
        </p:nvSpPr>
        <p:spPr>
          <a:xfrm xmlns:a="http://schemas.openxmlformats.org/drawingml/2006/main">
            <a:off x="723900" y="10658475"/>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1">
                <a:solidFill>
                  <a:srgbClr val="34D399"/>
                </a:solidFill>
                <a:latin typeface="Avenir Next"/>
                <a:ea typeface="Avenir Next"/>
                <a:cs typeface="Avenir Next"/>
              </a:defRPr>
            </a:pPr>
            <a:r>
              <a:rPr sz="1350" b="1">
                <a:solidFill>
                  <a:srgbClr val="34D399"/>
                </a:solidFill>
                <a:latin typeface="Avenir Next"/>
                <a:ea typeface="Avenir Next"/>
                <a:cs typeface="Avenir Next"/>
              </a:rPr>
              <a:t>03</a:t>
            </a:r>
          </a:p>
        </p:txBody>
      </p:sp>
      <p:sp>
        <p:nvSpPr>
          <p:cNvPr id="21" name="outcome-title-3">
            <a:extLst xmlns:a="http://schemas.openxmlformats.org/drawingml/2006/main">
              <a:ext uri="{FF2B5EF4-FFF2-40B4-BE49-F238E27FC236}">
                <a16:creationId xmlns:a16="http://schemas.microsoft.com/office/drawing/2014/main" id="{EE447048-29E5-4C59-8962-E6F0A8D86E82}"/>
              </a:ext>
            </a:extLst>
          </p:cNvPr>
          <p:cNvSpPr>
            <a:spLocks xmlns:a="http://schemas.openxmlformats.org/drawingml/2006/main" noGrp="1"/>
          </p:cNvSpPr>
          <p:nvPr/>
        </p:nvSpPr>
        <p:spPr>
          <a:xfrm xmlns:a="http://schemas.openxmlformats.org/drawingml/2006/main">
            <a:off x="1409700" y="1061085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025" b="1">
                <a:solidFill>
                  <a:srgbClr val="F7FAFF"/>
                </a:solidFill>
                <a:latin typeface="Avenir Next"/>
                <a:ea typeface="Avenir Next"/>
                <a:cs typeface="Avenir Next"/>
              </a:defRPr>
            </a:pPr>
            <a:r>
              <a:rPr sz="2025" b="1">
                <a:solidFill>
                  <a:srgbClr val="F7FAFF"/>
                </a:solidFill>
                <a:latin typeface="Avenir Next"/>
                <a:ea typeface="Avenir Next"/>
                <a:cs typeface="Avenir Next"/>
              </a:rPr>
              <a:t>Eine Oberfläche. Ein Login.</a:t>
            </a:r>
          </a:p>
        </p:txBody>
      </p:sp>
      <p:sp>
        <p:nvSpPr>
          <p:cNvPr id="22" name="outcome-body-3">
            <a:extLst xmlns:a="http://schemas.openxmlformats.org/drawingml/2006/main">
              <a:ext uri="{FF2B5EF4-FFF2-40B4-BE49-F238E27FC236}">
                <a16:creationId xmlns:a16="http://schemas.microsoft.com/office/drawing/2014/main" id="{95CD9D03-6941-4919-AB5B-2490E9C71696}"/>
              </a:ext>
            </a:extLst>
          </p:cNvPr>
          <p:cNvSpPr>
            <a:spLocks xmlns:a="http://schemas.openxmlformats.org/drawingml/2006/main" noGrp="1"/>
          </p:cNvSpPr>
          <p:nvPr/>
        </p:nvSpPr>
        <p:spPr>
          <a:xfrm xmlns:a="http://schemas.openxmlformats.org/drawingml/2006/main">
            <a:off x="4953000" y="10629900"/>
            <a:ext cx="609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575" b="0">
                <a:solidFill>
                  <a:srgbClr val="C5D4E6"/>
                </a:solidFill>
                <a:latin typeface="Avenir Next"/>
                <a:ea typeface="Avenir Next"/>
                <a:cs typeface="Avenir Next"/>
              </a:defRPr>
            </a:pPr>
            <a:r>
              <a:rPr sz="1575" b="0">
                <a:solidFill>
                  <a:srgbClr val="C5D4E6"/>
                </a:solidFill>
                <a:latin typeface="Avenir Next"/>
                <a:ea typeface="Avenir Next"/>
                <a:cs typeface="Avenir Next"/>
              </a:rPr>
              <a:t>Services, Modelle und Benutzer zentral steuern; geschützte Routen über Keycloak-SSO öffnen.</a:t>
            </a:r>
          </a:p>
        </p:txBody>
      </p:sp>
      <p:sp>
        <p:nvSpPr>
          <p:cNvPr id="23" name="outcome-rule-3">
            <a:extLst xmlns:a="http://schemas.openxmlformats.org/drawingml/2006/main">
              <a:ext uri="{FF2B5EF4-FFF2-40B4-BE49-F238E27FC236}">
                <a16:creationId xmlns:a16="http://schemas.microsoft.com/office/drawing/2014/main" id="{0AAB21CB-2044-4F01-9C6E-323E77868A41}"/>
              </a:ext>
            </a:extLst>
          </p:cNvPr>
          <p:cNvSpPr>
            <a:spLocks xmlns:a="http://schemas.openxmlformats.org/drawingml/2006/main" noGrp="1"/>
          </p:cNvSpPr>
          <p:nvPr/>
        </p:nvSpPr>
        <p:spPr>
          <a:xfrm xmlns:a="http://schemas.openxmlformats.org/drawingml/2006/main">
            <a:off x="1409700" y="11249025"/>
            <a:ext cx="9639300" cy="19050"/>
          </a:xfrm>
          <a:prstGeom xmlns:a="http://schemas.openxmlformats.org/drawingml/2006/main" prst="rect">
            <a:avLst/>
          </a:prstGeom>
          <a:solidFill xmlns:a="http://schemas.openxmlformats.org/drawingml/2006/main">
            <a:srgbClr val="34D399">
              <a:alpha val="40000"/>
            </a:srgbClr>
          </a:solidFill>
          <a:ln xmlns:a="http://schemas.openxmlformats.org/drawingml/2006/main" w="0">
            <a:noFill/>
            <a:prstDash val="solid"/>
          </a:ln>
        </p:spPr>
      </p:sp>
      <p:sp>
        <p:nvSpPr>
          <p:cNvPr id="24" name="proof-eyebrow">
            <a:extLst xmlns:a="http://schemas.openxmlformats.org/drawingml/2006/main">
              <a:ext uri="{FF2B5EF4-FFF2-40B4-BE49-F238E27FC236}">
                <a16:creationId xmlns:a16="http://schemas.microsoft.com/office/drawing/2014/main" id="{B1960EA0-29D0-4AAC-B5F8-041FF0949803}"/>
              </a:ext>
            </a:extLst>
          </p:cNvPr>
          <p:cNvSpPr>
            <a:spLocks xmlns:a="http://schemas.openxmlformats.org/drawingml/2006/main" noGrp="1"/>
          </p:cNvSpPr>
          <p:nvPr/>
        </p:nvSpPr>
        <p:spPr>
          <a:xfrm xmlns:a="http://schemas.openxmlformats.org/drawingml/2006/main">
            <a:off x="723900" y="117252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DAS PRODUKT</a:t>
            </a:r>
          </a:p>
        </p:txBody>
      </p:sp>
      <p:sp>
        <p:nvSpPr>
          <p:cNvPr id="25" name="proof-title">
            <a:extLst xmlns:a="http://schemas.openxmlformats.org/drawingml/2006/main">
              <a:ext uri="{FF2B5EF4-FFF2-40B4-BE49-F238E27FC236}">
                <a16:creationId xmlns:a16="http://schemas.microsoft.com/office/drawing/2014/main" id="{58603FD4-D600-4619-BFD1-3EA4AA7A0210}"/>
              </a:ext>
            </a:extLst>
          </p:cNvPr>
          <p:cNvSpPr>
            <a:spLocks xmlns:a="http://schemas.openxmlformats.org/drawingml/2006/main" noGrp="1"/>
          </p:cNvSpPr>
          <p:nvPr/>
        </p:nvSpPr>
        <p:spPr>
          <a:xfrm xmlns:a="http://schemas.openxmlformats.org/drawingml/2006/main">
            <a:off x="723900" y="12039600"/>
            <a:ext cx="3143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2700" b="1">
                <a:solidFill>
                  <a:srgbClr val="F7FAFF"/>
                </a:solidFill>
                <a:latin typeface="Avenir Next"/>
                <a:ea typeface="Avenir Next"/>
                <a:cs typeface="Avenir Next"/>
              </a:defRPr>
            </a:pPr>
            <a:r>
              <a:rPr sz="2700" b="1">
                <a:solidFill>
                  <a:srgbClr val="F7FAFF"/>
                </a:solidFill>
                <a:latin typeface="Avenir Next"/>
                <a:ea typeface="Avenir Next"/>
                <a:cs typeface="Avenir Next"/>
              </a:rPr>
              <a:t>Ein Dashboard</a:t>
            </a:r>
          </a:p>
          <a:p xmlns:a="http://schemas.openxmlformats.org/drawingml/2006/main">
            <a:pPr algn="l">
              <a:lnSpc>
                <a:spcPct val="92000"/>
              </a:lnSpc>
              <a:buNone/>
              <a:defRPr sz="2700" b="1">
                <a:solidFill>
                  <a:srgbClr val="F7FAFF"/>
                </a:solidFill>
                <a:latin typeface="Avenir Next"/>
                <a:ea typeface="Avenir Next"/>
                <a:cs typeface="Avenir Next"/>
              </a:defRPr>
            </a:pPr>
            <a:r>
              <a:rPr sz="2700" b="1">
                <a:solidFill>
                  <a:srgbClr val="F7FAFF"/>
                </a:solidFill>
                <a:latin typeface="Avenir Next"/>
                <a:ea typeface="Avenir Next"/>
                <a:cs typeface="Avenir Next"/>
              </a:rPr>
              <a:t>für Services,</a:t>
            </a:r>
          </a:p>
          <a:p xmlns:a="http://schemas.openxmlformats.org/drawingml/2006/main">
            <a:pPr algn="l">
              <a:lnSpc>
                <a:spcPct val="92000"/>
              </a:lnSpc>
              <a:buNone/>
              <a:defRPr sz="2700" b="1">
                <a:solidFill>
                  <a:srgbClr val="F7FAFF"/>
                </a:solidFill>
                <a:latin typeface="Avenir Next"/>
                <a:ea typeface="Avenir Next"/>
                <a:cs typeface="Avenir Next"/>
              </a:defRPr>
            </a:pPr>
            <a:r>
              <a:rPr sz="2700" b="1">
                <a:solidFill>
                  <a:srgbClr val="F7FAFF"/>
                </a:solidFill>
                <a:latin typeface="Avenir Next"/>
                <a:ea typeface="Avenir Next"/>
                <a:cs typeface="Avenir Next"/>
              </a:rPr>
              <a:t>Modelle &amp; Nutzer.</a:t>
            </a:r>
          </a:p>
        </p:txBody>
      </p:sp>
      <p:sp>
        <p:nvSpPr>
          <p:cNvPr id="26" name="proof-copy">
            <a:extLst xmlns:a="http://schemas.openxmlformats.org/drawingml/2006/main">
              <a:ext uri="{FF2B5EF4-FFF2-40B4-BE49-F238E27FC236}">
                <a16:creationId xmlns:a16="http://schemas.microsoft.com/office/drawing/2014/main" id="{FFF9571F-5E55-43CD-9DAC-E5D9ED134DDC}"/>
              </a:ext>
            </a:extLst>
          </p:cNvPr>
          <p:cNvSpPr>
            <a:spLocks xmlns:a="http://schemas.openxmlformats.org/drawingml/2006/main" noGrp="1"/>
          </p:cNvSpPr>
          <p:nvPr/>
        </p:nvSpPr>
        <p:spPr>
          <a:xfrm xmlns:a="http://schemas.openxmlformats.org/drawingml/2006/main">
            <a:off x="723900" y="13354050"/>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0000"/>
              </a:lnSpc>
              <a:buNone/>
              <a:defRPr sz="1500" b="0">
                <a:solidFill>
                  <a:srgbClr val="C5D4E6"/>
                </a:solidFill>
                <a:latin typeface="Avenir Next"/>
                <a:ea typeface="Avenir Next"/>
                <a:cs typeface="Avenir Next"/>
              </a:defRPr>
            </a:pPr>
            <a:r>
              <a:rPr sz="1500" b="0">
                <a:solidFill>
                  <a:srgbClr val="C5D4E6"/>
                </a:solidFill>
                <a:latin typeface="Avenir Next"/>
                <a:ea typeface="Avenir Next"/>
                <a:cs typeface="Avenir Next"/>
              </a:rPr>
              <a:t>Nur verfügbare Engines und Hardware werden angeboten.</a:t>
            </a:r>
          </a:p>
        </p:txBody>
      </p:sp>
      <p:sp>
        <p:nvSpPr>
          <p:cNvPr id="27" name="dashboard-frame">
            <a:extLst xmlns:a="http://schemas.openxmlformats.org/drawingml/2006/main">
              <a:ext uri="{FF2B5EF4-FFF2-40B4-BE49-F238E27FC236}">
                <a16:creationId xmlns:a16="http://schemas.microsoft.com/office/drawing/2014/main" id="{1AB15AE8-4962-40D6-A54B-BE525DA95136}"/>
              </a:ext>
            </a:extLst>
          </p:cNvPr>
          <p:cNvSpPr>
            <a:spLocks xmlns:a="http://schemas.openxmlformats.org/drawingml/2006/main" noGrp="1"/>
          </p:cNvSpPr>
          <p:nvPr/>
        </p:nvSpPr>
        <p:spPr>
          <a:xfrm xmlns:a="http://schemas.openxmlformats.org/drawingml/2006/main">
            <a:off x="4324350" y="11715750"/>
            <a:ext cx="6819900" cy="2209800"/>
          </a:xfrm>
          <a:prstGeom xmlns:a="http://schemas.openxmlformats.org/drawingml/2006/main" prst="roundRect">
            <a:avLst>
              <a:gd name="adj" fmla="val 8621"/>
            </a:avLst>
          </a:prstGeom>
          <a:solidFill xmlns:a="http://schemas.openxmlformats.org/drawingml/2006/main">
            <a:srgbClr val="071123"/>
          </a:solidFill>
          <a:ln xmlns:a="http://schemas.openxmlformats.org/drawingml/2006/main" w="19050">
            <a:solidFill>
              <a:srgbClr val="24415F"/>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e00950a68da44429"/>
          <a:srcRect xmlns:a="http://schemas.openxmlformats.org/drawingml/2006/main" l="0" t="0" r="0" b="0"/>
          <a:stretch xmlns:a="http://schemas.openxmlformats.org/drawingml/2006/main">
            <a:fillRect l="0" t="0" r="0" b="0"/>
          </a:stretch>
        </p:blipFill>
        <p:spPr>
          <a:xfrm xmlns:a="http://schemas.openxmlformats.org/drawingml/2006/main" flipH="0" flipV="0">
            <a:off x="4419600" y="11811000"/>
            <a:ext cx="6629400" cy="1981200"/>
          </a:xfrm>
          <a:prstGeom xmlns:a="http://schemas.openxmlformats.org/drawingml/2006/main" prst="roundRect">
            <a:avLst/>
          </a:prstGeom>
        </p:spPr>
      </p:pic>
      <p:sp>
        <p:nvSpPr>
          <p:cNvPr id="29" name="dashboard-caption">
            <a:extLst xmlns:a="http://schemas.openxmlformats.org/drawingml/2006/main">
              <a:ext uri="{FF2B5EF4-FFF2-40B4-BE49-F238E27FC236}">
                <a16:creationId xmlns:a16="http://schemas.microsoft.com/office/drawing/2014/main" id="{68ADFF29-D6B2-4BFD-AABD-7359CBB9AAE1}"/>
              </a:ext>
            </a:extLst>
          </p:cNvPr>
          <p:cNvSpPr>
            <a:spLocks xmlns:a="http://schemas.openxmlformats.org/drawingml/2006/main" noGrp="1"/>
          </p:cNvSpPr>
          <p:nvPr/>
        </p:nvSpPr>
        <p:spPr>
          <a:xfrm xmlns:a="http://schemas.openxmlformats.org/drawingml/2006/main">
            <a:off x="4419600" y="13982700"/>
            <a:ext cx="662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975" b="1">
                <a:solidFill>
                  <a:srgbClr val="7188A5"/>
                </a:solidFill>
                <a:latin typeface="Avenir Next"/>
                <a:ea typeface="Avenir Next"/>
                <a:cs typeface="Avenir Next"/>
              </a:defRPr>
            </a:pPr>
            <a:r>
              <a:rPr sz="975" b="1">
                <a:solidFill>
                  <a:srgbClr val="7188A5"/>
                </a:solidFill>
                <a:latin typeface="Avenir Next"/>
                <a:ea typeface="Avenir Next"/>
                <a:cs typeface="Avenir Next"/>
              </a:rPr>
              <a:t>AKTUELLE PRODUKTOBERFLÄCHE · BEISPIELKONFIGURATION</a:t>
            </a:r>
          </a:p>
        </p:txBody>
      </p:sp>
      <p:sp>
        <p:nvSpPr>
          <p:cNvPr id="30" name="open-source-rule">
            <a:extLst xmlns:a="http://schemas.openxmlformats.org/drawingml/2006/main">
              <a:ext uri="{FF2B5EF4-FFF2-40B4-BE49-F238E27FC236}">
                <a16:creationId xmlns:a16="http://schemas.microsoft.com/office/drawing/2014/main" id="{6D6A2F34-A6EA-472D-AE99-333EEC47C374}"/>
              </a:ext>
            </a:extLst>
          </p:cNvPr>
          <p:cNvSpPr>
            <a:spLocks xmlns:a="http://schemas.openxmlformats.org/drawingml/2006/main" noGrp="1"/>
          </p:cNvSpPr>
          <p:nvPr/>
        </p:nvSpPr>
        <p:spPr>
          <a:xfrm xmlns:a="http://schemas.openxmlformats.org/drawingml/2006/main">
            <a:off x="723900" y="14392275"/>
            <a:ext cx="10325100" cy="28575"/>
          </a:xfrm>
          <a:prstGeom xmlns:a="http://schemas.openxmlformats.org/drawingml/2006/main" prst="rect">
            <a:avLst/>
          </a:prstGeom>
          <a:gradFill xmlns:a="http://schemas.openxmlformats.org/drawingml/2006/main">
            <a:gsLst>
              <a:gs pos="0">
                <a:srgbClr val="22D3EE"/>
              </a:gs>
              <a:gs pos="62000">
                <a:srgbClr val="8B5CF6"/>
              </a:gs>
              <a:gs pos="100000">
                <a:srgbClr val="34D399"/>
              </a:gs>
            </a:gsLst>
            <a:lin ang="0"/>
          </a:gradFill>
          <a:ln xmlns:a="http://schemas.openxmlformats.org/drawingml/2006/main" w="0">
            <a:noFill/>
            <a:prstDash val="solid"/>
          </a:ln>
        </p:spPr>
      </p:sp>
      <p:sp>
        <p:nvSpPr>
          <p:cNvPr id="31" name="open-source-eyebrow">
            <a:extLst xmlns:a="http://schemas.openxmlformats.org/drawingml/2006/main">
              <a:ext uri="{FF2B5EF4-FFF2-40B4-BE49-F238E27FC236}">
                <a16:creationId xmlns:a16="http://schemas.microsoft.com/office/drawing/2014/main" id="{A8BFF647-1C6D-4462-B88F-66A92AB5FEE1}"/>
              </a:ext>
            </a:extLst>
          </p:cNvPr>
          <p:cNvSpPr>
            <a:spLocks xmlns:a="http://schemas.openxmlformats.org/drawingml/2006/main" noGrp="1"/>
          </p:cNvSpPr>
          <p:nvPr/>
        </p:nvSpPr>
        <p:spPr>
          <a:xfrm xmlns:a="http://schemas.openxmlformats.org/drawingml/2006/main">
            <a:off x="723900" y="146113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SOURCE-AVAILABLE UNTER BSL 1.1</a:t>
            </a:r>
          </a:p>
        </p:txBody>
      </p:sp>
      <p:sp>
        <p:nvSpPr>
          <p:cNvPr id="32" name="open-source-title">
            <a:extLst xmlns:a="http://schemas.openxmlformats.org/drawingml/2006/main">
              <a:ext uri="{FF2B5EF4-FFF2-40B4-BE49-F238E27FC236}">
                <a16:creationId xmlns:a16="http://schemas.microsoft.com/office/drawing/2014/main" id="{D59E3882-35E7-4952-9101-A0EE95ABBFF4}"/>
              </a:ext>
            </a:extLst>
          </p:cNvPr>
          <p:cNvSpPr>
            <a:spLocks xmlns:a="http://schemas.openxmlformats.org/drawingml/2006/main" noGrp="1"/>
          </p:cNvSpPr>
          <p:nvPr/>
        </p:nvSpPr>
        <p:spPr>
          <a:xfrm xmlns:a="http://schemas.openxmlformats.org/drawingml/2006/main">
            <a:off x="723900" y="14897100"/>
            <a:ext cx="1032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025" b="1">
                <a:solidFill>
                  <a:srgbClr val="F7FAFF"/>
                </a:solidFill>
                <a:latin typeface="Avenir Next"/>
                <a:ea typeface="Avenir Next"/>
                <a:cs typeface="Avenir Next"/>
              </a:defRPr>
            </a:pPr>
            <a:r>
              <a:rPr sz="2025" b="1">
                <a:solidFill>
                  <a:srgbClr val="F7FAFF"/>
                </a:solidFill>
                <a:latin typeface="Avenir Next"/>
                <a:ea typeface="Avenir Next"/>
                <a:cs typeface="Avenir Next"/>
              </a:rPr>
              <a:t>Vollständig selbst betreibbar – ohne Cloud-Zwang.</a:t>
            </a:r>
          </a:p>
        </p:txBody>
      </p:sp>
      <p:sp>
        <p:nvSpPr>
          <p:cNvPr id="33" name="enterprise-copy">
            <a:extLst xmlns:a="http://schemas.openxmlformats.org/drawingml/2006/main">
              <a:ext uri="{FF2B5EF4-FFF2-40B4-BE49-F238E27FC236}">
                <a16:creationId xmlns:a16="http://schemas.microsoft.com/office/drawing/2014/main" id="{F6D54DEC-4A53-47ED-BA85-664BB9F91A6B}"/>
              </a:ext>
            </a:extLst>
          </p:cNvPr>
          <p:cNvSpPr>
            <a:spLocks xmlns:a="http://schemas.openxmlformats.org/drawingml/2006/main" noGrp="1"/>
          </p:cNvSpPr>
          <p:nvPr/>
        </p:nvSpPr>
        <p:spPr>
          <a:xfrm xmlns:a="http://schemas.openxmlformats.org/drawingml/2006/main">
            <a:off x="723900" y="15297150"/>
            <a:ext cx="10325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350" b="0">
                <a:solidFill>
                  <a:srgbClr val="C5D4E6"/>
                </a:solidFill>
                <a:latin typeface="Avenir Next"/>
                <a:ea typeface="Avenir Next"/>
                <a:cs typeface="Avenir Next"/>
              </a:defRPr>
            </a:pPr>
            <a:r>
              <a:rPr sz="1350" b="0">
                <a:solidFill>
                  <a:srgbClr val="C5D4E6"/>
                </a:solidFill>
                <a:latin typeface="Avenir Next"/>
                <a:ea typeface="Avenir Next"/>
                <a:cs typeface="Avenir Next"/>
              </a:rPr>
              <a:t>Free Use Grant bis 2 Mio. EUR Gruppenumsatz. Federated SSO per Lizenzdatei. Details: LICENSING.md</a:t>
            </a:r>
          </a:p>
        </p:txBody>
      </p:sp>
      <p:sp>
        <p:nvSpPr>
          <p:cNvPr id="34" name="cta-band">
            <a:extLst xmlns:a="http://schemas.openxmlformats.org/drawingml/2006/main">
              <a:ext uri="{FF2B5EF4-FFF2-40B4-BE49-F238E27FC236}">
                <a16:creationId xmlns:a16="http://schemas.microsoft.com/office/drawing/2014/main" id="{6AB12D90-E474-4757-9F87-DEC63A995406}"/>
              </a:ext>
            </a:extLst>
          </p:cNvPr>
          <p:cNvSpPr>
            <a:spLocks xmlns:a="http://schemas.openxmlformats.org/drawingml/2006/main" noGrp="1"/>
          </p:cNvSpPr>
          <p:nvPr/>
        </p:nvSpPr>
        <p:spPr>
          <a:xfrm xmlns:a="http://schemas.openxmlformats.org/drawingml/2006/main">
            <a:off x="0" y="15811500"/>
            <a:ext cx="11811000" cy="895350"/>
          </a:xfrm>
          <a:prstGeom xmlns:a="http://schemas.openxmlformats.org/drawingml/2006/main" prst="rect">
            <a:avLst/>
          </a:prstGeom>
          <a:gradFill xmlns:a="http://schemas.openxmlformats.org/drawingml/2006/main">
            <a:gsLst>
              <a:gs pos="0">
                <a:srgbClr val="0E7490"/>
              </a:gs>
              <a:gs pos="65000">
                <a:srgbClr val="6D28D9"/>
              </a:gs>
              <a:gs pos="100000">
                <a:srgbClr val="4C1D95"/>
              </a:gs>
            </a:gsLst>
            <a:lin ang="0"/>
          </a:gradFill>
          <a:ln xmlns:a="http://schemas.openxmlformats.org/drawingml/2006/main" w="0">
            <a:noFill/>
            <a:prstDash val="solid"/>
          </a:ln>
        </p:spPr>
      </p:sp>
      <p:sp>
        <p:nvSpPr>
          <p:cNvPr id="35" name="cta-question">
            <a:extLst xmlns:a="http://schemas.openxmlformats.org/drawingml/2006/main">
              <a:ext uri="{FF2B5EF4-FFF2-40B4-BE49-F238E27FC236}">
                <a16:creationId xmlns:a16="http://schemas.microsoft.com/office/drawing/2014/main" id="{A42EB5C3-8DC1-4330-A8C1-A2BBB1011CFC}"/>
              </a:ext>
            </a:extLst>
          </p:cNvPr>
          <p:cNvSpPr>
            <a:spLocks xmlns:a="http://schemas.openxmlformats.org/drawingml/2006/main" noGrp="1"/>
          </p:cNvSpPr>
          <p:nvPr/>
        </p:nvSpPr>
        <p:spPr>
          <a:xfrm xmlns:a="http://schemas.openxmlformats.org/drawingml/2006/main">
            <a:off x="723900" y="15973425"/>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2175" b="1">
                <a:solidFill>
                  <a:srgbClr val="F7FAFF"/>
                </a:solidFill>
                <a:latin typeface="Avenir Next"/>
                <a:ea typeface="Avenir Next"/>
                <a:cs typeface="Avenir Next"/>
              </a:defRPr>
            </a:pPr>
            <a:r>
              <a:rPr sz="2175" b="1">
                <a:solidFill>
                  <a:srgbClr val="F7FAFF"/>
                </a:solidFill>
                <a:latin typeface="Avenir Next"/>
                <a:ea typeface="Avenir Next"/>
                <a:cs typeface="Avenir Next"/>
              </a:rPr>
              <a:t>Was würden Sie damit bauen?</a:t>
            </a:r>
          </a:p>
        </p:txBody>
      </p:sp>
      <p:sp>
        <p:nvSpPr>
          <p:cNvPr id="36" name="cta-github">
            <a:extLst xmlns:a="http://schemas.openxmlformats.org/drawingml/2006/main">
              <a:ext uri="{FF2B5EF4-FFF2-40B4-BE49-F238E27FC236}">
                <a16:creationId xmlns:a16="http://schemas.microsoft.com/office/drawing/2014/main" id="{2E0628D2-6969-4653-914A-D9C02D5895F3}"/>
              </a:ext>
            </a:extLst>
          </p:cNvPr>
          <p:cNvSpPr>
            <a:spLocks xmlns:a="http://schemas.openxmlformats.org/drawingml/2006/main" noGrp="1"/>
          </p:cNvSpPr>
          <p:nvPr/>
        </p:nvSpPr>
        <p:spPr>
          <a:xfrm xmlns:a="http://schemas.openxmlformats.org/drawingml/2006/main">
            <a:off x="723900" y="16363950"/>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050" b="1">
                <a:solidFill>
                  <a:srgbClr val="E6FAFF"/>
                </a:solidFill>
                <a:latin typeface="Avenir Next"/>
                <a:ea typeface="Avenir Next"/>
                <a:cs typeface="Avenir Next"/>
              </a:defRPr>
            </a:pPr>
            <a:r>
              <a:rPr sz="1050" b="1">
                <a:solidFill>
                  <a:srgbClr val="E6FAFF"/>
                </a:solidFill>
                <a:latin typeface="Avenir Next"/>
                <a:ea typeface="Avenir Next"/>
                <a:cs typeface="Avenir Next"/>
                <a:hlinkClick xmlns:r="http://schemas.openxmlformats.org/officeDocument/2006/relationships" r:id="R9ae2863052c54486"/>
              </a:rPr>
              <a:t>github.com/QualityMinds/AIppliance-Magic-Stick</a:t>
            </a:r>
          </a:p>
        </p:txBody>
      </p:sp>
      <p:sp>
        <p:nvSpPr>
          <p:cNvPr id="37" name="cta-brand">
            <a:extLst xmlns:a="http://schemas.openxmlformats.org/drawingml/2006/main">
              <a:ext uri="{FF2B5EF4-FFF2-40B4-BE49-F238E27FC236}">
                <a16:creationId xmlns:a16="http://schemas.microsoft.com/office/drawing/2014/main" id="{A69B4197-E19A-46AF-A605-BA9F964BBB2B}"/>
              </a:ext>
            </a:extLst>
          </p:cNvPr>
          <p:cNvSpPr>
            <a:spLocks xmlns:a="http://schemas.openxmlformats.org/drawingml/2006/main" noGrp="1"/>
          </p:cNvSpPr>
          <p:nvPr/>
        </p:nvSpPr>
        <p:spPr>
          <a:xfrm xmlns:a="http://schemas.openxmlformats.org/drawingml/2006/main">
            <a:off x="7810500" y="159829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1200" b="1">
                <a:solidFill>
                  <a:srgbClr val="E6FAFF"/>
                </a:solidFill>
                <a:latin typeface="Avenir Next"/>
                <a:ea typeface="Avenir Next"/>
                <a:cs typeface="Avenir Next"/>
              </a:defRPr>
            </a:pPr>
            <a:r>
              <a:rPr sz="1200" b="1">
                <a:solidFill>
                  <a:srgbClr val="E6FAFF"/>
                </a:solidFill>
                <a:latin typeface="Avenir Next"/>
                <a:ea typeface="Avenir Next"/>
                <a:cs typeface="Avenir Next"/>
              </a:rPr>
              <a:t>QUALITYMINDS</a:t>
            </a:r>
          </a:p>
        </p:txBody>
      </p:sp>
      <p:sp>
        <p:nvSpPr>
          <p:cNvPr id="38" name="cta-email">
            <a:extLst xmlns:a="http://schemas.openxmlformats.org/drawingml/2006/main">
              <a:ext uri="{FF2B5EF4-FFF2-40B4-BE49-F238E27FC236}">
                <a16:creationId xmlns:a16="http://schemas.microsoft.com/office/drawing/2014/main" id="{7D03BA64-69D0-4DFA-9D8C-E98371A4F891}"/>
              </a:ext>
            </a:extLst>
          </p:cNvPr>
          <p:cNvSpPr>
            <a:spLocks xmlns:a="http://schemas.openxmlformats.org/drawingml/2006/main" noGrp="1"/>
          </p:cNvSpPr>
          <p:nvPr/>
        </p:nvSpPr>
        <p:spPr>
          <a:xfrm xmlns:a="http://schemas.openxmlformats.org/drawingml/2006/main">
            <a:off x="7810500" y="16297275"/>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5000"/>
              </a:lnSpc>
              <a:buNone/>
              <a:defRPr sz="1500" b="1">
                <a:solidFill>
                  <a:srgbClr val="F7FAFF"/>
                </a:solidFill>
                <a:latin typeface="Avenir Next"/>
                <a:ea typeface="Avenir Next"/>
                <a:cs typeface="Avenir Next"/>
              </a:defRPr>
            </a:pPr>
            <a:r>
              <a:rPr sz="1500" b="1">
                <a:solidFill>
                  <a:srgbClr val="F7FAFF"/>
                </a:solidFill>
                <a:latin typeface="Avenir Next"/>
                <a:ea typeface="Avenir Next"/>
                <a:cs typeface="Avenir Next"/>
                <a:hlinkClick xmlns:r="http://schemas.openxmlformats.org/officeDocument/2006/relationships" r:id="R5c912d2a20a94397"/>
              </a:rPr>
              <a:t>hello@qualityminds.de</a:t>
            </a:r>
          </a:p>
        </p:txBody>
      </p:sp>
    </p:spTree>
    <p:extLst>
      <p:ext uri="{BB962C8B-B14F-4D97-AF65-F5344CB8AC3E}">
        <p14:creationId xmlns:p14="http://schemas.microsoft.com/office/powerpoint/2010/main" val="3029599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2026-09-23T13:37:44.9740000Z</dcterms:created>
  <dcterms:modified xsi:type="dcterms:W3CDTF">2026-09-23T13:37:44.9740000Z</dcterms:modified>
</coreProperties>
</file>