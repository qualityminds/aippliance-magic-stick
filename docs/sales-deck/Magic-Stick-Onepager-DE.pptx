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5902719a7c74350" /><Relationship Type="http://schemas.openxmlformats.org/officeDocument/2006/relationships/extended-properties" Target="/docProps/app.xml" Id="R6170144b73414f16" /><Relationship Type="http://schemas.openxmlformats.org/officeDocument/2006/relationships/officeDocument" Target="/ppt/presentation.xml" Id="R124e8e7bb19749e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f16586a235f49b6"/>
  </p:sldMasterIdLst>
  <p:notesMasterIdLst>
    <p:notesMasterId xmlns:r="http://schemas.openxmlformats.org/officeDocument/2006/relationships" r:id="R555dbe970dde4d60"/>
  </p:notesMasterIdLst>
  <p:sldIdLst>
    <p:sldId xmlns:r="http://schemas.openxmlformats.org/officeDocument/2006/relationships" id="256" r:id="Ree19a7d32e1f4909"/>
  </p:sldIdLst>
  <p:sldSz cx="11811000" cy="167068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d52d5e4135f487e" /><Relationship Type="http://schemas.openxmlformats.org/officeDocument/2006/relationships/slideMaster" Target="/ppt/slideMasters/slideMaster1.xml" Id="Raf16586a235f49b6" /><Relationship Type="http://schemas.openxmlformats.org/officeDocument/2006/relationships/notesMaster" Target="/ppt/notesMasters/notesMaster1.xml" Id="R555dbe970dde4d60" /><Relationship Type="http://schemas.openxmlformats.org/officeDocument/2006/relationships/presProps" Target="/ppt/presProps.xml" Id="R20079a9f571747eb" /><Relationship Type="http://schemas.openxmlformats.org/officeDocument/2006/relationships/tableStyles" Target="/ppt/tableStyles.xml" Id="R9776e9c336fa4158" /><Relationship Type="http://schemas.openxmlformats.org/officeDocument/2006/relationships/slide" Target="/ppt/slides/slide1.xml" Id="Ree19a7d32e1f490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b3d60be1133421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158feeacc6435e" /><Relationship Type="http://schemas.openxmlformats.org/officeDocument/2006/relationships/notesMaster" Target="/ppt/notesMasters/notesMaster1.xml" Id="R5c1ea8ab6c1b45a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Public repository state: 13b9d83 (2026-09-01).</a:t>
            </a:r>
          </a:p>
          <a:p xmlns:a="http://schemas.openxmlformats.org/drawingml/2006/main">
            <a:r>
              <a:t>- docs/installation/README.md, docs/dashboard.md, docs/model-catalog.md and docs/authentication.md.</a:t>
            </a:r>
          </a:p>
          <a:p xmlns:a="http://schemas.openxmlformats.org/drawingml/2006/main">
            <a:r>
              <a:t>- Product screenshot will be captured from the current test server in Chrome.</a:t>
            </a:r>
          </a:p>
          <a:p xmlns:a="http://schemas.openxmlformats.org/drawingml/2006/main">
            <a:r>
              <a:t>- Enterprise capabilities are explicitly presented as a target concept in conception.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7b3266df1b4ec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65c14aefdea4181" /><Relationship Type="http://schemas.openxmlformats.org/officeDocument/2006/relationships/slideLayout" Target="/ppt/slideLayouts/slideLayout1.xml" Id="Rba8403645aec4b1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8403645aec4b1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681c108cc14836" /><Relationship Type="http://schemas.openxmlformats.org/officeDocument/2006/relationships/image" Target="/ppt/media/image.png" Id="R0315dc8f5a0948c2" /><Relationship Type="http://schemas.openxmlformats.org/officeDocument/2006/relationships/image" Target="/ppt/media/image.jpeg" Id="R4fd117e788e3410a" /><Relationship Type="http://schemas.openxmlformats.org/officeDocument/2006/relationships/hyperlink" Target="https://github.com/QualityMinds/AIppliance-Magic-Stick" TargetMode="External" Id="R0ae1b9b49b5c4dac" /><Relationship Type="http://schemas.openxmlformats.org/officeDocument/2006/relationships/hyperlink" Target="mailto:hello@qualityminds.de" TargetMode="External" Id="R8faf0b008583443e" /><Relationship Type="http://schemas.openxmlformats.org/officeDocument/2006/relationships/notesSlide" Target="/ppt/notesSlides/notesSlide1.xml" Id="Rbd4ed743a385476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15dc8f5a0948c2"/>
          <a:srcRect xmlns:a="http://schemas.openxmlformats.org/drawingml/2006/main" l="0" t="10685" r="0" b="106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1811000" cy="6191250"/>
          </a:xfrm>
          <a:prstGeom xmlns:a="http://schemas.openxmlformats.org/drawingml/2006/main" prst="rect">
            <a:avLst/>
          </a:prstGeom>
        </p:spPr>
      </p:pic>
      <p:sp>
        <p:nvSpPr>
          <p:cNvPr id="2" name="hero-left-wash">
            <a:extLst xmlns:a="http://schemas.openxmlformats.org/drawingml/2006/main">
              <a:ext uri="{FF2B5EF4-FFF2-40B4-BE49-F238E27FC236}">
                <a16:creationId xmlns:a16="http://schemas.microsoft.com/office/drawing/2014/main" id="{3AEDB3F3-7715-4C58-B7B5-66F9B9BC5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239000" cy="61912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8">
                  <a:alpha val="98000"/>
                </a:srgbClr>
              </a:gs>
              <a:gs pos="72000">
                <a:srgbClr val="050B18">
                  <a:alpha val="72000"/>
                </a:srgbClr>
              </a:gs>
              <a:gs pos="100000">
                <a:srgbClr val="050B18">
                  <a:alpha val="0"/>
                </a:srgbClr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" name="hero-bottom-wash">
            <a:extLst xmlns:a="http://schemas.openxmlformats.org/drawingml/2006/main">
              <a:ext uri="{FF2B5EF4-FFF2-40B4-BE49-F238E27FC236}">
                <a16:creationId xmlns:a16="http://schemas.microsoft.com/office/drawing/2014/main" id="{BD7A8749-C7AB-422A-86E7-52140ED6D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29250"/>
            <a:ext cx="11811000" cy="762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8">
                  <a:alpha val="0"/>
                </a:srgbClr>
              </a:gs>
              <a:gs pos="100000">
                <a:srgbClr val="050B18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hero-eyebrow">
            <a:extLst xmlns:a="http://schemas.openxmlformats.org/drawingml/2006/main">
              <a:ext uri="{FF2B5EF4-FFF2-40B4-BE49-F238E27FC236}">
                <a16:creationId xmlns:a16="http://schemas.microsoft.com/office/drawing/2014/main" id="{618A4AF6-B738-4324-8B24-1D65C6187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MAGIC STICK · OPEN-SOURCE AI APPLIANCE</a:t>
            </a:r>
          </a:p>
        </p:txBody>
      </p:sp>
      <p:sp>
        <p:nvSpPr>
          <p:cNvPr id="5" name="hero-title">
            <a:extLst xmlns:a="http://schemas.openxmlformats.org/drawingml/2006/main">
              <a:ext uri="{FF2B5EF4-FFF2-40B4-BE49-F238E27FC236}">
                <a16:creationId xmlns:a16="http://schemas.microsoft.com/office/drawing/2014/main" id="{E4475F1A-D129-4948-A03F-607483BCF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00150"/>
            <a:ext cx="5715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buNone/>
              <a:defRPr sz="49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9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Eine eigene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49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9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KI-Plattform.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49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9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Unter Ihrer Kontrolle.</a:t>
            </a:r>
          </a:p>
        </p:txBody>
      </p:sp>
      <p:sp>
        <p:nvSpPr>
          <p:cNvPr id="6" name="hero-copy">
            <a:extLst xmlns:a="http://schemas.openxmlformats.org/drawingml/2006/main">
              <a:ext uri="{FF2B5EF4-FFF2-40B4-BE49-F238E27FC236}">
                <a16:creationId xmlns:a16="http://schemas.microsoft.com/office/drawing/2014/main" id="{DAB1A8A1-AC44-41D8-881B-D625BA742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5334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75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75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Magic Stick verbindet Modelle, Services, SSO und GitOps-Betrieb zu einer offenen Plattform auf Ihrer Infrastruktur.</a:t>
            </a:r>
          </a:p>
        </p:txBody>
      </p:sp>
      <p:sp>
        <p:nvSpPr>
          <p:cNvPr id="7" name="problem-accent">
            <a:extLst xmlns:a="http://schemas.openxmlformats.org/drawingml/2006/main">
              <a:ext uri="{FF2B5EF4-FFF2-40B4-BE49-F238E27FC236}">
                <a16:creationId xmlns:a16="http://schemas.microsoft.com/office/drawing/2014/main" id="{639B6FD2-DDE5-4AF0-8ECE-A6D691B78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7056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roblem-eyebrow">
            <a:extLst xmlns:a="http://schemas.openxmlformats.org/drawingml/2006/main">
              <a:ext uri="{FF2B5EF4-FFF2-40B4-BE49-F238E27FC236}">
                <a16:creationId xmlns:a16="http://schemas.microsoft.com/office/drawing/2014/main" id="{41C3E98F-CFD5-4A56-AD36-982A2B6FB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6103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WARUM MAGIC STICK</a:t>
            </a:r>
          </a:p>
        </p:txBody>
      </p:sp>
      <p:sp>
        <p:nvSpPr>
          <p:cNvPr id="9" name="problem-title">
            <a:extLst xmlns:a="http://schemas.openxmlformats.org/drawingml/2006/main">
              <a:ext uri="{FF2B5EF4-FFF2-40B4-BE49-F238E27FC236}">
                <a16:creationId xmlns:a16="http://schemas.microsoft.com/office/drawing/2014/main" id="{011EBB99-2CB8-437F-B291-5E49294CC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97230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KI ist mehr als ein Modell.</a:t>
            </a:r>
          </a:p>
        </p:txBody>
      </p:sp>
      <p:sp>
        <p:nvSpPr>
          <p:cNvPr id="10" name="problem-copy">
            <a:extLst xmlns:a="http://schemas.openxmlformats.org/drawingml/2006/main">
              <a:ext uri="{FF2B5EF4-FFF2-40B4-BE49-F238E27FC236}">
                <a16:creationId xmlns:a16="http://schemas.microsoft.com/office/drawing/2014/main" id="{A686A78A-7B76-4A32-BAFD-8C72E7725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591425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725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725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Erst Installation, Modellzugang, Anwendungen und sichere Zugänge machen daraus ein nutzbares System.</a:t>
            </a:r>
          </a:p>
        </p:txBody>
      </p:sp>
      <p:sp>
        <p:nvSpPr>
          <p:cNvPr id="11" name="outcome-eyebrow">
            <a:extLst xmlns:a="http://schemas.openxmlformats.org/drawingml/2006/main">
              <a:ext uri="{FF2B5EF4-FFF2-40B4-BE49-F238E27FC236}">
                <a16:creationId xmlns:a16="http://schemas.microsoft.com/office/drawing/2014/main" id="{5312B735-2DBA-477B-95BC-5CD3A5B2C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4772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7188A5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7188A5"/>
                </a:solidFill>
                <a:latin typeface="Avenir Next"/>
                <a:ea typeface="Avenir Next"/>
                <a:cs typeface="Avenir Next"/>
              </a:rPr>
              <a:t>WAS SICH VERÄNDERT</a:t>
            </a:r>
          </a:p>
        </p:txBody>
      </p:sp>
      <p:sp>
        <p:nvSpPr>
          <p:cNvPr id="12" name="outcome-number-1">
            <a:extLst xmlns:a="http://schemas.openxmlformats.org/drawingml/2006/main">
              <a:ext uri="{FF2B5EF4-FFF2-40B4-BE49-F238E27FC236}">
                <a16:creationId xmlns:a16="http://schemas.microsoft.com/office/drawing/2014/main" id="{289CD2CF-2352-4663-92B5-DFE6D7F02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439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13" name="outcome-title-1">
            <a:extLst xmlns:a="http://schemas.openxmlformats.org/drawingml/2006/main">
              <a:ext uri="{FF2B5EF4-FFF2-40B4-BE49-F238E27FC236}">
                <a16:creationId xmlns:a16="http://schemas.microsoft.com/office/drawing/2014/main" id="{901063FB-3E70-4607-9F98-9965FF929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889635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02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02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Vier Startpunkte. Ein Zielzustand.</a:t>
            </a:r>
          </a:p>
        </p:txBody>
      </p:sp>
      <p:sp>
        <p:nvSpPr>
          <p:cNvPr id="14" name="outcome-body-1">
            <a:extLst xmlns:a="http://schemas.openxmlformats.org/drawingml/2006/main">
              <a:ext uri="{FF2B5EF4-FFF2-40B4-BE49-F238E27FC236}">
                <a16:creationId xmlns:a16="http://schemas.microsoft.com/office/drawing/2014/main" id="{E275E84E-75B3-496E-8FBA-523F711D8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8915400"/>
            <a:ext cx="609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Per USB, Cloud-init, Ubuntu-Skript oder bestehendem Kubernetes – mit demselben sicheren First Run.</a:t>
            </a:r>
          </a:p>
        </p:txBody>
      </p:sp>
      <p:sp>
        <p:nvSpPr>
          <p:cNvPr id="15" name="outcome-rule-1">
            <a:extLst xmlns:a="http://schemas.openxmlformats.org/drawingml/2006/main">
              <a:ext uri="{FF2B5EF4-FFF2-40B4-BE49-F238E27FC236}">
                <a16:creationId xmlns:a16="http://schemas.microsoft.com/office/drawing/2014/main" id="{3A93D4A4-B438-498B-8C66-7C08DCC9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9534525"/>
            <a:ext cx="963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>
              <a:alpha val="4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outcome-number-2">
            <a:extLst xmlns:a="http://schemas.openxmlformats.org/drawingml/2006/main">
              <a:ext uri="{FF2B5EF4-FFF2-40B4-BE49-F238E27FC236}">
                <a16:creationId xmlns:a16="http://schemas.microsoft.com/office/drawing/2014/main" id="{4DD2F4B2-8A97-47A3-AC8D-9E812D90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80122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7" name="outcome-title-2">
            <a:extLst xmlns:a="http://schemas.openxmlformats.org/drawingml/2006/main">
              <a:ext uri="{FF2B5EF4-FFF2-40B4-BE49-F238E27FC236}">
                <a16:creationId xmlns:a16="http://schemas.microsoft.com/office/drawing/2014/main" id="{8B6512DF-184B-4FAD-BC1E-651F4A553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975360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02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02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Extern oder lokal starten.</a:t>
            </a:r>
          </a:p>
        </p:txBody>
      </p:sp>
      <p:sp>
        <p:nvSpPr>
          <p:cNvPr id="18" name="outcome-body-2">
            <a:extLst xmlns:a="http://schemas.openxmlformats.org/drawingml/2006/main">
              <a:ext uri="{FF2B5EF4-FFF2-40B4-BE49-F238E27FC236}">
                <a16:creationId xmlns:a16="http://schemas.microsoft.com/office/drawing/2014/main" id="{C14743F3-6764-4989-A2E2-B41F3CA87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9772650"/>
            <a:ext cx="609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Externe Provider via LiteLLM; lokale Modelle mit vLLM oder Ollama auf CPU und passender GPU.</a:t>
            </a:r>
          </a:p>
        </p:txBody>
      </p:sp>
      <p:sp>
        <p:nvSpPr>
          <p:cNvPr id="19" name="outcome-rule-2">
            <a:extLst xmlns:a="http://schemas.openxmlformats.org/drawingml/2006/main">
              <a:ext uri="{FF2B5EF4-FFF2-40B4-BE49-F238E27FC236}">
                <a16:creationId xmlns:a16="http://schemas.microsoft.com/office/drawing/2014/main" id="{29689207-AA12-472C-91BA-077E1B256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0391775"/>
            <a:ext cx="963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>
              <a:alpha val="4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outcome-number-3">
            <a:extLst xmlns:a="http://schemas.openxmlformats.org/drawingml/2006/main">
              <a:ext uri="{FF2B5EF4-FFF2-40B4-BE49-F238E27FC236}">
                <a16:creationId xmlns:a16="http://schemas.microsoft.com/office/drawing/2014/main" id="{464C34B9-AAD5-425F-84B8-251422968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6584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21" name="outcome-title-3">
            <a:extLst xmlns:a="http://schemas.openxmlformats.org/drawingml/2006/main">
              <a:ext uri="{FF2B5EF4-FFF2-40B4-BE49-F238E27FC236}">
                <a16:creationId xmlns:a16="http://schemas.microsoft.com/office/drawing/2014/main" id="{EE447048-29E5-4C59-8962-E6F0A8D86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061085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02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02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Eine Oberfläche. Ein Login.</a:t>
            </a:r>
          </a:p>
        </p:txBody>
      </p:sp>
      <p:sp>
        <p:nvSpPr>
          <p:cNvPr id="22" name="outcome-body-3">
            <a:extLst xmlns:a="http://schemas.openxmlformats.org/drawingml/2006/main">
              <a:ext uri="{FF2B5EF4-FFF2-40B4-BE49-F238E27FC236}">
                <a16:creationId xmlns:a16="http://schemas.microsoft.com/office/drawing/2014/main" id="{95CD9D03-6941-4919-AB5B-2490E9C71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0629900"/>
            <a:ext cx="609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Services, Modelle und Benutzer zentral steuern; geschützte Routen über Keycloak-SSO öffnen.</a:t>
            </a:r>
          </a:p>
        </p:txBody>
      </p:sp>
      <p:sp>
        <p:nvSpPr>
          <p:cNvPr id="23" name="outcome-rule-3">
            <a:extLst xmlns:a="http://schemas.openxmlformats.org/drawingml/2006/main">
              <a:ext uri="{FF2B5EF4-FFF2-40B4-BE49-F238E27FC236}">
                <a16:creationId xmlns:a16="http://schemas.microsoft.com/office/drawing/2014/main" id="{0AAB21CB-2044-4F01-9C6E-323E77868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1249025"/>
            <a:ext cx="963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>
              <a:alpha val="4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roof-eyebrow">
            <a:extLst xmlns:a="http://schemas.openxmlformats.org/drawingml/2006/main">
              <a:ext uri="{FF2B5EF4-FFF2-40B4-BE49-F238E27FC236}">
                <a16:creationId xmlns:a16="http://schemas.microsoft.com/office/drawing/2014/main" id="{B1960EA0-29D0-4AAC-B5F8-041FF0949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7252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DAS PRODUKT</a:t>
            </a:r>
          </a:p>
        </p:txBody>
      </p:sp>
      <p:sp>
        <p:nvSpPr>
          <p:cNvPr id="25" name="proof-title">
            <a:extLst xmlns:a="http://schemas.openxmlformats.org/drawingml/2006/main">
              <a:ext uri="{FF2B5EF4-FFF2-40B4-BE49-F238E27FC236}">
                <a16:creationId xmlns:a16="http://schemas.microsoft.com/office/drawing/2014/main" id="{58603FD4-D600-4619-BFD1-3EA4AA7A0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039600"/>
            <a:ext cx="3143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7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7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Ein Dashboard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27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7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für Services,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27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7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Modelle &amp; Nutzer.</a:t>
            </a:r>
          </a:p>
        </p:txBody>
      </p:sp>
      <p:sp>
        <p:nvSpPr>
          <p:cNvPr id="26" name="proof-copy">
            <a:extLst xmlns:a="http://schemas.openxmlformats.org/drawingml/2006/main">
              <a:ext uri="{FF2B5EF4-FFF2-40B4-BE49-F238E27FC236}">
                <a16:creationId xmlns:a16="http://schemas.microsoft.com/office/drawing/2014/main" id="{FFF9571F-5E55-43CD-9DAC-E5D9ED13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54050"/>
            <a:ext cx="323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Nur verfügbare Engines und Hardware werden angeboten.</a:t>
            </a:r>
          </a:p>
        </p:txBody>
      </p:sp>
      <p:sp>
        <p:nvSpPr>
          <p:cNvPr id="27" name="dashboard-frame">
            <a:extLst xmlns:a="http://schemas.openxmlformats.org/drawingml/2006/main">
              <a:ext uri="{FF2B5EF4-FFF2-40B4-BE49-F238E27FC236}">
                <a16:creationId xmlns:a16="http://schemas.microsoft.com/office/drawing/2014/main" id="{1AB15AE8-4962-40D6-A54B-BE525DA95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1715750"/>
            <a:ext cx="6819900" cy="22098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071123"/>
          </a:solidFill>
          <a:ln xmlns:a="http://schemas.openxmlformats.org/drawingml/2006/main" w="19050">
            <a:solidFill>
              <a:srgbClr val="24415F"/>
            </a:solidFill>
            <a:prstDash val="solid"/>
          </a:ln>
        </p:spPr>
      </p:sp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d117e788e3410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4419600" y="11811000"/>
            <a:ext cx="6629400" cy="1981200"/>
          </a:xfrm>
          <a:prstGeom xmlns:a="http://schemas.openxmlformats.org/drawingml/2006/main" prst="roundRect">
            <a:avLst/>
          </a:prstGeom>
        </p:spPr>
      </p:pic>
      <p:sp>
        <p:nvSpPr>
          <p:cNvPr id="29" name="dashboard-caption">
            <a:extLst xmlns:a="http://schemas.openxmlformats.org/drawingml/2006/main">
              <a:ext uri="{FF2B5EF4-FFF2-40B4-BE49-F238E27FC236}">
                <a16:creationId xmlns:a16="http://schemas.microsoft.com/office/drawing/2014/main" id="{68ADFF29-D6B2-4BFD-AABD-7359CBB9A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3982700"/>
            <a:ext cx="6629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>
                <a:solidFill>
                  <a:srgbClr val="7188A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7188A5"/>
                </a:solidFill>
                <a:latin typeface="Avenir Next"/>
                <a:ea typeface="Avenir Next"/>
                <a:cs typeface="Avenir Next"/>
              </a:rPr>
              <a:t>AKTUELLE PRODUKTOBERFLÄCHE · BEISPIELKONFIGURATION</a:t>
            </a:r>
          </a:p>
        </p:txBody>
      </p:sp>
      <p:sp>
        <p:nvSpPr>
          <p:cNvPr id="30" name="open-source-rule">
            <a:extLst xmlns:a="http://schemas.openxmlformats.org/drawingml/2006/main">
              <a:ext uri="{FF2B5EF4-FFF2-40B4-BE49-F238E27FC236}">
                <a16:creationId xmlns:a16="http://schemas.microsoft.com/office/drawing/2014/main" id="{6D6A2F34-A6EA-472D-AE99-333EEC47C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392275"/>
            <a:ext cx="10325100" cy="2857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22D3EE"/>
              </a:gs>
              <a:gs pos="62000">
                <a:srgbClr val="8B5CF6"/>
              </a:gs>
              <a:gs pos="100000">
                <a:srgbClr val="34D399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1" name="open-source-eyebrow">
            <a:extLst xmlns:a="http://schemas.openxmlformats.org/drawingml/2006/main">
              <a:ext uri="{FF2B5EF4-FFF2-40B4-BE49-F238E27FC236}">
                <a16:creationId xmlns:a16="http://schemas.microsoft.com/office/drawing/2014/main" id="{A8BFF647-1C6D-4462-B88F-66A92AB5F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1135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OPEN SOURCE ALS GRUNDLAGE</a:t>
            </a:r>
          </a:p>
        </p:txBody>
      </p:sp>
      <p:sp>
        <p:nvSpPr>
          <p:cNvPr id="32" name="open-source-title">
            <a:extLst xmlns:a="http://schemas.openxmlformats.org/drawingml/2006/main">
              <a:ext uri="{FF2B5EF4-FFF2-40B4-BE49-F238E27FC236}">
                <a16:creationId xmlns:a16="http://schemas.microsoft.com/office/drawing/2014/main" id="{D59E3882-35E7-4952-9101-A0EE95ABB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89710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02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Vollständig selbst betreibbar – ohne Cloud-Zwang.</a:t>
            </a:r>
          </a:p>
        </p:txBody>
      </p:sp>
      <p:sp>
        <p:nvSpPr>
          <p:cNvPr id="33" name="enterprise-copy">
            <a:extLst xmlns:a="http://schemas.openxmlformats.org/drawingml/2006/main">
              <a:ext uri="{FF2B5EF4-FFF2-40B4-BE49-F238E27FC236}">
                <a16:creationId xmlns:a16="http://schemas.microsoft.com/office/drawing/2014/main" id="{F6D54DEC-4A53-47ED-BA85-664BB9F9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297150"/>
            <a:ext cx="10325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Enterprise-Zielbild in Konzeption: Nutzer-/Gruppenfreigaben je Ressource, Scopes und delegierte Administration.</a:t>
            </a:r>
          </a:p>
        </p:txBody>
      </p:sp>
      <p:sp>
        <p:nvSpPr>
          <p:cNvPr id="34" name="cta-band">
            <a:extLst xmlns:a="http://schemas.openxmlformats.org/drawingml/2006/main">
              <a:ext uri="{FF2B5EF4-FFF2-40B4-BE49-F238E27FC236}">
                <a16:creationId xmlns:a16="http://schemas.microsoft.com/office/drawing/2014/main" id="{6AB12D90-E474-4757-9F87-DEC63A995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811500"/>
            <a:ext cx="11811000" cy="8953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E7490"/>
              </a:gs>
              <a:gs pos="65000">
                <a:srgbClr val="6D28D9"/>
              </a:gs>
              <a:gs pos="100000">
                <a:srgbClr val="4C1D95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5" name="cta-question">
            <a:extLst xmlns:a="http://schemas.openxmlformats.org/drawingml/2006/main">
              <a:ext uri="{FF2B5EF4-FFF2-40B4-BE49-F238E27FC236}">
                <a16:creationId xmlns:a16="http://schemas.microsoft.com/office/drawing/2014/main" id="{A42EB5C3-8DC1-4330-A8C1-A2BBB101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9734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1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Was würden Sie damit bauen?</a:t>
            </a:r>
          </a:p>
        </p:txBody>
      </p:sp>
      <p:sp>
        <p:nvSpPr>
          <p:cNvPr id="36" name="cta-github">
            <a:extLst xmlns:a="http://schemas.openxmlformats.org/drawingml/2006/main">
              <a:ext uri="{FF2B5EF4-FFF2-40B4-BE49-F238E27FC236}">
                <a16:creationId xmlns:a16="http://schemas.microsoft.com/office/drawing/2014/main" id="{2E0628D2-6969-4653-914A-D9C02D58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63950"/>
            <a:ext cx="552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E6FAFF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E6FAFF"/>
                </a:solidFill>
                <a:latin typeface="Avenir Next"/>
                <a:ea typeface="Avenir Next"/>
                <a:cs typeface="Avenir Next"/>
                <a:hlinkClick xmlns:r="http://schemas.openxmlformats.org/officeDocument/2006/relationships" r:id="R0ae1b9b49b5c4dac"/>
              </a:rPr>
              <a:t>github.com/QualityMinds/AIppliance-Magic-Stick</a:t>
            </a:r>
          </a:p>
        </p:txBody>
      </p:sp>
      <p:sp>
        <p:nvSpPr>
          <p:cNvPr id="37" name="cta-brand">
            <a:extLst xmlns:a="http://schemas.openxmlformats.org/drawingml/2006/main">
              <a:ext uri="{FF2B5EF4-FFF2-40B4-BE49-F238E27FC236}">
                <a16:creationId xmlns:a16="http://schemas.microsoft.com/office/drawing/2014/main" id="{A69B4197-E19A-46AF-A605-BA9F964BB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982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1">
                <a:solidFill>
                  <a:srgbClr val="E6FAFF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E6FAFF"/>
                </a:solidFill>
                <a:latin typeface="Avenir Next"/>
                <a:ea typeface="Avenir Next"/>
                <a:cs typeface="Avenir Next"/>
              </a:rPr>
              <a:t>QUALITYMINDS</a:t>
            </a:r>
          </a:p>
        </p:txBody>
      </p:sp>
      <p:sp>
        <p:nvSpPr>
          <p:cNvPr id="38" name="cta-email">
            <a:extLst xmlns:a="http://schemas.openxmlformats.org/drawingml/2006/main">
              <a:ext uri="{FF2B5EF4-FFF2-40B4-BE49-F238E27FC236}">
                <a16:creationId xmlns:a16="http://schemas.microsoft.com/office/drawing/2014/main" id="{7D03BA64-69D0-4DFA-9D8C-E98371A4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297275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7FAFF"/>
                </a:solidFill>
                <a:latin typeface="Avenir Next"/>
                <a:ea typeface="Avenir Next"/>
                <a:cs typeface="Avenir Next"/>
                <a:hlinkClick xmlns:r="http://schemas.openxmlformats.org/officeDocument/2006/relationships" r:id="R8faf0b008583443e"/>
              </a:rPr>
              <a:t>hello@qualityminds.de</a:t>
            </a:r>
          </a:p>
        </p:txBody>
      </p:sp>
    </p:spTree>
    <p:extLst>
      <p:ext uri="{BB962C8B-B14F-4D97-AF65-F5344CB8AC3E}">
        <p14:creationId xmlns:p14="http://schemas.microsoft.com/office/powerpoint/2010/main" val="3029599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2026-09-01T21:28:47.1530000Z</dcterms:created>
  <dcterms:modified xsi:type="dcterms:W3CDTF">2026-09-01T21:28:47.1530000Z</dcterms:modified>
</coreProperties>
</file>