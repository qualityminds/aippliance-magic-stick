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8025c526b94681" /><Relationship Type="http://schemas.openxmlformats.org/officeDocument/2006/relationships/extended-properties" Target="/docProps/app.xml" Id="R2a83724194c447fb" /><Relationship Type="http://schemas.openxmlformats.org/officeDocument/2006/relationships/officeDocument" Target="/ppt/presentation.xml" Id="R98fde53ff1c34f51" /></Relationships>
</file>

<file path=ppt/presentation.xml><?xml version="1.0" encoding="utf-8"?>
<p:presentation xmlns:p="http://schemas.openxmlformats.org/presentationml/2006/main">
  <p:sldMasterIdLst>
    <p:sldMasterId xmlns:r="http://schemas.openxmlformats.org/officeDocument/2006/relationships" id="2147483648" r:id="R598db34f80474c47"/>
  </p:sldMasterIdLst>
  <p:notesMasterIdLst>
    <p:notesMasterId xmlns:r="http://schemas.openxmlformats.org/officeDocument/2006/relationships" r:id="R494baac0dc9a431e"/>
  </p:notesMasterIdLst>
  <p:sldIdLst>
    <p:sldId xmlns:r="http://schemas.openxmlformats.org/officeDocument/2006/relationships" id="256" r:id="Rc19c6bfc118e4508"/>
  </p:sldIdLst>
  <p:sldSz cx="13716000" cy="4114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b36d38367f4655" /><Relationship Type="http://schemas.openxmlformats.org/officeDocument/2006/relationships/slideMaster" Target="/ppt/slideMasters/slideMaster1.xml" Id="R598db34f80474c47" /><Relationship Type="http://schemas.openxmlformats.org/officeDocument/2006/relationships/notesMaster" Target="/ppt/notesMasters/notesMaster1.xml" Id="R494baac0dc9a431e" /><Relationship Type="http://schemas.openxmlformats.org/officeDocument/2006/relationships/presProps" Target="/ppt/presProps.xml" Id="R2490715ea6294f10" /><Relationship Type="http://schemas.openxmlformats.org/officeDocument/2006/relationships/tableStyles" Target="/ppt/tableStyles.xml" Id="Rae443b49bccf4134" /><Relationship Type="http://schemas.openxmlformats.org/officeDocument/2006/relationships/slide" Target="/ppt/slides/slide1.xml" Id="Rc19c6bfc118e45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d9134580064b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b22680ce7e483a" /><Relationship Type="http://schemas.openxmlformats.org/officeDocument/2006/relationships/notesMaster" Target="/ppt/notesMasters/notesMaster1.xml" Id="R81e6a11264eb43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Magic Stick steht unter Business Source License 1.1 (SPDX: BUSL-1.1). Jede Version wechselt drei Jahre nach ihrer ersten öffentlichen Veröffentlichung zur MIT License. Free erlaubt produktive Eigennutzung für Privatpersonen, Non-Profit, Bildung/Forschung sowie Unternehmensgruppen bis einschließlich 2 Mio. EUR konsolidiertem Jahresumsatz. Für neue Gruppen gilt eine vernünftige Good-Faith-Prognose. Produktive kommerzielle OEM-, Appliance-, SaaS-, Hosting- und Managed-Service-Angebote für Dritte sind vom Free Use Grant ausgenommen. Reine Weitergabe und Weiterverkauf sowie nichtproduktive Nutzung bleiben nach BSL erlaubt. Free Registered schaltet Federated SSO mit kostenloser signierter Datei frei. Commercial umfasst commercial-production und federated-sso. Resource Sharing und Private Mesh benötigen keine Lizenzdatei. Maßgeblich sind LICENSE und LICENSING.md, keine Marketing-Kurzfassung. Drittanbieter behalten eigene Lizenzen.</a:t>
            </a:r>
          </a:p>
          <a:p xmlns:a="http://schemas.openxmlformats.org/drawingml/2006/main">
            <a:r>
              <a:t/>
            </a:r>
          </a:p>
          <a:p xmlns:a="http://schemas.openxmlformats.org/drawingml/2006/main">
            <a:r>
              <a:t>[Sources]</a:t>
            </a:r>
          </a:p>
          <a:p xmlns:a="http://schemas.openxmlformats.org/drawingml/2006/main">
            <a:r>
              <a:t>- LICENSE</a:t>
            </a:r>
          </a:p>
          <a:p xmlns:a="http://schemas.openxmlformats.org/drawingml/2006/main">
            <a:r>
              <a:t>- LICENSING.md</a:t>
            </a:r>
          </a:p>
          <a:p xmlns:a="http://schemas.openxmlformats.org/drawingml/2006/main">
            <a:r>
              <a:t>- docs/licensing.md</a:t>
            </a:r>
          </a:p>
          <a:p xmlns:a="http://schemas.openxmlformats.org/drawingml/2006/main">
            <a:r>
              <a:t>- docs/instance-sharing.md</a:t>
            </a:r>
          </a:p>
          <a:p xmlns:a="http://schemas.openxmlformats.org/drawingml/2006/main">
            <a:r>
              <a:t>- docs/private-mesh.md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5a483b193c44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56a6e3e542488a" /><Relationship Type="http://schemas.openxmlformats.org/officeDocument/2006/relationships/slideLayout" Target="/ppt/slideLayouts/slideLayout1.xml" Id="R12ab0213439945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ab0213439945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cf83d755e14af9" /><Relationship Type="http://schemas.openxmlformats.org/officeDocument/2006/relationships/image" Target="/ppt/media/image.png" Id="R3fa7a6c19ffa4942" /><Relationship Type="http://schemas.openxmlformats.org/officeDocument/2006/relationships/image" Target="/ppt/media/image2.png" Id="Rec987b03426d4a7d" /><Relationship Type="http://schemas.openxmlformats.org/officeDocument/2006/relationships/image" Target="/ppt/media/image3.png" Id="Ra49384a310a64867" /><Relationship Type="http://schemas.openxmlformats.org/officeDocument/2006/relationships/image" Target="/ppt/media/image.jpeg" Id="R6557cfe8323641fc" /><Relationship Type="http://schemas.openxmlformats.org/officeDocument/2006/relationships/hyperlink" Target="https://github.com/QualityMinds/AIppliance-Magic-Stick" TargetMode="External" Id="R0c0cc6924d5c453a" /><Relationship Type="http://schemas.openxmlformats.org/officeDocument/2006/relationships/hyperlink" Target="mailto:hello@qualityminds.de" TargetMode="External" Id="R795560f750714041" /><Relationship Type="http://schemas.openxmlformats.org/officeDocument/2006/relationships/notesSlide" Target="/ppt/notesSlides/notesSlide1.xml" Id="R92f5b9fa6bef4162" /></Relationships>
</file>

<file path=ppt/slides/slide1.xml><?xml version="1.0" encoding="utf-8"?>
<p:sld xmlns:p="http://schemas.openxmlformats.org/presentationml/2006/main">
  <p:cSld>
    <p:bg>
      <p:bgPr>
        <a:solidFill xmlns:a="http://schemas.openxmlformats.org/drawingml/2006/main">
          <a:srgbClr val="050B18"/>
        </a:solidFill>
      </p:bgPr>
    </p:bg>
    <p:spTree>
      <p:nvGrpSpPr>
        <p:cNvPr id="1" name=""/>
        <p:cNvGrpSpPr/>
        <p:nvPr/>
      </p:nvGrpSpPr>
      <p:grpSpPr>
        <a:xfrm xmlns:a="http://schemas.openxmlformats.org/drawingml/2006/main"/>
      </p:grpSpPr>
      <p:sp>
        <p:nvSpPr>
          <p:cNvPr id="99" name="journey-spine">
            <a:extLst xmlns:a="http://schemas.openxmlformats.org/drawingml/2006/main">
              <a:ext uri="{FF2B5EF4-FFF2-40B4-BE49-F238E27FC236}">
                <a16:creationId xmlns:a16="http://schemas.microsoft.com/office/drawing/2014/main" id="{42CD6C08-11EE-4830-8ACE-61CA9A8B7B42}"/>
              </a:ext>
            </a:extLst>
          </p:cNvPr>
          <p:cNvSpPr>
            <a:spLocks xmlns:a="http://schemas.openxmlformats.org/drawingml/2006/main" noGrp="1"/>
          </p:cNvSpPr>
          <p:nvPr/>
        </p:nvSpPr>
        <p:spPr>
          <a:xfrm xmlns:a="http://schemas.openxmlformats.org/drawingml/2006/main">
            <a:off x="552450" y="6191250"/>
            <a:ext cx="38100" cy="32385000"/>
          </a:xfrm>
          <a:prstGeom xmlns:a="http://schemas.openxmlformats.org/drawingml/2006/main" prst="rect">
            <a:avLst/>
          </a:prstGeom>
          <a:gradFill xmlns:a="http://schemas.openxmlformats.org/drawingml/2006/main">
            <a:gsLst>
              <a:gs pos="0">
                <a:srgbClr val="22D3EE"/>
              </a:gs>
              <a:gs pos="50000">
                <a:srgbClr val="8B5CF6"/>
              </a:gs>
              <a:gs pos="100000">
                <a:srgbClr val="34D399"/>
              </a:gs>
            </a:gsLst>
            <a:lin ang="5400000"/>
          </a:gradFill>
          <a:ln xmlns:a="http://schemas.openxmlformats.org/drawingml/2006/main" w="0">
            <a:noFill/>
            <a:prstDash val="solid"/>
          </a:ln>
        </p:spPr>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3fa7a6c19ffa4942"/>
          <a:srcRect xmlns:a="http://schemas.openxmlformats.org/drawingml/2006/main" l="0" t="11458" r="0" b="11458"/>
          <a:stretch xmlns:a="http://schemas.openxmlformats.org/drawingml/2006/main">
            <a:fillRect l="0" t="0" r="0" b="0"/>
          </a:stretch>
        </p:blipFill>
        <p:spPr>
          <a:xfrm xmlns:a="http://schemas.openxmlformats.org/drawingml/2006/main">
            <a:off x="0" y="0"/>
            <a:ext cx="13716000" cy="7048500"/>
          </a:xfrm>
          <a:prstGeom xmlns:a="http://schemas.openxmlformats.org/drawingml/2006/main" prst="rect">
            <a:avLst/>
          </a:prstGeom>
        </p:spPr>
      </p:pic>
      <p:sp>
        <p:nvSpPr>
          <p:cNvPr id="3" name="hero-left-wash">
            <a:extLst xmlns:a="http://schemas.openxmlformats.org/drawingml/2006/main">
              <a:ext uri="{FF2B5EF4-FFF2-40B4-BE49-F238E27FC236}">
                <a16:creationId xmlns:a16="http://schemas.microsoft.com/office/drawing/2014/main" id="{81E99032-0D9D-4BFF-BFC9-E4186577E1F8}"/>
              </a:ext>
            </a:extLst>
          </p:cNvPr>
          <p:cNvSpPr>
            <a:spLocks xmlns:a="http://schemas.openxmlformats.org/drawingml/2006/main" noGrp="1"/>
          </p:cNvSpPr>
          <p:nvPr/>
        </p:nvSpPr>
        <p:spPr>
          <a:xfrm xmlns:a="http://schemas.openxmlformats.org/drawingml/2006/main">
            <a:off x="0" y="0"/>
            <a:ext cx="8191500" cy="7048500"/>
          </a:xfrm>
          <a:prstGeom xmlns:a="http://schemas.openxmlformats.org/drawingml/2006/main" prst="rect">
            <a:avLst/>
          </a:prstGeom>
          <a:gradFill xmlns:a="http://schemas.openxmlformats.org/drawingml/2006/main">
            <a:gsLst>
              <a:gs pos="0">
                <a:srgbClr val="050B18">
                  <a:alpha val="99000"/>
                </a:srgbClr>
              </a:gs>
              <a:gs pos="67000">
                <a:srgbClr val="050B18">
                  <a:alpha val="80000"/>
                </a:srgbClr>
              </a:gs>
              <a:gs pos="100000">
                <a:srgbClr val="050B18">
                  <a:alpha val="0"/>
                </a:srgbClr>
              </a:gs>
            </a:gsLst>
            <a:lin ang="0"/>
          </a:gradFill>
          <a:ln xmlns:a="http://schemas.openxmlformats.org/drawingml/2006/main" w="0">
            <a:noFill/>
            <a:prstDash val="solid"/>
          </a:ln>
        </p:spPr>
      </p:sp>
      <p:sp>
        <p:nvSpPr>
          <p:cNvPr id="4" name="hero-bottom-wash">
            <a:extLst xmlns:a="http://schemas.openxmlformats.org/drawingml/2006/main">
              <a:ext uri="{FF2B5EF4-FFF2-40B4-BE49-F238E27FC236}">
                <a16:creationId xmlns:a16="http://schemas.microsoft.com/office/drawing/2014/main" id="{53004137-9ED2-4368-8438-09DD6267C349}"/>
              </a:ext>
            </a:extLst>
          </p:cNvPr>
          <p:cNvSpPr>
            <a:spLocks xmlns:a="http://schemas.openxmlformats.org/drawingml/2006/main" noGrp="1"/>
          </p:cNvSpPr>
          <p:nvPr/>
        </p:nvSpPr>
        <p:spPr>
          <a:xfrm xmlns:a="http://schemas.openxmlformats.org/drawingml/2006/main">
            <a:off x="0" y="6191250"/>
            <a:ext cx="13716000" cy="857250"/>
          </a:xfrm>
          <a:prstGeom xmlns:a="http://schemas.openxmlformats.org/drawingml/2006/main" prst="rect">
            <a:avLst/>
          </a:prstGeom>
          <a:gradFill xmlns:a="http://schemas.openxmlformats.org/drawingml/2006/main">
            <a:gsLst>
              <a:gs pos="0">
                <a:srgbClr val="050B18">
                  <a:alpha val="0"/>
                </a:srgbClr>
              </a:gs>
              <a:gs pos="100000">
                <a:srgbClr val="050B18"/>
              </a:gs>
            </a:gsLst>
            <a:lin ang="5400000"/>
          </a:gradFill>
          <a:ln xmlns:a="http://schemas.openxmlformats.org/drawingml/2006/main" w="0">
            <a:noFill/>
            <a:prstDash val="solid"/>
          </a:ln>
        </p:spPr>
      </p:sp>
      <p:sp>
        <p:nvSpPr>
          <p:cNvPr id="5" name="hero-eyebrow">
            <a:extLst xmlns:a="http://schemas.openxmlformats.org/drawingml/2006/main">
              <a:ext uri="{FF2B5EF4-FFF2-40B4-BE49-F238E27FC236}">
                <a16:creationId xmlns:a16="http://schemas.microsoft.com/office/drawing/2014/main" id="{BB1C41D9-6A32-49F7-BBF4-B270820D8588}"/>
              </a:ext>
            </a:extLst>
          </p:cNvPr>
          <p:cNvSpPr>
            <a:spLocks xmlns:a="http://schemas.openxmlformats.org/drawingml/2006/main" noGrp="1"/>
          </p:cNvSpPr>
          <p:nvPr/>
        </p:nvSpPr>
        <p:spPr>
          <a:xfrm xmlns:a="http://schemas.openxmlformats.org/drawingml/2006/main">
            <a:off x="914400" y="68580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500" b="1">
                <a:solidFill>
                  <a:srgbClr val="22D3EE"/>
                </a:solidFill>
                <a:latin typeface="Avenir Next"/>
                <a:ea typeface="Avenir Next"/>
                <a:cs typeface="Avenir Next"/>
              </a:defRPr>
            </a:pPr>
            <a:r>
              <a:rPr sz="1500" b="1">
                <a:solidFill>
                  <a:srgbClr val="22D3EE"/>
                </a:solidFill>
                <a:latin typeface="Avenir Next"/>
                <a:ea typeface="Avenir Next"/>
                <a:cs typeface="Avenir Next"/>
              </a:rPr>
              <a:t>MAGIC STICK · SOURCE-AVAILABLE AI APPLIANCE</a:t>
            </a:r>
          </a:p>
        </p:txBody>
      </p:sp>
      <p:sp>
        <p:nvSpPr>
          <p:cNvPr id="6" name="hero-title">
            <a:extLst xmlns:a="http://schemas.openxmlformats.org/drawingml/2006/main">
              <a:ext uri="{FF2B5EF4-FFF2-40B4-BE49-F238E27FC236}">
                <a16:creationId xmlns:a16="http://schemas.microsoft.com/office/drawing/2014/main" id="{D47D52F3-15BC-4DD2-8242-7049E7EFFB8A}"/>
              </a:ext>
            </a:extLst>
          </p:cNvPr>
          <p:cNvSpPr>
            <a:spLocks xmlns:a="http://schemas.openxmlformats.org/drawingml/2006/main" noGrp="1"/>
          </p:cNvSpPr>
          <p:nvPr/>
        </p:nvSpPr>
        <p:spPr>
          <a:xfrm xmlns:a="http://schemas.openxmlformats.org/drawingml/2006/main">
            <a:off x="914400" y="1409700"/>
            <a:ext cx="7810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0000"/>
              </a:lnSpc>
              <a:buNone/>
              <a:defRPr sz="5550" b="1">
                <a:solidFill>
                  <a:srgbClr val="F7FAFF"/>
                </a:solidFill>
                <a:latin typeface="Avenir Next"/>
                <a:ea typeface="Avenir Next"/>
                <a:cs typeface="Avenir Next"/>
              </a:defRPr>
            </a:pPr>
            <a:r>
              <a:rPr sz="5550" b="1">
                <a:solidFill>
                  <a:srgbClr val="F7FAFF"/>
                </a:solidFill>
                <a:latin typeface="Avenir Next"/>
                <a:ea typeface="Avenir Next"/>
                <a:cs typeface="Avenir Next"/>
              </a:rPr>
              <a:t>Vom Rechner zur</a:t>
            </a:r>
          </a:p>
          <a:p xmlns:a="http://schemas.openxmlformats.org/drawingml/2006/main">
            <a:pPr algn="l">
              <a:lnSpc>
                <a:spcPct val="90000"/>
              </a:lnSpc>
              <a:buNone/>
              <a:defRPr sz="5550" b="1">
                <a:solidFill>
                  <a:srgbClr val="F7FAFF"/>
                </a:solidFill>
                <a:latin typeface="Avenir Next"/>
                <a:ea typeface="Avenir Next"/>
                <a:cs typeface="Avenir Next"/>
              </a:defRPr>
            </a:pPr>
            <a:r>
              <a:rPr sz="5550" b="1">
                <a:solidFill>
                  <a:srgbClr val="F7FAFF"/>
                </a:solidFill>
                <a:latin typeface="Avenir Next"/>
                <a:ea typeface="Avenir Next"/>
                <a:cs typeface="Avenir Next"/>
              </a:rPr>
              <a:t>eigenen KI-Plattform.</a:t>
            </a:r>
          </a:p>
        </p:txBody>
      </p:sp>
      <p:sp>
        <p:nvSpPr>
          <p:cNvPr id="7" name="hero-copy">
            <a:extLst xmlns:a="http://schemas.openxmlformats.org/drawingml/2006/main">
              <a:ext uri="{FF2B5EF4-FFF2-40B4-BE49-F238E27FC236}">
                <a16:creationId xmlns:a16="http://schemas.microsoft.com/office/drawing/2014/main" id="{764EB964-8B28-4593-A3F7-AC45593BCE99}"/>
              </a:ext>
            </a:extLst>
          </p:cNvPr>
          <p:cNvSpPr>
            <a:spLocks xmlns:a="http://schemas.openxmlformats.org/drawingml/2006/main" noGrp="1"/>
          </p:cNvSpPr>
          <p:nvPr/>
        </p:nvSpPr>
        <p:spPr>
          <a:xfrm xmlns:a="http://schemas.openxmlformats.org/drawingml/2006/main">
            <a:off x="933450" y="3619500"/>
            <a:ext cx="6572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2100" b="0">
                <a:solidFill>
                  <a:srgbClr val="C5D4E6"/>
                </a:solidFill>
                <a:latin typeface="Avenir Next"/>
                <a:ea typeface="Avenir Next"/>
                <a:cs typeface="Avenir Next"/>
              </a:defRPr>
            </a:pPr>
            <a:r>
              <a:rPr sz="2100" b="0">
                <a:solidFill>
                  <a:srgbClr val="C5D4E6"/>
                </a:solidFill>
                <a:latin typeface="Avenir Next"/>
                <a:ea typeface="Avenir Next"/>
                <a:cs typeface="Avenir Next"/>
              </a:rPr>
              <a:t>Magic Stick verbindet Installation, Modellzugang, Services, SSO und GitOps-Betrieb auf Ihrer Infrastruktur.</a:t>
            </a:r>
          </a:p>
        </p:txBody>
      </p:sp>
      <p:sp>
        <p:nvSpPr>
          <p:cNvPr id="8" name="hero-scroll">
            <a:extLst xmlns:a="http://schemas.openxmlformats.org/drawingml/2006/main">
              <a:ext uri="{FF2B5EF4-FFF2-40B4-BE49-F238E27FC236}">
                <a16:creationId xmlns:a16="http://schemas.microsoft.com/office/drawing/2014/main" id="{062A8E17-63AD-4C52-9E8D-F2C6A716E981}"/>
              </a:ext>
            </a:extLst>
          </p:cNvPr>
          <p:cNvSpPr>
            <a:spLocks xmlns:a="http://schemas.openxmlformats.org/drawingml/2006/main" noGrp="1"/>
          </p:cNvSpPr>
          <p:nvPr/>
        </p:nvSpPr>
        <p:spPr>
          <a:xfrm xmlns:a="http://schemas.openxmlformats.org/drawingml/2006/main">
            <a:off x="933450" y="5715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125" b="1">
                <a:solidFill>
                  <a:srgbClr val="7890AE"/>
                </a:solidFill>
                <a:latin typeface="Avenir Next"/>
                <a:ea typeface="Avenir Next"/>
                <a:cs typeface="Avenir Next"/>
              </a:defRPr>
            </a:pPr>
            <a:r>
              <a:rPr sz="1125" b="1">
                <a:solidFill>
                  <a:srgbClr val="7890AE"/>
                </a:solidFill>
                <a:latin typeface="Avenir Next"/>
                <a:ea typeface="Avenir Next"/>
                <a:cs typeface="Avenir Next"/>
              </a:rPr>
              <a:t>DIE GESCHICHTE EINER OFFENEN KI-PLATTFORM</a:t>
            </a:r>
          </a:p>
        </p:txBody>
      </p:sp>
      <p:sp>
        <p:nvSpPr>
          <p:cNvPr id="9" name="section-number-02">
            <a:extLst xmlns:a="http://schemas.openxmlformats.org/drawingml/2006/main">
              <a:ext uri="{FF2B5EF4-FFF2-40B4-BE49-F238E27FC236}">
                <a16:creationId xmlns:a16="http://schemas.microsoft.com/office/drawing/2014/main" id="{562B872D-DE2C-4A37-B3AA-A696651CEC50}"/>
              </a:ext>
            </a:extLst>
          </p:cNvPr>
          <p:cNvSpPr>
            <a:spLocks xmlns:a="http://schemas.openxmlformats.org/drawingml/2006/main" noGrp="1"/>
          </p:cNvSpPr>
          <p:nvPr/>
        </p:nvSpPr>
        <p:spPr>
          <a:xfrm xmlns:a="http://schemas.openxmlformats.org/drawingml/2006/main">
            <a:off x="323850" y="76200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500" b="1">
                <a:solidFill>
                  <a:srgbClr val="22D3EE"/>
                </a:solidFill>
                <a:latin typeface="Avenir Next"/>
                <a:ea typeface="Avenir Next"/>
                <a:cs typeface="Avenir Next"/>
              </a:defRPr>
            </a:pPr>
            <a:r>
              <a:rPr sz="1500" b="1">
                <a:solidFill>
                  <a:srgbClr val="22D3EE"/>
                </a:solidFill>
                <a:latin typeface="Avenir Next"/>
                <a:ea typeface="Avenir Next"/>
                <a:cs typeface="Avenir Next"/>
              </a:rPr>
              <a:t>02</a:t>
            </a:r>
          </a:p>
        </p:txBody>
      </p:sp>
      <p:sp>
        <p:nvSpPr>
          <p:cNvPr id="10" name="section-dot-02">
            <a:extLst xmlns:a="http://schemas.openxmlformats.org/drawingml/2006/main">
              <a:ext uri="{FF2B5EF4-FFF2-40B4-BE49-F238E27FC236}">
                <a16:creationId xmlns:a16="http://schemas.microsoft.com/office/drawing/2014/main" id="{9A4969F3-5CCA-481B-AAC3-4D462D9C6239}"/>
              </a:ext>
            </a:extLst>
          </p:cNvPr>
          <p:cNvSpPr>
            <a:spLocks xmlns:a="http://schemas.openxmlformats.org/drawingml/2006/main" noGrp="1"/>
          </p:cNvSpPr>
          <p:nvPr/>
        </p:nvSpPr>
        <p:spPr>
          <a:xfrm xmlns:a="http://schemas.openxmlformats.org/drawingml/2006/main">
            <a:off x="495300" y="8001000"/>
            <a:ext cx="133350" cy="1333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28575">
            <a:solidFill>
              <a:srgbClr val="22D3EE">
                <a:alpha val="55000"/>
              </a:srgbClr>
            </a:solidFill>
            <a:prstDash val="solid"/>
          </a:ln>
        </p:spPr>
      </p:sp>
      <p:sp>
        <p:nvSpPr>
          <p:cNvPr id="11" name="problem-label">
            <a:extLst xmlns:a="http://schemas.openxmlformats.org/drawingml/2006/main">
              <a:ext uri="{FF2B5EF4-FFF2-40B4-BE49-F238E27FC236}">
                <a16:creationId xmlns:a16="http://schemas.microsoft.com/office/drawing/2014/main" id="{BAF04A75-980F-4F5A-95B3-CC62DCAB6849}"/>
              </a:ext>
            </a:extLst>
          </p:cNvPr>
          <p:cNvSpPr>
            <a:spLocks xmlns:a="http://schemas.openxmlformats.org/drawingml/2006/main" noGrp="1"/>
          </p:cNvSpPr>
          <p:nvPr/>
        </p:nvSpPr>
        <p:spPr>
          <a:xfrm xmlns:a="http://schemas.openxmlformats.org/drawingml/2006/main">
            <a:off x="1047750" y="75247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DAS FEHLENDE BINDEGLIED</a:t>
            </a:r>
          </a:p>
        </p:txBody>
      </p:sp>
      <p:sp>
        <p:nvSpPr>
          <p:cNvPr id="12" name="problem-title">
            <a:extLst xmlns:a="http://schemas.openxmlformats.org/drawingml/2006/main">
              <a:ext uri="{FF2B5EF4-FFF2-40B4-BE49-F238E27FC236}">
                <a16:creationId xmlns:a16="http://schemas.microsoft.com/office/drawing/2014/main" id="{AD24BC41-DCF2-42BB-8F09-19192D2941B4}"/>
              </a:ext>
            </a:extLst>
          </p:cNvPr>
          <p:cNvSpPr>
            <a:spLocks xmlns:a="http://schemas.openxmlformats.org/drawingml/2006/main" noGrp="1"/>
          </p:cNvSpPr>
          <p:nvPr/>
        </p:nvSpPr>
        <p:spPr>
          <a:xfrm xmlns:a="http://schemas.openxmlformats.org/drawingml/2006/main">
            <a:off x="1047750" y="79819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3750" b="1">
                <a:solidFill>
                  <a:srgbClr val="F7FAFF"/>
                </a:solidFill>
                <a:latin typeface="Avenir Next"/>
                <a:ea typeface="Avenir Next"/>
                <a:cs typeface="Avenir Next"/>
              </a:defRPr>
            </a:pPr>
            <a:r>
              <a:rPr sz="3750" b="1">
                <a:solidFill>
                  <a:srgbClr val="F7FAFF"/>
                </a:solidFill>
                <a:latin typeface="Avenir Next"/>
                <a:ea typeface="Avenir Next"/>
                <a:cs typeface="Avenir Next"/>
              </a:rPr>
              <a:t>Ein Modell allein ist noch keine Plattform.</a:t>
            </a:r>
          </a:p>
        </p:txBody>
      </p:sp>
      <p:sp>
        <p:nvSpPr>
          <p:cNvPr id="13" name="problem-copy">
            <a:extLst xmlns:a="http://schemas.openxmlformats.org/drawingml/2006/main">
              <a:ext uri="{FF2B5EF4-FFF2-40B4-BE49-F238E27FC236}">
                <a16:creationId xmlns:a16="http://schemas.microsoft.com/office/drawing/2014/main" id="{4F6617E7-A4C2-40E0-B201-34C7CC4A599D}"/>
              </a:ext>
            </a:extLst>
          </p:cNvPr>
          <p:cNvSpPr>
            <a:spLocks xmlns:a="http://schemas.openxmlformats.org/drawingml/2006/main" noGrp="1"/>
          </p:cNvSpPr>
          <p:nvPr/>
        </p:nvSpPr>
        <p:spPr>
          <a:xfrm xmlns:a="http://schemas.openxmlformats.org/drawingml/2006/main">
            <a:off x="1047750" y="8858250"/>
            <a:ext cx="10382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950" b="0">
                <a:solidFill>
                  <a:srgbClr val="C5D4E6"/>
                </a:solidFill>
                <a:latin typeface="Avenir Next"/>
                <a:ea typeface="Avenir Next"/>
                <a:cs typeface="Avenir Next"/>
              </a:defRPr>
            </a:pPr>
            <a:r>
              <a:rPr sz="1950" b="0">
                <a:solidFill>
                  <a:srgbClr val="C5D4E6"/>
                </a:solidFill>
                <a:latin typeface="Avenir Next"/>
                <a:ea typeface="Avenir Next"/>
                <a:cs typeface="Avenir Next"/>
              </a:rPr>
              <a:t>Erst wenn Infrastruktur, Modellzugang, Anwendungen, Identitäten und Betrieb zusammenspielen, entsteht eine Plattform für den Alltag.</a:t>
            </a:r>
          </a:p>
        </p:txBody>
      </p:sp>
      <p:sp>
        <p:nvSpPr>
          <p:cNvPr id="14" name="concept-0">
            <a:extLst xmlns:a="http://schemas.openxmlformats.org/drawingml/2006/main">
              <a:ext uri="{FF2B5EF4-FFF2-40B4-BE49-F238E27FC236}">
                <a16:creationId xmlns:a16="http://schemas.microsoft.com/office/drawing/2014/main" id="{4E83A214-4958-4A92-8A56-F4C78C35377A}"/>
              </a:ext>
            </a:extLst>
          </p:cNvPr>
          <p:cNvSpPr>
            <a:spLocks xmlns:a="http://schemas.openxmlformats.org/drawingml/2006/main" noGrp="1"/>
          </p:cNvSpPr>
          <p:nvPr/>
        </p:nvSpPr>
        <p:spPr>
          <a:xfrm xmlns:a="http://schemas.openxmlformats.org/drawingml/2006/main">
            <a:off x="1047750" y="100393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INFRASTRUKTUR</a:t>
            </a:r>
          </a:p>
        </p:txBody>
      </p:sp>
      <p:sp>
        <p:nvSpPr>
          <p:cNvPr id="15" name="concept-connector-0">
            <a:extLst xmlns:a="http://schemas.openxmlformats.org/drawingml/2006/main">
              <a:ext uri="{FF2B5EF4-FFF2-40B4-BE49-F238E27FC236}">
                <a16:creationId xmlns:a16="http://schemas.microsoft.com/office/drawing/2014/main" id="{0D447014-0AF0-4EEE-9B34-0894A7757E1D}"/>
              </a:ext>
            </a:extLst>
          </p:cNvPr>
          <p:cNvSpPr>
            <a:spLocks xmlns:a="http://schemas.openxmlformats.org/drawingml/2006/main" noGrp="1"/>
          </p:cNvSpPr>
          <p:nvPr/>
        </p:nvSpPr>
        <p:spPr>
          <a:xfrm xmlns:a="http://schemas.openxmlformats.org/drawingml/2006/main">
            <a:off x="3048000" y="10163175"/>
            <a:ext cx="361950" cy="19050"/>
          </a:xfrm>
          <a:prstGeom xmlns:a="http://schemas.openxmlformats.org/drawingml/2006/main" prst="rect">
            <a:avLst/>
          </a:prstGeom>
          <a:solidFill xmlns:a="http://schemas.openxmlformats.org/drawingml/2006/main">
            <a:srgbClr val="22D3EE">
              <a:alpha val="55000"/>
            </a:srgbClr>
          </a:solidFill>
          <a:ln xmlns:a="http://schemas.openxmlformats.org/drawingml/2006/main" w="0">
            <a:noFill/>
            <a:prstDash val="solid"/>
          </a:ln>
        </p:spPr>
      </p:sp>
      <p:sp>
        <p:nvSpPr>
          <p:cNvPr id="16" name="concept-1">
            <a:extLst xmlns:a="http://schemas.openxmlformats.org/drawingml/2006/main">
              <a:ext uri="{FF2B5EF4-FFF2-40B4-BE49-F238E27FC236}">
                <a16:creationId xmlns:a16="http://schemas.microsoft.com/office/drawing/2014/main" id="{24515B90-1398-4930-8701-C10275354153}"/>
              </a:ext>
            </a:extLst>
          </p:cNvPr>
          <p:cNvSpPr>
            <a:spLocks xmlns:a="http://schemas.openxmlformats.org/drawingml/2006/main" noGrp="1"/>
          </p:cNvSpPr>
          <p:nvPr/>
        </p:nvSpPr>
        <p:spPr>
          <a:xfrm xmlns:a="http://schemas.openxmlformats.org/drawingml/2006/main">
            <a:off x="3409950" y="100393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MODELLE</a:t>
            </a:r>
          </a:p>
        </p:txBody>
      </p:sp>
      <p:sp>
        <p:nvSpPr>
          <p:cNvPr id="17" name="concept-connector-1">
            <a:extLst xmlns:a="http://schemas.openxmlformats.org/drawingml/2006/main">
              <a:ext uri="{FF2B5EF4-FFF2-40B4-BE49-F238E27FC236}">
                <a16:creationId xmlns:a16="http://schemas.microsoft.com/office/drawing/2014/main" id="{5A079BBF-5BA2-417B-AA2A-981C91747582}"/>
              </a:ext>
            </a:extLst>
          </p:cNvPr>
          <p:cNvSpPr>
            <a:spLocks xmlns:a="http://schemas.openxmlformats.org/drawingml/2006/main" noGrp="1"/>
          </p:cNvSpPr>
          <p:nvPr/>
        </p:nvSpPr>
        <p:spPr>
          <a:xfrm xmlns:a="http://schemas.openxmlformats.org/drawingml/2006/main">
            <a:off x="5410200" y="10163175"/>
            <a:ext cx="361950" cy="19050"/>
          </a:xfrm>
          <a:prstGeom xmlns:a="http://schemas.openxmlformats.org/drawingml/2006/main" prst="rect">
            <a:avLst/>
          </a:prstGeom>
          <a:solidFill xmlns:a="http://schemas.openxmlformats.org/drawingml/2006/main">
            <a:srgbClr val="8B5CF6">
              <a:alpha val="55000"/>
            </a:srgbClr>
          </a:solidFill>
          <a:ln xmlns:a="http://schemas.openxmlformats.org/drawingml/2006/main" w="0">
            <a:noFill/>
            <a:prstDash val="solid"/>
          </a:ln>
        </p:spPr>
      </p:sp>
      <p:sp>
        <p:nvSpPr>
          <p:cNvPr id="18" name="concept-2">
            <a:extLst xmlns:a="http://schemas.openxmlformats.org/drawingml/2006/main">
              <a:ext uri="{FF2B5EF4-FFF2-40B4-BE49-F238E27FC236}">
                <a16:creationId xmlns:a16="http://schemas.microsoft.com/office/drawing/2014/main" id="{B2B79C5F-3293-4318-8973-64D11C7DEE5C}"/>
              </a:ext>
            </a:extLst>
          </p:cNvPr>
          <p:cNvSpPr>
            <a:spLocks xmlns:a="http://schemas.openxmlformats.org/drawingml/2006/main" noGrp="1"/>
          </p:cNvSpPr>
          <p:nvPr/>
        </p:nvSpPr>
        <p:spPr>
          <a:xfrm xmlns:a="http://schemas.openxmlformats.org/drawingml/2006/main">
            <a:off x="5772150" y="100393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ANWENDUNGEN</a:t>
            </a:r>
          </a:p>
        </p:txBody>
      </p:sp>
      <p:sp>
        <p:nvSpPr>
          <p:cNvPr id="19" name="concept-connector-2">
            <a:extLst xmlns:a="http://schemas.openxmlformats.org/drawingml/2006/main">
              <a:ext uri="{FF2B5EF4-FFF2-40B4-BE49-F238E27FC236}">
                <a16:creationId xmlns:a16="http://schemas.microsoft.com/office/drawing/2014/main" id="{D997EB7B-F147-4DDD-B8D4-3BCC07737940}"/>
              </a:ext>
            </a:extLst>
          </p:cNvPr>
          <p:cNvSpPr>
            <a:spLocks xmlns:a="http://schemas.openxmlformats.org/drawingml/2006/main" noGrp="1"/>
          </p:cNvSpPr>
          <p:nvPr/>
        </p:nvSpPr>
        <p:spPr>
          <a:xfrm xmlns:a="http://schemas.openxmlformats.org/drawingml/2006/main">
            <a:off x="7772400" y="10163175"/>
            <a:ext cx="361950" cy="19050"/>
          </a:xfrm>
          <a:prstGeom xmlns:a="http://schemas.openxmlformats.org/drawingml/2006/main" prst="rect">
            <a:avLst/>
          </a:prstGeom>
          <a:solidFill xmlns:a="http://schemas.openxmlformats.org/drawingml/2006/main">
            <a:srgbClr val="34D399">
              <a:alpha val="55000"/>
            </a:srgbClr>
          </a:solidFill>
          <a:ln xmlns:a="http://schemas.openxmlformats.org/drawingml/2006/main" w="0">
            <a:noFill/>
            <a:prstDash val="solid"/>
          </a:ln>
        </p:spPr>
      </p:sp>
      <p:sp>
        <p:nvSpPr>
          <p:cNvPr id="20" name="concept-3">
            <a:extLst xmlns:a="http://schemas.openxmlformats.org/drawingml/2006/main">
              <a:ext uri="{FF2B5EF4-FFF2-40B4-BE49-F238E27FC236}">
                <a16:creationId xmlns:a16="http://schemas.microsoft.com/office/drawing/2014/main" id="{E9DC0F8E-5E70-44EF-B320-DBCC7B926D28}"/>
              </a:ext>
            </a:extLst>
          </p:cNvPr>
          <p:cNvSpPr>
            <a:spLocks xmlns:a="http://schemas.openxmlformats.org/drawingml/2006/main" noGrp="1"/>
          </p:cNvSpPr>
          <p:nvPr/>
        </p:nvSpPr>
        <p:spPr>
          <a:xfrm xmlns:a="http://schemas.openxmlformats.org/drawingml/2006/main">
            <a:off x="8134350" y="100393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200" b="1">
                <a:solidFill>
                  <a:srgbClr val="FBBF24"/>
                </a:solidFill>
                <a:latin typeface="Avenir Next"/>
                <a:ea typeface="Avenir Next"/>
                <a:cs typeface="Avenir Next"/>
              </a:defRPr>
            </a:pPr>
            <a:r>
              <a:rPr sz="1200" b="1">
                <a:solidFill>
                  <a:srgbClr val="FBBF24"/>
                </a:solidFill>
                <a:latin typeface="Avenir Next"/>
                <a:ea typeface="Avenir Next"/>
                <a:cs typeface="Avenir Next"/>
              </a:rPr>
              <a:t>IDENTITÄTEN</a:t>
            </a:r>
          </a:p>
        </p:txBody>
      </p:sp>
      <p:sp>
        <p:nvSpPr>
          <p:cNvPr id="21" name="concept-connector-3">
            <a:extLst xmlns:a="http://schemas.openxmlformats.org/drawingml/2006/main">
              <a:ext uri="{FF2B5EF4-FFF2-40B4-BE49-F238E27FC236}">
                <a16:creationId xmlns:a16="http://schemas.microsoft.com/office/drawing/2014/main" id="{A0FABDA5-5EF5-4C47-96F7-34F39C069338}"/>
              </a:ext>
            </a:extLst>
          </p:cNvPr>
          <p:cNvSpPr>
            <a:spLocks xmlns:a="http://schemas.openxmlformats.org/drawingml/2006/main" noGrp="1"/>
          </p:cNvSpPr>
          <p:nvPr/>
        </p:nvSpPr>
        <p:spPr>
          <a:xfrm xmlns:a="http://schemas.openxmlformats.org/drawingml/2006/main">
            <a:off x="10134600" y="10163175"/>
            <a:ext cx="361950" cy="19050"/>
          </a:xfrm>
          <a:prstGeom xmlns:a="http://schemas.openxmlformats.org/drawingml/2006/main" prst="rect">
            <a:avLst/>
          </a:prstGeom>
          <a:solidFill xmlns:a="http://schemas.openxmlformats.org/drawingml/2006/main">
            <a:srgbClr val="FBBF24">
              <a:alpha val="55000"/>
            </a:srgbClr>
          </a:solidFill>
          <a:ln xmlns:a="http://schemas.openxmlformats.org/drawingml/2006/main" w="0">
            <a:noFill/>
            <a:prstDash val="solid"/>
          </a:ln>
        </p:spPr>
      </p:sp>
      <p:sp>
        <p:nvSpPr>
          <p:cNvPr id="22" name="concept-4">
            <a:extLst xmlns:a="http://schemas.openxmlformats.org/drawingml/2006/main">
              <a:ext uri="{FF2B5EF4-FFF2-40B4-BE49-F238E27FC236}">
                <a16:creationId xmlns:a16="http://schemas.microsoft.com/office/drawing/2014/main" id="{2E4040A5-9695-49B0-9064-04A8068DD0FC}"/>
              </a:ext>
            </a:extLst>
          </p:cNvPr>
          <p:cNvSpPr>
            <a:spLocks xmlns:a="http://schemas.openxmlformats.org/drawingml/2006/main" noGrp="1"/>
          </p:cNvSpPr>
          <p:nvPr/>
        </p:nvSpPr>
        <p:spPr>
          <a:xfrm xmlns:a="http://schemas.openxmlformats.org/drawingml/2006/main">
            <a:off x="10496550" y="100393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BETRIEB</a:t>
            </a:r>
          </a:p>
        </p:txBody>
      </p:sp>
      <p:sp>
        <p:nvSpPr>
          <p:cNvPr id="23" name="install-bg">
            <a:extLst xmlns:a="http://schemas.openxmlformats.org/drawingml/2006/main">
              <a:ext uri="{FF2B5EF4-FFF2-40B4-BE49-F238E27FC236}">
                <a16:creationId xmlns:a16="http://schemas.microsoft.com/office/drawing/2014/main" id="{3E59D211-35CB-4298-9304-80A691BF1CE4}"/>
              </a:ext>
            </a:extLst>
          </p:cNvPr>
          <p:cNvSpPr>
            <a:spLocks xmlns:a="http://schemas.openxmlformats.org/drawingml/2006/main" noGrp="1"/>
          </p:cNvSpPr>
          <p:nvPr/>
        </p:nvSpPr>
        <p:spPr>
          <a:xfrm xmlns:a="http://schemas.openxmlformats.org/drawingml/2006/main">
            <a:off x="0" y="10763250"/>
            <a:ext cx="13716000" cy="4762500"/>
          </a:xfrm>
          <a:prstGeom xmlns:a="http://schemas.openxmlformats.org/drawingml/2006/main" prst="rect">
            <a:avLst/>
          </a:prstGeom>
          <a:solidFill xmlns:a="http://schemas.openxmlformats.org/drawingml/2006/main">
            <a:srgbClr val="071123"/>
          </a:solidFill>
          <a:ln xmlns:a="http://schemas.openxmlformats.org/drawingml/2006/main" w="0">
            <a:noFill/>
            <a:prstDash val="solid"/>
          </a:ln>
        </p:spPr>
      </p:sp>
      <p:sp>
        <p:nvSpPr>
          <p:cNvPr id="24" name="section-number-03">
            <a:extLst xmlns:a="http://schemas.openxmlformats.org/drawingml/2006/main">
              <a:ext uri="{FF2B5EF4-FFF2-40B4-BE49-F238E27FC236}">
                <a16:creationId xmlns:a16="http://schemas.microsoft.com/office/drawing/2014/main" id="{858803BE-8C7E-41EA-8544-62BE19A4F70F}"/>
              </a:ext>
            </a:extLst>
          </p:cNvPr>
          <p:cNvSpPr>
            <a:spLocks xmlns:a="http://schemas.openxmlformats.org/drawingml/2006/main" noGrp="1"/>
          </p:cNvSpPr>
          <p:nvPr/>
        </p:nvSpPr>
        <p:spPr>
          <a:xfrm xmlns:a="http://schemas.openxmlformats.org/drawingml/2006/main">
            <a:off x="323850" y="112395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500" b="1">
                <a:solidFill>
                  <a:srgbClr val="8B5CF6"/>
                </a:solidFill>
                <a:latin typeface="Avenir Next"/>
                <a:ea typeface="Avenir Next"/>
                <a:cs typeface="Avenir Next"/>
              </a:defRPr>
            </a:pPr>
            <a:r>
              <a:rPr sz="1500" b="1">
                <a:solidFill>
                  <a:srgbClr val="8B5CF6"/>
                </a:solidFill>
                <a:latin typeface="Avenir Next"/>
                <a:ea typeface="Avenir Next"/>
                <a:cs typeface="Avenir Next"/>
              </a:rPr>
              <a:t>03</a:t>
            </a:r>
          </a:p>
        </p:txBody>
      </p:sp>
      <p:sp>
        <p:nvSpPr>
          <p:cNvPr id="25" name="section-dot-03">
            <a:extLst xmlns:a="http://schemas.openxmlformats.org/drawingml/2006/main">
              <a:ext uri="{FF2B5EF4-FFF2-40B4-BE49-F238E27FC236}">
                <a16:creationId xmlns:a16="http://schemas.microsoft.com/office/drawing/2014/main" id="{F0C6F853-C362-4BE7-82B5-E1CFA69F741B}"/>
              </a:ext>
            </a:extLst>
          </p:cNvPr>
          <p:cNvSpPr>
            <a:spLocks xmlns:a="http://schemas.openxmlformats.org/drawingml/2006/main" noGrp="1"/>
          </p:cNvSpPr>
          <p:nvPr/>
        </p:nvSpPr>
        <p:spPr>
          <a:xfrm xmlns:a="http://schemas.openxmlformats.org/drawingml/2006/main">
            <a:off x="495300" y="11620500"/>
            <a:ext cx="133350" cy="1333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28575">
            <a:solidFill>
              <a:srgbClr val="8B5CF6">
                <a:alpha val="55000"/>
              </a:srgbClr>
            </a:solidFill>
            <a:prstDash val="solid"/>
          </a:ln>
        </p:spPr>
      </p:sp>
      <p:sp>
        <p:nvSpPr>
          <p:cNvPr id="26" name="install-label">
            <a:extLst xmlns:a="http://schemas.openxmlformats.org/drawingml/2006/main">
              <a:ext uri="{FF2B5EF4-FFF2-40B4-BE49-F238E27FC236}">
                <a16:creationId xmlns:a16="http://schemas.microsoft.com/office/drawing/2014/main" id="{3967A787-0456-4B3F-8A8D-69E1E09C660F}"/>
              </a:ext>
            </a:extLst>
          </p:cNvPr>
          <p:cNvSpPr>
            <a:spLocks xmlns:a="http://schemas.openxmlformats.org/drawingml/2006/main" noGrp="1"/>
          </p:cNvSpPr>
          <p:nvPr/>
        </p:nvSpPr>
        <p:spPr>
          <a:xfrm xmlns:a="http://schemas.openxmlformats.org/drawingml/2006/main">
            <a:off x="1047750" y="111442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VIER DOKUMENTIERTE STARTPUNKTE</a:t>
            </a:r>
          </a:p>
        </p:txBody>
      </p:sp>
      <p:sp>
        <p:nvSpPr>
          <p:cNvPr id="27" name="install-title">
            <a:extLst xmlns:a="http://schemas.openxmlformats.org/drawingml/2006/main">
              <a:ext uri="{FF2B5EF4-FFF2-40B4-BE49-F238E27FC236}">
                <a16:creationId xmlns:a16="http://schemas.microsoft.com/office/drawing/2014/main" id="{F872D949-B337-41D8-BC8D-7FF15DA1835E}"/>
              </a:ext>
            </a:extLst>
          </p:cNvPr>
          <p:cNvSpPr>
            <a:spLocks xmlns:a="http://schemas.openxmlformats.org/drawingml/2006/main" noGrp="1"/>
          </p:cNvSpPr>
          <p:nvPr/>
        </p:nvSpPr>
        <p:spPr>
          <a:xfrm xmlns:a="http://schemas.openxmlformats.org/drawingml/2006/main">
            <a:off x="1047750" y="1160145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3600" b="1">
                <a:solidFill>
                  <a:srgbClr val="F7FAFF"/>
                </a:solidFill>
                <a:latin typeface="Avenir Next"/>
                <a:ea typeface="Avenir Next"/>
                <a:cs typeface="Avenir Next"/>
              </a:defRPr>
            </a:pPr>
            <a:r>
              <a:rPr sz="3600" b="1">
                <a:solidFill>
                  <a:srgbClr val="F7FAFF"/>
                </a:solidFill>
                <a:latin typeface="Avenir Next"/>
                <a:ea typeface="Avenir Next"/>
                <a:cs typeface="Avenir Next"/>
              </a:rPr>
              <a:t>Vier Wege führen zur gleichen Plattform.</a:t>
            </a:r>
          </a:p>
        </p:txBody>
      </p:sp>
      <p:sp>
        <p:nvSpPr>
          <p:cNvPr id="28" name="pathway-connector-0">
            <a:extLst xmlns:a="http://schemas.openxmlformats.org/drawingml/2006/main">
              <a:ext uri="{FF2B5EF4-FFF2-40B4-BE49-F238E27FC236}">
                <a16:creationId xmlns:a16="http://schemas.microsoft.com/office/drawing/2014/main" id="{4EFF99CA-68FF-4D2F-BAED-AC8C67993F31}"/>
              </a:ext>
            </a:extLst>
          </p:cNvPr>
          <p:cNvSpPr>
            <a:spLocks xmlns:a="http://schemas.openxmlformats.org/drawingml/2006/main" noGrp="1"/>
          </p:cNvSpPr>
          <p:nvPr/>
        </p:nvSpPr>
        <p:spPr>
          <a:xfrm xmlns:a="http://schemas.openxmlformats.org/drawingml/2006/main">
            <a:off x="2743200" y="14163675"/>
            <a:ext cx="28575" cy="457200"/>
          </a:xfrm>
          <a:prstGeom xmlns:a="http://schemas.openxmlformats.org/drawingml/2006/main" prst="rect">
            <a:avLst/>
          </a:prstGeom>
          <a:solidFill xmlns:a="http://schemas.openxmlformats.org/drawingml/2006/main">
            <a:srgbClr val="22D3EE">
              <a:alpha val="65000"/>
            </a:srgbClr>
          </a:solidFill>
          <a:ln xmlns:a="http://schemas.openxmlformats.org/drawingml/2006/main" w="0">
            <a:noFill/>
            <a:prstDash val="solid"/>
          </a:ln>
        </p:spPr>
      </p:sp>
      <p:sp>
        <p:nvSpPr>
          <p:cNvPr id="29" name="pathway-connector-1">
            <a:extLst xmlns:a="http://schemas.openxmlformats.org/drawingml/2006/main">
              <a:ext uri="{FF2B5EF4-FFF2-40B4-BE49-F238E27FC236}">
                <a16:creationId xmlns:a16="http://schemas.microsoft.com/office/drawing/2014/main" id="{F5ABE9BD-B57E-48FE-B24E-94E4DE2F25EA}"/>
              </a:ext>
            </a:extLst>
          </p:cNvPr>
          <p:cNvSpPr>
            <a:spLocks xmlns:a="http://schemas.openxmlformats.org/drawingml/2006/main" noGrp="1"/>
          </p:cNvSpPr>
          <p:nvPr/>
        </p:nvSpPr>
        <p:spPr>
          <a:xfrm xmlns:a="http://schemas.openxmlformats.org/drawingml/2006/main">
            <a:off x="5457825" y="14163675"/>
            <a:ext cx="28575" cy="457200"/>
          </a:xfrm>
          <a:prstGeom xmlns:a="http://schemas.openxmlformats.org/drawingml/2006/main" prst="rect">
            <a:avLst/>
          </a:prstGeom>
          <a:solidFill xmlns:a="http://schemas.openxmlformats.org/drawingml/2006/main">
            <a:srgbClr val="8B5CF6">
              <a:alpha val="65000"/>
            </a:srgbClr>
          </a:solidFill>
          <a:ln xmlns:a="http://schemas.openxmlformats.org/drawingml/2006/main" w="0">
            <a:noFill/>
            <a:prstDash val="solid"/>
          </a:ln>
        </p:spPr>
      </p:sp>
      <p:sp>
        <p:nvSpPr>
          <p:cNvPr id="30" name="pathway-connector-2">
            <a:extLst xmlns:a="http://schemas.openxmlformats.org/drawingml/2006/main">
              <a:ext uri="{FF2B5EF4-FFF2-40B4-BE49-F238E27FC236}">
                <a16:creationId xmlns:a16="http://schemas.microsoft.com/office/drawing/2014/main" id="{CC56B408-BE99-4934-A729-183A2601631E}"/>
              </a:ext>
            </a:extLst>
          </p:cNvPr>
          <p:cNvSpPr>
            <a:spLocks xmlns:a="http://schemas.openxmlformats.org/drawingml/2006/main" noGrp="1"/>
          </p:cNvSpPr>
          <p:nvPr/>
        </p:nvSpPr>
        <p:spPr>
          <a:xfrm xmlns:a="http://schemas.openxmlformats.org/drawingml/2006/main">
            <a:off x="8172450" y="14163675"/>
            <a:ext cx="28575" cy="457200"/>
          </a:xfrm>
          <a:prstGeom xmlns:a="http://schemas.openxmlformats.org/drawingml/2006/main" prst="rect">
            <a:avLst/>
          </a:prstGeom>
          <a:solidFill xmlns:a="http://schemas.openxmlformats.org/drawingml/2006/main">
            <a:srgbClr val="34D399">
              <a:alpha val="65000"/>
            </a:srgbClr>
          </a:solidFill>
          <a:ln xmlns:a="http://schemas.openxmlformats.org/drawingml/2006/main" w="0">
            <a:noFill/>
            <a:prstDash val="solid"/>
          </a:ln>
        </p:spPr>
      </p:sp>
      <p:sp>
        <p:nvSpPr>
          <p:cNvPr id="31" name="pathway-connector-3">
            <a:extLst xmlns:a="http://schemas.openxmlformats.org/drawingml/2006/main">
              <a:ext uri="{FF2B5EF4-FFF2-40B4-BE49-F238E27FC236}">
                <a16:creationId xmlns:a16="http://schemas.microsoft.com/office/drawing/2014/main" id="{B8BA74E6-BBDB-4920-937C-21C7C28C3266}"/>
              </a:ext>
            </a:extLst>
          </p:cNvPr>
          <p:cNvSpPr>
            <a:spLocks xmlns:a="http://schemas.openxmlformats.org/drawingml/2006/main" noGrp="1"/>
          </p:cNvSpPr>
          <p:nvPr/>
        </p:nvSpPr>
        <p:spPr>
          <a:xfrm xmlns:a="http://schemas.openxmlformats.org/drawingml/2006/main">
            <a:off x="10887075" y="14163675"/>
            <a:ext cx="28575" cy="457200"/>
          </a:xfrm>
          <a:prstGeom xmlns:a="http://schemas.openxmlformats.org/drawingml/2006/main" prst="rect">
            <a:avLst/>
          </a:prstGeom>
          <a:solidFill xmlns:a="http://schemas.openxmlformats.org/drawingml/2006/main">
            <a:srgbClr val="FBBF24">
              <a:alpha val="65000"/>
            </a:srgbClr>
          </a:solidFill>
          <a:ln xmlns:a="http://schemas.openxmlformats.org/drawingml/2006/main" w="0">
            <a:noFill/>
            <a:prstDash val="solid"/>
          </a:ln>
        </p:spPr>
      </p:sp>
      <p:sp>
        <p:nvSpPr>
          <p:cNvPr id="32" name="pathway-common-line">
            <a:extLst xmlns:a="http://schemas.openxmlformats.org/drawingml/2006/main">
              <a:ext uri="{FF2B5EF4-FFF2-40B4-BE49-F238E27FC236}">
                <a16:creationId xmlns:a16="http://schemas.microsoft.com/office/drawing/2014/main" id="{2DECDBA4-F1BE-45B8-8D83-1AC170A1FE2A}"/>
              </a:ext>
            </a:extLst>
          </p:cNvPr>
          <p:cNvSpPr>
            <a:spLocks xmlns:a="http://schemas.openxmlformats.org/drawingml/2006/main" noGrp="1"/>
          </p:cNvSpPr>
          <p:nvPr/>
        </p:nvSpPr>
        <p:spPr>
          <a:xfrm xmlns:a="http://schemas.openxmlformats.org/drawingml/2006/main">
            <a:off x="2743200" y="14601825"/>
            <a:ext cx="8143875" cy="28575"/>
          </a:xfrm>
          <a:prstGeom xmlns:a="http://schemas.openxmlformats.org/drawingml/2006/main" prst="rect">
            <a:avLst/>
          </a:prstGeom>
          <a:gradFill xmlns:a="http://schemas.openxmlformats.org/drawingml/2006/main">
            <a:gsLst>
              <a:gs pos="0">
                <a:srgbClr val="22D3EE"/>
              </a:gs>
              <a:gs pos="50000">
                <a:srgbClr val="8B5CF6"/>
              </a:gs>
              <a:gs pos="100000">
                <a:srgbClr val="34D399"/>
              </a:gs>
            </a:gsLst>
            <a:lin ang="0"/>
          </a:gradFill>
          <a:ln xmlns:a="http://schemas.openxmlformats.org/drawingml/2006/main" w="0">
            <a:noFill/>
            <a:prstDash val="solid"/>
          </a:ln>
        </p:spPr>
      </p:sp>
      <p:sp>
        <p:nvSpPr>
          <p:cNvPr id="33" name="path-hardware-number">
            <a:extLst xmlns:a="http://schemas.openxmlformats.org/drawingml/2006/main">
              <a:ext uri="{FF2B5EF4-FFF2-40B4-BE49-F238E27FC236}">
                <a16:creationId xmlns:a16="http://schemas.microsoft.com/office/drawing/2014/main" id="{F16374BA-C38B-4748-A663-AA1D99309837}"/>
              </a:ext>
            </a:extLst>
          </p:cNvPr>
          <p:cNvSpPr>
            <a:spLocks xmlns:a="http://schemas.openxmlformats.org/drawingml/2006/main" noGrp="1"/>
          </p:cNvSpPr>
          <p:nvPr/>
        </p:nvSpPr>
        <p:spPr>
          <a:xfrm xmlns:a="http://schemas.openxmlformats.org/drawingml/2006/main">
            <a:off x="1619250" y="126682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a:solidFill>
                  <a:srgbClr val="22D3EE"/>
                </a:solidFill>
                <a:latin typeface="Avenir Next"/>
                <a:ea typeface="Avenir Next"/>
                <a:cs typeface="Avenir Next"/>
              </a:defRPr>
            </a:pPr>
            <a:r>
              <a:rPr sz="1350" b="1">
                <a:solidFill>
                  <a:srgbClr val="22D3EE"/>
                </a:solidFill>
                <a:latin typeface="Avenir Next"/>
                <a:ea typeface="Avenir Next"/>
                <a:cs typeface="Avenir Next"/>
              </a:rPr>
              <a:t>01</a:t>
            </a:r>
          </a:p>
        </p:txBody>
      </p:sp>
      <p:sp>
        <p:nvSpPr>
          <p:cNvPr id="34" name="path-hardware-title">
            <a:extLst xmlns:a="http://schemas.openxmlformats.org/drawingml/2006/main">
              <a:ext uri="{FF2B5EF4-FFF2-40B4-BE49-F238E27FC236}">
                <a16:creationId xmlns:a16="http://schemas.microsoft.com/office/drawing/2014/main" id="{BF97926E-D1B4-464F-95E7-8E559583684A}"/>
              </a:ext>
            </a:extLst>
          </p:cNvPr>
          <p:cNvSpPr>
            <a:spLocks xmlns:a="http://schemas.openxmlformats.org/drawingml/2006/main" noGrp="1"/>
          </p:cNvSpPr>
          <p:nvPr/>
        </p:nvSpPr>
        <p:spPr>
          <a:xfrm xmlns:a="http://schemas.openxmlformats.org/drawingml/2006/main">
            <a:off x="1619250" y="13030200"/>
            <a:ext cx="2333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Dedizierte</a:t>
            </a:r>
          </a:p>
          <a:p xmlns:a="http://schemas.openxmlformats.org/drawingml/2006/main">
            <a:pPr algn="l">
              <a:lnSpc>
                <a:spcPct val="98000"/>
              </a:lnSpc>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Hardware</a:t>
            </a:r>
          </a:p>
        </p:txBody>
      </p:sp>
      <p:sp>
        <p:nvSpPr>
          <p:cNvPr id="35" name="path-hardware-body">
            <a:extLst xmlns:a="http://schemas.openxmlformats.org/drawingml/2006/main">
              <a:ext uri="{FF2B5EF4-FFF2-40B4-BE49-F238E27FC236}">
                <a16:creationId xmlns:a16="http://schemas.microsoft.com/office/drawing/2014/main" id="{B0AF2A9B-17AD-4AB7-8352-6E1F9FE12920}"/>
              </a:ext>
            </a:extLst>
          </p:cNvPr>
          <p:cNvSpPr>
            <a:spLocks xmlns:a="http://schemas.openxmlformats.org/drawingml/2006/main" noGrp="1"/>
          </p:cNvSpPr>
          <p:nvPr/>
        </p:nvSpPr>
        <p:spPr>
          <a:xfrm xmlns:a="http://schemas.openxmlformats.org/drawingml/2006/main">
            <a:off x="1619250" y="1364932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350" b="0">
                <a:solidFill>
                  <a:srgbClr val="C5D4E6"/>
                </a:solidFill>
                <a:latin typeface="Avenir Next"/>
                <a:ea typeface="Avenir Next"/>
                <a:cs typeface="Avenir Next"/>
              </a:defRPr>
            </a:pPr>
            <a:r>
              <a:rPr sz="1350" b="0">
                <a:solidFill>
                  <a:srgbClr val="C5D4E6"/>
                </a:solidFill>
                <a:latin typeface="Avenir Next"/>
                <a:ea typeface="Avenir Next"/>
                <a:cs typeface="Avenir Next"/>
              </a:rPr>
              <a:t>USB-Installer; danach geschützter First Run.</a:t>
            </a:r>
          </a:p>
        </p:txBody>
      </p:sp>
      <p:sp>
        <p:nvSpPr>
          <p:cNvPr id="36" name="path-hardware-rule">
            <a:extLst xmlns:a="http://schemas.openxmlformats.org/drawingml/2006/main">
              <a:ext uri="{FF2B5EF4-FFF2-40B4-BE49-F238E27FC236}">
                <a16:creationId xmlns:a16="http://schemas.microsoft.com/office/drawing/2014/main" id="{EB0C072B-E446-4F4A-ABA6-5F89BA0EACB7}"/>
              </a:ext>
            </a:extLst>
          </p:cNvPr>
          <p:cNvSpPr>
            <a:spLocks xmlns:a="http://schemas.openxmlformats.org/drawingml/2006/main" noGrp="1"/>
          </p:cNvSpPr>
          <p:nvPr/>
        </p:nvSpPr>
        <p:spPr>
          <a:xfrm xmlns:a="http://schemas.openxmlformats.org/drawingml/2006/main">
            <a:off x="1619250" y="14420850"/>
            <a:ext cx="2333625" cy="28575"/>
          </a:xfrm>
          <a:prstGeom xmlns:a="http://schemas.openxmlformats.org/drawingml/2006/main" prst="rect">
            <a:avLst/>
          </a:prstGeom>
          <a:solidFill xmlns:a="http://schemas.openxmlformats.org/drawingml/2006/main">
            <a:srgbClr val="22D3EE"/>
          </a:solidFill>
          <a:ln xmlns:a="http://schemas.openxmlformats.org/drawingml/2006/main" w="0">
            <a:noFill/>
            <a:prstDash val="solid"/>
          </a:ln>
        </p:spPr>
      </p:sp>
      <p:sp>
        <p:nvSpPr>
          <p:cNvPr id="37" name="path-cloud-number">
            <a:extLst xmlns:a="http://schemas.openxmlformats.org/drawingml/2006/main">
              <a:ext uri="{FF2B5EF4-FFF2-40B4-BE49-F238E27FC236}">
                <a16:creationId xmlns:a16="http://schemas.microsoft.com/office/drawing/2014/main" id="{1F47C168-C0E6-4808-926F-84A60152A64A}"/>
              </a:ext>
            </a:extLst>
          </p:cNvPr>
          <p:cNvSpPr>
            <a:spLocks xmlns:a="http://schemas.openxmlformats.org/drawingml/2006/main" noGrp="1"/>
          </p:cNvSpPr>
          <p:nvPr/>
        </p:nvSpPr>
        <p:spPr>
          <a:xfrm xmlns:a="http://schemas.openxmlformats.org/drawingml/2006/main">
            <a:off x="4333875" y="126682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a:solidFill>
                  <a:srgbClr val="8B5CF6"/>
                </a:solidFill>
                <a:latin typeface="Avenir Next"/>
                <a:ea typeface="Avenir Next"/>
                <a:cs typeface="Avenir Next"/>
              </a:defRPr>
            </a:pPr>
            <a:r>
              <a:rPr sz="1350" b="1">
                <a:solidFill>
                  <a:srgbClr val="8B5CF6"/>
                </a:solidFill>
                <a:latin typeface="Avenir Next"/>
                <a:ea typeface="Avenir Next"/>
                <a:cs typeface="Avenir Next"/>
              </a:rPr>
              <a:t>02</a:t>
            </a:r>
          </a:p>
        </p:txBody>
      </p:sp>
      <p:sp>
        <p:nvSpPr>
          <p:cNvPr id="38" name="path-cloud-title">
            <a:extLst xmlns:a="http://schemas.openxmlformats.org/drawingml/2006/main">
              <a:ext uri="{FF2B5EF4-FFF2-40B4-BE49-F238E27FC236}">
                <a16:creationId xmlns:a16="http://schemas.microsoft.com/office/drawing/2014/main" id="{8915FD1D-F332-4936-BC77-2E672625CF43}"/>
              </a:ext>
            </a:extLst>
          </p:cNvPr>
          <p:cNvSpPr>
            <a:spLocks xmlns:a="http://schemas.openxmlformats.org/drawingml/2006/main" noGrp="1"/>
          </p:cNvSpPr>
          <p:nvPr/>
        </p:nvSpPr>
        <p:spPr>
          <a:xfrm xmlns:a="http://schemas.openxmlformats.org/drawingml/2006/main">
            <a:off x="4333875" y="13030200"/>
            <a:ext cx="2333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Neue VM mit</a:t>
            </a:r>
          </a:p>
          <a:p xmlns:a="http://schemas.openxmlformats.org/drawingml/2006/main">
            <a:pPr algn="l">
              <a:lnSpc>
                <a:spcPct val="98000"/>
              </a:lnSpc>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Cloud-init</a:t>
            </a:r>
          </a:p>
        </p:txBody>
      </p:sp>
      <p:sp>
        <p:nvSpPr>
          <p:cNvPr id="39" name="path-cloud-body">
            <a:extLst xmlns:a="http://schemas.openxmlformats.org/drawingml/2006/main">
              <a:ext uri="{FF2B5EF4-FFF2-40B4-BE49-F238E27FC236}">
                <a16:creationId xmlns:a16="http://schemas.microsoft.com/office/drawing/2014/main" id="{186989B7-9C5F-465F-BBF8-ECDBD2614DC4}"/>
              </a:ext>
            </a:extLst>
          </p:cNvPr>
          <p:cNvSpPr>
            <a:spLocks xmlns:a="http://schemas.openxmlformats.org/drawingml/2006/main" noGrp="1"/>
          </p:cNvSpPr>
          <p:nvPr/>
        </p:nvSpPr>
        <p:spPr>
          <a:xfrm xmlns:a="http://schemas.openxmlformats.org/drawingml/2006/main">
            <a:off x="4333875" y="1364932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350" b="0">
                <a:solidFill>
                  <a:srgbClr val="C5D4E6"/>
                </a:solidFill>
                <a:latin typeface="Avenir Next"/>
                <a:ea typeface="Avenir Next"/>
                <a:cs typeface="Avenir Next"/>
              </a:defRPr>
            </a:pPr>
            <a:r>
              <a:rPr sz="1350" b="0">
                <a:solidFill>
                  <a:srgbClr val="C5D4E6"/>
                </a:solidFill>
                <a:latin typeface="Avenir Next"/>
                <a:ea typeface="Avenir Next"/>
                <a:cs typeface="Avenir Next"/>
              </a:rPr>
              <a:t>Cloud-init; danach derselbe First Run.</a:t>
            </a:r>
          </a:p>
        </p:txBody>
      </p:sp>
      <p:sp>
        <p:nvSpPr>
          <p:cNvPr id="40" name="path-cloud-rule">
            <a:extLst xmlns:a="http://schemas.openxmlformats.org/drawingml/2006/main">
              <a:ext uri="{FF2B5EF4-FFF2-40B4-BE49-F238E27FC236}">
                <a16:creationId xmlns:a16="http://schemas.microsoft.com/office/drawing/2014/main" id="{E03736A6-4F9B-402A-BB85-655F81A12557}"/>
              </a:ext>
            </a:extLst>
          </p:cNvPr>
          <p:cNvSpPr>
            <a:spLocks xmlns:a="http://schemas.openxmlformats.org/drawingml/2006/main" noGrp="1"/>
          </p:cNvSpPr>
          <p:nvPr/>
        </p:nvSpPr>
        <p:spPr>
          <a:xfrm xmlns:a="http://schemas.openxmlformats.org/drawingml/2006/main">
            <a:off x="4333875" y="14420850"/>
            <a:ext cx="2333625" cy="28575"/>
          </a:xfrm>
          <a:prstGeom xmlns:a="http://schemas.openxmlformats.org/drawingml/2006/main" prst="rect">
            <a:avLst/>
          </a:prstGeom>
          <a:solidFill xmlns:a="http://schemas.openxmlformats.org/drawingml/2006/main">
            <a:srgbClr val="8B5CF6"/>
          </a:solidFill>
          <a:ln xmlns:a="http://schemas.openxmlformats.org/drawingml/2006/main" w="0">
            <a:noFill/>
            <a:prstDash val="solid"/>
          </a:ln>
        </p:spPr>
      </p:sp>
      <p:sp>
        <p:nvSpPr>
          <p:cNvPr id="41" name="path-vm-number">
            <a:extLst xmlns:a="http://schemas.openxmlformats.org/drawingml/2006/main">
              <a:ext uri="{FF2B5EF4-FFF2-40B4-BE49-F238E27FC236}">
                <a16:creationId xmlns:a16="http://schemas.microsoft.com/office/drawing/2014/main" id="{1E365A6D-86E9-4E22-A38F-DA1A43673E0E}"/>
              </a:ext>
            </a:extLst>
          </p:cNvPr>
          <p:cNvSpPr>
            <a:spLocks xmlns:a="http://schemas.openxmlformats.org/drawingml/2006/main" noGrp="1"/>
          </p:cNvSpPr>
          <p:nvPr/>
        </p:nvSpPr>
        <p:spPr>
          <a:xfrm xmlns:a="http://schemas.openxmlformats.org/drawingml/2006/main">
            <a:off x="7048500" y="126682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a:solidFill>
                  <a:srgbClr val="34D399"/>
                </a:solidFill>
                <a:latin typeface="Avenir Next"/>
                <a:ea typeface="Avenir Next"/>
                <a:cs typeface="Avenir Next"/>
              </a:defRPr>
            </a:pPr>
            <a:r>
              <a:rPr sz="1350" b="1">
                <a:solidFill>
                  <a:srgbClr val="34D399"/>
                </a:solidFill>
                <a:latin typeface="Avenir Next"/>
                <a:ea typeface="Avenir Next"/>
                <a:cs typeface="Avenir Next"/>
              </a:rPr>
              <a:t>03</a:t>
            </a:r>
          </a:p>
        </p:txBody>
      </p:sp>
      <p:sp>
        <p:nvSpPr>
          <p:cNvPr id="42" name="path-vm-title">
            <a:extLst xmlns:a="http://schemas.openxmlformats.org/drawingml/2006/main">
              <a:ext uri="{FF2B5EF4-FFF2-40B4-BE49-F238E27FC236}">
                <a16:creationId xmlns:a16="http://schemas.microsoft.com/office/drawing/2014/main" id="{15B0862C-F8BA-4134-81FF-502AF13BB455}"/>
              </a:ext>
            </a:extLst>
          </p:cNvPr>
          <p:cNvSpPr>
            <a:spLocks xmlns:a="http://schemas.openxmlformats.org/drawingml/2006/main" noGrp="1"/>
          </p:cNvSpPr>
          <p:nvPr/>
        </p:nvSpPr>
        <p:spPr>
          <a:xfrm xmlns:a="http://schemas.openxmlformats.org/drawingml/2006/main">
            <a:off x="7048500" y="13030200"/>
            <a:ext cx="2333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Bestehende</a:t>
            </a:r>
          </a:p>
          <a:p xmlns:a="http://schemas.openxmlformats.org/drawingml/2006/main">
            <a:pPr algn="l">
              <a:lnSpc>
                <a:spcPct val="98000"/>
              </a:lnSpc>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Ubuntu-VM</a:t>
            </a:r>
          </a:p>
        </p:txBody>
      </p:sp>
      <p:sp>
        <p:nvSpPr>
          <p:cNvPr id="43" name="path-vm-body">
            <a:extLst xmlns:a="http://schemas.openxmlformats.org/drawingml/2006/main">
              <a:ext uri="{FF2B5EF4-FFF2-40B4-BE49-F238E27FC236}">
                <a16:creationId xmlns:a16="http://schemas.microsoft.com/office/drawing/2014/main" id="{186D3F26-A585-4136-B692-FAD1E4782827}"/>
              </a:ext>
            </a:extLst>
          </p:cNvPr>
          <p:cNvSpPr>
            <a:spLocks xmlns:a="http://schemas.openxmlformats.org/drawingml/2006/main" noGrp="1"/>
          </p:cNvSpPr>
          <p:nvPr/>
        </p:nvSpPr>
        <p:spPr>
          <a:xfrm xmlns:a="http://schemas.openxmlformats.org/drawingml/2006/main">
            <a:off x="7048500" y="1364932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350" b="0">
                <a:solidFill>
                  <a:srgbClr val="C5D4E6"/>
                </a:solidFill>
                <a:latin typeface="Avenir Next"/>
                <a:ea typeface="Avenir Next"/>
                <a:cs typeface="Avenir Next"/>
              </a:defRPr>
            </a:pPr>
            <a:r>
              <a:rPr sz="1350" b="0">
                <a:solidFill>
                  <a:srgbClr val="C5D4E6"/>
                </a:solidFill>
                <a:latin typeface="Avenir Next"/>
                <a:ea typeface="Avenir Next"/>
                <a:cs typeface="Avenir Next"/>
              </a:rPr>
              <a:t>Ein-Kommando-Skript für Ubuntu 24.04.</a:t>
            </a:r>
          </a:p>
        </p:txBody>
      </p:sp>
      <p:sp>
        <p:nvSpPr>
          <p:cNvPr id="44" name="path-vm-rule">
            <a:extLst xmlns:a="http://schemas.openxmlformats.org/drawingml/2006/main">
              <a:ext uri="{FF2B5EF4-FFF2-40B4-BE49-F238E27FC236}">
                <a16:creationId xmlns:a16="http://schemas.microsoft.com/office/drawing/2014/main" id="{C89326CB-E840-4C7E-B8FF-824724CE3C9B}"/>
              </a:ext>
            </a:extLst>
          </p:cNvPr>
          <p:cNvSpPr>
            <a:spLocks xmlns:a="http://schemas.openxmlformats.org/drawingml/2006/main" noGrp="1"/>
          </p:cNvSpPr>
          <p:nvPr/>
        </p:nvSpPr>
        <p:spPr>
          <a:xfrm xmlns:a="http://schemas.openxmlformats.org/drawingml/2006/main">
            <a:off x="7048500" y="14420850"/>
            <a:ext cx="2333625" cy="28575"/>
          </a:xfrm>
          <a:prstGeom xmlns:a="http://schemas.openxmlformats.org/drawingml/2006/main" prst="rect">
            <a:avLst/>
          </a:prstGeom>
          <a:solidFill xmlns:a="http://schemas.openxmlformats.org/drawingml/2006/main">
            <a:srgbClr val="34D399"/>
          </a:solidFill>
          <a:ln xmlns:a="http://schemas.openxmlformats.org/drawingml/2006/main" w="0">
            <a:noFill/>
            <a:prstDash val="solid"/>
          </a:ln>
        </p:spPr>
      </p:sp>
      <p:sp>
        <p:nvSpPr>
          <p:cNvPr id="45" name="path-k8s-number">
            <a:extLst xmlns:a="http://schemas.openxmlformats.org/drawingml/2006/main">
              <a:ext uri="{FF2B5EF4-FFF2-40B4-BE49-F238E27FC236}">
                <a16:creationId xmlns:a16="http://schemas.microsoft.com/office/drawing/2014/main" id="{3507B327-1621-4B3E-ADEE-7EA71C842295}"/>
              </a:ext>
            </a:extLst>
          </p:cNvPr>
          <p:cNvSpPr>
            <a:spLocks xmlns:a="http://schemas.openxmlformats.org/drawingml/2006/main" noGrp="1"/>
          </p:cNvSpPr>
          <p:nvPr/>
        </p:nvSpPr>
        <p:spPr>
          <a:xfrm xmlns:a="http://schemas.openxmlformats.org/drawingml/2006/main">
            <a:off x="9763125" y="12668250"/>
            <a:ext cx="45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a:solidFill>
                  <a:srgbClr val="FBBF24"/>
                </a:solidFill>
                <a:latin typeface="Avenir Next"/>
                <a:ea typeface="Avenir Next"/>
                <a:cs typeface="Avenir Next"/>
              </a:defRPr>
            </a:pPr>
            <a:r>
              <a:rPr sz="1350" b="1">
                <a:solidFill>
                  <a:srgbClr val="FBBF24"/>
                </a:solidFill>
                <a:latin typeface="Avenir Next"/>
                <a:ea typeface="Avenir Next"/>
                <a:cs typeface="Avenir Next"/>
              </a:rPr>
              <a:t>04</a:t>
            </a:r>
          </a:p>
        </p:txBody>
      </p:sp>
      <p:sp>
        <p:nvSpPr>
          <p:cNvPr id="46" name="path-k8s-title">
            <a:extLst xmlns:a="http://schemas.openxmlformats.org/drawingml/2006/main">
              <a:ext uri="{FF2B5EF4-FFF2-40B4-BE49-F238E27FC236}">
                <a16:creationId xmlns:a16="http://schemas.microsoft.com/office/drawing/2014/main" id="{EECCD565-FBC5-4BCB-B6C5-4AFFE969384E}"/>
              </a:ext>
            </a:extLst>
          </p:cNvPr>
          <p:cNvSpPr>
            <a:spLocks xmlns:a="http://schemas.openxmlformats.org/drawingml/2006/main" noGrp="1"/>
          </p:cNvSpPr>
          <p:nvPr/>
        </p:nvSpPr>
        <p:spPr>
          <a:xfrm xmlns:a="http://schemas.openxmlformats.org/drawingml/2006/main">
            <a:off x="9763125" y="13030200"/>
            <a:ext cx="2333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Vorhandenes</a:t>
            </a:r>
          </a:p>
          <a:p xmlns:a="http://schemas.openxmlformats.org/drawingml/2006/main">
            <a:pPr algn="l">
              <a:lnSpc>
                <a:spcPct val="98000"/>
              </a:lnSpc>
              <a:buNone/>
              <a:defRPr sz="1875" b="1">
                <a:solidFill>
                  <a:srgbClr val="F7FAFF"/>
                </a:solidFill>
                <a:latin typeface="Avenir Next"/>
                <a:ea typeface="Avenir Next"/>
                <a:cs typeface="Avenir Next"/>
              </a:defRPr>
            </a:pPr>
            <a:r>
              <a:rPr sz="1875" b="1">
                <a:solidFill>
                  <a:srgbClr val="F7FAFF"/>
                </a:solidFill>
                <a:latin typeface="Avenir Next"/>
                <a:ea typeface="Avenir Next"/>
                <a:cs typeface="Avenir Next"/>
              </a:rPr>
              <a:t>Kubernetes</a:t>
            </a:r>
          </a:p>
        </p:txBody>
      </p:sp>
      <p:sp>
        <p:nvSpPr>
          <p:cNvPr id="47" name="path-k8s-body">
            <a:extLst xmlns:a="http://schemas.openxmlformats.org/drawingml/2006/main">
              <a:ext uri="{FF2B5EF4-FFF2-40B4-BE49-F238E27FC236}">
                <a16:creationId xmlns:a16="http://schemas.microsoft.com/office/drawing/2014/main" id="{D68843AA-5E2B-4E40-9E1B-14CE975EB306}"/>
              </a:ext>
            </a:extLst>
          </p:cNvPr>
          <p:cNvSpPr>
            <a:spLocks xmlns:a="http://schemas.openxmlformats.org/drawingml/2006/main" noGrp="1"/>
          </p:cNvSpPr>
          <p:nvPr/>
        </p:nvSpPr>
        <p:spPr>
          <a:xfrm xmlns:a="http://schemas.openxmlformats.org/drawingml/2006/main">
            <a:off x="9763125" y="13649325"/>
            <a:ext cx="2333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350" b="0">
                <a:solidFill>
                  <a:srgbClr val="C5D4E6"/>
                </a:solidFill>
                <a:latin typeface="Avenir Next"/>
                <a:ea typeface="Avenir Next"/>
                <a:cs typeface="Avenir Next"/>
              </a:defRPr>
            </a:pPr>
            <a:r>
              <a:rPr sz="1350" b="0">
                <a:solidFill>
                  <a:srgbClr val="C5D4E6"/>
                </a:solidFill>
                <a:latin typeface="Avenir Next"/>
                <a:ea typeface="Avenir Next"/>
                <a:cs typeface="Avenir Next"/>
              </a:rPr>
              <a:t>Bash- oder PowerShell-Deployment mit Flux.</a:t>
            </a:r>
          </a:p>
        </p:txBody>
      </p:sp>
      <p:sp>
        <p:nvSpPr>
          <p:cNvPr id="48" name="path-k8s-rule">
            <a:extLst xmlns:a="http://schemas.openxmlformats.org/drawingml/2006/main">
              <a:ext uri="{FF2B5EF4-FFF2-40B4-BE49-F238E27FC236}">
                <a16:creationId xmlns:a16="http://schemas.microsoft.com/office/drawing/2014/main" id="{A483EA02-E4DD-498C-B058-0FB8122AD154}"/>
              </a:ext>
            </a:extLst>
          </p:cNvPr>
          <p:cNvSpPr>
            <a:spLocks xmlns:a="http://schemas.openxmlformats.org/drawingml/2006/main" noGrp="1"/>
          </p:cNvSpPr>
          <p:nvPr/>
        </p:nvSpPr>
        <p:spPr>
          <a:xfrm xmlns:a="http://schemas.openxmlformats.org/drawingml/2006/main">
            <a:off x="9763125" y="14420850"/>
            <a:ext cx="2333625" cy="28575"/>
          </a:xfrm>
          <a:prstGeom xmlns:a="http://schemas.openxmlformats.org/drawingml/2006/main" prst="rect">
            <a:avLst/>
          </a:prstGeom>
          <a:solidFill xmlns:a="http://schemas.openxmlformats.org/drawingml/2006/main">
            <a:srgbClr val="FBBF24"/>
          </a:solidFill>
          <a:ln xmlns:a="http://schemas.openxmlformats.org/drawingml/2006/main" w="0">
            <a:noFill/>
            <a:prstDash val="solid"/>
          </a:ln>
        </p:spPr>
      </p:sp>
      <p:sp>
        <p:nvSpPr>
          <p:cNvPr id="49" name="pathway-destination">
            <a:extLst xmlns:a="http://schemas.openxmlformats.org/drawingml/2006/main">
              <a:ext uri="{FF2B5EF4-FFF2-40B4-BE49-F238E27FC236}">
                <a16:creationId xmlns:a16="http://schemas.microsoft.com/office/drawing/2014/main" id="{4F32BF2D-91B3-4E7D-A45F-E86B46C7718B}"/>
              </a:ext>
            </a:extLst>
          </p:cNvPr>
          <p:cNvSpPr>
            <a:spLocks xmlns:a="http://schemas.openxmlformats.org/drawingml/2006/main" noGrp="1"/>
          </p:cNvSpPr>
          <p:nvPr/>
        </p:nvSpPr>
        <p:spPr>
          <a:xfrm xmlns:a="http://schemas.openxmlformats.org/drawingml/2006/main">
            <a:off x="4095750" y="14773275"/>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MAGIC STICK · EIN ZIELZUSTAND · SICHERER FIRST RUN</a:t>
            </a:r>
          </a:p>
        </p:txBody>
      </p:sp>
      <p:pic>
        <p:nvPicPr>
          <p:cNvPr id="153" name=""/>
          <p:cNvPicPr>
            <a:picLocks xmlns:a="http://schemas.openxmlformats.org/drawingml/2006/main" noChangeAspect="1"/>
          </p:cNvPicPr>
          <p:nvPr/>
        </p:nvPicPr>
        <p:blipFill>
          <a:blip xmlns:r="http://schemas.openxmlformats.org/officeDocument/2006/relationships" xmlns:a="http://schemas.openxmlformats.org/drawingml/2006/main" r:embed="Rec987b03426d4a7d"/>
          <a:srcRect xmlns:a="http://schemas.openxmlformats.org/drawingml/2006/main" l="3244" t="0" r="3244" b="0"/>
          <a:stretch xmlns:a="http://schemas.openxmlformats.org/drawingml/2006/main">
            <a:fillRect l="0" t="0" r="0" b="0"/>
          </a:stretch>
        </p:blipFill>
        <p:spPr>
          <a:xfrm xmlns:a="http://schemas.openxmlformats.org/drawingml/2006/main">
            <a:off x="3429000" y="15716250"/>
            <a:ext cx="10287000" cy="6191250"/>
          </a:xfrm>
          <a:prstGeom xmlns:a="http://schemas.openxmlformats.org/drawingml/2006/main" prst="rect">
            <a:avLst/>
          </a:prstGeom>
        </p:spPr>
      </p:pic>
      <p:sp>
        <p:nvSpPr>
          <p:cNvPr id="51" name="models-left-wash">
            <a:extLst xmlns:a="http://schemas.openxmlformats.org/drawingml/2006/main">
              <a:ext uri="{FF2B5EF4-FFF2-40B4-BE49-F238E27FC236}">
                <a16:creationId xmlns:a16="http://schemas.microsoft.com/office/drawing/2014/main" id="{1D961F45-CFCA-489E-A58F-892BAAA40E23}"/>
              </a:ext>
            </a:extLst>
          </p:cNvPr>
          <p:cNvSpPr>
            <a:spLocks xmlns:a="http://schemas.openxmlformats.org/drawingml/2006/main" noGrp="1"/>
          </p:cNvSpPr>
          <p:nvPr/>
        </p:nvSpPr>
        <p:spPr>
          <a:xfrm xmlns:a="http://schemas.openxmlformats.org/drawingml/2006/main">
            <a:off x="0" y="15716250"/>
            <a:ext cx="8001000" cy="6191250"/>
          </a:xfrm>
          <a:prstGeom xmlns:a="http://schemas.openxmlformats.org/drawingml/2006/main" prst="rect">
            <a:avLst/>
          </a:prstGeom>
          <a:gradFill xmlns:a="http://schemas.openxmlformats.org/drawingml/2006/main">
            <a:gsLst>
              <a:gs pos="0">
                <a:srgbClr val="050B18">
                  <a:alpha val="100000"/>
                </a:srgbClr>
              </a:gs>
              <a:gs pos="69000">
                <a:srgbClr val="050B18">
                  <a:alpha val="88000"/>
                </a:srgbClr>
              </a:gs>
              <a:gs pos="100000">
                <a:srgbClr val="050B18">
                  <a:alpha val="0"/>
                </a:srgbClr>
              </a:gs>
            </a:gsLst>
            <a:lin ang="0"/>
          </a:gradFill>
          <a:ln xmlns:a="http://schemas.openxmlformats.org/drawingml/2006/main" w="0">
            <a:noFill/>
            <a:prstDash val="solid"/>
          </a:ln>
        </p:spPr>
      </p:sp>
      <p:sp>
        <p:nvSpPr>
          <p:cNvPr id="52" name="models-bottom-wash">
            <a:extLst xmlns:a="http://schemas.openxmlformats.org/drawingml/2006/main">
              <a:ext uri="{FF2B5EF4-FFF2-40B4-BE49-F238E27FC236}">
                <a16:creationId xmlns:a16="http://schemas.microsoft.com/office/drawing/2014/main" id="{A49D44AE-4CFE-4404-AB8F-6EAC0606244F}"/>
              </a:ext>
            </a:extLst>
          </p:cNvPr>
          <p:cNvSpPr>
            <a:spLocks xmlns:a="http://schemas.openxmlformats.org/drawingml/2006/main" noGrp="1"/>
          </p:cNvSpPr>
          <p:nvPr/>
        </p:nvSpPr>
        <p:spPr>
          <a:xfrm xmlns:a="http://schemas.openxmlformats.org/drawingml/2006/main">
            <a:off x="0" y="20955000"/>
            <a:ext cx="13716000" cy="952500"/>
          </a:xfrm>
          <a:prstGeom xmlns:a="http://schemas.openxmlformats.org/drawingml/2006/main" prst="rect">
            <a:avLst/>
          </a:prstGeom>
          <a:gradFill xmlns:a="http://schemas.openxmlformats.org/drawingml/2006/main">
            <a:gsLst>
              <a:gs pos="0">
                <a:srgbClr val="050B18">
                  <a:alpha val="0"/>
                </a:srgbClr>
              </a:gs>
              <a:gs pos="100000">
                <a:srgbClr val="050B18"/>
              </a:gs>
            </a:gsLst>
            <a:lin ang="5400000"/>
          </a:gradFill>
          <a:ln xmlns:a="http://schemas.openxmlformats.org/drawingml/2006/main" w="0">
            <a:noFill/>
            <a:prstDash val="solid"/>
          </a:ln>
        </p:spPr>
      </p:sp>
      <p:sp>
        <p:nvSpPr>
          <p:cNvPr id="53" name="section-number-04">
            <a:extLst xmlns:a="http://schemas.openxmlformats.org/drawingml/2006/main">
              <a:ext uri="{FF2B5EF4-FFF2-40B4-BE49-F238E27FC236}">
                <a16:creationId xmlns:a16="http://schemas.microsoft.com/office/drawing/2014/main" id="{6549B061-F403-4AA0-9035-7BC8EC0F9931}"/>
              </a:ext>
            </a:extLst>
          </p:cNvPr>
          <p:cNvSpPr>
            <a:spLocks xmlns:a="http://schemas.openxmlformats.org/drawingml/2006/main" noGrp="1"/>
          </p:cNvSpPr>
          <p:nvPr/>
        </p:nvSpPr>
        <p:spPr>
          <a:xfrm xmlns:a="http://schemas.openxmlformats.org/drawingml/2006/main">
            <a:off x="323850" y="161544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500" b="1">
                <a:solidFill>
                  <a:srgbClr val="8B5CF6"/>
                </a:solidFill>
                <a:latin typeface="Avenir Next"/>
                <a:ea typeface="Avenir Next"/>
                <a:cs typeface="Avenir Next"/>
              </a:defRPr>
            </a:pPr>
            <a:r>
              <a:rPr sz="1500" b="1">
                <a:solidFill>
                  <a:srgbClr val="8B5CF6"/>
                </a:solidFill>
                <a:latin typeface="Avenir Next"/>
                <a:ea typeface="Avenir Next"/>
                <a:cs typeface="Avenir Next"/>
              </a:rPr>
              <a:t>04</a:t>
            </a:r>
          </a:p>
        </p:txBody>
      </p:sp>
      <p:sp>
        <p:nvSpPr>
          <p:cNvPr id="54" name="section-dot-04">
            <a:extLst xmlns:a="http://schemas.openxmlformats.org/drawingml/2006/main">
              <a:ext uri="{FF2B5EF4-FFF2-40B4-BE49-F238E27FC236}">
                <a16:creationId xmlns:a16="http://schemas.microsoft.com/office/drawing/2014/main" id="{7943F8B8-8374-436A-AD91-650AEA221BA9}"/>
              </a:ext>
            </a:extLst>
          </p:cNvPr>
          <p:cNvSpPr>
            <a:spLocks xmlns:a="http://schemas.openxmlformats.org/drawingml/2006/main" noGrp="1"/>
          </p:cNvSpPr>
          <p:nvPr/>
        </p:nvSpPr>
        <p:spPr>
          <a:xfrm xmlns:a="http://schemas.openxmlformats.org/drawingml/2006/main">
            <a:off x="495300" y="16535400"/>
            <a:ext cx="133350" cy="1333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28575">
            <a:solidFill>
              <a:srgbClr val="8B5CF6">
                <a:alpha val="55000"/>
              </a:srgbClr>
            </a:solidFill>
            <a:prstDash val="solid"/>
          </a:ln>
        </p:spPr>
      </p:sp>
      <p:sp>
        <p:nvSpPr>
          <p:cNvPr id="55" name="models-label">
            <a:extLst xmlns:a="http://schemas.openxmlformats.org/drawingml/2006/main">
              <a:ext uri="{FF2B5EF4-FFF2-40B4-BE49-F238E27FC236}">
                <a16:creationId xmlns:a16="http://schemas.microsoft.com/office/drawing/2014/main" id="{636836FC-192D-4B4A-8E88-89E4A1D9463F}"/>
              </a:ext>
            </a:extLst>
          </p:cNvPr>
          <p:cNvSpPr>
            <a:spLocks xmlns:a="http://schemas.openxmlformats.org/drawingml/2006/main" noGrp="1"/>
          </p:cNvSpPr>
          <p:nvPr/>
        </p:nvSpPr>
        <p:spPr>
          <a:xfrm xmlns:a="http://schemas.openxmlformats.org/drawingml/2006/main">
            <a:off x="1047750" y="160591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MODELLFREIHEIT</a:t>
            </a:r>
          </a:p>
        </p:txBody>
      </p:sp>
      <p:sp>
        <p:nvSpPr>
          <p:cNvPr id="56" name="models-title">
            <a:extLst xmlns:a="http://schemas.openxmlformats.org/drawingml/2006/main">
              <a:ext uri="{FF2B5EF4-FFF2-40B4-BE49-F238E27FC236}">
                <a16:creationId xmlns:a16="http://schemas.microsoft.com/office/drawing/2014/main" id="{A0EB44DA-3F5B-4445-B74F-41B6635BD01D}"/>
              </a:ext>
            </a:extLst>
          </p:cNvPr>
          <p:cNvSpPr>
            <a:spLocks xmlns:a="http://schemas.openxmlformats.org/drawingml/2006/main" noGrp="1"/>
          </p:cNvSpPr>
          <p:nvPr/>
        </p:nvSpPr>
        <p:spPr>
          <a:xfrm xmlns:a="http://schemas.openxmlformats.org/drawingml/2006/main">
            <a:off x="1047750" y="16573500"/>
            <a:ext cx="64770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4200" b="1">
                <a:solidFill>
                  <a:srgbClr val="F7FAFF"/>
                </a:solidFill>
                <a:latin typeface="Avenir Next"/>
                <a:ea typeface="Avenir Next"/>
                <a:cs typeface="Avenir Next"/>
              </a:defRPr>
            </a:pPr>
            <a:r>
              <a:rPr sz="4200" b="1">
                <a:solidFill>
                  <a:srgbClr val="F7FAFF"/>
                </a:solidFill>
                <a:latin typeface="Avenir Next"/>
                <a:ea typeface="Avenir Next"/>
                <a:cs typeface="Avenir Next"/>
              </a:rPr>
              <a:t>Extern starten.</a:t>
            </a:r>
          </a:p>
          <a:p xmlns:a="http://schemas.openxmlformats.org/drawingml/2006/main">
            <a:pPr algn="l">
              <a:lnSpc>
                <a:spcPct val="92000"/>
              </a:lnSpc>
              <a:buNone/>
              <a:defRPr sz="4200" b="1">
                <a:solidFill>
                  <a:srgbClr val="F7FAFF"/>
                </a:solidFill>
                <a:latin typeface="Avenir Next"/>
                <a:ea typeface="Avenir Next"/>
                <a:cs typeface="Avenir Next"/>
              </a:defRPr>
            </a:pPr>
            <a:r>
              <a:rPr sz="4200" b="1">
                <a:solidFill>
                  <a:srgbClr val="F7FAFF"/>
                </a:solidFill>
                <a:latin typeface="Avenir Next"/>
                <a:ea typeface="Avenir Next"/>
                <a:cs typeface="Avenir Next"/>
              </a:rPr>
              <a:t>Lokal passend skalieren.</a:t>
            </a:r>
          </a:p>
        </p:txBody>
      </p:sp>
      <p:sp>
        <p:nvSpPr>
          <p:cNvPr id="57" name="models-copy">
            <a:extLst xmlns:a="http://schemas.openxmlformats.org/drawingml/2006/main">
              <a:ext uri="{FF2B5EF4-FFF2-40B4-BE49-F238E27FC236}">
                <a16:creationId xmlns:a16="http://schemas.microsoft.com/office/drawing/2014/main" id="{F0F65445-571E-412D-A802-4E393FA6E7AA}"/>
              </a:ext>
            </a:extLst>
          </p:cNvPr>
          <p:cNvSpPr>
            <a:spLocks xmlns:a="http://schemas.openxmlformats.org/drawingml/2006/main" noGrp="1"/>
          </p:cNvSpPr>
          <p:nvPr/>
        </p:nvSpPr>
        <p:spPr>
          <a:xfrm xmlns:a="http://schemas.openxmlformats.org/drawingml/2006/main">
            <a:off x="1047750" y="18192750"/>
            <a:ext cx="6000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950" b="0">
                <a:solidFill>
                  <a:srgbClr val="C5D4E6"/>
                </a:solidFill>
                <a:latin typeface="Avenir Next"/>
                <a:ea typeface="Avenir Next"/>
                <a:cs typeface="Avenir Next"/>
              </a:defRPr>
            </a:pPr>
            <a:r>
              <a:rPr sz="1950" b="0">
                <a:solidFill>
                  <a:srgbClr val="C5D4E6"/>
                </a:solidFill>
                <a:latin typeface="Avenir Next"/>
                <a:ea typeface="Avenir Next"/>
                <a:cs typeface="Avenir Next"/>
              </a:rPr>
              <a:t>LiteLLM verbindet externe OpenAI-kompatible Provider. Dafür werden weder GPU noch KubeAI benötigt.</a:t>
            </a:r>
          </a:p>
        </p:txBody>
      </p:sp>
      <p:sp>
        <p:nvSpPr>
          <p:cNvPr id="58" name="models-local">
            <a:extLst xmlns:a="http://schemas.openxmlformats.org/drawingml/2006/main">
              <a:ext uri="{FF2B5EF4-FFF2-40B4-BE49-F238E27FC236}">
                <a16:creationId xmlns:a16="http://schemas.microsoft.com/office/drawing/2014/main" id="{379A1D5D-B3C2-43F1-AE96-D856CDFCA749}"/>
              </a:ext>
            </a:extLst>
          </p:cNvPr>
          <p:cNvSpPr>
            <a:spLocks xmlns:a="http://schemas.openxmlformats.org/drawingml/2006/main" noGrp="1"/>
          </p:cNvSpPr>
          <p:nvPr/>
        </p:nvSpPr>
        <p:spPr>
          <a:xfrm xmlns:a="http://schemas.openxmlformats.org/drawingml/2006/main">
            <a:off x="1047750" y="197167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VLLM UND OLLAMA</a:t>
            </a:r>
          </a:p>
        </p:txBody>
      </p:sp>
      <p:sp>
        <p:nvSpPr>
          <p:cNvPr id="59" name="models-local-copy">
            <a:extLst xmlns:a="http://schemas.openxmlformats.org/drawingml/2006/main">
              <a:ext uri="{FF2B5EF4-FFF2-40B4-BE49-F238E27FC236}">
                <a16:creationId xmlns:a16="http://schemas.microsoft.com/office/drawing/2014/main" id="{1819F108-BFC0-40CA-8959-734F2E4A716E}"/>
              </a:ext>
            </a:extLst>
          </p:cNvPr>
          <p:cNvSpPr>
            <a:spLocks xmlns:a="http://schemas.openxmlformats.org/drawingml/2006/main" noGrp="1"/>
          </p:cNvSpPr>
          <p:nvPr/>
        </p:nvSpPr>
        <p:spPr>
          <a:xfrm xmlns:a="http://schemas.openxmlformats.org/drawingml/2006/main">
            <a:off x="1047750" y="20059650"/>
            <a:ext cx="628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650" b="0">
                <a:solidFill>
                  <a:srgbClr val="F7FAFF"/>
                </a:solidFill>
                <a:latin typeface="Avenir Next"/>
                <a:ea typeface="Avenir Next"/>
                <a:cs typeface="Avenir Next"/>
              </a:defRPr>
            </a:pPr>
            <a:r>
              <a:rPr sz="1650" b="0">
                <a:solidFill>
                  <a:srgbClr val="F7FAFF"/>
                </a:solidFill>
                <a:latin typeface="Avenir Next"/>
                <a:ea typeface="Avenir Next"/>
                <a:cs typeface="Avenir Next"/>
              </a:rPr>
              <a:t>vLLM: CPU, NVIDIA, AMD, Intel. Ollama: CPU, NVIDIA, AMD. Das Dashboard zeigt nur verfügbare Ziele und reserviert RAM oder VRAM.</a:t>
            </a:r>
          </a:p>
        </p:txBody>
      </p:sp>
      <p:sp>
        <p:nvSpPr>
          <p:cNvPr id="60" name="models-note">
            <a:extLst xmlns:a="http://schemas.openxmlformats.org/drawingml/2006/main">
              <a:ext uri="{FF2B5EF4-FFF2-40B4-BE49-F238E27FC236}">
                <a16:creationId xmlns:a16="http://schemas.microsoft.com/office/drawing/2014/main" id="{3EEB587D-CBA4-4999-9BA9-5B74DFB8E38C}"/>
              </a:ext>
            </a:extLst>
          </p:cNvPr>
          <p:cNvSpPr>
            <a:spLocks xmlns:a="http://schemas.openxmlformats.org/drawingml/2006/main" noGrp="1"/>
          </p:cNvSpPr>
          <p:nvPr/>
        </p:nvSpPr>
        <p:spPr>
          <a:xfrm xmlns:a="http://schemas.openxmlformats.org/drawingml/2006/main">
            <a:off x="1047750" y="21259800"/>
            <a:ext cx="876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125" b="0">
                <a:solidFill>
                  <a:srgbClr val="7890AE"/>
                </a:solidFill>
                <a:latin typeface="Avenir Next"/>
                <a:ea typeface="Avenir Next"/>
                <a:cs typeface="Avenir Next"/>
              </a:defRPr>
            </a:pPr>
            <a:r>
              <a:rPr sz="1125" b="0">
                <a:solidFill>
                  <a:srgbClr val="7890AE"/>
                </a:solidFill>
                <a:latin typeface="Avenir Next"/>
                <a:ea typeface="Avenir Next"/>
                <a:cs typeface="Avenir Next"/>
              </a:rPr>
              <a:t>Hinweis: Externe Dienste können Daten außerhalb der eigenen Infrastruktur verarbeiten.</a:t>
            </a:r>
          </a:p>
        </p:txBody>
      </p:sp>
      <p:pic>
        <p:nvPicPr>
          <p:cNvPr id="164" name=""/>
          <p:cNvPicPr>
            <a:picLocks xmlns:a="http://schemas.openxmlformats.org/drawingml/2006/main" noChangeAspect="1"/>
          </p:cNvPicPr>
          <p:nvPr/>
        </p:nvPicPr>
        <p:blipFill>
          <a:blip xmlns:r="http://schemas.openxmlformats.org/officeDocument/2006/relationships" xmlns:a="http://schemas.openxmlformats.org/drawingml/2006/main" r:embed="Ra49384a310a64867"/>
          <a:srcRect xmlns:a="http://schemas.openxmlformats.org/drawingml/2006/main" l="9738" t="0" r="9738" b="0"/>
          <a:stretch xmlns:a="http://schemas.openxmlformats.org/drawingml/2006/main">
            <a:fillRect l="0" t="0" r="0" b="0"/>
          </a:stretch>
        </p:blipFill>
        <p:spPr>
          <a:xfrm xmlns:a="http://schemas.openxmlformats.org/drawingml/2006/main">
            <a:off x="0" y="22193250"/>
            <a:ext cx="8858250" cy="6191250"/>
          </a:xfrm>
          <a:prstGeom xmlns:a="http://schemas.openxmlformats.org/drawingml/2006/main" prst="rect">
            <a:avLst/>
          </a:prstGeom>
        </p:spPr>
      </p:pic>
      <p:sp>
        <p:nvSpPr>
          <p:cNvPr id="62" name="tools-right-wash">
            <a:extLst xmlns:a="http://schemas.openxmlformats.org/drawingml/2006/main">
              <a:ext uri="{FF2B5EF4-FFF2-40B4-BE49-F238E27FC236}">
                <a16:creationId xmlns:a16="http://schemas.microsoft.com/office/drawing/2014/main" id="{C5C87CD5-CDBB-46F6-877D-E92FB33D9715}"/>
              </a:ext>
            </a:extLst>
          </p:cNvPr>
          <p:cNvSpPr>
            <a:spLocks xmlns:a="http://schemas.openxmlformats.org/drawingml/2006/main" noGrp="1"/>
          </p:cNvSpPr>
          <p:nvPr/>
        </p:nvSpPr>
        <p:spPr>
          <a:xfrm xmlns:a="http://schemas.openxmlformats.org/drawingml/2006/main">
            <a:off x="5715000" y="22193250"/>
            <a:ext cx="8001000" cy="6191250"/>
          </a:xfrm>
          <a:prstGeom xmlns:a="http://schemas.openxmlformats.org/drawingml/2006/main" prst="rect">
            <a:avLst/>
          </a:prstGeom>
          <a:gradFill xmlns:a="http://schemas.openxmlformats.org/drawingml/2006/main">
            <a:gsLst>
              <a:gs pos="0">
                <a:srgbClr val="050B18">
                  <a:alpha val="100000"/>
                </a:srgbClr>
              </a:gs>
              <a:gs pos="70000">
                <a:srgbClr val="050B18">
                  <a:alpha val="92000"/>
                </a:srgbClr>
              </a:gs>
              <a:gs pos="100000">
                <a:srgbClr val="050B18">
                  <a:alpha val="0"/>
                </a:srgbClr>
              </a:gs>
            </a:gsLst>
            <a:lin ang="10800000"/>
          </a:gradFill>
          <a:ln xmlns:a="http://schemas.openxmlformats.org/drawingml/2006/main" w="0">
            <a:noFill/>
            <a:prstDash val="solid"/>
          </a:ln>
        </p:spPr>
      </p:sp>
      <p:sp>
        <p:nvSpPr>
          <p:cNvPr id="63" name="tools-bottom-wash">
            <a:extLst xmlns:a="http://schemas.openxmlformats.org/drawingml/2006/main">
              <a:ext uri="{FF2B5EF4-FFF2-40B4-BE49-F238E27FC236}">
                <a16:creationId xmlns:a16="http://schemas.microsoft.com/office/drawing/2014/main" id="{255733C9-E4EC-4629-A884-FA57F0804EE0}"/>
              </a:ext>
            </a:extLst>
          </p:cNvPr>
          <p:cNvSpPr>
            <a:spLocks xmlns:a="http://schemas.openxmlformats.org/drawingml/2006/main" noGrp="1"/>
          </p:cNvSpPr>
          <p:nvPr/>
        </p:nvSpPr>
        <p:spPr>
          <a:xfrm xmlns:a="http://schemas.openxmlformats.org/drawingml/2006/main">
            <a:off x="0" y="27432000"/>
            <a:ext cx="13716000" cy="952500"/>
          </a:xfrm>
          <a:prstGeom xmlns:a="http://schemas.openxmlformats.org/drawingml/2006/main" prst="rect">
            <a:avLst/>
          </a:prstGeom>
          <a:gradFill xmlns:a="http://schemas.openxmlformats.org/drawingml/2006/main">
            <a:gsLst>
              <a:gs pos="0">
                <a:srgbClr val="050B18">
                  <a:alpha val="0"/>
                </a:srgbClr>
              </a:gs>
              <a:gs pos="100000">
                <a:srgbClr val="050B18"/>
              </a:gs>
            </a:gsLst>
            <a:lin ang="5400000"/>
          </a:gradFill>
          <a:ln xmlns:a="http://schemas.openxmlformats.org/drawingml/2006/main" w="0">
            <a:noFill/>
            <a:prstDash val="solid"/>
          </a:ln>
        </p:spPr>
      </p:sp>
      <p:sp>
        <p:nvSpPr>
          <p:cNvPr id="64" name="section-number-05">
            <a:extLst xmlns:a="http://schemas.openxmlformats.org/drawingml/2006/main">
              <a:ext uri="{FF2B5EF4-FFF2-40B4-BE49-F238E27FC236}">
                <a16:creationId xmlns:a16="http://schemas.microsoft.com/office/drawing/2014/main" id="{E2157C13-A9B7-4290-A8E0-5BFAB2DDCD83}"/>
              </a:ext>
            </a:extLst>
          </p:cNvPr>
          <p:cNvSpPr>
            <a:spLocks xmlns:a="http://schemas.openxmlformats.org/drawingml/2006/main" noGrp="1"/>
          </p:cNvSpPr>
          <p:nvPr/>
        </p:nvSpPr>
        <p:spPr>
          <a:xfrm xmlns:a="http://schemas.openxmlformats.org/drawingml/2006/main">
            <a:off x="323850" y="226314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500" b="1">
                <a:solidFill>
                  <a:srgbClr val="34D399"/>
                </a:solidFill>
                <a:latin typeface="Avenir Next"/>
                <a:ea typeface="Avenir Next"/>
                <a:cs typeface="Avenir Next"/>
              </a:defRPr>
            </a:pPr>
            <a:r>
              <a:rPr sz="1500" b="1">
                <a:solidFill>
                  <a:srgbClr val="34D399"/>
                </a:solidFill>
                <a:latin typeface="Avenir Next"/>
                <a:ea typeface="Avenir Next"/>
                <a:cs typeface="Avenir Next"/>
              </a:rPr>
              <a:t>05</a:t>
            </a:r>
          </a:p>
        </p:txBody>
      </p:sp>
      <p:sp>
        <p:nvSpPr>
          <p:cNvPr id="65" name="section-dot-05">
            <a:extLst xmlns:a="http://schemas.openxmlformats.org/drawingml/2006/main">
              <a:ext uri="{FF2B5EF4-FFF2-40B4-BE49-F238E27FC236}">
                <a16:creationId xmlns:a16="http://schemas.microsoft.com/office/drawing/2014/main" id="{01D5AC3B-0903-491D-AEE9-3F1B1F58DA26}"/>
              </a:ext>
            </a:extLst>
          </p:cNvPr>
          <p:cNvSpPr>
            <a:spLocks xmlns:a="http://schemas.openxmlformats.org/drawingml/2006/main" noGrp="1"/>
          </p:cNvSpPr>
          <p:nvPr/>
        </p:nvSpPr>
        <p:spPr>
          <a:xfrm xmlns:a="http://schemas.openxmlformats.org/drawingml/2006/main">
            <a:off x="495300" y="23012400"/>
            <a:ext cx="133350" cy="133350"/>
          </a:xfrm>
          <a:prstGeom xmlns:a="http://schemas.openxmlformats.org/drawingml/2006/main" prst="roundRect">
            <a:avLst>
              <a:gd name="adj" fmla="val 50000"/>
            </a:avLst>
          </a:prstGeom>
          <a:solidFill xmlns:a="http://schemas.openxmlformats.org/drawingml/2006/main">
            <a:srgbClr val="34D399"/>
          </a:solidFill>
          <a:ln xmlns:a="http://schemas.openxmlformats.org/drawingml/2006/main" w="28575">
            <a:solidFill>
              <a:srgbClr val="34D399">
                <a:alpha val="55000"/>
              </a:srgbClr>
            </a:solidFill>
            <a:prstDash val="solid"/>
          </a:ln>
        </p:spPr>
      </p:sp>
      <p:sp>
        <p:nvSpPr>
          <p:cNvPr id="66" name="tools-label">
            <a:extLst xmlns:a="http://schemas.openxmlformats.org/drawingml/2006/main">
              <a:ext uri="{FF2B5EF4-FFF2-40B4-BE49-F238E27FC236}">
                <a16:creationId xmlns:a16="http://schemas.microsoft.com/office/drawing/2014/main" id="{A6B578CC-0EDD-42DF-AF4A-0C39EF268FA6}"/>
              </a:ext>
            </a:extLst>
          </p:cNvPr>
          <p:cNvSpPr>
            <a:spLocks xmlns:a="http://schemas.openxmlformats.org/drawingml/2006/main" noGrp="1"/>
          </p:cNvSpPr>
          <p:nvPr/>
        </p:nvSpPr>
        <p:spPr>
          <a:xfrm xmlns:a="http://schemas.openxmlformats.org/drawingml/2006/main">
            <a:off x="7810500" y="2266950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AUS MODELLEN WERDEN WERKZEUGE</a:t>
            </a:r>
          </a:p>
        </p:txBody>
      </p:sp>
      <p:sp>
        <p:nvSpPr>
          <p:cNvPr id="67" name="tools-title">
            <a:extLst xmlns:a="http://schemas.openxmlformats.org/drawingml/2006/main">
              <a:ext uri="{FF2B5EF4-FFF2-40B4-BE49-F238E27FC236}">
                <a16:creationId xmlns:a16="http://schemas.microsoft.com/office/drawing/2014/main" id="{7F74ADCD-C72E-47AC-BD31-D68D39467878}"/>
              </a:ext>
            </a:extLst>
          </p:cNvPr>
          <p:cNvSpPr>
            <a:spLocks xmlns:a="http://schemas.openxmlformats.org/drawingml/2006/main" noGrp="1"/>
          </p:cNvSpPr>
          <p:nvPr/>
        </p:nvSpPr>
        <p:spPr>
          <a:xfrm xmlns:a="http://schemas.openxmlformats.org/drawingml/2006/main">
            <a:off x="7810500" y="23202900"/>
            <a:ext cx="4953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2000"/>
              </a:lnSpc>
              <a:buNone/>
              <a:defRPr sz="3900" b="1">
                <a:solidFill>
                  <a:srgbClr val="F7FAFF"/>
                </a:solidFill>
                <a:latin typeface="Avenir Next"/>
                <a:ea typeface="Avenir Next"/>
                <a:cs typeface="Avenir Next"/>
              </a:defRPr>
            </a:pPr>
            <a:r>
              <a:rPr sz="3900" b="1">
                <a:solidFill>
                  <a:srgbClr val="F7FAFF"/>
                </a:solidFill>
                <a:latin typeface="Avenir Next"/>
                <a:ea typeface="Avenir Next"/>
                <a:cs typeface="Avenir Next"/>
              </a:rPr>
              <a:t>Ein Modellzugang.</a:t>
            </a:r>
          </a:p>
          <a:p xmlns:a="http://schemas.openxmlformats.org/drawingml/2006/main">
            <a:pPr algn="l">
              <a:lnSpc>
                <a:spcPct val="92000"/>
              </a:lnSpc>
              <a:buNone/>
              <a:defRPr sz="3900" b="1">
                <a:solidFill>
                  <a:srgbClr val="F7FAFF"/>
                </a:solidFill>
                <a:latin typeface="Avenir Next"/>
                <a:ea typeface="Avenir Next"/>
                <a:cs typeface="Avenir Next"/>
              </a:defRPr>
            </a:pPr>
            <a:r>
              <a:rPr sz="3900" b="1">
                <a:solidFill>
                  <a:srgbClr val="F7FAFF"/>
                </a:solidFill>
                <a:latin typeface="Avenir Next"/>
                <a:ea typeface="Avenir Next"/>
                <a:cs typeface="Avenir Next"/>
              </a:rPr>
              <a:t>Viele Arbeitsweisen.</a:t>
            </a:r>
          </a:p>
        </p:txBody>
      </p:sp>
      <p:sp>
        <p:nvSpPr>
          <p:cNvPr id="68" name="tools-copy">
            <a:extLst xmlns:a="http://schemas.openxmlformats.org/drawingml/2006/main">
              <a:ext uri="{FF2B5EF4-FFF2-40B4-BE49-F238E27FC236}">
                <a16:creationId xmlns:a16="http://schemas.microsoft.com/office/drawing/2014/main" id="{6946EA8F-D52F-49FE-9EBE-AAE3EA9D715B}"/>
              </a:ext>
            </a:extLst>
          </p:cNvPr>
          <p:cNvSpPr>
            <a:spLocks xmlns:a="http://schemas.openxmlformats.org/drawingml/2006/main" noGrp="1"/>
          </p:cNvSpPr>
          <p:nvPr/>
        </p:nvSpPr>
        <p:spPr>
          <a:xfrm xmlns:a="http://schemas.openxmlformats.org/drawingml/2006/main">
            <a:off x="7810500" y="24784050"/>
            <a:ext cx="4762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875" b="0">
                <a:solidFill>
                  <a:srgbClr val="C5D4E6"/>
                </a:solidFill>
                <a:latin typeface="Avenir Next"/>
                <a:ea typeface="Avenir Next"/>
                <a:cs typeface="Avenir Next"/>
              </a:defRPr>
            </a:pPr>
            <a:r>
              <a:rPr sz="1875" b="0">
                <a:solidFill>
                  <a:srgbClr val="C5D4E6"/>
                </a:solidFill>
                <a:latin typeface="Avenir Next"/>
                <a:ea typeface="Avenir Next"/>
                <a:cs typeface="Avenir Next"/>
              </a:rPr>
              <a:t>AnythingLLM bündelt Wissen. Instanzdienste bringen Chat, Agenten und Coding auf denselben Modellzugang.</a:t>
            </a:r>
          </a:p>
        </p:txBody>
      </p:sp>
      <p:sp>
        <p:nvSpPr>
          <p:cNvPr id="69" name="tools-list">
            <a:extLst xmlns:a="http://schemas.openxmlformats.org/drawingml/2006/main">
              <a:ext uri="{FF2B5EF4-FFF2-40B4-BE49-F238E27FC236}">
                <a16:creationId xmlns:a16="http://schemas.microsoft.com/office/drawing/2014/main" id="{348D7E22-C82C-4F64-B068-C3702058F205}"/>
              </a:ext>
            </a:extLst>
          </p:cNvPr>
          <p:cNvSpPr>
            <a:spLocks xmlns:a="http://schemas.openxmlformats.org/drawingml/2006/main" noGrp="1"/>
          </p:cNvSpPr>
          <p:nvPr/>
        </p:nvSpPr>
        <p:spPr>
          <a:xfrm xmlns:a="http://schemas.openxmlformats.org/drawingml/2006/main">
            <a:off x="7810500" y="26289000"/>
            <a:ext cx="2190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28000"/>
              </a:lnSpc>
              <a:buNone/>
              <a:defRPr sz="1800" b="1">
                <a:solidFill>
                  <a:srgbClr val="22D3EE"/>
                </a:solidFill>
                <a:latin typeface="Avenir Next"/>
                <a:ea typeface="Avenir Next"/>
                <a:cs typeface="Avenir Next"/>
              </a:defRPr>
            </a:pPr>
            <a:r>
              <a:rPr sz="1800" b="1">
                <a:solidFill>
                  <a:srgbClr val="22D3EE"/>
                </a:solidFill>
                <a:latin typeface="Avenir Next"/>
                <a:ea typeface="Avenir Next"/>
                <a:cs typeface="Avenir Next"/>
              </a:rPr>
              <a:t>WISSEN</a:t>
            </a:r>
          </a:p>
          <a:p xmlns:a="http://schemas.openxmlformats.org/drawingml/2006/main">
            <a:pPr algn="l">
              <a:lnSpc>
                <a:spcPct val="128000"/>
              </a:lnSpc>
              <a:buNone/>
              <a:defRPr sz="1800" b="1">
                <a:solidFill>
                  <a:srgbClr val="22D3EE"/>
                </a:solidFill>
                <a:latin typeface="Avenir Next"/>
                <a:ea typeface="Avenir Next"/>
                <a:cs typeface="Avenir Next"/>
              </a:defRPr>
            </a:pPr>
            <a:r>
              <a:rPr sz="1800" b="1">
                <a:solidFill>
                  <a:srgbClr val="22D3EE"/>
                </a:solidFill>
                <a:latin typeface="Avenir Next"/>
                <a:ea typeface="Avenir Next"/>
                <a:cs typeface="Avenir Next"/>
              </a:rPr>
              <a:t>AGENTEN</a:t>
            </a:r>
          </a:p>
          <a:p xmlns:a="http://schemas.openxmlformats.org/drawingml/2006/main">
            <a:pPr algn="l">
              <a:lnSpc>
                <a:spcPct val="128000"/>
              </a:lnSpc>
              <a:buNone/>
              <a:defRPr sz="1800" b="1">
                <a:solidFill>
                  <a:srgbClr val="22D3EE"/>
                </a:solidFill>
                <a:latin typeface="Avenir Next"/>
                <a:ea typeface="Avenir Next"/>
                <a:cs typeface="Avenir Next"/>
              </a:defRPr>
            </a:pPr>
            <a:r>
              <a:rPr sz="1800" b="1">
                <a:solidFill>
                  <a:srgbClr val="22D3EE"/>
                </a:solidFill>
                <a:latin typeface="Avenir Next"/>
                <a:ea typeface="Avenir Next"/>
                <a:cs typeface="Avenir Next"/>
              </a:rPr>
              <a:t>CODING</a:t>
            </a:r>
          </a:p>
        </p:txBody>
      </p:sp>
      <p:sp>
        <p:nvSpPr>
          <p:cNvPr id="70" name="tools-products">
            <a:extLst xmlns:a="http://schemas.openxmlformats.org/drawingml/2006/main">
              <a:ext uri="{FF2B5EF4-FFF2-40B4-BE49-F238E27FC236}">
                <a16:creationId xmlns:a16="http://schemas.microsoft.com/office/drawing/2014/main" id="{EC9FBB29-D07C-4121-A6BD-06632DFDFE9A}"/>
              </a:ext>
            </a:extLst>
          </p:cNvPr>
          <p:cNvSpPr>
            <a:spLocks xmlns:a="http://schemas.openxmlformats.org/drawingml/2006/main" noGrp="1"/>
          </p:cNvSpPr>
          <p:nvPr/>
        </p:nvSpPr>
        <p:spPr>
          <a:xfrm xmlns:a="http://schemas.openxmlformats.org/drawingml/2006/main">
            <a:off x="9906000" y="26289000"/>
            <a:ext cx="2857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45000"/>
              </a:lnSpc>
              <a:buNone/>
              <a:defRPr sz="1350" b="0">
                <a:solidFill>
                  <a:srgbClr val="C5D4E6"/>
                </a:solidFill>
                <a:latin typeface="Avenir Next"/>
                <a:ea typeface="Avenir Next"/>
                <a:cs typeface="Avenir Next"/>
              </a:defRPr>
            </a:pPr>
            <a:r>
              <a:rPr sz="1350" b="0">
                <a:solidFill>
                  <a:srgbClr val="C5D4E6"/>
                </a:solidFill>
                <a:latin typeface="Avenir Next"/>
                <a:ea typeface="Avenir Next"/>
                <a:cs typeface="Avenir Next"/>
              </a:rPr>
              <a:t>AnythingLLM</a:t>
            </a:r>
          </a:p>
          <a:p xmlns:a="http://schemas.openxmlformats.org/drawingml/2006/main">
            <a:pPr algn="l">
              <a:lnSpc>
                <a:spcPct val="145000"/>
              </a:lnSpc>
              <a:buNone/>
              <a:defRPr sz="1350" b="0">
                <a:solidFill>
                  <a:srgbClr val="C5D4E6"/>
                </a:solidFill>
                <a:latin typeface="Avenir Next"/>
                <a:ea typeface="Avenir Next"/>
                <a:cs typeface="Avenir Next"/>
              </a:defRPr>
            </a:pPr>
            <a:r>
              <a:rPr sz="1350" b="0">
                <a:solidFill>
                  <a:srgbClr val="C5D4E6"/>
                </a:solidFill>
                <a:latin typeface="Avenir Next"/>
                <a:ea typeface="Avenir Next"/>
                <a:cs typeface="Avenir Next"/>
              </a:rPr>
              <a:t>OpenClaw · Hermes · Paperclip</a:t>
            </a:r>
          </a:p>
          <a:p xmlns:a="http://schemas.openxmlformats.org/drawingml/2006/main">
            <a:pPr algn="l">
              <a:lnSpc>
                <a:spcPct val="145000"/>
              </a:lnSpc>
              <a:buNone/>
              <a:defRPr sz="1350" b="0">
                <a:solidFill>
                  <a:srgbClr val="C5D4E6"/>
                </a:solidFill>
                <a:latin typeface="Avenir Next"/>
                <a:ea typeface="Avenir Next"/>
                <a:cs typeface="Avenir Next"/>
              </a:defRPr>
            </a:pPr>
            <a:r>
              <a:rPr sz="1350" b="0">
                <a:solidFill>
                  <a:srgbClr val="C5D4E6"/>
                </a:solidFill>
                <a:latin typeface="Avenir Next"/>
                <a:ea typeface="Avenir Next"/>
                <a:cs typeface="Avenir Next"/>
              </a:rPr>
              <a:t>KubeOpenCode · Odysseus</a:t>
            </a:r>
          </a:p>
        </p:txBody>
      </p:sp>
      <p:sp>
        <p:nvSpPr>
          <p:cNvPr id="71" name="dashboard-section-bg">
            <a:extLst xmlns:a="http://schemas.openxmlformats.org/drawingml/2006/main">
              <a:ext uri="{FF2B5EF4-FFF2-40B4-BE49-F238E27FC236}">
                <a16:creationId xmlns:a16="http://schemas.microsoft.com/office/drawing/2014/main" id="{01EE7591-470C-4EF7-86A4-EA9F30D5ECF1}"/>
              </a:ext>
            </a:extLst>
          </p:cNvPr>
          <p:cNvSpPr>
            <a:spLocks xmlns:a="http://schemas.openxmlformats.org/drawingml/2006/main" noGrp="1"/>
          </p:cNvSpPr>
          <p:nvPr/>
        </p:nvSpPr>
        <p:spPr>
          <a:xfrm xmlns:a="http://schemas.openxmlformats.org/drawingml/2006/main">
            <a:off x="0" y="28575000"/>
            <a:ext cx="13716000" cy="6858000"/>
          </a:xfrm>
          <a:prstGeom xmlns:a="http://schemas.openxmlformats.org/drawingml/2006/main" prst="rect">
            <a:avLst/>
          </a:prstGeom>
          <a:solidFill xmlns:a="http://schemas.openxmlformats.org/drawingml/2006/main">
            <a:srgbClr val="071123"/>
          </a:solidFill>
          <a:ln xmlns:a="http://schemas.openxmlformats.org/drawingml/2006/main" w="0">
            <a:noFill/>
            <a:prstDash val="solid"/>
          </a:ln>
        </p:spPr>
      </p:sp>
      <p:sp>
        <p:nvSpPr>
          <p:cNvPr id="72" name="section-number-06">
            <a:extLst xmlns:a="http://schemas.openxmlformats.org/drawingml/2006/main">
              <a:ext uri="{FF2B5EF4-FFF2-40B4-BE49-F238E27FC236}">
                <a16:creationId xmlns:a16="http://schemas.microsoft.com/office/drawing/2014/main" id="{75CFBE9D-333A-4004-A5B2-1D39BB07695D}"/>
              </a:ext>
            </a:extLst>
          </p:cNvPr>
          <p:cNvSpPr>
            <a:spLocks xmlns:a="http://schemas.openxmlformats.org/drawingml/2006/main" noGrp="1"/>
          </p:cNvSpPr>
          <p:nvPr/>
        </p:nvSpPr>
        <p:spPr>
          <a:xfrm xmlns:a="http://schemas.openxmlformats.org/drawingml/2006/main">
            <a:off x="323850" y="291274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500" b="1">
                <a:solidFill>
                  <a:srgbClr val="22D3EE"/>
                </a:solidFill>
                <a:latin typeface="Avenir Next"/>
                <a:ea typeface="Avenir Next"/>
                <a:cs typeface="Avenir Next"/>
              </a:defRPr>
            </a:pPr>
            <a:r>
              <a:rPr sz="1500" b="1">
                <a:solidFill>
                  <a:srgbClr val="22D3EE"/>
                </a:solidFill>
                <a:latin typeface="Avenir Next"/>
                <a:ea typeface="Avenir Next"/>
                <a:cs typeface="Avenir Next"/>
              </a:rPr>
              <a:t>06</a:t>
            </a:r>
          </a:p>
        </p:txBody>
      </p:sp>
      <p:sp>
        <p:nvSpPr>
          <p:cNvPr id="73" name="section-dot-06">
            <a:extLst xmlns:a="http://schemas.openxmlformats.org/drawingml/2006/main">
              <a:ext uri="{FF2B5EF4-FFF2-40B4-BE49-F238E27FC236}">
                <a16:creationId xmlns:a16="http://schemas.microsoft.com/office/drawing/2014/main" id="{05BF7C52-96E1-4554-AF94-94EDD37F0E2D}"/>
              </a:ext>
            </a:extLst>
          </p:cNvPr>
          <p:cNvSpPr>
            <a:spLocks xmlns:a="http://schemas.openxmlformats.org/drawingml/2006/main" noGrp="1"/>
          </p:cNvSpPr>
          <p:nvPr/>
        </p:nvSpPr>
        <p:spPr>
          <a:xfrm xmlns:a="http://schemas.openxmlformats.org/drawingml/2006/main">
            <a:off x="495300" y="29508450"/>
            <a:ext cx="133350" cy="133350"/>
          </a:xfrm>
          <a:prstGeom xmlns:a="http://schemas.openxmlformats.org/drawingml/2006/main" prst="roundRect">
            <a:avLst>
              <a:gd name="adj" fmla="val 50000"/>
            </a:avLst>
          </a:prstGeom>
          <a:solidFill xmlns:a="http://schemas.openxmlformats.org/drawingml/2006/main">
            <a:srgbClr val="22D3EE"/>
          </a:solidFill>
          <a:ln xmlns:a="http://schemas.openxmlformats.org/drawingml/2006/main" w="28575">
            <a:solidFill>
              <a:srgbClr val="22D3EE">
                <a:alpha val="55000"/>
              </a:srgbClr>
            </a:solidFill>
            <a:prstDash val="solid"/>
          </a:ln>
        </p:spPr>
      </p:sp>
      <p:sp>
        <p:nvSpPr>
          <p:cNvPr id="74" name="dashboard-label">
            <a:extLst xmlns:a="http://schemas.openxmlformats.org/drawingml/2006/main">
              <a:ext uri="{FF2B5EF4-FFF2-40B4-BE49-F238E27FC236}">
                <a16:creationId xmlns:a16="http://schemas.microsoft.com/office/drawing/2014/main" id="{D5330A32-E06E-4CBA-A06E-64412F67C74A}"/>
              </a:ext>
            </a:extLst>
          </p:cNvPr>
          <p:cNvSpPr>
            <a:spLocks xmlns:a="http://schemas.openxmlformats.org/drawingml/2006/main" noGrp="1"/>
          </p:cNvSpPr>
          <p:nvPr/>
        </p:nvSpPr>
        <p:spPr>
          <a:xfrm xmlns:a="http://schemas.openxmlformats.org/drawingml/2006/main">
            <a:off x="1047750" y="2903220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SICHTBAR UND GESCHÜTZT</a:t>
            </a:r>
          </a:p>
        </p:txBody>
      </p:sp>
      <p:sp>
        <p:nvSpPr>
          <p:cNvPr id="75" name="dashboard-title">
            <a:extLst xmlns:a="http://schemas.openxmlformats.org/drawingml/2006/main">
              <a:ext uri="{FF2B5EF4-FFF2-40B4-BE49-F238E27FC236}">
                <a16:creationId xmlns:a16="http://schemas.microsoft.com/office/drawing/2014/main" id="{C3CA4F09-53B8-4102-900E-821423508DB5}"/>
              </a:ext>
            </a:extLst>
          </p:cNvPr>
          <p:cNvSpPr>
            <a:spLocks xmlns:a="http://schemas.openxmlformats.org/drawingml/2006/main" noGrp="1"/>
          </p:cNvSpPr>
          <p:nvPr/>
        </p:nvSpPr>
        <p:spPr>
          <a:xfrm xmlns:a="http://schemas.openxmlformats.org/drawingml/2006/main">
            <a:off x="1047750" y="29527500"/>
            <a:ext cx="1047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3675" b="1">
                <a:solidFill>
                  <a:srgbClr val="F7FAFF"/>
                </a:solidFill>
                <a:latin typeface="Avenir Next"/>
                <a:ea typeface="Avenir Next"/>
                <a:cs typeface="Avenir Next"/>
              </a:defRPr>
            </a:pPr>
            <a:r>
              <a:rPr sz="3675" b="1">
                <a:solidFill>
                  <a:srgbClr val="F7FAFF"/>
                </a:solidFill>
                <a:latin typeface="Avenir Next"/>
                <a:ea typeface="Avenir Next"/>
                <a:cs typeface="Avenir Next"/>
              </a:rPr>
              <a:t>Eine Oberfläche. Services, Modelle, Benutzer.</a:t>
            </a:r>
          </a:p>
        </p:txBody>
      </p:sp>
      <p:sp>
        <p:nvSpPr>
          <p:cNvPr id="76" name="dashboard-copy">
            <a:extLst xmlns:a="http://schemas.openxmlformats.org/drawingml/2006/main">
              <a:ext uri="{FF2B5EF4-FFF2-40B4-BE49-F238E27FC236}">
                <a16:creationId xmlns:a16="http://schemas.microsoft.com/office/drawing/2014/main" id="{22C7D9DE-38DA-4EE9-B839-5CF34A8F9B87}"/>
              </a:ext>
            </a:extLst>
          </p:cNvPr>
          <p:cNvSpPr>
            <a:spLocks xmlns:a="http://schemas.openxmlformats.org/drawingml/2006/main" noGrp="1"/>
          </p:cNvSpPr>
          <p:nvPr/>
        </p:nvSpPr>
        <p:spPr>
          <a:xfrm xmlns:a="http://schemas.openxmlformats.org/drawingml/2006/main">
            <a:off x="1047750" y="3043237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875" b="0">
                <a:solidFill>
                  <a:srgbClr val="C5D4E6"/>
                </a:solidFill>
                <a:latin typeface="Avenir Next"/>
                <a:ea typeface="Avenir Next"/>
                <a:cs typeface="Avenir Next"/>
              </a:defRPr>
            </a:pPr>
            <a:r>
              <a:rPr sz="1875" b="0">
                <a:solidFill>
                  <a:srgbClr val="C5D4E6"/>
                </a:solidFill>
                <a:latin typeface="Avenir Next"/>
                <a:ea typeface="Avenir Next"/>
                <a:cs typeface="Avenir Next"/>
              </a:rPr>
              <a:t>Die Services-Seite vereint Module und Instanzen. Modelle werden nach Engine und verfügbarer Hardware gefiltert; Nutzer und globale Rollen bleiben zentral verwaltbar.</a:t>
            </a:r>
          </a:p>
        </p:txBody>
      </p:sp>
      <p:sp>
        <p:nvSpPr>
          <p:cNvPr id="77" name="dashboard-frame">
            <a:extLst xmlns:a="http://schemas.openxmlformats.org/drawingml/2006/main">
              <a:ext uri="{FF2B5EF4-FFF2-40B4-BE49-F238E27FC236}">
                <a16:creationId xmlns:a16="http://schemas.microsoft.com/office/drawing/2014/main" id="{29AB7CC3-9D74-45A3-90B3-AC0C61863D2A}"/>
              </a:ext>
            </a:extLst>
          </p:cNvPr>
          <p:cNvSpPr>
            <a:spLocks xmlns:a="http://schemas.openxmlformats.org/drawingml/2006/main" noGrp="1"/>
          </p:cNvSpPr>
          <p:nvPr/>
        </p:nvSpPr>
        <p:spPr>
          <a:xfrm xmlns:a="http://schemas.openxmlformats.org/drawingml/2006/main">
            <a:off x="1047750" y="31527750"/>
            <a:ext cx="7715250" cy="2571750"/>
          </a:xfrm>
          <a:prstGeom xmlns:a="http://schemas.openxmlformats.org/drawingml/2006/main" prst="roundRect">
            <a:avLst>
              <a:gd name="adj" fmla="val 8148"/>
            </a:avLst>
          </a:prstGeom>
          <a:solidFill xmlns:a="http://schemas.openxmlformats.org/drawingml/2006/main">
            <a:srgbClr val="071123"/>
          </a:solidFill>
          <a:ln xmlns:a="http://schemas.openxmlformats.org/drawingml/2006/main" w="19050">
            <a:solidFill>
              <a:srgbClr val="24415F"/>
            </a:solidFill>
            <a:prstDash val="solid"/>
          </a:ln>
        </p:spPr>
      </p:sp>
      <p:pic>
        <p:nvPicPr>
          <p:cNvPr id="181" name=""/>
          <p:cNvPicPr>
            <a:picLocks xmlns:a="http://schemas.openxmlformats.org/drawingml/2006/main" noChangeAspect="1"/>
          </p:cNvPicPr>
          <p:nvPr/>
        </p:nvPicPr>
        <p:blipFill>
          <a:blip xmlns:r="http://schemas.openxmlformats.org/officeDocument/2006/relationships" xmlns:a="http://schemas.openxmlformats.org/drawingml/2006/main" r:embed="R6557cfe8323641fc"/>
          <a:srcRect xmlns:a="http://schemas.openxmlformats.org/drawingml/2006/main" l="0" t="0" r="0" b="0"/>
          <a:stretch xmlns:a="http://schemas.openxmlformats.org/drawingml/2006/main">
            <a:fillRect l="0" t="0" r="0" b="0"/>
          </a:stretch>
        </p:blipFill>
        <p:spPr>
          <a:xfrm xmlns:a="http://schemas.openxmlformats.org/drawingml/2006/main" flipH="0" flipV="0">
            <a:off x="1162050" y="31642050"/>
            <a:ext cx="7486650" cy="2247900"/>
          </a:xfrm>
          <a:prstGeom xmlns:a="http://schemas.openxmlformats.org/drawingml/2006/main" prst="roundRect">
            <a:avLst/>
          </a:prstGeom>
        </p:spPr>
      </p:pic>
      <p:sp>
        <p:nvSpPr>
          <p:cNvPr id="79" name="dashboard-caption">
            <a:extLst xmlns:a="http://schemas.openxmlformats.org/drawingml/2006/main">
              <a:ext uri="{FF2B5EF4-FFF2-40B4-BE49-F238E27FC236}">
                <a16:creationId xmlns:a16="http://schemas.microsoft.com/office/drawing/2014/main" id="{1797CFB3-DD2D-4BBA-8A55-12E364B67535}"/>
              </a:ext>
            </a:extLst>
          </p:cNvPr>
          <p:cNvSpPr>
            <a:spLocks xmlns:a="http://schemas.openxmlformats.org/drawingml/2006/main" noGrp="1"/>
          </p:cNvSpPr>
          <p:nvPr/>
        </p:nvSpPr>
        <p:spPr>
          <a:xfrm xmlns:a="http://schemas.openxmlformats.org/drawingml/2006/main">
            <a:off x="1162050" y="34194750"/>
            <a:ext cx="7600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975" b="1">
                <a:solidFill>
                  <a:srgbClr val="7890AE"/>
                </a:solidFill>
                <a:latin typeface="Avenir Next"/>
                <a:ea typeface="Avenir Next"/>
                <a:cs typeface="Avenir Next"/>
              </a:defRPr>
            </a:pPr>
            <a:r>
              <a:rPr sz="975" b="1">
                <a:solidFill>
                  <a:srgbClr val="7890AE"/>
                </a:solidFill>
                <a:latin typeface="Avenir Next"/>
                <a:ea typeface="Avenir Next"/>
                <a:cs typeface="Avenir Next"/>
              </a:rPr>
              <a:t>AKTUELLE PRODUKTOBERFLÄCHE · BEISPIELKONFIGURATION</a:t>
            </a:r>
          </a:p>
        </p:txBody>
      </p:sp>
      <p:sp>
        <p:nvSpPr>
          <p:cNvPr id="80" name="sso-eyebrow">
            <a:extLst xmlns:a="http://schemas.openxmlformats.org/drawingml/2006/main">
              <a:ext uri="{FF2B5EF4-FFF2-40B4-BE49-F238E27FC236}">
                <a16:creationId xmlns:a16="http://schemas.microsoft.com/office/drawing/2014/main" id="{97F9F830-C082-49E9-95E8-A56F3FDAF047}"/>
              </a:ext>
            </a:extLst>
          </p:cNvPr>
          <p:cNvSpPr>
            <a:spLocks xmlns:a="http://schemas.openxmlformats.org/drawingml/2006/main" noGrp="1"/>
          </p:cNvSpPr>
          <p:nvPr/>
        </p:nvSpPr>
        <p:spPr>
          <a:xfrm xmlns:a="http://schemas.openxmlformats.org/drawingml/2006/main">
            <a:off x="9239250" y="31565850"/>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EINE ANMELDUNG VOR DEN ANWENDUNGEN</a:t>
            </a:r>
          </a:p>
        </p:txBody>
      </p:sp>
      <p:sp>
        <p:nvSpPr>
          <p:cNvPr id="81" name="sso-title">
            <a:extLst xmlns:a="http://schemas.openxmlformats.org/drawingml/2006/main">
              <a:ext uri="{FF2B5EF4-FFF2-40B4-BE49-F238E27FC236}">
                <a16:creationId xmlns:a16="http://schemas.microsoft.com/office/drawing/2014/main" id="{0142FC41-A6E0-4B4E-8E9D-913016C0202C}"/>
              </a:ext>
            </a:extLst>
          </p:cNvPr>
          <p:cNvSpPr>
            <a:spLocks xmlns:a="http://schemas.openxmlformats.org/drawingml/2006/main" noGrp="1"/>
          </p:cNvSpPr>
          <p:nvPr/>
        </p:nvSpPr>
        <p:spPr>
          <a:xfrm xmlns:a="http://schemas.openxmlformats.org/drawingml/2006/main">
            <a:off x="9239250" y="32194500"/>
            <a:ext cx="3429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5000"/>
              </a:lnSpc>
              <a:buNone/>
              <a:defRPr sz="2850" b="1">
                <a:solidFill>
                  <a:srgbClr val="F7FAFF"/>
                </a:solidFill>
                <a:latin typeface="Avenir Next"/>
                <a:ea typeface="Avenir Next"/>
                <a:cs typeface="Avenir Next"/>
              </a:defRPr>
            </a:pPr>
            <a:r>
              <a:rPr sz="2850" b="1">
                <a:solidFill>
                  <a:srgbClr val="F7FAFF"/>
                </a:solidFill>
                <a:latin typeface="Avenir Next"/>
                <a:ea typeface="Avenir Next"/>
                <a:cs typeface="Avenir Next"/>
              </a:rPr>
              <a:t>Envoy +</a:t>
            </a:r>
          </a:p>
          <a:p xmlns:a="http://schemas.openxmlformats.org/drawingml/2006/main">
            <a:pPr algn="l">
              <a:lnSpc>
                <a:spcPct val="95000"/>
              </a:lnSpc>
              <a:buNone/>
              <a:defRPr sz="2850" b="1">
                <a:solidFill>
                  <a:srgbClr val="F7FAFF"/>
                </a:solidFill>
                <a:latin typeface="Avenir Next"/>
                <a:ea typeface="Avenir Next"/>
                <a:cs typeface="Avenir Next"/>
              </a:defRPr>
            </a:pPr>
            <a:r>
              <a:rPr sz="2850" b="1">
                <a:solidFill>
                  <a:srgbClr val="F7FAFF"/>
                </a:solidFill>
                <a:latin typeface="Avenir Next"/>
                <a:ea typeface="Avenir Next"/>
                <a:cs typeface="Avenir Next"/>
              </a:rPr>
              <a:t>Keycloak</a:t>
            </a:r>
          </a:p>
        </p:txBody>
      </p:sp>
      <p:sp>
        <p:nvSpPr>
          <p:cNvPr id="82" name="sso-copy">
            <a:extLst xmlns:a="http://schemas.openxmlformats.org/drawingml/2006/main">
              <a:ext uri="{FF2B5EF4-FFF2-40B4-BE49-F238E27FC236}">
                <a16:creationId xmlns:a16="http://schemas.microsoft.com/office/drawing/2014/main" id="{9D4C8D55-FF9D-48AF-A559-E193E87C7F4C}"/>
              </a:ext>
            </a:extLst>
          </p:cNvPr>
          <p:cNvSpPr>
            <a:spLocks xmlns:a="http://schemas.openxmlformats.org/drawingml/2006/main" noGrp="1"/>
          </p:cNvSpPr>
          <p:nvPr/>
        </p:nvSpPr>
        <p:spPr>
          <a:xfrm xmlns:a="http://schemas.openxmlformats.org/drawingml/2006/main">
            <a:off x="9239250" y="33242250"/>
            <a:ext cx="3429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5000"/>
              </a:lnSpc>
              <a:buNone/>
              <a:defRPr sz="1500" b="0">
                <a:solidFill>
                  <a:srgbClr val="C5D4E6"/>
                </a:solidFill>
                <a:latin typeface="Avenir Next"/>
                <a:ea typeface="Avenir Next"/>
                <a:cs typeface="Avenir Next"/>
              </a:defRPr>
            </a:pPr>
            <a:r>
              <a:rPr sz="1500" b="0">
                <a:solidFill>
                  <a:srgbClr val="C5D4E6"/>
                </a:solidFill>
                <a:latin typeface="Avenir Next"/>
                <a:ea typeface="Avenir Next"/>
                <a:cs typeface="Avenir Next"/>
              </a:rPr>
              <a:t>Ein Konsolencode legt den ersten Admin an. Envoy schützt Dashboard und Routen. Externe OIDC-/SAML-Anbieter benötigen Federated SSO per Lizenzdatei.</a:t>
            </a:r>
          </a:p>
        </p:txBody>
      </p:sp>
      <p:sp>
        <p:nvSpPr>
          <p:cNvPr id="83" name="sso-note">
            <a:extLst xmlns:a="http://schemas.openxmlformats.org/drawingml/2006/main">
              <a:ext uri="{FF2B5EF4-FFF2-40B4-BE49-F238E27FC236}">
                <a16:creationId xmlns:a16="http://schemas.microsoft.com/office/drawing/2014/main" id="{3B663976-796C-4553-A301-CB87CF78551C}"/>
              </a:ext>
            </a:extLst>
          </p:cNvPr>
          <p:cNvSpPr>
            <a:spLocks xmlns:a="http://schemas.openxmlformats.org/drawingml/2006/main" noGrp="1"/>
          </p:cNvSpPr>
          <p:nvPr/>
        </p:nvSpPr>
        <p:spPr>
          <a:xfrm xmlns:a="http://schemas.openxmlformats.org/drawingml/2006/main">
            <a:off x="9239250" y="346710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050" b="0">
                <a:solidFill>
                  <a:srgbClr val="7890AE"/>
                </a:solidFill>
                <a:latin typeface="Avenir Next"/>
                <a:ea typeface="Avenir Next"/>
                <a:cs typeface="Avenir Next"/>
              </a:defRPr>
            </a:pPr>
            <a:r>
              <a:rPr sz="1050" b="0">
                <a:solidFill>
                  <a:srgbClr val="7890AE"/>
                </a:solidFill>
                <a:latin typeface="Avenir Next"/>
                <a:ea typeface="Avenir Next"/>
                <a:cs typeface="Avenir Next"/>
              </a:rPr>
              <a:t>Zentraler Gateway-Login; App-Rollen bleiben anwendungsspezifisch.</a:t>
            </a:r>
          </a:p>
        </p:txBody>
      </p:sp>
      <p:sp>
        <p:nvSpPr>
          <p:cNvPr id="84" name="section-number-07">
            <a:extLst xmlns:a="http://schemas.openxmlformats.org/drawingml/2006/main">
              <a:ext uri="{FF2B5EF4-FFF2-40B4-BE49-F238E27FC236}">
                <a16:creationId xmlns:a16="http://schemas.microsoft.com/office/drawing/2014/main" id="{04EBA2F2-853A-40C3-9CC8-7EB68E3CD6E8}"/>
              </a:ext>
            </a:extLst>
          </p:cNvPr>
          <p:cNvSpPr>
            <a:spLocks xmlns:a="http://schemas.openxmlformats.org/drawingml/2006/main" noGrp="1"/>
          </p:cNvSpPr>
          <p:nvPr/>
        </p:nvSpPr>
        <p:spPr>
          <a:xfrm xmlns:a="http://schemas.openxmlformats.org/drawingml/2006/main">
            <a:off x="323850" y="3629025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500" b="1">
                <a:solidFill>
                  <a:srgbClr val="34D399"/>
                </a:solidFill>
                <a:latin typeface="Avenir Next"/>
                <a:ea typeface="Avenir Next"/>
                <a:cs typeface="Avenir Next"/>
              </a:defRPr>
            </a:pPr>
            <a:r>
              <a:rPr sz="1500" b="1">
                <a:solidFill>
                  <a:srgbClr val="34D399"/>
                </a:solidFill>
                <a:latin typeface="Avenir Next"/>
                <a:ea typeface="Avenir Next"/>
                <a:cs typeface="Avenir Next"/>
              </a:rPr>
              <a:t>07</a:t>
            </a:r>
          </a:p>
        </p:txBody>
      </p:sp>
      <p:sp>
        <p:nvSpPr>
          <p:cNvPr id="85" name="section-dot-07">
            <a:extLst xmlns:a="http://schemas.openxmlformats.org/drawingml/2006/main">
              <a:ext uri="{FF2B5EF4-FFF2-40B4-BE49-F238E27FC236}">
                <a16:creationId xmlns:a16="http://schemas.microsoft.com/office/drawing/2014/main" id="{D5F11D3B-4B83-4EC7-B6D4-83803AFFF143}"/>
              </a:ext>
            </a:extLst>
          </p:cNvPr>
          <p:cNvSpPr>
            <a:spLocks xmlns:a="http://schemas.openxmlformats.org/drawingml/2006/main" noGrp="1"/>
          </p:cNvSpPr>
          <p:nvPr/>
        </p:nvSpPr>
        <p:spPr>
          <a:xfrm xmlns:a="http://schemas.openxmlformats.org/drawingml/2006/main">
            <a:off x="495300" y="36671250"/>
            <a:ext cx="133350" cy="133350"/>
          </a:xfrm>
          <a:prstGeom xmlns:a="http://schemas.openxmlformats.org/drawingml/2006/main" prst="roundRect">
            <a:avLst>
              <a:gd name="adj" fmla="val 50000"/>
            </a:avLst>
          </a:prstGeom>
          <a:solidFill xmlns:a="http://schemas.openxmlformats.org/drawingml/2006/main">
            <a:srgbClr val="34D399"/>
          </a:solidFill>
          <a:ln xmlns:a="http://schemas.openxmlformats.org/drawingml/2006/main" w="28575">
            <a:solidFill>
              <a:srgbClr val="34D399">
                <a:alpha val="55000"/>
              </a:srgbClr>
            </a:solidFill>
            <a:prstDash val="solid"/>
          </a:ln>
        </p:spPr>
      </p:sp>
      <p:sp>
        <p:nvSpPr>
          <p:cNvPr id="86" name="open-label">
            <a:extLst xmlns:a="http://schemas.openxmlformats.org/drawingml/2006/main">
              <a:ext uri="{FF2B5EF4-FFF2-40B4-BE49-F238E27FC236}">
                <a16:creationId xmlns:a16="http://schemas.microsoft.com/office/drawing/2014/main" id="{F7B748C7-79C4-4E52-AF52-74DFF6F7E978}"/>
              </a:ext>
            </a:extLst>
          </p:cNvPr>
          <p:cNvSpPr>
            <a:spLocks xmlns:a="http://schemas.openxmlformats.org/drawingml/2006/main" noGrp="1"/>
          </p:cNvSpPr>
          <p:nvPr/>
        </p:nvSpPr>
        <p:spPr>
          <a:xfrm xmlns:a="http://schemas.openxmlformats.org/drawingml/2006/main">
            <a:off x="1047750" y="361950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200" b="1">
                <a:solidFill>
                  <a:srgbClr val="34D399"/>
                </a:solidFill>
                <a:latin typeface="Avenir Next"/>
                <a:ea typeface="Avenir Next"/>
                <a:cs typeface="Avenir Next"/>
              </a:defRPr>
            </a:pPr>
            <a:r>
              <a:rPr sz="1200" b="1">
                <a:solidFill>
                  <a:srgbClr val="34D399"/>
                </a:solidFill>
                <a:latin typeface="Avenir Next"/>
                <a:ea typeface="Avenir Next"/>
                <a:cs typeface="Avenir Next"/>
              </a:rPr>
              <a:t>BSL 1.1 UND FREE USE GRANT</a:t>
            </a:r>
          </a:p>
        </p:txBody>
      </p:sp>
      <p:sp>
        <p:nvSpPr>
          <p:cNvPr id="87" name="open-title">
            <a:extLst xmlns:a="http://schemas.openxmlformats.org/drawingml/2006/main">
              <a:ext uri="{FF2B5EF4-FFF2-40B4-BE49-F238E27FC236}">
                <a16:creationId xmlns:a16="http://schemas.microsoft.com/office/drawing/2014/main" id="{FE389B74-9374-459A-A89B-3A0958EE0741}"/>
              </a:ext>
            </a:extLst>
          </p:cNvPr>
          <p:cNvSpPr>
            <a:spLocks xmlns:a="http://schemas.openxmlformats.org/drawingml/2006/main" noGrp="1"/>
          </p:cNvSpPr>
          <p:nvPr/>
        </p:nvSpPr>
        <p:spPr>
          <a:xfrm xmlns:a="http://schemas.openxmlformats.org/drawingml/2006/main">
            <a:off x="1047750" y="36690300"/>
            <a:ext cx="933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3900" b="1">
                <a:solidFill>
                  <a:srgbClr val="F7FAFF"/>
                </a:solidFill>
                <a:latin typeface="Avenir Next"/>
                <a:ea typeface="Avenir Next"/>
                <a:cs typeface="Avenir Next"/>
              </a:defRPr>
            </a:pPr>
            <a:r>
              <a:rPr sz="3900" b="1">
                <a:solidFill>
                  <a:srgbClr val="F7FAFF"/>
                </a:solidFill>
                <a:latin typeface="Avenir Next"/>
                <a:ea typeface="Avenir Next"/>
                <a:cs typeface="Avenir Next"/>
              </a:rPr>
              <a:t>Quellcode einsehbar, selbst betrieben</a:t>
            </a:r>
          </a:p>
        </p:txBody>
      </p:sp>
      <p:sp>
        <p:nvSpPr>
          <p:cNvPr id="88" name="open-copy">
            <a:extLst xmlns:a="http://schemas.openxmlformats.org/drawingml/2006/main">
              <a:ext uri="{FF2B5EF4-FFF2-40B4-BE49-F238E27FC236}">
                <a16:creationId xmlns:a16="http://schemas.microsoft.com/office/drawing/2014/main" id="{C34CF62C-2D49-41DA-ACC5-545367440AA7}"/>
              </a:ext>
            </a:extLst>
          </p:cNvPr>
          <p:cNvSpPr>
            <a:spLocks xmlns:a="http://schemas.openxmlformats.org/drawingml/2006/main" noGrp="1"/>
          </p:cNvSpPr>
          <p:nvPr/>
        </p:nvSpPr>
        <p:spPr>
          <a:xfrm xmlns:a="http://schemas.openxmlformats.org/drawingml/2006/main">
            <a:off x="1047750" y="37528500"/>
            <a:ext cx="10668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800" b="0">
                <a:solidFill>
                  <a:srgbClr val="C5D4E6"/>
                </a:solidFill>
                <a:latin typeface="Avenir Next"/>
                <a:ea typeface="Avenir Next"/>
                <a:cs typeface="Avenir Next"/>
              </a:defRPr>
            </a:pPr>
            <a:r>
              <a:rPr sz="1800" b="0">
                <a:solidFill>
                  <a:srgbClr val="C5D4E6"/>
                </a:solidFill>
                <a:latin typeface="Avenir Next"/>
                <a:ea typeface="Avenir Next"/>
                <a:cs typeface="Avenir Next"/>
              </a:rPr>
              <a:t>Magic Stick steht unter BSL 1.1. Jede Version wechselt nach drei Jahren zu MIT. Drittanbieter behalten eigene Lizenzen.</a:t>
            </a:r>
          </a:p>
        </p:txBody>
      </p:sp>
      <p:sp>
        <p:nvSpPr>
          <p:cNvPr id="89" name="open-rule">
            <a:extLst xmlns:a="http://schemas.openxmlformats.org/drawingml/2006/main">
              <a:ext uri="{FF2B5EF4-FFF2-40B4-BE49-F238E27FC236}">
                <a16:creationId xmlns:a16="http://schemas.microsoft.com/office/drawing/2014/main" id="{C2DB855E-1AFF-4174-9D54-2A3B43E84635}"/>
              </a:ext>
            </a:extLst>
          </p:cNvPr>
          <p:cNvSpPr>
            <a:spLocks xmlns:a="http://schemas.openxmlformats.org/drawingml/2006/main" noGrp="1"/>
          </p:cNvSpPr>
          <p:nvPr/>
        </p:nvSpPr>
        <p:spPr>
          <a:xfrm xmlns:a="http://schemas.openxmlformats.org/drawingml/2006/main">
            <a:off x="1047750" y="38538150"/>
            <a:ext cx="11620500" cy="28575"/>
          </a:xfrm>
          <a:prstGeom xmlns:a="http://schemas.openxmlformats.org/drawingml/2006/main" prst="rect">
            <a:avLst/>
          </a:prstGeom>
          <a:gradFill xmlns:a="http://schemas.openxmlformats.org/drawingml/2006/main">
            <a:gsLst>
              <a:gs pos="0">
                <a:srgbClr val="22D3EE"/>
              </a:gs>
              <a:gs pos="60000">
                <a:srgbClr val="8B5CF6"/>
              </a:gs>
              <a:gs pos="100000">
                <a:srgbClr val="34D399"/>
              </a:gs>
            </a:gsLst>
            <a:lin ang="0"/>
          </a:gradFill>
          <a:ln xmlns:a="http://schemas.openxmlformats.org/drawingml/2006/main" w="0">
            <a:noFill/>
            <a:prstDash val="solid"/>
          </a:ln>
        </p:spPr>
      </p:sp>
      <p:sp>
        <p:nvSpPr>
          <p:cNvPr id="90" name="today-label">
            <a:extLst xmlns:a="http://schemas.openxmlformats.org/drawingml/2006/main">
              <a:ext uri="{FF2B5EF4-FFF2-40B4-BE49-F238E27FC236}">
                <a16:creationId xmlns:a16="http://schemas.microsoft.com/office/drawing/2014/main" id="{9E7A1E75-07A8-4A7F-BFB0-CED49ADC16FD}"/>
              </a:ext>
            </a:extLst>
          </p:cNvPr>
          <p:cNvSpPr>
            <a:spLocks xmlns:a="http://schemas.openxmlformats.org/drawingml/2006/main" noGrp="1"/>
          </p:cNvSpPr>
          <p:nvPr/>
        </p:nvSpPr>
        <p:spPr>
          <a:xfrm xmlns:a="http://schemas.openxmlformats.org/drawingml/2006/main">
            <a:off x="1047750" y="388810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200" b="1">
                <a:solidFill>
                  <a:srgbClr val="22D3EE"/>
                </a:solidFill>
                <a:latin typeface="Avenir Next"/>
                <a:ea typeface="Avenir Next"/>
                <a:cs typeface="Avenir Next"/>
              </a:defRPr>
            </a:pPr>
            <a:r>
              <a:rPr sz="1200" b="1">
                <a:solidFill>
                  <a:srgbClr val="22D3EE"/>
                </a:solidFill>
                <a:latin typeface="Avenir Next"/>
                <a:ea typeface="Avenir Next"/>
                <a:cs typeface="Avenir Next"/>
              </a:rPr>
              <a:t>FREE</a:t>
            </a:r>
          </a:p>
        </p:txBody>
      </p:sp>
      <p:sp>
        <p:nvSpPr>
          <p:cNvPr id="91" name="today-copy">
            <a:extLst xmlns:a="http://schemas.openxmlformats.org/drawingml/2006/main">
              <a:ext uri="{FF2B5EF4-FFF2-40B4-BE49-F238E27FC236}">
                <a16:creationId xmlns:a16="http://schemas.microsoft.com/office/drawing/2014/main" id="{10699730-458F-4D18-9A99-44902231D394}"/>
              </a:ext>
            </a:extLst>
          </p:cNvPr>
          <p:cNvSpPr>
            <a:spLocks xmlns:a="http://schemas.openxmlformats.org/drawingml/2006/main" noGrp="1"/>
          </p:cNvSpPr>
          <p:nvPr/>
        </p:nvSpPr>
        <p:spPr>
          <a:xfrm xmlns:a="http://schemas.openxmlformats.org/drawingml/2006/main">
            <a:off x="1047750" y="39243000"/>
            <a:ext cx="5429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575" b="0">
                <a:solidFill>
                  <a:srgbClr val="F7FAFF"/>
                </a:solidFill>
                <a:latin typeface="Avenir Next"/>
                <a:ea typeface="Avenir Next"/>
                <a:cs typeface="Avenir Next"/>
              </a:defRPr>
            </a:pPr>
            <a:r>
              <a:rPr sz="1575" b="0">
                <a:solidFill>
                  <a:srgbClr val="F7FAFF"/>
                </a:solidFill>
                <a:latin typeface="Avenir Next"/>
                <a:ea typeface="Avenir Next"/>
                <a:cs typeface="Avenir Next"/>
              </a:rPr>
              <a:t>Modelle, Benutzer, Sharing und Mesh ohne Lizenzdatei. Bis 2 Mio. EUR Gruppenumsatz im Free Use Grant. Details: LICENSING.md</a:t>
            </a:r>
          </a:p>
        </p:txBody>
      </p:sp>
      <p:sp>
        <p:nvSpPr>
          <p:cNvPr id="92" name="enterprise-label">
            <a:extLst xmlns:a="http://schemas.openxmlformats.org/drawingml/2006/main">
              <a:ext uri="{FF2B5EF4-FFF2-40B4-BE49-F238E27FC236}">
                <a16:creationId xmlns:a16="http://schemas.microsoft.com/office/drawing/2014/main" id="{A807A0EB-C3A9-440D-B98E-53B5556A72CB}"/>
              </a:ext>
            </a:extLst>
          </p:cNvPr>
          <p:cNvSpPr>
            <a:spLocks xmlns:a="http://schemas.openxmlformats.org/drawingml/2006/main" noGrp="1"/>
          </p:cNvSpPr>
          <p:nvPr/>
        </p:nvSpPr>
        <p:spPr>
          <a:xfrm xmlns:a="http://schemas.openxmlformats.org/drawingml/2006/main">
            <a:off x="7143750" y="388810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200" b="1">
                <a:solidFill>
                  <a:srgbClr val="8B5CF6"/>
                </a:solidFill>
                <a:latin typeface="Avenir Next"/>
                <a:ea typeface="Avenir Next"/>
                <a:cs typeface="Avenir Next"/>
              </a:defRPr>
            </a:pPr>
            <a:r>
              <a:rPr sz="1200" b="1">
                <a:solidFill>
                  <a:srgbClr val="8B5CF6"/>
                </a:solidFill>
                <a:latin typeface="Avenir Next"/>
                <a:ea typeface="Avenir Next"/>
                <a:cs typeface="Avenir Next"/>
              </a:rPr>
              <a:t>FREE REGISTERED / COMMERCIAL</a:t>
            </a:r>
          </a:p>
        </p:txBody>
      </p:sp>
      <p:sp>
        <p:nvSpPr>
          <p:cNvPr id="93" name="enterprise-copy">
            <a:extLst xmlns:a="http://schemas.openxmlformats.org/drawingml/2006/main">
              <a:ext uri="{FF2B5EF4-FFF2-40B4-BE49-F238E27FC236}">
                <a16:creationId xmlns:a16="http://schemas.microsoft.com/office/drawing/2014/main" id="{D2725433-631E-4808-8D21-B44835A50428}"/>
              </a:ext>
            </a:extLst>
          </p:cNvPr>
          <p:cNvSpPr>
            <a:spLocks xmlns:a="http://schemas.openxmlformats.org/drawingml/2006/main" noGrp="1"/>
          </p:cNvSpPr>
          <p:nvPr/>
        </p:nvSpPr>
        <p:spPr>
          <a:xfrm xmlns:a="http://schemas.openxmlformats.org/drawingml/2006/main">
            <a:off x="7143750" y="39243000"/>
            <a:ext cx="5334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575" b="0">
                <a:solidFill>
                  <a:srgbClr val="F7FAFF"/>
                </a:solidFill>
                <a:latin typeface="Avenir Next"/>
                <a:ea typeface="Avenir Next"/>
                <a:cs typeface="Avenir Next"/>
              </a:defRPr>
            </a:pPr>
            <a:r>
              <a:rPr sz="1575" b="0">
                <a:solidFill>
                  <a:srgbClr val="F7FAFF"/>
                </a:solidFill>
                <a:latin typeface="Avenir Next"/>
                <a:ea typeface="Avenir Next"/>
                <a:cs typeface="Avenir Next"/>
              </a:rPr>
              <a:t>Federated SSO per signierter Datei. Commercial für produktive Nutzung außerhalb des Free Use Grants.</a:t>
            </a:r>
          </a:p>
        </p:txBody>
      </p:sp>
      <p:sp>
        <p:nvSpPr>
          <p:cNvPr id="94" name="cta-band">
            <a:extLst xmlns:a="http://schemas.openxmlformats.org/drawingml/2006/main">
              <a:ext uri="{FF2B5EF4-FFF2-40B4-BE49-F238E27FC236}">
                <a16:creationId xmlns:a16="http://schemas.microsoft.com/office/drawing/2014/main" id="{5B821195-7172-4385-A73F-169C536EBD5E}"/>
              </a:ext>
            </a:extLst>
          </p:cNvPr>
          <p:cNvSpPr>
            <a:spLocks xmlns:a="http://schemas.openxmlformats.org/drawingml/2006/main" noGrp="1"/>
          </p:cNvSpPr>
          <p:nvPr/>
        </p:nvSpPr>
        <p:spPr>
          <a:xfrm xmlns:a="http://schemas.openxmlformats.org/drawingml/2006/main">
            <a:off x="0" y="40290750"/>
            <a:ext cx="13716000" cy="857250"/>
          </a:xfrm>
          <a:prstGeom xmlns:a="http://schemas.openxmlformats.org/drawingml/2006/main" prst="rect">
            <a:avLst/>
          </a:prstGeom>
          <a:gradFill xmlns:a="http://schemas.openxmlformats.org/drawingml/2006/main">
            <a:gsLst>
              <a:gs pos="0">
                <a:srgbClr val="0E7490"/>
              </a:gs>
              <a:gs pos="65000">
                <a:srgbClr val="6D28D9"/>
              </a:gs>
              <a:gs pos="100000">
                <a:srgbClr val="4C1D95"/>
              </a:gs>
            </a:gsLst>
            <a:lin ang="0"/>
          </a:gradFill>
          <a:ln xmlns:a="http://schemas.openxmlformats.org/drawingml/2006/main" w="0">
            <a:noFill/>
            <a:prstDash val="solid"/>
          </a:ln>
        </p:spPr>
      </p:sp>
      <p:sp>
        <p:nvSpPr>
          <p:cNvPr id="95" name="cta-question">
            <a:extLst xmlns:a="http://schemas.openxmlformats.org/drawingml/2006/main">
              <a:ext uri="{FF2B5EF4-FFF2-40B4-BE49-F238E27FC236}">
                <a16:creationId xmlns:a16="http://schemas.microsoft.com/office/drawing/2014/main" id="{4E76EE92-C26D-415A-A7DA-7E773C52518C}"/>
              </a:ext>
            </a:extLst>
          </p:cNvPr>
          <p:cNvSpPr>
            <a:spLocks xmlns:a="http://schemas.openxmlformats.org/drawingml/2006/main" noGrp="1"/>
          </p:cNvSpPr>
          <p:nvPr/>
        </p:nvSpPr>
        <p:spPr>
          <a:xfrm xmlns:a="http://schemas.openxmlformats.org/drawingml/2006/main">
            <a:off x="914400" y="40443150"/>
            <a:ext cx="790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2100" b="1">
                <a:solidFill>
                  <a:srgbClr val="F7FAFF"/>
                </a:solidFill>
                <a:latin typeface="Avenir Next"/>
                <a:ea typeface="Avenir Next"/>
                <a:cs typeface="Avenir Next"/>
              </a:defRPr>
            </a:pPr>
            <a:r>
              <a:rPr sz="2100" b="1">
                <a:solidFill>
                  <a:srgbClr val="F7FAFF"/>
                </a:solidFill>
                <a:latin typeface="Avenir Next"/>
                <a:ea typeface="Avenir Next"/>
                <a:cs typeface="Avenir Next"/>
              </a:rPr>
              <a:t>Was würden Sie mit Ihrer eigenen KI-Plattform bauen?</a:t>
            </a:r>
          </a:p>
        </p:txBody>
      </p:sp>
      <p:sp>
        <p:nvSpPr>
          <p:cNvPr id="96" name="cta-github">
            <a:extLst xmlns:a="http://schemas.openxmlformats.org/drawingml/2006/main">
              <a:ext uri="{FF2B5EF4-FFF2-40B4-BE49-F238E27FC236}">
                <a16:creationId xmlns:a16="http://schemas.microsoft.com/office/drawing/2014/main" id="{145AA323-E0FE-41F4-A236-70B361F99664}"/>
              </a:ext>
            </a:extLst>
          </p:cNvPr>
          <p:cNvSpPr>
            <a:spLocks xmlns:a="http://schemas.openxmlformats.org/drawingml/2006/main" noGrp="1"/>
          </p:cNvSpPr>
          <p:nvPr/>
        </p:nvSpPr>
        <p:spPr>
          <a:xfrm xmlns:a="http://schemas.openxmlformats.org/drawingml/2006/main">
            <a:off x="914400" y="408241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050" b="1">
                <a:solidFill>
                  <a:srgbClr val="E6FAFF"/>
                </a:solidFill>
                <a:latin typeface="Avenir Next"/>
                <a:ea typeface="Avenir Next"/>
                <a:cs typeface="Avenir Next"/>
              </a:defRPr>
            </a:pPr>
            <a:r>
              <a:rPr sz="1050" b="1">
                <a:solidFill>
                  <a:srgbClr val="E6FAFF"/>
                </a:solidFill>
                <a:latin typeface="Avenir Next"/>
                <a:ea typeface="Avenir Next"/>
                <a:cs typeface="Avenir Next"/>
                <a:hlinkClick xmlns:r="http://schemas.openxmlformats.org/officeDocument/2006/relationships" r:id="R0c0cc6924d5c453a"/>
              </a:rPr>
              <a:t>github.com/QualityMinds/AIppliance-Magic-Stick</a:t>
            </a:r>
          </a:p>
        </p:txBody>
      </p:sp>
      <p:sp>
        <p:nvSpPr>
          <p:cNvPr id="97" name="cta-brand">
            <a:extLst xmlns:a="http://schemas.openxmlformats.org/drawingml/2006/main">
              <a:ext uri="{FF2B5EF4-FFF2-40B4-BE49-F238E27FC236}">
                <a16:creationId xmlns:a16="http://schemas.microsoft.com/office/drawing/2014/main" id="{C3FAD70C-046F-4AFF-AB84-42B096EE0FE7}"/>
              </a:ext>
            </a:extLst>
          </p:cNvPr>
          <p:cNvSpPr>
            <a:spLocks xmlns:a="http://schemas.openxmlformats.org/drawingml/2006/main" noGrp="1"/>
          </p:cNvSpPr>
          <p:nvPr/>
        </p:nvSpPr>
        <p:spPr>
          <a:xfrm xmlns:a="http://schemas.openxmlformats.org/drawingml/2006/main">
            <a:off x="9906000" y="40443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200" b="1">
                <a:solidFill>
                  <a:srgbClr val="E6FAFF"/>
                </a:solidFill>
                <a:latin typeface="Avenir Next"/>
                <a:ea typeface="Avenir Next"/>
                <a:cs typeface="Avenir Next"/>
              </a:defRPr>
            </a:pPr>
            <a:r>
              <a:rPr sz="1200" b="1">
                <a:solidFill>
                  <a:srgbClr val="E6FAFF"/>
                </a:solidFill>
                <a:latin typeface="Avenir Next"/>
                <a:ea typeface="Avenir Next"/>
                <a:cs typeface="Avenir Next"/>
              </a:rPr>
              <a:t>QUALITYMINDS</a:t>
            </a:r>
          </a:p>
        </p:txBody>
      </p:sp>
      <p:sp>
        <p:nvSpPr>
          <p:cNvPr id="98" name="cta-email">
            <a:extLst xmlns:a="http://schemas.openxmlformats.org/drawingml/2006/main">
              <a:ext uri="{FF2B5EF4-FFF2-40B4-BE49-F238E27FC236}">
                <a16:creationId xmlns:a16="http://schemas.microsoft.com/office/drawing/2014/main" id="{D10A9579-D21C-4E1F-AE47-EFE4001B6C7A}"/>
              </a:ext>
            </a:extLst>
          </p:cNvPr>
          <p:cNvSpPr>
            <a:spLocks xmlns:a="http://schemas.openxmlformats.org/drawingml/2006/main" noGrp="1"/>
          </p:cNvSpPr>
          <p:nvPr/>
        </p:nvSpPr>
        <p:spPr>
          <a:xfrm xmlns:a="http://schemas.openxmlformats.org/drawingml/2006/main">
            <a:off x="9906000" y="407670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350" b="1">
                <a:solidFill>
                  <a:srgbClr val="F7FAFF"/>
                </a:solidFill>
                <a:latin typeface="Avenir Next"/>
                <a:ea typeface="Avenir Next"/>
                <a:cs typeface="Avenir Next"/>
              </a:defRPr>
            </a:pPr>
            <a:r>
              <a:rPr sz="1350" b="1">
                <a:solidFill>
                  <a:srgbClr val="F7FAFF"/>
                </a:solidFill>
                <a:latin typeface="Avenir Next"/>
                <a:ea typeface="Avenir Next"/>
                <a:cs typeface="Avenir Next"/>
                <a:hlinkClick xmlns:r="http://schemas.openxmlformats.org/officeDocument/2006/relationships" r:id="R795560f750714041"/>
              </a:rPr>
              <a:t>hello@qualityminds.de</a:t>
            </a:r>
          </a:p>
        </p:txBody>
      </p:sp>
    </p:spTree>
    <p:extLst>
      <p:ext uri="{BB962C8B-B14F-4D97-AF65-F5344CB8AC3E}">
        <p14:creationId xmlns:p14="http://schemas.microsoft.com/office/powerpoint/2010/main" val="1207770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2026-09-23T13:37:47.8340000Z</dcterms:created>
  <dcterms:modified xsi:type="dcterms:W3CDTF">2026-09-23T13:37:47.8340000Z</dcterms:modified>
</coreProperties>
</file>