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791eeedcf6c4b65" /><Relationship Type="http://schemas.openxmlformats.org/officeDocument/2006/relationships/extended-properties" Target="/docProps/app.xml" Id="Rd0fbbbeda7b849ff" /><Relationship Type="http://schemas.openxmlformats.org/officeDocument/2006/relationships/officeDocument" Target="/ppt/presentation.xml" Id="R666dd6586d974a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e6cbaf6a8a4d66"/>
  </p:sldMasterIdLst>
  <p:notesMasterIdLst>
    <p:notesMasterId xmlns:r="http://schemas.openxmlformats.org/officeDocument/2006/relationships" r:id="Ra0b233c766e748d7"/>
  </p:notesMasterIdLst>
  <p:sldIdLst>
    <p:sldId xmlns:r="http://schemas.openxmlformats.org/officeDocument/2006/relationships" id="256" r:id="R54e1cedbc88d42bb"/>
  </p:sldIdLst>
  <p:sldSz cx="13716000" cy="4114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7d4571d353d4c2d" /><Relationship Type="http://schemas.openxmlformats.org/officeDocument/2006/relationships/slideMaster" Target="/ppt/slideMasters/slideMaster1.xml" Id="R01e6cbaf6a8a4d66" /><Relationship Type="http://schemas.openxmlformats.org/officeDocument/2006/relationships/notesMaster" Target="/ppt/notesMasters/notesMaster1.xml" Id="Ra0b233c766e748d7" /><Relationship Type="http://schemas.openxmlformats.org/officeDocument/2006/relationships/presProps" Target="/ppt/presProps.xml" Id="Ra6f6be6436f64654" /><Relationship Type="http://schemas.openxmlformats.org/officeDocument/2006/relationships/tableStyles" Target="/ppt/tableStyles.xml" Id="Ra673d39e44ee4776" /><Relationship Type="http://schemas.openxmlformats.org/officeDocument/2006/relationships/slide" Target="/ppt/slides/slide1.xml" Id="R54e1cedbc88d42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dceb36859743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66be234726248c7" /><Relationship Type="http://schemas.openxmlformats.org/officeDocument/2006/relationships/notesMaster" Target="/ppt/notesMasters/notesMaster1.xml" Id="R7c44272e7a7c4d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repository state: 13b9d83 (2026-09-01).</a:t>
            </a:r>
          </a:p>
          <a:p xmlns:a="http://schemas.openxmlformats.org/drawingml/2006/main">
            <a:r>
              <a:t>- docs/installation/README.md, docs/dashboard.md, docs/model-catalog.md, docs/modules.md and docs/authentication.md.</a:t>
            </a:r>
          </a:p>
          <a:p xmlns:a="http://schemas.openxmlformats.org/drawingml/2006/main">
            <a:r>
              <a:t>- Existing Magic Stick hero and conceptual illustrations retained.</a:t>
            </a:r>
          </a:p>
          <a:p xmlns:a="http://schemas.openxmlformats.org/drawingml/2006/main">
            <a:r>
              <a:t>- Product screenshot will be captured from the current test server in Chrome.</a:t>
            </a:r>
          </a:p>
          <a:p xmlns:a="http://schemas.openxmlformats.org/drawingml/2006/main">
            <a:r>
              <a:t>- Enterprise capabilities are explicitly presented as a target concept in conception.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fa8a2d301941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a83cd1c5ce14d0d" /><Relationship Type="http://schemas.openxmlformats.org/officeDocument/2006/relationships/slideLayout" Target="/ppt/slideLayouts/slideLayout1.xml" Id="R246a64ee83e5402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6a64ee83e5402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d8cf3445a94d08" /><Relationship Type="http://schemas.openxmlformats.org/officeDocument/2006/relationships/image" Target="/ppt/media/image.png" Id="R9fda37aa250544ce" /><Relationship Type="http://schemas.openxmlformats.org/officeDocument/2006/relationships/image" Target="/ppt/media/image2.png" Id="R32a959effdcf42ff" /><Relationship Type="http://schemas.openxmlformats.org/officeDocument/2006/relationships/image" Target="/ppt/media/image3.png" Id="R3da703a6a6b64cad" /><Relationship Type="http://schemas.openxmlformats.org/officeDocument/2006/relationships/image" Target="/ppt/media/image.jpeg" Id="R5d5a3196de874b7b" /><Relationship Type="http://schemas.openxmlformats.org/officeDocument/2006/relationships/hyperlink" Target="https://github.com/QualityMinds/AIppliance-Magic-Stick" TargetMode="External" Id="R29f872c1017b46ec" /><Relationship Type="http://schemas.openxmlformats.org/officeDocument/2006/relationships/hyperlink" Target="mailto:hello@qualityminds.de" TargetMode="External" Id="R5b79e471c80847ac" /><Relationship Type="http://schemas.openxmlformats.org/officeDocument/2006/relationships/notesSlide" Target="/ppt/notesSlides/notesSlide1.xml" Id="R1d72f4f514f947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0B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journey-spine">
            <a:extLst xmlns:a="http://schemas.openxmlformats.org/drawingml/2006/main">
              <a:ext uri="{FF2B5EF4-FFF2-40B4-BE49-F238E27FC236}">
                <a16:creationId xmlns:a16="http://schemas.microsoft.com/office/drawing/2014/main" id="{42CD6C08-11EE-4830-8ACE-61CA9A8B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0"/>
            <a:ext cx="38100" cy="32385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50000">
                <a:srgbClr val="8B5CF6"/>
              </a:gs>
              <a:gs pos="100000">
                <a:srgbClr val="34D399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da37aa250544ce"/>
          <a:srcRect xmlns:a="http://schemas.openxmlformats.org/drawingml/2006/main" l="0" t="11458" r="0" b="114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3716000" cy="7048500"/>
          </a:xfrm>
          <a:prstGeom xmlns:a="http://schemas.openxmlformats.org/drawingml/2006/main" prst="rect">
            <a:avLst/>
          </a:prstGeom>
        </p:spPr>
      </p:pic>
      <p:sp>
        <p:nvSpPr>
          <p:cNvPr id="3" name="hero-left-wash">
            <a:extLst xmlns:a="http://schemas.openxmlformats.org/drawingml/2006/main">
              <a:ext uri="{FF2B5EF4-FFF2-40B4-BE49-F238E27FC236}">
                <a16:creationId xmlns:a16="http://schemas.microsoft.com/office/drawing/2014/main" id="{81E99032-0D9D-4BFF-BFC9-E4186577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0" cy="7048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99000"/>
                </a:srgbClr>
              </a:gs>
              <a:gs pos="67000">
                <a:srgbClr val="050B18">
                  <a:alpha val="80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hero-bottom-wash">
            <a:extLst xmlns:a="http://schemas.openxmlformats.org/drawingml/2006/main">
              <a:ext uri="{FF2B5EF4-FFF2-40B4-BE49-F238E27FC236}">
                <a16:creationId xmlns:a16="http://schemas.microsoft.com/office/drawing/2014/main" id="{53004137-9ED2-4368-8438-09DD6267C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3716000" cy="857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" name="hero-eyebrow">
            <a:extLst xmlns:a="http://schemas.openxmlformats.org/drawingml/2006/main">
              <a:ext uri="{FF2B5EF4-FFF2-40B4-BE49-F238E27FC236}">
                <a16:creationId xmlns:a16="http://schemas.microsoft.com/office/drawing/2014/main" id="{BB1C41D9-6A32-49F7-BBF4-B270820D8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666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OPEN-SOURCE AI APPLIANCE</a:t>
            </a:r>
          </a:p>
        </p:txBody>
      </p:sp>
      <p:sp>
        <p:nvSpPr>
          <p:cNvPr id="6" name="hero-title">
            <a:extLst xmlns:a="http://schemas.openxmlformats.org/drawingml/2006/main">
              <a:ext uri="{FF2B5EF4-FFF2-40B4-BE49-F238E27FC236}">
                <a16:creationId xmlns:a16="http://schemas.microsoft.com/office/drawing/2014/main" id="{D47D52F3-15BC-4DD2-8242-7049E7EFF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09700"/>
            <a:ext cx="7810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buNone/>
              <a:def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Vom Rechner zur</a:t>
            </a:r>
          </a:p>
          <a:p xmlns:a="http://schemas.openxmlformats.org/drawingml/2006/main">
            <a:pPr algn="l">
              <a:lnSpc>
                <a:spcPct val="90000"/>
              </a:lnSpc>
              <a:buNone/>
              <a:def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55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eigenen KI-Plattform.</a:t>
            </a:r>
          </a:p>
        </p:txBody>
      </p:sp>
      <p:sp>
        <p:nvSpPr>
          <p:cNvPr id="7" name="hero-copy">
            <a:extLst xmlns:a="http://schemas.openxmlformats.org/drawingml/2006/main">
              <a:ext uri="{FF2B5EF4-FFF2-40B4-BE49-F238E27FC236}">
                <a16:creationId xmlns:a16="http://schemas.microsoft.com/office/drawing/2014/main" id="{764EB964-8B28-4593-A3F7-AC45593B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19500"/>
            <a:ext cx="657225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1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Magic Stick verbindet Installation, Modellzugang, Services, SSO und GitOps-Betrieb auf Ihrer Infrastruktur.</a:t>
            </a:r>
          </a:p>
        </p:txBody>
      </p:sp>
      <p:sp>
        <p:nvSpPr>
          <p:cNvPr id="8" name="hero-scroll">
            <a:extLst xmlns:a="http://schemas.openxmlformats.org/drawingml/2006/main">
              <a:ext uri="{FF2B5EF4-FFF2-40B4-BE49-F238E27FC236}">
                <a16:creationId xmlns:a16="http://schemas.microsoft.com/office/drawing/2014/main" id="{062A8E17-63AD-4C52-9E8D-F2C6A716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71500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DIE GESCHICHTE EINER OFFENEN KI-PLATTFORM</a:t>
            </a:r>
          </a:p>
        </p:txBody>
      </p:sp>
      <p:sp>
        <p:nvSpPr>
          <p:cNvPr id="9" name="section-number-02">
            <a:extLst xmlns:a="http://schemas.openxmlformats.org/drawingml/2006/main">
              <a:ext uri="{FF2B5EF4-FFF2-40B4-BE49-F238E27FC236}">
                <a16:creationId xmlns:a16="http://schemas.microsoft.com/office/drawing/2014/main" id="{562B872D-DE2C-4A37-B3AA-A696651C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76200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10" name="section-dot-02">
            <a:extLst xmlns:a="http://schemas.openxmlformats.org/drawingml/2006/main">
              <a:ext uri="{FF2B5EF4-FFF2-40B4-BE49-F238E27FC236}">
                <a16:creationId xmlns:a16="http://schemas.microsoft.com/office/drawing/2014/main" id="{9A4969F3-5CCA-481B-AAC3-4D462D9C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0010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2857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11" name="problem-label">
            <a:extLst xmlns:a="http://schemas.openxmlformats.org/drawingml/2006/main">
              <a:ext uri="{FF2B5EF4-FFF2-40B4-BE49-F238E27FC236}">
                <a16:creationId xmlns:a16="http://schemas.microsoft.com/office/drawing/2014/main" id="{BAF04A75-980F-4F5A-95B3-CC62DCAB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524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DAS FEHLENDE BINDEGLIED</a:t>
            </a:r>
          </a:p>
        </p:txBody>
      </p:sp>
      <p:sp>
        <p:nvSpPr>
          <p:cNvPr id="1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AD24BC41-DCF2-42BB-8F09-19192D29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79819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7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 allein ist noch keine Plattform.</a:t>
            </a:r>
          </a:p>
        </p:txBody>
      </p:sp>
      <p:sp>
        <p:nvSpPr>
          <p:cNvPr id="13" name="problem-copy">
            <a:extLst xmlns:a="http://schemas.openxmlformats.org/drawingml/2006/main">
              <a:ext uri="{FF2B5EF4-FFF2-40B4-BE49-F238E27FC236}">
                <a16:creationId xmlns:a16="http://schemas.microsoft.com/office/drawing/2014/main" id="{4F6617E7-A4C2-40E0-B201-34C7CC4A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858250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Erst wenn Infrastruktur, Modellzugang, Anwendungen, Identitäten und Betrieb zusammenspielen, entsteht eine Plattform für den Alltag.</a:t>
            </a:r>
          </a:p>
        </p:txBody>
      </p:sp>
      <p:sp>
        <p:nvSpPr>
          <p:cNvPr id="14" name="concept-0">
            <a:extLst xmlns:a="http://schemas.openxmlformats.org/drawingml/2006/main">
              <a:ext uri="{FF2B5EF4-FFF2-40B4-BE49-F238E27FC236}">
                <a16:creationId xmlns:a16="http://schemas.microsoft.com/office/drawing/2014/main" id="{4E83A214-4958-4A92-8A56-F4C78C35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INFRASTRUKTUR</a:t>
            </a:r>
          </a:p>
        </p:txBody>
      </p:sp>
      <p:sp>
        <p:nvSpPr>
          <p:cNvPr id="15" name="concept-connector-0">
            <a:extLst xmlns:a="http://schemas.openxmlformats.org/drawingml/2006/main">
              <a:ext uri="{FF2B5EF4-FFF2-40B4-BE49-F238E27FC236}">
                <a16:creationId xmlns:a16="http://schemas.microsoft.com/office/drawing/2014/main" id="{0D447014-0AF0-4EEE-9B34-0894A775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cept-1">
            <a:extLst xmlns:a="http://schemas.openxmlformats.org/drawingml/2006/main">
              <a:ext uri="{FF2B5EF4-FFF2-40B4-BE49-F238E27FC236}">
                <a16:creationId xmlns:a16="http://schemas.microsoft.com/office/drawing/2014/main" id="{24515B90-1398-4930-8701-C1027535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MODELLE</a:t>
            </a:r>
          </a:p>
        </p:txBody>
      </p:sp>
      <p:sp>
        <p:nvSpPr>
          <p:cNvPr id="17" name="concept-connector-1">
            <a:extLst xmlns:a="http://schemas.openxmlformats.org/drawingml/2006/main">
              <a:ext uri="{FF2B5EF4-FFF2-40B4-BE49-F238E27FC236}">
                <a16:creationId xmlns:a16="http://schemas.microsoft.com/office/drawing/2014/main" id="{5A079BBF-5BA2-417B-AA2A-981C91747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oncept-2">
            <a:extLst xmlns:a="http://schemas.openxmlformats.org/drawingml/2006/main">
              <a:ext uri="{FF2B5EF4-FFF2-40B4-BE49-F238E27FC236}">
                <a16:creationId xmlns:a16="http://schemas.microsoft.com/office/drawing/2014/main" id="{B2B79C5F-3293-4318-8973-64D11C7DE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ANWENDUNGEN</a:t>
            </a:r>
          </a:p>
        </p:txBody>
      </p:sp>
      <p:sp>
        <p:nvSpPr>
          <p:cNvPr id="19" name="concept-connector-2">
            <a:extLst xmlns:a="http://schemas.openxmlformats.org/drawingml/2006/main">
              <a:ext uri="{FF2B5EF4-FFF2-40B4-BE49-F238E27FC236}">
                <a16:creationId xmlns:a16="http://schemas.microsoft.com/office/drawing/2014/main" id="{D997EB7B-F147-4DDD-B8D4-3BCC07737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oncept-3">
            <a:extLst xmlns:a="http://schemas.openxmlformats.org/drawingml/2006/main">
              <a:ext uri="{FF2B5EF4-FFF2-40B4-BE49-F238E27FC236}">
                <a16:creationId xmlns:a16="http://schemas.microsoft.com/office/drawing/2014/main" id="{E9DC0F8E-5E70-44EF-B320-DBCC7B92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FBBF24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FBBF24"/>
                </a:solidFill>
                <a:latin typeface="Avenir Next"/>
                <a:ea typeface="Avenir Next"/>
                <a:cs typeface="Avenir Next"/>
              </a:rPr>
              <a:t>IDENTITÄTEN</a:t>
            </a:r>
          </a:p>
        </p:txBody>
      </p:sp>
      <p:sp>
        <p:nvSpPr>
          <p:cNvPr id="21" name="concept-connector-3">
            <a:extLst xmlns:a="http://schemas.openxmlformats.org/drawingml/2006/main">
              <a:ext uri="{FF2B5EF4-FFF2-40B4-BE49-F238E27FC236}">
                <a16:creationId xmlns:a16="http://schemas.microsoft.com/office/drawing/2014/main" id="{A0FABDA5-5EF5-4C47-96F7-34F39C069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0163175"/>
            <a:ext cx="361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>
              <a:alpha val="5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concept-4">
            <a:extLst xmlns:a="http://schemas.openxmlformats.org/drawingml/2006/main">
              <a:ext uri="{FF2B5EF4-FFF2-40B4-BE49-F238E27FC236}">
                <a16:creationId xmlns:a16="http://schemas.microsoft.com/office/drawing/2014/main" id="{2E4040A5-9695-49B0-9064-04A8068DD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100393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BETRIEB</a:t>
            </a:r>
          </a:p>
        </p:txBody>
      </p:sp>
      <p:sp>
        <p:nvSpPr>
          <p:cNvPr id="23" name="install-bg">
            <a:extLst xmlns:a="http://schemas.openxmlformats.org/drawingml/2006/main">
              <a:ext uri="{FF2B5EF4-FFF2-40B4-BE49-F238E27FC236}">
                <a16:creationId xmlns:a16="http://schemas.microsoft.com/office/drawing/2014/main" id="{3E59D211-35CB-4298-9304-80A691BF1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763250"/>
            <a:ext cx="13716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ection-number-03">
            <a:extLst xmlns:a="http://schemas.openxmlformats.org/drawingml/2006/main">
              <a:ext uri="{FF2B5EF4-FFF2-40B4-BE49-F238E27FC236}">
                <a16:creationId xmlns:a16="http://schemas.microsoft.com/office/drawing/2014/main" id="{858803BE-8C7E-41EA-8544-62BE19A4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12395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25" name="section-dot-03">
            <a:extLst xmlns:a="http://schemas.openxmlformats.org/drawingml/2006/main">
              <a:ext uri="{FF2B5EF4-FFF2-40B4-BE49-F238E27FC236}">
                <a16:creationId xmlns:a16="http://schemas.microsoft.com/office/drawing/2014/main" id="{F0C6F853-C362-4BE7-82B5-E1CFA69F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28575">
            <a:solidFill>
              <a:srgbClr val="8B5CF6">
                <a:alpha val="55000"/>
              </a:srgbClr>
            </a:solidFill>
            <a:prstDash val="solid"/>
          </a:ln>
        </p:spPr>
      </p:sp>
      <p:sp>
        <p:nvSpPr>
          <p:cNvPr id="26" name="install-label">
            <a:extLst xmlns:a="http://schemas.openxmlformats.org/drawingml/2006/main">
              <a:ext uri="{FF2B5EF4-FFF2-40B4-BE49-F238E27FC236}">
                <a16:creationId xmlns:a16="http://schemas.microsoft.com/office/drawing/2014/main" id="{3967A787-0456-4B3F-8A8D-69E1E09C6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1442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VIER DOKUMENTIERTE STARTPUNKTE</a:t>
            </a:r>
          </a:p>
        </p:txBody>
      </p:sp>
      <p:sp>
        <p:nvSpPr>
          <p:cNvPr id="27" name="install-title">
            <a:extLst xmlns:a="http://schemas.openxmlformats.org/drawingml/2006/main">
              <a:ext uri="{FF2B5EF4-FFF2-40B4-BE49-F238E27FC236}">
                <a16:creationId xmlns:a16="http://schemas.microsoft.com/office/drawing/2014/main" id="{F872D949-B337-41D8-BC8D-7FF15DA18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16014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Vier Wege führen zur gleichen Plattform.</a:t>
            </a:r>
          </a:p>
        </p:txBody>
      </p:sp>
      <p:sp>
        <p:nvSpPr>
          <p:cNvPr id="28" name="pathway-connector-0">
            <a:extLst xmlns:a="http://schemas.openxmlformats.org/drawingml/2006/main">
              <a:ext uri="{FF2B5EF4-FFF2-40B4-BE49-F238E27FC236}">
                <a16:creationId xmlns:a16="http://schemas.microsoft.com/office/drawing/2014/main" id="{4EFF99CA-68FF-4D2F-BAED-AC8C6799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athway-connector-1">
            <a:extLst xmlns:a="http://schemas.openxmlformats.org/drawingml/2006/main">
              <a:ext uri="{FF2B5EF4-FFF2-40B4-BE49-F238E27FC236}">
                <a16:creationId xmlns:a16="http://schemas.microsoft.com/office/drawing/2014/main" id="{F5ABE9BD-B57E-48FE-B24E-94E4DE2F2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pathway-connector-2">
            <a:extLst xmlns:a="http://schemas.openxmlformats.org/drawingml/2006/main">
              <a:ext uri="{FF2B5EF4-FFF2-40B4-BE49-F238E27FC236}">
                <a16:creationId xmlns:a16="http://schemas.microsoft.com/office/drawing/2014/main" id="{CC56B408-BE99-4934-A729-183A26016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athway-connector-3">
            <a:extLst xmlns:a="http://schemas.openxmlformats.org/drawingml/2006/main">
              <a:ext uri="{FF2B5EF4-FFF2-40B4-BE49-F238E27FC236}">
                <a16:creationId xmlns:a16="http://schemas.microsoft.com/office/drawing/2014/main" id="{B8BA74E6-BBDB-4920-937C-21C7C28C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7075" y="14163675"/>
            <a:ext cx="285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>
              <a:alpha val="65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pathway-common-line">
            <a:extLst xmlns:a="http://schemas.openxmlformats.org/drawingml/2006/main">
              <a:ext uri="{FF2B5EF4-FFF2-40B4-BE49-F238E27FC236}">
                <a16:creationId xmlns:a16="http://schemas.microsoft.com/office/drawing/2014/main" id="{2DECDBA4-F1BE-45B8-8D83-1AC170A1F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4601825"/>
            <a:ext cx="8143875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50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33" name="path-hardware-number">
            <a:extLst xmlns:a="http://schemas.openxmlformats.org/drawingml/2006/main">
              <a:ext uri="{FF2B5EF4-FFF2-40B4-BE49-F238E27FC236}">
                <a16:creationId xmlns:a16="http://schemas.microsoft.com/office/drawing/2014/main" id="{F16374BA-C38B-4748-A663-AA1D9930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  <p:sp>
        <p:nvSpPr>
          <p:cNvPr id="34" name="path-hardware-title">
            <a:extLst xmlns:a="http://schemas.openxmlformats.org/drawingml/2006/main">
              <a:ext uri="{FF2B5EF4-FFF2-40B4-BE49-F238E27FC236}">
                <a16:creationId xmlns:a16="http://schemas.microsoft.com/office/drawing/2014/main" id="{BF97926E-D1B4-464F-95E7-8E5595836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Dedizierte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35" name="path-hardware-body">
            <a:extLst xmlns:a="http://schemas.openxmlformats.org/drawingml/2006/main">
              <a:ext uri="{FF2B5EF4-FFF2-40B4-BE49-F238E27FC236}">
                <a16:creationId xmlns:a16="http://schemas.microsoft.com/office/drawing/2014/main" id="{B0AF2A9B-17AD-4AB7-8352-6E1F9FE1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USB-Installer; danach geschützter First Run.</a:t>
            </a:r>
          </a:p>
        </p:txBody>
      </p:sp>
      <p:sp>
        <p:nvSpPr>
          <p:cNvPr id="36" name="path-hardware-rule">
            <a:extLst xmlns:a="http://schemas.openxmlformats.org/drawingml/2006/main">
              <a:ext uri="{FF2B5EF4-FFF2-40B4-BE49-F238E27FC236}">
                <a16:creationId xmlns:a16="http://schemas.microsoft.com/office/drawing/2014/main" id="{EB0C072B-E446-4F4A-ABA6-5F89BA0EA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D3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path-cloud-number">
            <a:extLst xmlns:a="http://schemas.openxmlformats.org/drawingml/2006/main">
              <a:ext uri="{FF2B5EF4-FFF2-40B4-BE49-F238E27FC236}">
                <a16:creationId xmlns:a16="http://schemas.microsoft.com/office/drawing/2014/main" id="{1F47C168-C0E6-4808-926F-84A60152A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38" name="path-cloud-title">
            <a:extLst xmlns:a="http://schemas.openxmlformats.org/drawingml/2006/main">
              <a:ext uri="{FF2B5EF4-FFF2-40B4-BE49-F238E27FC236}">
                <a16:creationId xmlns:a16="http://schemas.microsoft.com/office/drawing/2014/main" id="{8915FD1D-F332-4936-BC77-2E67262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Neue VM mit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Cloud-init</a:t>
            </a:r>
          </a:p>
        </p:txBody>
      </p:sp>
      <p:sp>
        <p:nvSpPr>
          <p:cNvPr id="39" name="path-cloud-body">
            <a:extLst xmlns:a="http://schemas.openxmlformats.org/drawingml/2006/main">
              <a:ext uri="{FF2B5EF4-FFF2-40B4-BE49-F238E27FC236}">
                <a16:creationId xmlns:a16="http://schemas.microsoft.com/office/drawing/2014/main" id="{186989B7-9C5F-465F-BBF8-ECDBD261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Cloud-init; danach derselbe First Run.</a:t>
            </a:r>
          </a:p>
        </p:txBody>
      </p:sp>
      <p:sp>
        <p:nvSpPr>
          <p:cNvPr id="40" name="path-cloud-rule">
            <a:extLst xmlns:a="http://schemas.openxmlformats.org/drawingml/2006/main">
              <a:ext uri="{FF2B5EF4-FFF2-40B4-BE49-F238E27FC236}">
                <a16:creationId xmlns:a16="http://schemas.microsoft.com/office/drawing/2014/main" id="{E03736A6-4F9B-402A-BB85-655F81A1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path-vm-number">
            <a:extLst xmlns:a="http://schemas.openxmlformats.org/drawingml/2006/main">
              <a:ext uri="{FF2B5EF4-FFF2-40B4-BE49-F238E27FC236}">
                <a16:creationId xmlns:a16="http://schemas.microsoft.com/office/drawing/2014/main" id="{1E365A6D-86E9-4E22-A38F-DA1A4367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42" name="path-vm-title">
            <a:extLst xmlns:a="http://schemas.openxmlformats.org/drawingml/2006/main">
              <a:ext uri="{FF2B5EF4-FFF2-40B4-BE49-F238E27FC236}">
                <a16:creationId xmlns:a16="http://schemas.microsoft.com/office/drawing/2014/main" id="{15B0862C-F8BA-4134-81FF-502AF13B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Bestehende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Ubuntu-VM</a:t>
            </a:r>
          </a:p>
        </p:txBody>
      </p:sp>
      <p:sp>
        <p:nvSpPr>
          <p:cNvPr id="43" name="path-vm-body">
            <a:extLst xmlns:a="http://schemas.openxmlformats.org/drawingml/2006/main">
              <a:ext uri="{FF2B5EF4-FFF2-40B4-BE49-F238E27FC236}">
                <a16:creationId xmlns:a16="http://schemas.microsoft.com/office/drawing/2014/main" id="{186D3F26-A585-4136-B692-FAD1E4782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Ein-Kommando-Skript für Ubuntu 24.04.</a:t>
            </a:r>
          </a:p>
        </p:txBody>
      </p:sp>
      <p:sp>
        <p:nvSpPr>
          <p:cNvPr id="44" name="path-vm-rule">
            <a:extLst xmlns:a="http://schemas.openxmlformats.org/drawingml/2006/main">
              <a:ext uri="{FF2B5EF4-FFF2-40B4-BE49-F238E27FC236}">
                <a16:creationId xmlns:a16="http://schemas.microsoft.com/office/drawing/2014/main" id="{C89326CB-E840-4C7E-B8FF-824724C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path-k8s-number">
            <a:extLst xmlns:a="http://schemas.openxmlformats.org/drawingml/2006/main">
              <a:ext uri="{FF2B5EF4-FFF2-40B4-BE49-F238E27FC236}">
                <a16:creationId xmlns:a16="http://schemas.microsoft.com/office/drawing/2014/main" id="{3507B327-1621-4B3E-ADEE-7EA71C842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2668250"/>
            <a:ext cx="457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FBBF24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BBF24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46" name="path-k8s-title">
            <a:extLst xmlns:a="http://schemas.openxmlformats.org/drawingml/2006/main">
              <a:ext uri="{FF2B5EF4-FFF2-40B4-BE49-F238E27FC236}">
                <a16:creationId xmlns:a16="http://schemas.microsoft.com/office/drawing/2014/main" id="{EECCD565-FBC5-4BCB-B6C5-4AFFE9693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3030200"/>
            <a:ext cx="2333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Vorhandenes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Kubernetes</a:t>
            </a:r>
          </a:p>
        </p:txBody>
      </p:sp>
      <p:sp>
        <p:nvSpPr>
          <p:cNvPr id="47" name="path-k8s-body">
            <a:extLst xmlns:a="http://schemas.openxmlformats.org/drawingml/2006/main">
              <a:ext uri="{FF2B5EF4-FFF2-40B4-BE49-F238E27FC236}">
                <a16:creationId xmlns:a16="http://schemas.microsoft.com/office/drawing/2014/main" id="{D68843AA-5E2B-4E40-9E1B-14CE975EB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3649325"/>
            <a:ext cx="2333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Bash- oder PowerShell-Deployment mit Flux.</a:t>
            </a:r>
          </a:p>
        </p:txBody>
      </p:sp>
      <p:sp>
        <p:nvSpPr>
          <p:cNvPr id="48" name="path-k8s-rule">
            <a:extLst xmlns:a="http://schemas.openxmlformats.org/drawingml/2006/main">
              <a:ext uri="{FF2B5EF4-FFF2-40B4-BE49-F238E27FC236}">
                <a16:creationId xmlns:a16="http://schemas.microsoft.com/office/drawing/2014/main" id="{A483EA02-E4DD-498C-B058-0FB8122AD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4420850"/>
            <a:ext cx="23336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athway-destination">
            <a:extLst xmlns:a="http://schemas.openxmlformats.org/drawingml/2006/main">
              <a:ext uri="{FF2B5EF4-FFF2-40B4-BE49-F238E27FC236}">
                <a16:creationId xmlns:a16="http://schemas.microsoft.com/office/drawing/2014/main" id="{4F32BF2D-91B3-4E7D-A45F-E86B46C7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4773275"/>
            <a:ext cx="552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MAGIC STICK · EIN ZIELZUSTAND · SICHERER FIRST RUN</a:t>
            </a:r>
          </a:p>
        </p:txBody>
      </p:sp>
      <p:pic>
        <p:nvPicPr>
          <p:cNvPr id="1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a959effdcf42ff"/>
          <a:srcRect xmlns:a="http://schemas.openxmlformats.org/drawingml/2006/main" l="3244" t="0" r="324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29000" y="15716250"/>
            <a:ext cx="10287000" cy="6191250"/>
          </a:xfrm>
          <a:prstGeom xmlns:a="http://schemas.openxmlformats.org/drawingml/2006/main" prst="rect">
            <a:avLst/>
          </a:prstGeom>
        </p:spPr>
      </p:pic>
      <p:sp>
        <p:nvSpPr>
          <p:cNvPr id="51" name="models-left-wash">
            <a:extLst xmlns:a="http://schemas.openxmlformats.org/drawingml/2006/main">
              <a:ext uri="{FF2B5EF4-FFF2-40B4-BE49-F238E27FC236}">
                <a16:creationId xmlns:a16="http://schemas.microsoft.com/office/drawing/2014/main" id="{1D961F45-CFCA-489E-A58F-892BAAA4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716250"/>
            <a:ext cx="8001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100000"/>
                </a:srgbClr>
              </a:gs>
              <a:gs pos="69000">
                <a:srgbClr val="050B18">
                  <a:alpha val="88000"/>
                </a:srgbClr>
              </a:gs>
              <a:gs pos="100000">
                <a:srgbClr val="050B18">
                  <a:alpha val="0"/>
                </a:srgbClr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2" name="models-bottom-wash">
            <a:extLst xmlns:a="http://schemas.openxmlformats.org/drawingml/2006/main">
              <a:ext uri="{FF2B5EF4-FFF2-40B4-BE49-F238E27FC236}">
                <a16:creationId xmlns:a16="http://schemas.microsoft.com/office/drawing/2014/main" id="{A49D44AE-4CFE-4404-AB8F-6EAC06062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955000"/>
            <a:ext cx="13716000" cy="952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53" name="section-number-04">
            <a:extLst xmlns:a="http://schemas.openxmlformats.org/drawingml/2006/main">
              <a:ext uri="{FF2B5EF4-FFF2-40B4-BE49-F238E27FC236}">
                <a16:creationId xmlns:a16="http://schemas.microsoft.com/office/drawing/2014/main" id="{6549B061-F403-4AA0-9035-7BC8EC0F9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1544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54" name="section-dot-04">
            <a:extLst xmlns:a="http://schemas.openxmlformats.org/drawingml/2006/main">
              <a:ext uri="{FF2B5EF4-FFF2-40B4-BE49-F238E27FC236}">
                <a16:creationId xmlns:a16="http://schemas.microsoft.com/office/drawing/2014/main" id="{7943F8B8-8374-436A-AD91-650AEA22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6535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28575">
            <a:solidFill>
              <a:srgbClr val="8B5CF6">
                <a:alpha val="55000"/>
              </a:srgbClr>
            </a:solidFill>
            <a:prstDash val="solid"/>
          </a:ln>
        </p:spPr>
      </p:sp>
      <p:sp>
        <p:nvSpPr>
          <p:cNvPr id="55" name="models-label">
            <a:extLst xmlns:a="http://schemas.openxmlformats.org/drawingml/2006/main">
              <a:ext uri="{FF2B5EF4-FFF2-40B4-BE49-F238E27FC236}">
                <a16:creationId xmlns:a16="http://schemas.microsoft.com/office/drawing/2014/main" id="{636836FC-192D-4B4A-8E88-89E4A1D94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0591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MODELLFREIHEIT</a:t>
            </a:r>
          </a:p>
        </p:txBody>
      </p:sp>
      <p:sp>
        <p:nvSpPr>
          <p:cNvPr id="56" name="models-title">
            <a:extLst xmlns:a="http://schemas.openxmlformats.org/drawingml/2006/main">
              <a:ext uri="{FF2B5EF4-FFF2-40B4-BE49-F238E27FC236}">
                <a16:creationId xmlns:a16="http://schemas.microsoft.com/office/drawing/2014/main" id="{A0EB44DA-3F5B-4445-B74F-41B6635B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0"/>
            <a:ext cx="64770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Extern starten.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42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Lokal passend skalieren.</a:t>
            </a:r>
          </a:p>
        </p:txBody>
      </p:sp>
      <p:sp>
        <p:nvSpPr>
          <p:cNvPr id="57" name="models-copy">
            <a:extLst xmlns:a="http://schemas.openxmlformats.org/drawingml/2006/main">
              <a:ext uri="{FF2B5EF4-FFF2-40B4-BE49-F238E27FC236}">
                <a16:creationId xmlns:a16="http://schemas.microsoft.com/office/drawing/2014/main" id="{F0F65445-571E-412D-A802-4E393FA6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192750"/>
            <a:ext cx="6000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9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LiteLLM verbindet externe OpenAI-kompatible Provider. Dafür werden weder GPU noch KubeAI benötigt.</a:t>
            </a:r>
          </a:p>
        </p:txBody>
      </p:sp>
      <p:sp>
        <p:nvSpPr>
          <p:cNvPr id="58" name="models-local">
            <a:extLst xmlns:a="http://schemas.openxmlformats.org/drawingml/2006/main">
              <a:ext uri="{FF2B5EF4-FFF2-40B4-BE49-F238E27FC236}">
                <a16:creationId xmlns:a16="http://schemas.microsoft.com/office/drawing/2014/main" id="{379A1D5D-B3C2-43F1-AE96-D856CDFC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7167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VLLM UND OLLAMA</a:t>
            </a:r>
          </a:p>
        </p:txBody>
      </p:sp>
      <p:sp>
        <p:nvSpPr>
          <p:cNvPr id="59" name="models-local-copy">
            <a:extLst xmlns:a="http://schemas.openxmlformats.org/drawingml/2006/main">
              <a:ext uri="{FF2B5EF4-FFF2-40B4-BE49-F238E27FC236}">
                <a16:creationId xmlns:a16="http://schemas.microsoft.com/office/drawing/2014/main" id="{1819F108-BFC0-40CA-8959-734F2E4A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596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650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vLLM: CPU, NVIDIA, AMD, Intel. Ollama: CPU, NVIDIA, AMD. Das Dashboard zeigt nur verfügbare Ziele und reserviert RAM oder VRAM.</a:t>
            </a:r>
          </a:p>
        </p:txBody>
      </p:sp>
      <p:sp>
        <p:nvSpPr>
          <p:cNvPr id="60" name="models-note">
            <a:extLst xmlns:a="http://schemas.openxmlformats.org/drawingml/2006/main">
              <a:ext uri="{FF2B5EF4-FFF2-40B4-BE49-F238E27FC236}">
                <a16:creationId xmlns:a16="http://schemas.microsoft.com/office/drawing/2014/main" id="{3EEB587D-CBA4-4999-9BA9-5B74DFB8E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2598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Hinweis: Externe Dienste können Daten außerhalb der eigenen Infrastruktur verarbeiten.</a:t>
            </a:r>
          </a:p>
        </p:txBody>
      </p:sp>
      <p:pic>
        <p:nvPicPr>
          <p:cNvPr id="16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a703a6a6b64cad"/>
          <a:srcRect xmlns:a="http://schemas.openxmlformats.org/drawingml/2006/main" l="9738" t="0" r="97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22193250"/>
            <a:ext cx="8858250" cy="6191250"/>
          </a:xfrm>
          <a:prstGeom xmlns:a="http://schemas.openxmlformats.org/drawingml/2006/main" prst="rect">
            <a:avLst/>
          </a:prstGeom>
        </p:spPr>
      </p:pic>
      <p:sp>
        <p:nvSpPr>
          <p:cNvPr id="62" name="tools-right-wash">
            <a:extLst xmlns:a="http://schemas.openxmlformats.org/drawingml/2006/main">
              <a:ext uri="{FF2B5EF4-FFF2-40B4-BE49-F238E27FC236}">
                <a16:creationId xmlns:a16="http://schemas.microsoft.com/office/drawing/2014/main" id="{C5C87CD5-CDBB-46F6-877D-E92FB33D9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193250"/>
            <a:ext cx="8001000" cy="6191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100000"/>
                </a:srgbClr>
              </a:gs>
              <a:gs pos="70000">
                <a:srgbClr val="050B18">
                  <a:alpha val="92000"/>
                </a:srgbClr>
              </a:gs>
              <a:gs pos="100000">
                <a:srgbClr val="050B18">
                  <a:alpha val="0"/>
                </a:srgbClr>
              </a:gs>
            </a:gsLst>
            <a:lin ang="108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3" name="tools-bottom-wash">
            <a:extLst xmlns:a="http://schemas.openxmlformats.org/drawingml/2006/main">
              <a:ext uri="{FF2B5EF4-FFF2-40B4-BE49-F238E27FC236}">
                <a16:creationId xmlns:a16="http://schemas.microsoft.com/office/drawing/2014/main" id="{255733C9-E4EC-4629-A884-FA57F080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7432000"/>
            <a:ext cx="13716000" cy="9525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50B18">
                  <a:alpha val="0"/>
                </a:srgbClr>
              </a:gs>
              <a:gs pos="100000">
                <a:srgbClr val="050B18"/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64" name="section-number-05">
            <a:extLst xmlns:a="http://schemas.openxmlformats.org/drawingml/2006/main">
              <a:ext uri="{FF2B5EF4-FFF2-40B4-BE49-F238E27FC236}">
                <a16:creationId xmlns:a16="http://schemas.microsoft.com/office/drawing/2014/main" id="{E2157C13-A9B7-4290-A8E0-5BFAB2DDC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63140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65" name="section-dot-05">
            <a:extLst xmlns:a="http://schemas.openxmlformats.org/drawingml/2006/main">
              <a:ext uri="{FF2B5EF4-FFF2-40B4-BE49-F238E27FC236}">
                <a16:creationId xmlns:a16="http://schemas.microsoft.com/office/drawing/2014/main" id="{01D5AC3B-0903-491D-AEE9-3F1B1F58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01240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2857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66" name="tools-label">
            <a:extLst xmlns:a="http://schemas.openxmlformats.org/drawingml/2006/main">
              <a:ext uri="{FF2B5EF4-FFF2-40B4-BE49-F238E27FC236}">
                <a16:creationId xmlns:a16="http://schemas.microsoft.com/office/drawing/2014/main" id="{A6B578CC-0EDD-42DF-AF4A-0C39EF26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AUS MODELLEN WERDEN WERKZEUGE</a:t>
            </a:r>
          </a:p>
        </p:txBody>
      </p:sp>
      <p:sp>
        <p:nvSpPr>
          <p:cNvPr id="67" name="tools-title">
            <a:extLst xmlns:a="http://schemas.openxmlformats.org/drawingml/2006/main">
              <a:ext uri="{FF2B5EF4-FFF2-40B4-BE49-F238E27FC236}">
                <a16:creationId xmlns:a16="http://schemas.microsoft.com/office/drawing/2014/main" id="{7F74ADCD-C72E-47AC-BD31-D68D3946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02900"/>
            <a:ext cx="49530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 Modellzugang.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Viele Arbeitsweisen.</a:t>
            </a:r>
          </a:p>
        </p:txBody>
      </p:sp>
      <p:sp>
        <p:nvSpPr>
          <p:cNvPr id="68" name="tools-copy">
            <a:extLst xmlns:a="http://schemas.openxmlformats.org/drawingml/2006/main">
              <a:ext uri="{FF2B5EF4-FFF2-40B4-BE49-F238E27FC236}">
                <a16:creationId xmlns:a16="http://schemas.microsoft.com/office/drawing/2014/main" id="{6946EA8F-D52F-49FE-9EBE-AAE3EA9D7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840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AnythingLLM bündelt Wissen. Instanzdienste bringen Chat, Agenten und Coding auf denselben Modellzugang.</a:t>
            </a:r>
          </a:p>
        </p:txBody>
      </p:sp>
      <p:sp>
        <p:nvSpPr>
          <p:cNvPr id="69" name="tools-list">
            <a:extLst xmlns:a="http://schemas.openxmlformats.org/drawingml/2006/main">
              <a:ext uri="{FF2B5EF4-FFF2-40B4-BE49-F238E27FC236}">
                <a16:creationId xmlns:a16="http://schemas.microsoft.com/office/drawing/2014/main" id="{348D7E22-C82C-4F64-B068-C3702058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6289000"/>
            <a:ext cx="2190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WISSEN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AGENTEN</a:t>
            </a:r>
          </a:p>
          <a:p xmlns:a="http://schemas.openxmlformats.org/drawingml/2006/main">
            <a:pPr algn="l">
              <a:lnSpc>
                <a:spcPct val="128000"/>
              </a:lnSpc>
              <a:buNone/>
              <a:def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CODING</a:t>
            </a:r>
          </a:p>
        </p:txBody>
      </p:sp>
      <p:sp>
        <p:nvSpPr>
          <p:cNvPr id="70" name="tools-products">
            <a:extLst xmlns:a="http://schemas.openxmlformats.org/drawingml/2006/main">
              <a:ext uri="{FF2B5EF4-FFF2-40B4-BE49-F238E27FC236}">
                <a16:creationId xmlns:a16="http://schemas.microsoft.com/office/drawing/2014/main" id="{EC9FBB29-D07C-4121-A6BD-06632DFD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289000"/>
            <a:ext cx="2857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AnythingLLM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OpenClaw · Hermes · Paperclip</a:t>
            </a:r>
          </a:p>
          <a:p xmlns:a="http://schemas.openxmlformats.org/drawingml/2006/main">
            <a:pPr algn="l">
              <a:lnSpc>
                <a:spcPct val="145000"/>
              </a:lnSpc>
              <a:buNone/>
              <a:def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KubeOpenCode · Odysseus</a:t>
            </a:r>
          </a:p>
        </p:txBody>
      </p:sp>
      <p:sp>
        <p:nvSpPr>
          <p:cNvPr id="71" name="dashboard-section-bg">
            <a:extLst xmlns:a="http://schemas.openxmlformats.org/drawingml/2006/main">
              <a:ext uri="{FF2B5EF4-FFF2-40B4-BE49-F238E27FC236}">
                <a16:creationId xmlns:a16="http://schemas.microsoft.com/office/drawing/2014/main" id="{01EE7591-470C-4EF7-86A4-EA9F30D5E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00"/>
            <a:ext cx="1371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1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section-number-06">
            <a:extLst xmlns:a="http://schemas.openxmlformats.org/drawingml/2006/main">
              <a:ext uri="{FF2B5EF4-FFF2-40B4-BE49-F238E27FC236}">
                <a16:creationId xmlns:a16="http://schemas.microsoft.com/office/drawing/2014/main" id="{75CFBE9D-333A-4004-A5B2-1D39BB076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1274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73" name="section-dot-06">
            <a:extLst xmlns:a="http://schemas.openxmlformats.org/drawingml/2006/main">
              <a:ext uri="{FF2B5EF4-FFF2-40B4-BE49-F238E27FC236}">
                <a16:creationId xmlns:a16="http://schemas.microsoft.com/office/drawing/2014/main" id="{05BF7C52-96E1-4554-AF94-94EDD37F0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084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28575">
            <a:solidFill>
              <a:srgbClr val="22D3EE">
                <a:alpha val="55000"/>
              </a:srgbClr>
            </a:solidFill>
            <a:prstDash val="solid"/>
          </a:ln>
        </p:spPr>
      </p:sp>
      <p:sp>
        <p:nvSpPr>
          <p:cNvPr id="74" name="dashboard-label">
            <a:extLst xmlns:a="http://schemas.openxmlformats.org/drawingml/2006/main">
              <a:ext uri="{FF2B5EF4-FFF2-40B4-BE49-F238E27FC236}">
                <a16:creationId xmlns:a16="http://schemas.microsoft.com/office/drawing/2014/main" id="{D5330A32-E06E-4CBA-A06E-64412F67C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0322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SICHTBAR UND GESCHÜTZT</a:t>
            </a:r>
          </a:p>
        </p:txBody>
      </p:sp>
      <p:sp>
        <p:nvSpPr>
          <p:cNvPr id="75" name="dashboard-title">
            <a:extLst xmlns:a="http://schemas.openxmlformats.org/drawingml/2006/main">
              <a:ext uri="{FF2B5EF4-FFF2-40B4-BE49-F238E27FC236}">
                <a16:creationId xmlns:a16="http://schemas.microsoft.com/office/drawing/2014/main" id="{C3CA4F09-53B8-4102-900E-82142350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52750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75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675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Eine Oberfläche. Services, Modelle, Benutzer.</a:t>
            </a:r>
          </a:p>
        </p:txBody>
      </p:sp>
      <p:sp>
        <p:nvSpPr>
          <p:cNvPr id="76" name="dashboard-copy">
            <a:extLst xmlns:a="http://schemas.openxmlformats.org/drawingml/2006/main">
              <a:ext uri="{FF2B5EF4-FFF2-40B4-BE49-F238E27FC236}">
                <a16:creationId xmlns:a16="http://schemas.microsoft.com/office/drawing/2014/main" id="{22C7D9DE-38DA-4EE9-B839-5CF34A8F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32375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75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Die Services-Seite vereint Module und Instanzen. Modelle werden nach Engine und verfügbarer Hardware gefiltert; Nutzer und globale Rollen bleiben zentral verwaltbar.</a:t>
            </a:r>
          </a:p>
        </p:txBody>
      </p:sp>
      <p:sp>
        <p:nvSpPr>
          <p:cNvPr id="77" name="dashboard-frame">
            <a:extLst xmlns:a="http://schemas.openxmlformats.org/drawingml/2006/main">
              <a:ext uri="{FF2B5EF4-FFF2-40B4-BE49-F238E27FC236}">
                <a16:creationId xmlns:a16="http://schemas.microsoft.com/office/drawing/2014/main" id="{29AB7CC3-9D74-45A3-90B3-AC0C61863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527750"/>
            <a:ext cx="7715250" cy="2571750"/>
          </a:xfrm>
          <a:prstGeom xmlns:a="http://schemas.openxmlformats.org/drawingml/2006/main" prst="roundRect">
            <a:avLst>
              <a:gd name="adj" fmla="val 8148"/>
            </a:avLst>
          </a:prstGeom>
          <a:solidFill xmlns:a="http://schemas.openxmlformats.org/drawingml/2006/main">
            <a:srgbClr val="071123"/>
          </a:solidFill>
          <a:ln xmlns:a="http://schemas.openxmlformats.org/drawingml/2006/main" w="19050">
            <a:solidFill>
              <a:srgbClr val="24415F"/>
            </a:solidFill>
            <a:prstDash val="solid"/>
          </a:ln>
        </p:spPr>
      </p:sp>
      <p:pic>
        <p:nvPicPr>
          <p:cNvPr id="1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a3196de874b7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1162050" y="31642050"/>
            <a:ext cx="7486650" cy="2247900"/>
          </a:xfrm>
          <a:prstGeom xmlns:a="http://schemas.openxmlformats.org/drawingml/2006/main" prst="roundRect">
            <a:avLst/>
          </a:prstGeom>
        </p:spPr>
      </p:pic>
      <p:sp>
        <p:nvSpPr>
          <p:cNvPr id="79" name="dashboard-caption">
            <a:extLst xmlns:a="http://schemas.openxmlformats.org/drawingml/2006/main">
              <a:ext uri="{FF2B5EF4-FFF2-40B4-BE49-F238E27FC236}">
                <a16:creationId xmlns:a16="http://schemas.microsoft.com/office/drawing/2014/main" id="{1797CFB3-DD2D-4BBA-8A55-12E364B6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0"/>
            <a:ext cx="7600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975" b="1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AKTUELLE PRODUKTOBERFLÄCHE · BEISPIELKONFIGURATION</a:t>
            </a:r>
          </a:p>
        </p:txBody>
      </p:sp>
      <p:sp>
        <p:nvSpPr>
          <p:cNvPr id="80" name="sso-eyebrow">
            <a:extLst xmlns:a="http://schemas.openxmlformats.org/drawingml/2006/main">
              <a:ext uri="{FF2B5EF4-FFF2-40B4-BE49-F238E27FC236}">
                <a16:creationId xmlns:a16="http://schemas.microsoft.com/office/drawing/2014/main" id="{97F9F830-C082-49E9-95E8-A56F3FDA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565850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EINE ANMELDUNG VOR DEN ANWENDUNGEN</a:t>
            </a:r>
          </a:p>
        </p:txBody>
      </p:sp>
      <p:sp>
        <p:nvSpPr>
          <p:cNvPr id="81" name="sso-title">
            <a:extLst xmlns:a="http://schemas.openxmlformats.org/drawingml/2006/main">
              <a:ext uri="{FF2B5EF4-FFF2-40B4-BE49-F238E27FC236}">
                <a16:creationId xmlns:a16="http://schemas.microsoft.com/office/drawing/2014/main" id="{0142FC41-A6E0-4B4E-8E9D-913016C0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2194500"/>
            <a:ext cx="342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Envoy +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85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Keycloak</a:t>
            </a:r>
          </a:p>
        </p:txBody>
      </p:sp>
      <p:sp>
        <p:nvSpPr>
          <p:cNvPr id="82" name="sso-copy">
            <a:extLst xmlns:a="http://schemas.openxmlformats.org/drawingml/2006/main">
              <a:ext uri="{FF2B5EF4-FFF2-40B4-BE49-F238E27FC236}">
                <a16:creationId xmlns:a16="http://schemas.microsoft.com/office/drawing/2014/main" id="{9D4C8D55-FF9D-48AF-A559-E193E87C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242250"/>
            <a:ext cx="342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5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Ein Konsolencode legt den ersten Admin ohne Default-Passwort an. Envoy schützt Dashboard und Routen; Keycloak kann externe OIDC-/SAML-Anbieter brokern.</a:t>
            </a:r>
          </a:p>
        </p:txBody>
      </p:sp>
      <p:sp>
        <p:nvSpPr>
          <p:cNvPr id="83" name="sso-note">
            <a:extLst xmlns:a="http://schemas.openxmlformats.org/drawingml/2006/main">
              <a:ext uri="{FF2B5EF4-FFF2-40B4-BE49-F238E27FC236}">
                <a16:creationId xmlns:a16="http://schemas.microsoft.com/office/drawing/2014/main" id="{3B663976-796C-4553-A301-CB87CF78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46710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050" b="0">
                <a:solidFill>
                  <a:srgbClr val="7890AE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7890AE"/>
                </a:solidFill>
                <a:latin typeface="Avenir Next"/>
                <a:ea typeface="Avenir Next"/>
                <a:cs typeface="Avenir Next"/>
              </a:rPr>
              <a:t>Zentraler Gateway-Login; App-Rollen bleiben anwendungsspezifisch.</a:t>
            </a:r>
          </a:p>
        </p:txBody>
      </p:sp>
      <p:sp>
        <p:nvSpPr>
          <p:cNvPr id="84" name="section-number-07">
            <a:extLst xmlns:a="http://schemas.openxmlformats.org/drawingml/2006/main">
              <a:ext uri="{FF2B5EF4-FFF2-40B4-BE49-F238E27FC236}">
                <a16:creationId xmlns:a16="http://schemas.microsoft.com/office/drawing/2014/main" id="{04EBA2F2-853A-40C3-9CC8-7EB68E3C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2902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85" name="section-dot-07">
            <a:extLst xmlns:a="http://schemas.openxmlformats.org/drawingml/2006/main">
              <a:ext uri="{FF2B5EF4-FFF2-40B4-BE49-F238E27FC236}">
                <a16:creationId xmlns:a16="http://schemas.microsoft.com/office/drawing/2014/main" id="{D5F11D3B-4B83-4EC7-B6D4-83803AFFF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671250"/>
            <a:ext cx="133350" cy="133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4D399"/>
          </a:solidFill>
          <a:ln xmlns:a="http://schemas.openxmlformats.org/drawingml/2006/main" w="28575">
            <a:solidFill>
              <a:srgbClr val="34D399">
                <a:alpha val="55000"/>
              </a:srgbClr>
            </a:solidFill>
            <a:prstDash val="solid"/>
          </a:ln>
        </p:spPr>
      </p:sp>
      <p:sp>
        <p:nvSpPr>
          <p:cNvPr id="86" name="open-label">
            <a:extLst xmlns:a="http://schemas.openxmlformats.org/drawingml/2006/main">
              <a:ext uri="{FF2B5EF4-FFF2-40B4-BE49-F238E27FC236}">
                <a16:creationId xmlns:a16="http://schemas.microsoft.com/office/drawing/2014/main" id="{F7B748C7-79C4-4E52-AF52-74DFF6F7E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19500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34D399"/>
                </a:solidFill>
                <a:latin typeface="Avenir Next"/>
                <a:ea typeface="Avenir Next"/>
                <a:cs typeface="Avenir Next"/>
              </a:rPr>
              <a:t>OFFEN BEGINNEN · GEZIELT WACHSEN</a:t>
            </a:r>
          </a:p>
        </p:txBody>
      </p:sp>
      <p:sp>
        <p:nvSpPr>
          <p:cNvPr id="87" name="open-title">
            <a:extLst xmlns:a="http://schemas.openxmlformats.org/drawingml/2006/main">
              <a:ext uri="{FF2B5EF4-FFF2-40B4-BE49-F238E27FC236}">
                <a16:creationId xmlns:a16="http://schemas.microsoft.com/office/drawing/2014/main" id="{FE389B74-9374-459A-A89B-3A0958EE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69030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Die offene Grundlage gehört Ihnen.</a:t>
            </a:r>
          </a:p>
        </p:txBody>
      </p:sp>
      <p:sp>
        <p:nvSpPr>
          <p:cNvPr id="88" name="open-copy">
            <a:extLst xmlns:a="http://schemas.openxmlformats.org/drawingml/2006/main">
              <a:ext uri="{FF2B5EF4-FFF2-40B4-BE49-F238E27FC236}">
                <a16:creationId xmlns:a16="http://schemas.microsoft.com/office/drawing/2014/main" id="{C34CF62C-2D49-41DA-ACC5-54536744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5285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C5D4E6"/>
                </a:solidFill>
                <a:latin typeface="Avenir Next"/>
                <a:ea typeface="Avenir Next"/>
                <a:cs typeface="Avenir Next"/>
              </a:defRPr>
            </a:pPr>
            <a:r>
              <a:rPr sz="1800" b="0">
                <a:solidFill>
                  <a:srgbClr val="C5D4E6"/>
                </a:solidFill>
                <a:latin typeface="Avenir Next"/>
                <a:ea typeface="Avenir Next"/>
                <a:cs typeface="Avenir Next"/>
              </a:rPr>
              <a:t>Der Magic-Stick-Quellcode ist unter MIT veröffentlicht. Eingebundene Anwendungen und Images behalten ihre eigenen Lizenzen.</a:t>
            </a:r>
          </a:p>
        </p:txBody>
      </p:sp>
      <p:sp>
        <p:nvSpPr>
          <p:cNvPr id="89" name="open-rule">
            <a:extLst xmlns:a="http://schemas.openxmlformats.org/drawingml/2006/main">
              <a:ext uri="{FF2B5EF4-FFF2-40B4-BE49-F238E27FC236}">
                <a16:creationId xmlns:a16="http://schemas.microsoft.com/office/drawing/2014/main" id="{C2DB855E-1AFF-4174-9D54-2A3B43E84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538150"/>
            <a:ext cx="11620500" cy="28575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22D3EE"/>
              </a:gs>
              <a:gs pos="60000">
                <a:srgbClr val="8B5CF6"/>
              </a:gs>
              <a:gs pos="100000">
                <a:srgbClr val="34D399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0" name="today-label">
            <a:extLst xmlns:a="http://schemas.openxmlformats.org/drawingml/2006/main">
              <a:ext uri="{FF2B5EF4-FFF2-40B4-BE49-F238E27FC236}">
                <a16:creationId xmlns:a16="http://schemas.microsoft.com/office/drawing/2014/main" id="{9E7A1E75-07A8-4A7F-BFB0-CED49ADC1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8810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22D3EE"/>
                </a:solidFill>
                <a:latin typeface="Avenir Next"/>
                <a:ea typeface="Avenir Next"/>
                <a:cs typeface="Avenir Next"/>
              </a:rPr>
              <a:t>HEUTE VERFÜGBAR</a:t>
            </a:r>
          </a:p>
        </p:txBody>
      </p:sp>
      <p:sp>
        <p:nvSpPr>
          <p:cNvPr id="91" name="today-copy">
            <a:extLst xmlns:a="http://schemas.openxmlformats.org/drawingml/2006/main">
              <a:ext uri="{FF2B5EF4-FFF2-40B4-BE49-F238E27FC236}">
                <a16:creationId xmlns:a16="http://schemas.microsoft.com/office/drawing/2014/main" id="{10699730-458F-4D18-9A99-44902231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243000"/>
            <a:ext cx="5429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Offene Appliance, Services, Modelle und Benutzer; globale Rollen sowie eine Mindestrolle pro Instanz.</a:t>
            </a:r>
          </a:p>
        </p:txBody>
      </p:sp>
      <p:sp>
        <p:nvSpPr>
          <p:cNvPr id="92" name="enterprise-label">
            <a:extLst xmlns:a="http://schemas.openxmlformats.org/drawingml/2006/main">
              <a:ext uri="{FF2B5EF4-FFF2-40B4-BE49-F238E27FC236}">
                <a16:creationId xmlns:a16="http://schemas.microsoft.com/office/drawing/2014/main" id="{A807A0EB-C3A9-440D-B98E-53B5556A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88810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8B5CF6"/>
                </a:solidFill>
                <a:latin typeface="Avenir Next"/>
                <a:ea typeface="Avenir Next"/>
                <a:cs typeface="Avenir Next"/>
              </a:rPr>
              <a:t>ENTERPRISE-ZIELBILD · IN KONZEPTION</a:t>
            </a:r>
          </a:p>
        </p:txBody>
      </p:sp>
      <p:sp>
        <p:nvSpPr>
          <p:cNvPr id="93" name="enterprise-copy">
            <a:extLst xmlns:a="http://schemas.openxmlformats.org/drawingml/2006/main">
              <a:ext uri="{FF2B5EF4-FFF2-40B4-BE49-F238E27FC236}">
                <a16:creationId xmlns:a16="http://schemas.microsoft.com/office/drawing/2014/main" id="{D2725433-631E-4808-8D21-B44835A50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243000"/>
            <a:ext cx="5334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Nutzer-/Gruppenfreigaben je Ressource, organisatorische Scopes, delegierte Administration und Audit.</a:t>
            </a:r>
          </a:p>
        </p:txBody>
      </p:sp>
      <p:sp>
        <p:nvSpPr>
          <p:cNvPr id="94" name="cta-band">
            <a:extLst xmlns:a="http://schemas.openxmlformats.org/drawingml/2006/main">
              <a:ext uri="{FF2B5EF4-FFF2-40B4-BE49-F238E27FC236}">
                <a16:creationId xmlns:a16="http://schemas.microsoft.com/office/drawing/2014/main" id="{5B821195-7172-4385-A73F-169C536E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0290750"/>
            <a:ext cx="13716000" cy="8572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E7490"/>
              </a:gs>
              <a:gs pos="65000">
                <a:srgbClr val="6D28D9"/>
              </a:gs>
              <a:gs pos="100000">
                <a:srgbClr val="4C1D95"/>
              </a:gs>
            </a:gsLst>
            <a:lin ang="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95" name="cta-question">
            <a:extLst xmlns:a="http://schemas.openxmlformats.org/drawingml/2006/main">
              <a:ext uri="{FF2B5EF4-FFF2-40B4-BE49-F238E27FC236}">
                <a16:creationId xmlns:a16="http://schemas.microsoft.com/office/drawing/2014/main" id="{4E76EE92-C26D-415A-A7DA-7E773C525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443150"/>
            <a:ext cx="790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2100" b="1">
                <a:solidFill>
                  <a:srgbClr val="F7FAFF"/>
                </a:solidFill>
                <a:latin typeface="Avenir Next"/>
                <a:ea typeface="Avenir Next"/>
                <a:cs typeface="Avenir Next"/>
              </a:rPr>
              <a:t>Was würden Sie mit Ihrer eigenen KI-Plattform bauen?</a:t>
            </a:r>
          </a:p>
        </p:txBody>
      </p:sp>
      <p:sp>
        <p:nvSpPr>
          <p:cNvPr id="96" name="cta-github">
            <a:extLst xmlns:a="http://schemas.openxmlformats.org/drawingml/2006/main">
              <a:ext uri="{FF2B5EF4-FFF2-40B4-BE49-F238E27FC236}">
                <a16:creationId xmlns:a16="http://schemas.microsoft.com/office/drawing/2014/main" id="{145AA323-E0FE-41F4-A236-70B361F9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824150"/>
            <a:ext cx="619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>
                <a:solidFill>
                  <a:srgbClr val="E6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29f872c1017b46ec"/>
              </a:rPr>
              <a:t>github.com/QualityMinds/AIppliance-Magic-Stick</a:t>
            </a:r>
          </a:p>
        </p:txBody>
      </p:sp>
      <p:sp>
        <p:nvSpPr>
          <p:cNvPr id="97" name="cta-brand">
            <a:extLst xmlns:a="http://schemas.openxmlformats.org/drawingml/2006/main">
              <a:ext uri="{FF2B5EF4-FFF2-40B4-BE49-F238E27FC236}">
                <a16:creationId xmlns:a16="http://schemas.microsoft.com/office/drawing/2014/main" id="{C3FAD70C-046F-4AFF-AB84-42B096EE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4431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>
                <a:solidFill>
                  <a:srgbClr val="E6FAFF"/>
                </a:solidFill>
                <a:latin typeface="Avenir Next"/>
                <a:ea typeface="Avenir Next"/>
                <a:cs typeface="Avenir Next"/>
              </a:rPr>
              <a:t>QUALITYMINDS</a:t>
            </a:r>
          </a:p>
        </p:txBody>
      </p:sp>
      <p:sp>
        <p:nvSpPr>
          <p:cNvPr id="98" name="cta-email">
            <a:extLst xmlns:a="http://schemas.openxmlformats.org/drawingml/2006/main">
              <a:ext uri="{FF2B5EF4-FFF2-40B4-BE49-F238E27FC236}">
                <a16:creationId xmlns:a16="http://schemas.microsoft.com/office/drawing/2014/main" id="{D10A9579-D21C-4E1F-AE47-EFE4001B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767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350" b="1">
                <a:solidFill>
                  <a:srgbClr val="F7FA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7FAFF"/>
                </a:solidFill>
                <a:latin typeface="Avenir Next"/>
                <a:ea typeface="Avenir Next"/>
                <a:cs typeface="Avenir Next"/>
                <a:hlinkClick xmlns:r="http://schemas.openxmlformats.org/officeDocument/2006/relationships" r:id="R5b79e471c80847ac"/>
              </a:rPr>
              <a:t>hello@qualityminds.de</a:t>
            </a:r>
          </a:p>
        </p:txBody>
      </p:sp>
    </p:spTree>
    <p:extLst>
      <p:ext uri="{BB962C8B-B14F-4D97-AF65-F5344CB8AC3E}">
        <p14:creationId xmlns:p14="http://schemas.microsoft.com/office/powerpoint/2010/main" val="12077703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2026-09-01T21:28:48.1270000Z</dcterms:created>
  <dcterms:modified xsi:type="dcterms:W3CDTF">2026-09-01T21:28:48.1270000Z</dcterms:modified>
</coreProperties>
</file>